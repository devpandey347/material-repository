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72" r:id="rId10"/>
    <p:sldId id="264" r:id="rId11"/>
    <p:sldId id="265" r:id="rId12"/>
    <p:sldId id="266" r:id="rId13"/>
    <p:sldId id="267" r:id="rId14"/>
    <p:sldId id="268" r:id="rId15"/>
    <p:sldId id="269" r:id="rId16"/>
    <p:sldId id="270" r:id="rId17"/>
    <p:sldId id="271" r:id="rId18"/>
    <p:sldId id="27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FDF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1" d="100"/>
          <a:sy n="71" d="100"/>
        </p:scale>
        <p:origin x="61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6A3475A8-6F3E-45C7-AFE8-64F8B01CD5D4}" type="datetimeFigureOut">
              <a:rPr lang="en-IN" smtClean="0"/>
              <a:t>27-09-2022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EB7B06E-0DE6-48A1-B02C-4257194F431E}" type="slidenum">
              <a:rPr lang="en-IN" smtClean="0"/>
              <a:t>‹#›</a:t>
            </a:fld>
            <a:endParaRPr lang="en-IN"/>
          </a:p>
        </p:txBody>
      </p:sp>
    </p:spTree>
    <p:extLst>
      <p:ext uri="{BB962C8B-B14F-4D97-AF65-F5344CB8AC3E}">
        <p14:creationId xmlns:p14="http://schemas.microsoft.com/office/powerpoint/2010/main" val="14851987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6A3475A8-6F3E-45C7-AFE8-64F8B01CD5D4}" type="datetimeFigureOut">
              <a:rPr lang="en-IN" smtClean="0"/>
              <a:t>27-09-2022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EB7B06E-0DE6-48A1-B02C-4257194F431E}" type="slidenum">
              <a:rPr lang="en-IN" smtClean="0"/>
              <a:t>‹#›</a:t>
            </a:fld>
            <a:endParaRPr lang="en-IN"/>
          </a:p>
        </p:txBody>
      </p:sp>
    </p:spTree>
    <p:extLst>
      <p:ext uri="{BB962C8B-B14F-4D97-AF65-F5344CB8AC3E}">
        <p14:creationId xmlns:p14="http://schemas.microsoft.com/office/powerpoint/2010/main" val="28963997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A3475A8-6F3E-45C7-AFE8-64F8B01CD5D4}" type="datetimeFigureOut">
              <a:rPr lang="en-IN" smtClean="0"/>
              <a:t>27-09-2022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EB7B06E-0DE6-48A1-B02C-4257194F431E}" type="slidenum">
              <a:rPr lang="en-IN" smtClean="0"/>
              <a:t>‹#›</a:t>
            </a:fld>
            <a:endParaRPr lang="en-IN"/>
          </a:p>
        </p:txBody>
      </p:sp>
    </p:spTree>
    <p:extLst>
      <p:ext uri="{BB962C8B-B14F-4D97-AF65-F5344CB8AC3E}">
        <p14:creationId xmlns:p14="http://schemas.microsoft.com/office/powerpoint/2010/main" val="11365387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6A3475A8-6F3E-45C7-AFE8-64F8B01CD5D4}" type="datetimeFigureOut">
              <a:rPr lang="en-IN" smtClean="0"/>
              <a:t>27-09-2022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EB7B06E-0DE6-48A1-B02C-4257194F431E}" type="slidenum">
              <a:rPr lang="en-IN" smtClean="0"/>
              <a:t>‹#›</a:t>
            </a:fld>
            <a:endParaRPr lang="en-IN"/>
          </a:p>
        </p:txBody>
      </p:sp>
    </p:spTree>
    <p:extLst>
      <p:ext uri="{BB962C8B-B14F-4D97-AF65-F5344CB8AC3E}">
        <p14:creationId xmlns:p14="http://schemas.microsoft.com/office/powerpoint/2010/main" val="13952950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6A3475A8-6F3E-45C7-AFE8-64F8B01CD5D4}" type="datetimeFigureOut">
              <a:rPr lang="en-IN" smtClean="0"/>
              <a:t>27-09-2022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EB7B06E-0DE6-48A1-B02C-4257194F431E}" type="slidenum">
              <a:rPr lang="en-IN" smtClean="0"/>
              <a:t>‹#›</a:t>
            </a:fld>
            <a:endParaRPr lang="en-IN"/>
          </a:p>
        </p:txBody>
      </p:sp>
    </p:spTree>
    <p:extLst>
      <p:ext uri="{BB962C8B-B14F-4D97-AF65-F5344CB8AC3E}">
        <p14:creationId xmlns:p14="http://schemas.microsoft.com/office/powerpoint/2010/main" val="15885153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6A3475A8-6F3E-45C7-AFE8-64F8B01CD5D4}" type="datetimeFigureOut">
              <a:rPr lang="en-IN" smtClean="0"/>
              <a:t>27-09-2022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EB7B06E-0DE6-48A1-B02C-4257194F431E}" type="slidenum">
              <a:rPr lang="en-IN" smtClean="0"/>
              <a:t>‹#›</a:t>
            </a:fld>
            <a:endParaRPr lang="en-IN"/>
          </a:p>
        </p:txBody>
      </p:sp>
    </p:spTree>
    <p:extLst>
      <p:ext uri="{BB962C8B-B14F-4D97-AF65-F5344CB8AC3E}">
        <p14:creationId xmlns:p14="http://schemas.microsoft.com/office/powerpoint/2010/main" val="25837545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A3475A8-6F3E-45C7-AFE8-64F8B01CD5D4}" type="datetimeFigureOut">
              <a:rPr lang="en-IN" smtClean="0"/>
              <a:t>27-09-2022</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EB7B06E-0DE6-48A1-B02C-4257194F431E}" type="slidenum">
              <a:rPr lang="en-IN" smtClean="0"/>
              <a:t>‹#›</a:t>
            </a:fld>
            <a:endParaRPr lang="en-IN"/>
          </a:p>
        </p:txBody>
      </p:sp>
    </p:spTree>
    <p:extLst>
      <p:ext uri="{BB962C8B-B14F-4D97-AF65-F5344CB8AC3E}">
        <p14:creationId xmlns:p14="http://schemas.microsoft.com/office/powerpoint/2010/main" val="29479591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A3475A8-6F3E-45C7-AFE8-64F8B01CD5D4}" type="datetimeFigureOut">
              <a:rPr lang="en-IN" smtClean="0"/>
              <a:t>27-09-2022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EB7B06E-0DE6-48A1-B02C-4257194F431E}" type="slidenum">
              <a:rPr lang="en-IN" smtClean="0"/>
              <a:t>‹#›</a:t>
            </a:fld>
            <a:endParaRPr lang="en-IN"/>
          </a:p>
        </p:txBody>
      </p:sp>
    </p:spTree>
    <p:extLst>
      <p:ext uri="{BB962C8B-B14F-4D97-AF65-F5344CB8AC3E}">
        <p14:creationId xmlns:p14="http://schemas.microsoft.com/office/powerpoint/2010/main" val="15010403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A3475A8-6F3E-45C7-AFE8-64F8B01CD5D4}" type="datetimeFigureOut">
              <a:rPr lang="en-IN" smtClean="0"/>
              <a:t>27-09-2022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EB7B06E-0DE6-48A1-B02C-4257194F431E}" type="slidenum">
              <a:rPr lang="en-IN" smtClean="0"/>
              <a:t>‹#›</a:t>
            </a:fld>
            <a:endParaRPr lang="en-IN"/>
          </a:p>
        </p:txBody>
      </p:sp>
    </p:spTree>
    <p:extLst>
      <p:ext uri="{BB962C8B-B14F-4D97-AF65-F5344CB8AC3E}">
        <p14:creationId xmlns:p14="http://schemas.microsoft.com/office/powerpoint/2010/main" val="27296797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6A3475A8-6F3E-45C7-AFE8-64F8B01CD5D4}" type="datetimeFigureOut">
              <a:rPr lang="en-IN" smtClean="0"/>
              <a:t>27-09-2022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EB7B06E-0DE6-48A1-B02C-4257194F431E}" type="slidenum">
              <a:rPr lang="en-IN" smtClean="0"/>
              <a:t>‹#›</a:t>
            </a:fld>
            <a:endParaRPr lang="en-IN"/>
          </a:p>
        </p:txBody>
      </p:sp>
    </p:spTree>
    <p:extLst>
      <p:ext uri="{BB962C8B-B14F-4D97-AF65-F5344CB8AC3E}">
        <p14:creationId xmlns:p14="http://schemas.microsoft.com/office/powerpoint/2010/main" val="20509080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6A3475A8-6F3E-45C7-AFE8-64F8B01CD5D4}" type="datetimeFigureOut">
              <a:rPr lang="en-IN" smtClean="0"/>
              <a:t>27-09-2022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EB7B06E-0DE6-48A1-B02C-4257194F431E}" type="slidenum">
              <a:rPr lang="en-IN" smtClean="0"/>
              <a:t>‹#›</a:t>
            </a:fld>
            <a:endParaRPr lang="en-IN"/>
          </a:p>
        </p:txBody>
      </p:sp>
    </p:spTree>
    <p:extLst>
      <p:ext uri="{BB962C8B-B14F-4D97-AF65-F5344CB8AC3E}">
        <p14:creationId xmlns:p14="http://schemas.microsoft.com/office/powerpoint/2010/main" val="19283388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A3475A8-6F3E-45C7-AFE8-64F8B01CD5D4}" type="datetimeFigureOut">
              <a:rPr lang="en-IN" smtClean="0"/>
              <a:t>27-09-2022</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EB7B06E-0DE6-48A1-B02C-4257194F431E}" type="slidenum">
              <a:rPr lang="en-IN" smtClean="0"/>
              <a:t>‹#›</a:t>
            </a:fld>
            <a:endParaRPr lang="en-IN"/>
          </a:p>
        </p:txBody>
      </p:sp>
    </p:spTree>
    <p:extLst>
      <p:ext uri="{BB962C8B-B14F-4D97-AF65-F5344CB8AC3E}">
        <p14:creationId xmlns:p14="http://schemas.microsoft.com/office/powerpoint/2010/main" val="5159471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hyperlink" Target="https://www.csestack.org/acid-properties-in-dbms/" TargetMode="External"/><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dirty="0"/>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7791583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10235" y="611433"/>
            <a:ext cx="9291918" cy="3570208"/>
          </a:xfrm>
          <a:prstGeom prst="rect">
            <a:avLst/>
          </a:prstGeom>
        </p:spPr>
        <p:txBody>
          <a:bodyPr wrap="square">
            <a:spAutoFit/>
          </a:bodyPr>
          <a:lstStyle/>
          <a:p>
            <a:pPr algn="ctr" fontAlgn="base"/>
            <a:r>
              <a:rPr lang="en-IN" sz="2800" b="1" i="0" dirty="0" smtClean="0">
                <a:solidFill>
                  <a:srgbClr val="EA3F06"/>
                </a:solidFill>
                <a:effectLst/>
                <a:latin typeface="Arial" panose="020B0604020202020204" pitchFamily="34" charset="0"/>
              </a:rPr>
              <a:t>How does Data Conflict Occur in DBMS?</a:t>
            </a:r>
          </a:p>
          <a:p>
            <a:pPr fontAlgn="base"/>
            <a:r>
              <a:rPr lang="en-IN" b="0" i="0" dirty="0" smtClean="0">
                <a:solidFill>
                  <a:srgbClr val="656565"/>
                </a:solidFill>
                <a:effectLst/>
                <a:latin typeface="Arial" panose="020B0604020202020204" pitchFamily="34" charset="0"/>
              </a:rPr>
              <a:t>Data is saved into the database. And to fetch and write data from the database, you need to perform read and write operation on the data.</a:t>
            </a:r>
          </a:p>
          <a:p>
            <a:pPr fontAlgn="base"/>
            <a:r>
              <a:rPr lang="en-IN" b="0" i="0" dirty="0" smtClean="0">
                <a:solidFill>
                  <a:srgbClr val="656565"/>
                </a:solidFill>
                <a:effectLst/>
                <a:latin typeface="Arial" panose="020B0604020202020204" pitchFamily="34" charset="0"/>
              </a:rPr>
              <a:t>There are multiple entities (multiple users, multiple APPs, multiple websites…) performing these multiple operations on the same data at the same time.</a:t>
            </a:r>
          </a:p>
          <a:p>
            <a:pPr fontAlgn="base"/>
            <a:r>
              <a:rPr lang="en-IN" dirty="0" smtClean="0">
                <a:solidFill>
                  <a:srgbClr val="656565"/>
                </a:solidFill>
                <a:latin typeface="Arial" panose="020B0604020202020204" pitchFamily="34" charset="0"/>
              </a:rPr>
              <a:t>Just as an instance, there is a centralized banking database where all the information about the users and the bank related information is saved.</a:t>
            </a:r>
          </a:p>
          <a:p>
            <a:pPr fontAlgn="base"/>
            <a:endParaRPr lang="en-IN" dirty="0" smtClean="0">
              <a:solidFill>
                <a:srgbClr val="656565"/>
              </a:solidFill>
              <a:latin typeface="Arial" panose="020B0604020202020204" pitchFamily="34" charset="0"/>
            </a:endParaRPr>
          </a:p>
          <a:p>
            <a:pPr fontAlgn="base"/>
            <a:r>
              <a:rPr lang="en-IN" dirty="0" smtClean="0">
                <a:solidFill>
                  <a:srgbClr val="656565"/>
                </a:solidFill>
                <a:latin typeface="Arial" panose="020B0604020202020204" pitchFamily="34" charset="0"/>
              </a:rPr>
              <a:t>There might be multiple user logins to their bank account and access the same bank information at the same time. They perform various operations like reading or updating or deleting the data.</a:t>
            </a:r>
          </a:p>
          <a:p>
            <a:pPr fontAlgn="base"/>
            <a:endParaRPr lang="en-IN" b="0" i="0" dirty="0" smtClean="0">
              <a:solidFill>
                <a:srgbClr val="656565"/>
              </a:solidFill>
              <a:effectLst/>
              <a:latin typeface="Arial" panose="020B0604020202020204" pitchFamily="34" charset="0"/>
            </a:endParaRPr>
          </a:p>
        </p:txBody>
      </p:sp>
    </p:spTree>
    <p:extLst>
      <p:ext uri="{BB962C8B-B14F-4D97-AF65-F5344CB8AC3E}">
        <p14:creationId xmlns:p14="http://schemas.microsoft.com/office/powerpoint/2010/main" val="41097426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183340" y="565805"/>
            <a:ext cx="8175812" cy="5909310"/>
          </a:xfrm>
          <a:prstGeom prst="rect">
            <a:avLst/>
          </a:prstGeom>
        </p:spPr>
        <p:txBody>
          <a:bodyPr wrap="square">
            <a:spAutoFit/>
          </a:bodyPr>
          <a:lstStyle/>
          <a:p>
            <a:r>
              <a:rPr lang="en-IN" dirty="0" smtClean="0"/>
              <a:t>So basically there are two types of operations that can be performed on the database.</a:t>
            </a:r>
          </a:p>
          <a:p>
            <a:endParaRPr lang="en-IN" dirty="0" smtClean="0"/>
          </a:p>
          <a:p>
            <a:r>
              <a:rPr lang="en-IN" dirty="0" smtClean="0"/>
              <a:t>1. Read operation:</a:t>
            </a:r>
          </a:p>
          <a:p>
            <a:r>
              <a:rPr lang="en-IN" dirty="0" smtClean="0"/>
              <a:t>Read the data value from the database. It is a safe operation, as it does not update any information in the database.</a:t>
            </a:r>
          </a:p>
          <a:p>
            <a:endParaRPr lang="en-IN" dirty="0" smtClean="0"/>
          </a:p>
          <a:p>
            <a:r>
              <a:rPr lang="en-IN" dirty="0" smtClean="0"/>
              <a:t>2. Write operation:</a:t>
            </a:r>
          </a:p>
          <a:p>
            <a:r>
              <a:rPr lang="en-IN" dirty="0" smtClean="0"/>
              <a:t>It writes data into the database and saved it for further use. After writing data, data has to be committed (Commit Operation) to making updated information available for further operations. This operation is more prone to vulnerability as it involves modifying database information.</a:t>
            </a:r>
          </a:p>
          <a:p>
            <a:endParaRPr lang="en-IN" dirty="0" smtClean="0"/>
          </a:p>
          <a:p>
            <a:r>
              <a:rPr lang="en-IN" dirty="0" smtClean="0"/>
              <a:t>For a data update operation, it involves both the reading and writing operation.</a:t>
            </a:r>
          </a:p>
          <a:p>
            <a:endParaRPr lang="en-IN" dirty="0" smtClean="0"/>
          </a:p>
          <a:p>
            <a:r>
              <a:rPr lang="en-IN" dirty="0" smtClean="0"/>
              <a:t>What is Transaction in Database?</a:t>
            </a:r>
          </a:p>
          <a:p>
            <a:r>
              <a:rPr lang="en-IN" dirty="0" smtClean="0"/>
              <a:t>The set of these multiple operations/instruction (to accomplish a particular task) are performed on the data. This set is called as Transaction.</a:t>
            </a:r>
          </a:p>
          <a:p>
            <a:endParaRPr lang="en-IN" dirty="0" smtClean="0"/>
          </a:p>
          <a:p>
            <a:r>
              <a:rPr lang="en-IN" dirty="0" smtClean="0"/>
              <a:t>Every entity accessing data holds different transaction and all the transactions execute simultaneously.</a:t>
            </a:r>
          </a:p>
          <a:p>
            <a:endParaRPr lang="en-IN" dirty="0"/>
          </a:p>
        </p:txBody>
      </p:sp>
    </p:spTree>
    <p:extLst>
      <p:ext uri="{BB962C8B-B14F-4D97-AF65-F5344CB8AC3E}">
        <p14:creationId xmlns:p14="http://schemas.microsoft.com/office/powerpoint/2010/main" val="21500490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50576" y="1582341"/>
            <a:ext cx="10690412" cy="3170099"/>
          </a:xfrm>
          <a:prstGeom prst="rect">
            <a:avLst/>
          </a:prstGeom>
        </p:spPr>
        <p:txBody>
          <a:bodyPr wrap="square">
            <a:spAutoFit/>
          </a:bodyPr>
          <a:lstStyle/>
          <a:p>
            <a:pPr fontAlgn="base"/>
            <a:r>
              <a:rPr lang="en-IN" sz="2000" b="0" i="0" dirty="0" smtClean="0">
                <a:solidFill>
                  <a:srgbClr val="656565"/>
                </a:solidFill>
                <a:effectLst/>
                <a:latin typeface="Arial" panose="020B0604020202020204" pitchFamily="34" charset="0"/>
              </a:rPr>
              <a:t>The operations involved in the successful Transaction:</a:t>
            </a:r>
          </a:p>
          <a:p>
            <a:pPr fontAlgn="base">
              <a:buFont typeface="Arial" panose="020B0604020202020204" pitchFamily="34" charset="0"/>
              <a:buChar char="•"/>
            </a:pPr>
            <a:r>
              <a:rPr lang="en-IN" sz="2000" b="0" i="0" dirty="0" smtClean="0">
                <a:solidFill>
                  <a:srgbClr val="656565"/>
                </a:solidFill>
                <a:effectLst/>
                <a:latin typeface="inherit"/>
              </a:rPr>
              <a:t>Read the data</a:t>
            </a:r>
          </a:p>
          <a:p>
            <a:pPr fontAlgn="base">
              <a:buFont typeface="Arial" panose="020B0604020202020204" pitchFamily="34" charset="0"/>
              <a:buChar char="•"/>
            </a:pPr>
            <a:r>
              <a:rPr lang="en-IN" sz="2000" b="0" i="0" dirty="0" smtClean="0">
                <a:solidFill>
                  <a:srgbClr val="656565"/>
                </a:solidFill>
                <a:effectLst/>
                <a:latin typeface="inherit"/>
              </a:rPr>
              <a:t>Modify read data values</a:t>
            </a:r>
          </a:p>
          <a:p>
            <a:pPr fontAlgn="base">
              <a:buFont typeface="Arial" panose="020B0604020202020204" pitchFamily="34" charset="0"/>
              <a:buChar char="•"/>
            </a:pPr>
            <a:r>
              <a:rPr lang="en-IN" sz="2000" b="0" i="0" dirty="0" smtClean="0">
                <a:solidFill>
                  <a:srgbClr val="656565"/>
                </a:solidFill>
                <a:effectLst/>
                <a:latin typeface="inherit"/>
              </a:rPr>
              <a:t>Write the data back</a:t>
            </a:r>
          </a:p>
          <a:p>
            <a:pPr fontAlgn="base">
              <a:buFont typeface="Arial" panose="020B0604020202020204" pitchFamily="34" charset="0"/>
              <a:buChar char="•"/>
            </a:pPr>
            <a:r>
              <a:rPr lang="en-IN" sz="2000" b="0" i="0" dirty="0" smtClean="0">
                <a:solidFill>
                  <a:srgbClr val="656565"/>
                </a:solidFill>
                <a:effectLst/>
                <a:latin typeface="inherit"/>
              </a:rPr>
              <a:t>Commit the transaction</a:t>
            </a:r>
          </a:p>
          <a:p>
            <a:pPr fontAlgn="base"/>
            <a:r>
              <a:rPr lang="en-IN" sz="2000" b="0" i="0" dirty="0" smtClean="0">
                <a:solidFill>
                  <a:srgbClr val="656565"/>
                </a:solidFill>
                <a:effectLst/>
                <a:latin typeface="Arial" panose="020B0604020202020204" pitchFamily="34" charset="0"/>
              </a:rPr>
              <a:t>While performing these operations by the different users on the same data at the same time may arise data conflict. As like, accessing data by one transaction before committing another transaction does not hold good and gives data conflict.</a:t>
            </a:r>
          </a:p>
          <a:p>
            <a:pPr fontAlgn="base"/>
            <a:r>
              <a:rPr lang="en-IN" sz="2000" b="0" i="0" dirty="0" smtClean="0">
                <a:solidFill>
                  <a:srgbClr val="656565"/>
                </a:solidFill>
                <a:effectLst/>
                <a:latin typeface="Arial" panose="020B0604020202020204" pitchFamily="34" charset="0"/>
              </a:rPr>
              <a:t>There are different types of data conflict happens during reading and writing operations called as “Read-Write conflict”.</a:t>
            </a:r>
            <a:endParaRPr lang="en-IN" sz="2000" b="0" i="0" dirty="0">
              <a:solidFill>
                <a:srgbClr val="656565"/>
              </a:solidFill>
              <a:effectLst/>
              <a:latin typeface="Arial" panose="020B0604020202020204" pitchFamily="34" charset="0"/>
            </a:endParaRPr>
          </a:p>
        </p:txBody>
      </p:sp>
    </p:spTree>
    <p:extLst>
      <p:ext uri="{BB962C8B-B14F-4D97-AF65-F5344CB8AC3E}">
        <p14:creationId xmlns:p14="http://schemas.microsoft.com/office/powerpoint/2010/main" val="8621566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16106" y="713618"/>
            <a:ext cx="7772399" cy="2308324"/>
          </a:xfrm>
          <a:prstGeom prst="rect">
            <a:avLst/>
          </a:prstGeom>
        </p:spPr>
        <p:txBody>
          <a:bodyPr wrap="square">
            <a:spAutoFit/>
          </a:bodyPr>
          <a:lstStyle/>
          <a:p>
            <a:pPr fontAlgn="base"/>
            <a:r>
              <a:rPr lang="en-IN" b="0" i="0" dirty="0" smtClean="0">
                <a:solidFill>
                  <a:srgbClr val="656565"/>
                </a:solidFill>
                <a:effectLst/>
                <a:latin typeface="Arial" panose="020B0604020202020204" pitchFamily="34" charset="0"/>
              </a:rPr>
              <a:t>So, there are three types of conflict in the database transaction.</a:t>
            </a:r>
          </a:p>
          <a:p>
            <a:pPr fontAlgn="base">
              <a:buFont typeface="Arial" panose="020B0604020202020204" pitchFamily="34" charset="0"/>
              <a:buChar char="•"/>
            </a:pPr>
            <a:r>
              <a:rPr lang="en-IN" b="0" i="0" dirty="0" smtClean="0">
                <a:solidFill>
                  <a:srgbClr val="656565"/>
                </a:solidFill>
                <a:effectLst/>
                <a:latin typeface="inherit"/>
              </a:rPr>
              <a:t>Write-Read (WR) conflict</a:t>
            </a:r>
          </a:p>
          <a:p>
            <a:pPr fontAlgn="base">
              <a:buFont typeface="Arial" panose="020B0604020202020204" pitchFamily="34" charset="0"/>
              <a:buChar char="•"/>
            </a:pPr>
            <a:r>
              <a:rPr lang="en-IN" b="0" i="0" dirty="0" smtClean="0">
                <a:solidFill>
                  <a:srgbClr val="656565"/>
                </a:solidFill>
                <a:effectLst/>
                <a:latin typeface="inherit"/>
              </a:rPr>
              <a:t>Read-Write (RW) conflict</a:t>
            </a:r>
          </a:p>
          <a:p>
            <a:pPr fontAlgn="base">
              <a:buFont typeface="Arial" panose="020B0604020202020204" pitchFamily="34" charset="0"/>
              <a:buChar char="•"/>
            </a:pPr>
            <a:r>
              <a:rPr lang="en-IN" b="0" i="0" dirty="0" smtClean="0">
                <a:solidFill>
                  <a:srgbClr val="656565"/>
                </a:solidFill>
                <a:effectLst/>
                <a:latin typeface="inherit"/>
              </a:rPr>
              <a:t>Write-Write (WW) conflict</a:t>
            </a:r>
          </a:p>
          <a:p>
            <a:pPr fontAlgn="base"/>
            <a:r>
              <a:rPr lang="en-IN" b="1" dirty="0"/>
              <a:t>What is Write-Read (WR) conflict?</a:t>
            </a:r>
          </a:p>
          <a:p>
            <a:pPr fontAlgn="base"/>
            <a:r>
              <a:rPr lang="en-IN" dirty="0"/>
              <a:t>This conflict occurs when a transaction read the data which is written by the other transaction before committing.</a:t>
            </a:r>
          </a:p>
          <a:p>
            <a:pPr fontAlgn="base">
              <a:buFont typeface="Arial" panose="020B0604020202020204" pitchFamily="34" charset="0"/>
              <a:buChar char="•"/>
            </a:pPr>
            <a:endParaRPr lang="en-IN" b="0" i="0" dirty="0">
              <a:solidFill>
                <a:srgbClr val="656565"/>
              </a:solidFill>
              <a:effectLst/>
              <a:latin typeface="inherit"/>
            </a:endParaRPr>
          </a:p>
        </p:txBody>
      </p:sp>
    </p:spTree>
    <p:extLst>
      <p:ext uri="{BB962C8B-B14F-4D97-AF65-F5344CB8AC3E}">
        <p14:creationId xmlns:p14="http://schemas.microsoft.com/office/powerpoint/2010/main" val="5426132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Write–read conflic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7678" y="695792"/>
            <a:ext cx="5830215" cy="2692868"/>
          </a:xfrm>
          <a:prstGeom prst="rect">
            <a:avLst/>
          </a:prstGeom>
          <a:solidFill>
            <a:srgbClr val="FDFDFD"/>
          </a:solidFill>
        </p:spPr>
      </p:pic>
      <p:sp>
        <p:nvSpPr>
          <p:cNvPr id="3" name="Rectangle 2"/>
          <p:cNvSpPr/>
          <p:nvPr/>
        </p:nvSpPr>
        <p:spPr>
          <a:xfrm>
            <a:off x="1438836" y="4218922"/>
            <a:ext cx="7960657" cy="923330"/>
          </a:xfrm>
          <a:prstGeom prst="rect">
            <a:avLst/>
          </a:prstGeom>
        </p:spPr>
        <p:txBody>
          <a:bodyPr wrap="square">
            <a:spAutoFit/>
          </a:bodyPr>
          <a:lstStyle/>
          <a:p>
            <a:pPr fontAlgn="base"/>
            <a:r>
              <a:rPr lang="en-IN" b="0" i="0" dirty="0" smtClean="0">
                <a:solidFill>
                  <a:srgbClr val="656565"/>
                </a:solidFill>
                <a:effectLst/>
                <a:latin typeface="Arial" panose="020B0604020202020204" pitchFamily="34" charset="0"/>
              </a:rPr>
              <a:t>Here, the transaction T2 is reading the data which is written by the T1 before T2 commits. It is also called as </a:t>
            </a:r>
            <a:r>
              <a:rPr lang="en-IN" b="1" i="0" dirty="0" smtClean="0">
                <a:solidFill>
                  <a:srgbClr val="656565"/>
                </a:solidFill>
                <a:effectLst/>
                <a:latin typeface="Arial" panose="020B0604020202020204" pitchFamily="34" charset="0"/>
              </a:rPr>
              <a:t>Dirty Read</a:t>
            </a:r>
            <a:r>
              <a:rPr lang="en-IN" b="0" i="0" dirty="0" smtClean="0">
                <a:solidFill>
                  <a:srgbClr val="656565"/>
                </a:solidFill>
                <a:effectLst/>
                <a:latin typeface="Arial" panose="020B0604020202020204" pitchFamily="34" charset="0"/>
              </a:rPr>
              <a:t>.</a:t>
            </a:r>
          </a:p>
          <a:p>
            <a:pPr fontAlgn="base"/>
            <a:r>
              <a:rPr lang="en-IN" b="0" i="0" dirty="0" smtClean="0">
                <a:solidFill>
                  <a:srgbClr val="656565"/>
                </a:solidFill>
                <a:effectLst/>
                <a:latin typeface="Arial" panose="020B0604020202020204" pitchFamily="34" charset="0"/>
              </a:rPr>
              <a:t>It violates the </a:t>
            </a:r>
            <a:r>
              <a:rPr lang="en-IN" b="1" i="0" u="none" strike="noStrike" dirty="0" smtClean="0">
                <a:solidFill>
                  <a:srgbClr val="2075BF"/>
                </a:solidFill>
                <a:effectLst/>
                <a:latin typeface="inherit"/>
                <a:hlinkClick r:id="rId3"/>
              </a:rPr>
              <a:t>ACID property of data consistency rule</a:t>
            </a:r>
            <a:r>
              <a:rPr lang="en-IN" b="0" i="0" dirty="0" smtClean="0">
                <a:solidFill>
                  <a:srgbClr val="656565"/>
                </a:solidFill>
                <a:effectLst/>
                <a:latin typeface="Arial" panose="020B0604020202020204" pitchFamily="34" charset="0"/>
              </a:rPr>
              <a:t>.</a:t>
            </a:r>
            <a:endParaRPr lang="en-IN" b="0" i="0" dirty="0">
              <a:solidFill>
                <a:srgbClr val="656565"/>
              </a:solidFill>
              <a:effectLst/>
              <a:latin typeface="Arial" panose="020B0604020202020204" pitchFamily="34" charset="0"/>
            </a:endParaRPr>
          </a:p>
        </p:txBody>
      </p:sp>
    </p:spTree>
    <p:extLst>
      <p:ext uri="{BB962C8B-B14F-4D97-AF65-F5344CB8AC3E}">
        <p14:creationId xmlns:p14="http://schemas.microsoft.com/office/powerpoint/2010/main" val="30892827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0" y="2828836"/>
            <a:ext cx="6096000" cy="646331"/>
          </a:xfrm>
          <a:prstGeom prst="rect">
            <a:avLst/>
          </a:prstGeom>
        </p:spPr>
        <p:txBody>
          <a:bodyPr>
            <a:spAutoFit/>
          </a:bodyPr>
          <a:lstStyle/>
          <a:p>
            <a:pPr fontAlgn="base"/>
            <a:endParaRPr lang="en-IN" b="0" i="0" dirty="0" smtClean="0">
              <a:solidFill>
                <a:srgbClr val="656565"/>
              </a:solidFill>
              <a:effectLst/>
              <a:latin typeface="Arial" panose="020B0604020202020204" pitchFamily="34" charset="0"/>
            </a:endParaRPr>
          </a:p>
          <a:p>
            <a:pPr fontAlgn="base"/>
            <a:endParaRPr lang="en-IN" b="0" i="0" dirty="0">
              <a:solidFill>
                <a:srgbClr val="656565"/>
              </a:solidFill>
              <a:effectLst/>
              <a:latin typeface="Arial" panose="020B0604020202020204" pitchFamily="34" charset="0"/>
            </a:endParaRPr>
          </a:p>
        </p:txBody>
      </p:sp>
      <p:sp>
        <p:nvSpPr>
          <p:cNvPr id="5" name="Rectangle 3"/>
          <p:cNvSpPr>
            <a:spLocks noChangeArrowheads="1"/>
          </p:cNvSpPr>
          <p:nvPr/>
        </p:nvSpPr>
        <p:spPr bwMode="auto">
          <a:xfrm>
            <a:off x="568707" y="162391"/>
            <a:ext cx="9113176" cy="336268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79331" rIns="0" bIns="133308"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smtClean="0">
                <a:ln>
                  <a:noFill/>
                </a:ln>
                <a:solidFill>
                  <a:srgbClr val="EA3F06"/>
                </a:solidFill>
                <a:effectLst/>
                <a:cs typeface="Arial" panose="020B0604020202020204" pitchFamily="34" charset="0"/>
              </a:rPr>
              <a:t>What is Read-Write (RW) conflict?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i="0" u="none" strike="noStrike" cap="none" normalizeH="0" baseline="0" dirty="0" smtClean="0">
                <a:ln>
                  <a:noFill/>
                </a:ln>
                <a:effectLst/>
                <a:cs typeface="Arial" panose="020B0604020202020204" pitchFamily="34" charset="0"/>
              </a:rPr>
              <a:t>Transaction T2 is Writing data which is previously read by transaction T1.</a:t>
            </a:r>
            <a:endParaRPr kumimoji="0" lang="en-US" altLang="en-US" sz="1600" i="0" u="none" strike="noStrike" cap="none" normalizeH="0" baseline="0" dirty="0" smtClean="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i="0" u="none" strike="noStrike" cap="none" normalizeH="0" baseline="0" dirty="0" smtClean="0">
                <a:ln>
                  <a:noFill/>
                </a:ln>
                <a:effectLst/>
                <a:cs typeface="Arial" panose="020B0604020202020204" pitchFamily="34" charset="0"/>
              </a:rPr>
              <a:t>Here if you look at the diagram above, data read by transaction T1 before and after T2 commits is different.</a:t>
            </a:r>
            <a:endParaRPr kumimoji="0" lang="en-US" altLang="en-US" sz="1600" i="0" u="none" strike="noStrike" cap="none" normalizeH="0" baseline="0" dirty="0" smtClean="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i="0" u="none" strike="noStrike" cap="none" normalizeH="0" baseline="0" dirty="0" smtClean="0">
                <a:ln>
                  <a:noFill/>
                </a:ln>
                <a:effectLst/>
                <a:cs typeface="Arial" panose="020B0604020202020204" pitchFamily="34" charset="0"/>
              </a:rPr>
              <a:t>Example:</a:t>
            </a:r>
            <a:endParaRPr kumimoji="0" lang="en-US" altLang="en-US" sz="1600" i="0" u="none" strike="noStrike" cap="none" normalizeH="0" baseline="0" dirty="0" smtClean="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i="0" u="none" strike="noStrike" cap="none" normalizeH="0" baseline="0" dirty="0" smtClean="0">
                <a:ln>
                  <a:noFill/>
                </a:ln>
                <a:effectLst/>
                <a:cs typeface="Arial" panose="020B0604020202020204" pitchFamily="34" charset="0"/>
              </a:rPr>
              <a:t>Suppose Alice and Bob want to book the flight for their vacation. Alice open airlines website to check the availability and cost of the ticket. There is only one ticket is available. Alice finds it expensive and looks for other airlines fares if she gets any offers.</a:t>
            </a:r>
            <a:endParaRPr kumimoji="0" lang="en-US" altLang="en-US" sz="1600" i="0" u="none" strike="noStrike" cap="none" normalizeH="0" baseline="0" dirty="0" smtClean="0">
              <a:ln>
                <a:noFill/>
              </a:ln>
              <a:effectLst/>
            </a:endParaRPr>
          </a:p>
          <a:p>
            <a:pPr lvl="0"/>
            <a:r>
              <a:rPr kumimoji="0" lang="en-US" altLang="en-US" sz="1600" i="0" u="none" strike="noStrike" cap="none" normalizeH="0" baseline="0" dirty="0" smtClean="0">
                <a:ln>
                  <a:noFill/>
                </a:ln>
                <a:effectLst/>
                <a:cs typeface="Arial" panose="020B0604020202020204" pitchFamily="34" charset="0"/>
              </a:rPr>
              <a:t>Meanwhile, Bob logins to the same airline portal and book the ticket. Now, there is no more flight ticket available.</a:t>
            </a:r>
            <a:r>
              <a:rPr lang="en-IN" sz="1600" dirty="0"/>
              <a:t> Alice does not find any good offer on other airlines portal, she comes back to the previous airline portal. And tried to book a flight ticket even it is not available. Its Conflict, Read-Write (WR) conflict.</a:t>
            </a:r>
            <a:endParaRPr kumimoji="0" lang="en-US" altLang="en-US" sz="1600" i="0" u="none" strike="noStrike" cap="none" normalizeH="0" baseline="0" dirty="0" smtClean="0">
              <a:ln>
                <a:noFill/>
              </a:ln>
              <a:effectLst/>
              <a:cs typeface="Arial" panose="020B0604020202020204" pitchFamily="34" charset="0"/>
            </a:endParaRPr>
          </a:p>
        </p:txBody>
      </p:sp>
      <p:pic>
        <p:nvPicPr>
          <p:cNvPr id="1028" name="Picture 4" descr="Read–write (RW) conflic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94920" y="3906124"/>
            <a:ext cx="6496998" cy="19431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57126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1546412" y="298797"/>
            <a:ext cx="8861612" cy="296257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79331" rIns="0" bIns="133308"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smtClean="0">
                <a:ln>
                  <a:noFill/>
                </a:ln>
                <a:solidFill>
                  <a:srgbClr val="EA3F06"/>
                </a:solidFill>
                <a:effectLst/>
                <a:latin typeface="Arial" panose="020B0604020202020204" pitchFamily="34" charset="0"/>
                <a:cs typeface="Arial" panose="020B0604020202020204" pitchFamily="34" charset="0"/>
              </a:rPr>
              <a:t>What is Write-Write (WW) conflict?</a:t>
            </a: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smtClean="0">
                <a:ln>
                  <a:noFill/>
                </a:ln>
                <a:solidFill>
                  <a:srgbClr val="656565"/>
                </a:solidFill>
                <a:effectLst/>
                <a:latin typeface="Arial" panose="020B0604020202020204" pitchFamily="34" charset="0"/>
                <a:cs typeface="Arial" panose="020B0604020202020204" pitchFamily="34" charset="0"/>
              </a:rPr>
              <a:t> </a:t>
            </a:r>
            <a:r>
              <a:rPr kumimoji="0" lang="en-US" altLang="en-US" sz="1600" b="0" i="0" u="none" strike="noStrike" cap="none" normalizeH="0" baseline="0" dirty="0" smtClean="0">
                <a:ln>
                  <a:noFill/>
                </a:ln>
                <a:solidFill>
                  <a:srgbClr val="656565"/>
                </a:solidFill>
                <a:effectLst/>
                <a:cs typeface="Arial" panose="020B0604020202020204" pitchFamily="34" charset="0"/>
              </a:rPr>
              <a:t>Here Transaction T2 is writing data which is already written by other transaction T1. T2 overwrites the data written by T1. It is also called as a </a:t>
            </a:r>
            <a:r>
              <a:rPr kumimoji="0" lang="en-US" altLang="en-US" sz="1600" b="1" i="0" u="none" strike="noStrike" cap="none" normalizeH="0" baseline="0" dirty="0" smtClean="0">
                <a:ln>
                  <a:noFill/>
                </a:ln>
                <a:solidFill>
                  <a:srgbClr val="656565"/>
                </a:solidFill>
                <a:effectLst/>
                <a:cs typeface="Arial" panose="020B0604020202020204" pitchFamily="34" charset="0"/>
              </a:rPr>
              <a:t>blind write operation</a:t>
            </a:r>
            <a:r>
              <a:rPr kumimoji="0" lang="en-US" altLang="en-US" sz="1600" b="0" i="0" u="none" strike="noStrike" cap="none" normalizeH="0" baseline="0" dirty="0" smtClean="0">
                <a:ln>
                  <a:noFill/>
                </a:ln>
                <a:solidFill>
                  <a:srgbClr val="656565"/>
                </a:solidFill>
                <a:effectLst/>
                <a:cs typeface="Arial" panose="020B0604020202020204" pitchFamily="34" charset="0"/>
              </a:rPr>
              <a:t>.</a:t>
            </a:r>
            <a:endParaRPr kumimoji="0" lang="en-US" altLang="en-US" sz="1600" b="0" i="0" u="none" strike="noStrike" cap="none" normalizeH="0" baseline="0" dirty="0" smtClean="0">
              <a:ln>
                <a:noFill/>
              </a:ln>
              <a:solidFill>
                <a:schemeClr val="tx1"/>
              </a:solidFill>
              <a:effectLst/>
            </a:endParaRP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smtClean="0">
                <a:ln>
                  <a:noFill/>
                </a:ln>
                <a:solidFill>
                  <a:srgbClr val="656565"/>
                </a:solidFill>
                <a:effectLst/>
                <a:cs typeface="Arial" panose="020B0604020202020204" pitchFamily="34" charset="0"/>
              </a:rPr>
              <a:t>Data written by T1 has vanished. So it is </a:t>
            </a:r>
            <a:r>
              <a:rPr kumimoji="0" lang="en-US" altLang="en-US" sz="1600" b="1" i="0" u="none" strike="noStrike" cap="none" normalizeH="0" baseline="0" dirty="0" smtClean="0">
                <a:ln>
                  <a:noFill/>
                </a:ln>
                <a:solidFill>
                  <a:srgbClr val="656565"/>
                </a:solidFill>
                <a:effectLst/>
                <a:cs typeface="Arial" panose="020B0604020202020204" pitchFamily="34" charset="0"/>
              </a:rPr>
              <a:t>data update loss</a:t>
            </a:r>
            <a:r>
              <a:rPr kumimoji="0" lang="en-US" altLang="en-US" sz="1600" b="0" i="0" u="none" strike="noStrike" cap="none" normalizeH="0" baseline="0" dirty="0" smtClean="0">
                <a:ln>
                  <a:noFill/>
                </a:ln>
                <a:solidFill>
                  <a:srgbClr val="656565"/>
                </a:solidFill>
                <a:effectLst/>
                <a:cs typeface="Arial" panose="020B0604020202020204" pitchFamily="34" charset="0"/>
              </a:rPr>
              <a:t>.</a:t>
            </a:r>
            <a:endParaRPr kumimoji="0" lang="en-US" altLang="en-US" sz="1600" b="0" i="0" u="none" strike="noStrike" cap="none" normalizeH="0" baseline="0" dirty="0" smtClean="0">
              <a:ln>
                <a:noFill/>
              </a:ln>
              <a:solidFill>
                <a:schemeClr val="tx1"/>
              </a:solidFill>
              <a:effectLst/>
            </a:endParaRP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smtClean="0">
                <a:ln>
                  <a:noFill/>
                </a:ln>
                <a:solidFill>
                  <a:srgbClr val="656565"/>
                </a:solidFill>
                <a:effectLst/>
                <a:cs typeface="Arial" panose="020B0604020202020204" pitchFamily="34" charset="0"/>
              </a:rPr>
              <a:t>Example:</a:t>
            </a:r>
            <a:endParaRPr kumimoji="0" lang="en-US" altLang="en-US" sz="1600" b="0" i="0" u="none" strike="noStrike" cap="none" normalizeH="0" baseline="0" dirty="0" smtClean="0">
              <a:ln>
                <a:noFill/>
              </a:ln>
              <a:solidFill>
                <a:schemeClr val="tx1"/>
              </a:solidFill>
              <a:effectLst/>
            </a:endParaRP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smtClean="0">
                <a:ln>
                  <a:noFill/>
                </a:ln>
                <a:solidFill>
                  <a:srgbClr val="656565"/>
                </a:solidFill>
                <a:effectLst/>
                <a:cs typeface="Arial" panose="020B0604020202020204" pitchFamily="34" charset="0"/>
              </a:rPr>
              <a:t>Alice and Bob share common Google-sheet online. Both read the file. Alice updates the document and forgets to save the file. On another end, Bob updates the Google sheet and save the file.</a:t>
            </a:r>
            <a:endParaRPr kumimoji="0" lang="en-US" altLang="en-US" sz="1600" b="0" i="0" u="none" strike="noStrike" cap="none" normalizeH="0" baseline="0" dirty="0" smtClean="0">
              <a:ln>
                <a:noFill/>
              </a:ln>
              <a:solidFill>
                <a:schemeClr val="tx1"/>
              </a:solidFill>
              <a:effectLst/>
            </a:endParaRP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smtClean="0">
                <a:ln>
                  <a:noFill/>
                </a:ln>
                <a:solidFill>
                  <a:srgbClr val="656565"/>
                </a:solidFill>
                <a:effectLst/>
                <a:cs typeface="Arial" panose="020B0604020202020204" pitchFamily="34" charset="0"/>
              </a:rPr>
              <a:t>The content updated by Alice is overwritten by Bob. The data updated by Alice is lost. It is called as Write-Write (WW) conflict.</a:t>
            </a:r>
            <a:endParaRPr kumimoji="0" lang="en-US" altLang="en-US" sz="1600" b="0" i="0" u="none" strike="noStrike" cap="none" normalizeH="0" baseline="0" dirty="0" smtClean="0">
              <a:ln>
                <a:noFill/>
              </a:ln>
              <a:solidFill>
                <a:schemeClr val="tx1"/>
              </a:solidFill>
              <a:effectLst/>
            </a:endParaRP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smtClean="0">
                <a:ln>
                  <a:noFill/>
                </a:ln>
                <a:solidFill>
                  <a:srgbClr val="656565"/>
                </a:solidFill>
                <a:effectLst/>
                <a:latin typeface="Arial" panose="020B0604020202020204" pitchFamily="34" charset="0"/>
                <a:cs typeface="Arial" panose="020B0604020202020204" pitchFamily="34" charset="0"/>
              </a:rPr>
              <a:t/>
            </a:r>
            <a:br>
              <a:rPr kumimoji="0" lang="en-US" altLang="en-US" sz="1200" b="0" i="0" u="none" strike="noStrike" cap="none" normalizeH="0" baseline="0" dirty="0" smtClean="0">
                <a:ln>
                  <a:noFill/>
                </a:ln>
                <a:solidFill>
                  <a:srgbClr val="656565"/>
                </a:solidFill>
                <a:effectLst/>
                <a:latin typeface="Arial" panose="020B0604020202020204" pitchFamily="34" charset="0"/>
                <a:cs typeface="Arial" panose="020B0604020202020204" pitchFamily="34" charset="0"/>
              </a:rPr>
            </a:br>
            <a:endParaRPr kumimoji="0" lang="en-US" altLang="en-US" sz="1200" b="0" i="0" u="none" strike="noStrike" cap="none" normalizeH="0" baseline="0" dirty="0" smtClean="0">
              <a:ln>
                <a:noFill/>
              </a:ln>
              <a:solidFill>
                <a:srgbClr val="656565"/>
              </a:solidFill>
              <a:effectLst/>
              <a:latin typeface="Arial" panose="020B0604020202020204" pitchFamily="34" charset="0"/>
              <a:cs typeface="Arial" panose="020B0604020202020204" pitchFamily="34" charset="0"/>
            </a:endParaRPr>
          </a:p>
        </p:txBody>
      </p:sp>
      <p:pic>
        <p:nvPicPr>
          <p:cNvPr id="5122" name="Picture 2" descr="Write–write (WW) conflic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93576" y="3261368"/>
            <a:ext cx="7732059" cy="2367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86761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DBMS Conflict Serializable Schedu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33045" y="1218171"/>
            <a:ext cx="8517778" cy="4967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00297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39470" y="1063242"/>
            <a:ext cx="7440705" cy="2677656"/>
          </a:xfrm>
          <a:prstGeom prst="rect">
            <a:avLst/>
          </a:prstGeom>
        </p:spPr>
        <p:txBody>
          <a:bodyPr wrap="square">
            <a:spAutoFit/>
          </a:bodyPr>
          <a:lstStyle/>
          <a:p>
            <a:pPr fontAlgn="base"/>
            <a:r>
              <a:rPr lang="en-IN" sz="2800" b="1" u="sng" dirty="0">
                <a:solidFill>
                  <a:srgbClr val="303030"/>
                </a:solidFill>
                <a:latin typeface="roboto condensed"/>
              </a:rPr>
              <a:t>Problem-01:</a:t>
            </a:r>
            <a:endParaRPr lang="en-IN" sz="2800" b="1" dirty="0">
              <a:solidFill>
                <a:srgbClr val="303030"/>
              </a:solidFill>
              <a:latin typeface="roboto condensed"/>
            </a:endParaRPr>
          </a:p>
          <a:p>
            <a:pPr fontAlgn="base"/>
            <a:r>
              <a:rPr lang="en-IN" sz="2800" dirty="0">
                <a:solidFill>
                  <a:srgbClr val="303030"/>
                </a:solidFill>
                <a:latin typeface="Arimo"/>
              </a:rPr>
              <a:t> </a:t>
            </a:r>
          </a:p>
          <a:p>
            <a:pPr fontAlgn="base"/>
            <a:r>
              <a:rPr lang="en-IN" sz="2800" dirty="0">
                <a:solidFill>
                  <a:srgbClr val="303030"/>
                </a:solidFill>
                <a:latin typeface="Arimo"/>
              </a:rPr>
              <a:t>Check whether the given schedule S is conflict serializable or not-</a:t>
            </a:r>
          </a:p>
          <a:p>
            <a:pPr algn="ctr" fontAlgn="base"/>
            <a:r>
              <a:rPr lang="en-IN" sz="2800" b="1" dirty="0">
                <a:solidFill>
                  <a:srgbClr val="303030"/>
                </a:solidFill>
                <a:latin typeface="Arimo"/>
              </a:rPr>
              <a:t>S : R</a:t>
            </a:r>
            <a:r>
              <a:rPr lang="en-IN" sz="2800" b="1" baseline="-25000" dirty="0">
                <a:solidFill>
                  <a:srgbClr val="303030"/>
                </a:solidFill>
                <a:latin typeface="Arimo"/>
              </a:rPr>
              <a:t>1</a:t>
            </a:r>
            <a:r>
              <a:rPr lang="en-IN" sz="2800" b="1" dirty="0">
                <a:solidFill>
                  <a:srgbClr val="303030"/>
                </a:solidFill>
                <a:latin typeface="Arimo"/>
              </a:rPr>
              <a:t>(A) , R</a:t>
            </a:r>
            <a:r>
              <a:rPr lang="en-IN" sz="2800" b="1" baseline="-25000" dirty="0">
                <a:solidFill>
                  <a:srgbClr val="303030"/>
                </a:solidFill>
                <a:latin typeface="Arimo"/>
              </a:rPr>
              <a:t>2</a:t>
            </a:r>
            <a:r>
              <a:rPr lang="en-IN" sz="2800" b="1" dirty="0">
                <a:solidFill>
                  <a:srgbClr val="303030"/>
                </a:solidFill>
                <a:latin typeface="Arimo"/>
              </a:rPr>
              <a:t>(A) , R</a:t>
            </a:r>
            <a:r>
              <a:rPr lang="en-IN" sz="2800" b="1" baseline="-25000" dirty="0">
                <a:solidFill>
                  <a:srgbClr val="303030"/>
                </a:solidFill>
                <a:latin typeface="Arimo"/>
              </a:rPr>
              <a:t>1</a:t>
            </a:r>
            <a:r>
              <a:rPr lang="en-IN" sz="2800" b="1" dirty="0">
                <a:solidFill>
                  <a:srgbClr val="303030"/>
                </a:solidFill>
                <a:latin typeface="Arimo"/>
              </a:rPr>
              <a:t>(B) , R</a:t>
            </a:r>
            <a:r>
              <a:rPr lang="en-IN" sz="2800" b="1" baseline="-25000" dirty="0">
                <a:solidFill>
                  <a:srgbClr val="303030"/>
                </a:solidFill>
                <a:latin typeface="Arimo"/>
              </a:rPr>
              <a:t>2</a:t>
            </a:r>
            <a:r>
              <a:rPr lang="en-IN" sz="2800" b="1" dirty="0">
                <a:solidFill>
                  <a:srgbClr val="303030"/>
                </a:solidFill>
                <a:latin typeface="Arimo"/>
              </a:rPr>
              <a:t>(B) , R</a:t>
            </a:r>
            <a:r>
              <a:rPr lang="en-IN" sz="2800" b="1" baseline="-25000" dirty="0">
                <a:solidFill>
                  <a:srgbClr val="303030"/>
                </a:solidFill>
                <a:latin typeface="Arimo"/>
              </a:rPr>
              <a:t>3</a:t>
            </a:r>
            <a:r>
              <a:rPr lang="en-IN" sz="2800" b="1" dirty="0">
                <a:solidFill>
                  <a:srgbClr val="303030"/>
                </a:solidFill>
                <a:latin typeface="Arimo"/>
              </a:rPr>
              <a:t>(B) , W</a:t>
            </a:r>
            <a:r>
              <a:rPr lang="en-IN" sz="2800" b="1" baseline="-25000" dirty="0">
                <a:solidFill>
                  <a:srgbClr val="303030"/>
                </a:solidFill>
                <a:latin typeface="Arimo"/>
              </a:rPr>
              <a:t>1</a:t>
            </a:r>
            <a:r>
              <a:rPr lang="en-IN" sz="2800" b="1" dirty="0">
                <a:solidFill>
                  <a:srgbClr val="303030"/>
                </a:solidFill>
                <a:latin typeface="Arimo"/>
              </a:rPr>
              <a:t>(A) , W</a:t>
            </a:r>
            <a:r>
              <a:rPr lang="en-IN" sz="2800" b="1" baseline="-25000" dirty="0">
                <a:solidFill>
                  <a:srgbClr val="303030"/>
                </a:solidFill>
                <a:latin typeface="Arimo"/>
              </a:rPr>
              <a:t>2</a:t>
            </a:r>
            <a:r>
              <a:rPr lang="en-IN" sz="2800" b="1" dirty="0">
                <a:solidFill>
                  <a:srgbClr val="303030"/>
                </a:solidFill>
                <a:latin typeface="Arimo"/>
              </a:rPr>
              <a:t>(B)</a:t>
            </a:r>
            <a:endParaRPr lang="en-IN" sz="2800" b="0" i="0" dirty="0">
              <a:solidFill>
                <a:srgbClr val="303030"/>
              </a:solidFill>
              <a:effectLst/>
              <a:latin typeface="Arimo"/>
            </a:endParaRPr>
          </a:p>
        </p:txBody>
      </p:sp>
    </p:spTree>
    <p:extLst>
      <p:ext uri="{BB962C8B-B14F-4D97-AF65-F5344CB8AC3E}">
        <p14:creationId xmlns:p14="http://schemas.microsoft.com/office/powerpoint/2010/main" val="23380355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34352" y="579147"/>
            <a:ext cx="6096000" cy="2308324"/>
          </a:xfrm>
          <a:prstGeom prst="rect">
            <a:avLst/>
          </a:prstGeom>
        </p:spPr>
        <p:txBody>
          <a:bodyPr>
            <a:spAutoFit/>
          </a:bodyPr>
          <a:lstStyle/>
          <a:p>
            <a:pPr fontAlgn="base"/>
            <a:r>
              <a:rPr lang="en-IN" sz="2400" dirty="0">
                <a:solidFill>
                  <a:srgbClr val="303030"/>
                </a:solidFill>
                <a:latin typeface="Arimo"/>
              </a:rPr>
              <a:t>List all the conflicting operations and determine the dependency between the transactions-</a:t>
            </a:r>
          </a:p>
          <a:p>
            <a:pPr fontAlgn="base">
              <a:buFont typeface="Arial" panose="020B0604020202020204" pitchFamily="34" charset="0"/>
              <a:buChar char="•"/>
            </a:pPr>
            <a:r>
              <a:rPr lang="en-IN" sz="2400" dirty="0">
                <a:solidFill>
                  <a:srgbClr val="303030"/>
                </a:solidFill>
                <a:latin typeface="Arimo"/>
              </a:rPr>
              <a:t>R</a:t>
            </a:r>
            <a:r>
              <a:rPr lang="en-IN" sz="2400" baseline="-25000" dirty="0">
                <a:solidFill>
                  <a:srgbClr val="303030"/>
                </a:solidFill>
                <a:latin typeface="Arimo"/>
              </a:rPr>
              <a:t>2</a:t>
            </a:r>
            <a:r>
              <a:rPr lang="en-IN" sz="2400" dirty="0">
                <a:solidFill>
                  <a:srgbClr val="303030"/>
                </a:solidFill>
                <a:latin typeface="Arimo"/>
              </a:rPr>
              <a:t>(A) , W</a:t>
            </a:r>
            <a:r>
              <a:rPr lang="en-IN" sz="2400" baseline="-25000" dirty="0">
                <a:solidFill>
                  <a:srgbClr val="303030"/>
                </a:solidFill>
                <a:latin typeface="Arimo"/>
              </a:rPr>
              <a:t>1</a:t>
            </a:r>
            <a:r>
              <a:rPr lang="en-IN" sz="2400" dirty="0">
                <a:solidFill>
                  <a:srgbClr val="303030"/>
                </a:solidFill>
                <a:latin typeface="Arimo"/>
              </a:rPr>
              <a:t>(A) (T</a:t>
            </a:r>
            <a:r>
              <a:rPr lang="en-IN" sz="2400" baseline="-25000" dirty="0">
                <a:solidFill>
                  <a:srgbClr val="303030"/>
                </a:solidFill>
                <a:latin typeface="Arimo"/>
              </a:rPr>
              <a:t>2</a:t>
            </a:r>
            <a:r>
              <a:rPr lang="en-IN" sz="2400" dirty="0">
                <a:solidFill>
                  <a:srgbClr val="303030"/>
                </a:solidFill>
                <a:latin typeface="Arimo"/>
              </a:rPr>
              <a:t> → T</a:t>
            </a:r>
            <a:r>
              <a:rPr lang="en-IN" sz="2400" baseline="-25000" dirty="0">
                <a:solidFill>
                  <a:srgbClr val="303030"/>
                </a:solidFill>
                <a:latin typeface="Arimo"/>
              </a:rPr>
              <a:t>1</a:t>
            </a:r>
            <a:r>
              <a:rPr lang="en-IN" sz="2400" dirty="0">
                <a:solidFill>
                  <a:srgbClr val="303030"/>
                </a:solidFill>
                <a:latin typeface="Arimo"/>
              </a:rPr>
              <a:t>)</a:t>
            </a:r>
          </a:p>
          <a:p>
            <a:pPr fontAlgn="base">
              <a:buFont typeface="Arial" panose="020B0604020202020204" pitchFamily="34" charset="0"/>
              <a:buChar char="•"/>
            </a:pPr>
            <a:r>
              <a:rPr lang="en-IN" sz="2400" dirty="0">
                <a:solidFill>
                  <a:srgbClr val="303030"/>
                </a:solidFill>
                <a:latin typeface="Arimo"/>
              </a:rPr>
              <a:t>R</a:t>
            </a:r>
            <a:r>
              <a:rPr lang="en-IN" sz="2400" baseline="-25000" dirty="0">
                <a:solidFill>
                  <a:srgbClr val="303030"/>
                </a:solidFill>
                <a:latin typeface="Arimo"/>
              </a:rPr>
              <a:t>1</a:t>
            </a:r>
            <a:r>
              <a:rPr lang="en-IN" sz="2400" dirty="0">
                <a:solidFill>
                  <a:srgbClr val="303030"/>
                </a:solidFill>
                <a:latin typeface="Arimo"/>
              </a:rPr>
              <a:t>(B) , W</a:t>
            </a:r>
            <a:r>
              <a:rPr lang="en-IN" sz="2400" baseline="-25000" dirty="0">
                <a:solidFill>
                  <a:srgbClr val="303030"/>
                </a:solidFill>
                <a:latin typeface="Arimo"/>
              </a:rPr>
              <a:t>2</a:t>
            </a:r>
            <a:r>
              <a:rPr lang="en-IN" sz="2400" dirty="0">
                <a:solidFill>
                  <a:srgbClr val="303030"/>
                </a:solidFill>
                <a:latin typeface="Arimo"/>
              </a:rPr>
              <a:t>(B) (T</a:t>
            </a:r>
            <a:r>
              <a:rPr lang="en-IN" sz="2400" baseline="-25000" dirty="0">
                <a:solidFill>
                  <a:srgbClr val="303030"/>
                </a:solidFill>
                <a:latin typeface="Arimo"/>
              </a:rPr>
              <a:t>1</a:t>
            </a:r>
            <a:r>
              <a:rPr lang="en-IN" sz="2400" dirty="0">
                <a:solidFill>
                  <a:srgbClr val="303030"/>
                </a:solidFill>
                <a:latin typeface="Arimo"/>
              </a:rPr>
              <a:t> → T</a:t>
            </a:r>
            <a:r>
              <a:rPr lang="en-IN" sz="2400" baseline="-25000" dirty="0">
                <a:solidFill>
                  <a:srgbClr val="303030"/>
                </a:solidFill>
                <a:latin typeface="Arimo"/>
              </a:rPr>
              <a:t>2</a:t>
            </a:r>
            <a:r>
              <a:rPr lang="en-IN" sz="2400" dirty="0">
                <a:solidFill>
                  <a:srgbClr val="303030"/>
                </a:solidFill>
                <a:latin typeface="Arimo"/>
              </a:rPr>
              <a:t>)</a:t>
            </a:r>
          </a:p>
          <a:p>
            <a:pPr fontAlgn="base">
              <a:buFont typeface="Arial" panose="020B0604020202020204" pitchFamily="34" charset="0"/>
              <a:buChar char="•"/>
            </a:pPr>
            <a:r>
              <a:rPr lang="en-IN" sz="2400" dirty="0">
                <a:solidFill>
                  <a:srgbClr val="303030"/>
                </a:solidFill>
                <a:latin typeface="Arimo"/>
              </a:rPr>
              <a:t>R</a:t>
            </a:r>
            <a:r>
              <a:rPr lang="en-IN" sz="2400" baseline="-25000" dirty="0">
                <a:solidFill>
                  <a:srgbClr val="303030"/>
                </a:solidFill>
                <a:latin typeface="Arimo"/>
              </a:rPr>
              <a:t>3</a:t>
            </a:r>
            <a:r>
              <a:rPr lang="en-IN" sz="2400" dirty="0">
                <a:solidFill>
                  <a:srgbClr val="303030"/>
                </a:solidFill>
                <a:latin typeface="Arimo"/>
              </a:rPr>
              <a:t>(B) , W</a:t>
            </a:r>
            <a:r>
              <a:rPr lang="en-IN" sz="2400" baseline="-25000" dirty="0">
                <a:solidFill>
                  <a:srgbClr val="303030"/>
                </a:solidFill>
                <a:latin typeface="Arimo"/>
              </a:rPr>
              <a:t>2</a:t>
            </a:r>
            <a:r>
              <a:rPr lang="en-IN" sz="2400" dirty="0">
                <a:solidFill>
                  <a:srgbClr val="303030"/>
                </a:solidFill>
                <a:latin typeface="Arimo"/>
              </a:rPr>
              <a:t>(B) (T</a:t>
            </a:r>
            <a:r>
              <a:rPr lang="en-IN" sz="2400" baseline="-25000" dirty="0">
                <a:solidFill>
                  <a:srgbClr val="303030"/>
                </a:solidFill>
                <a:latin typeface="Arimo"/>
              </a:rPr>
              <a:t>3</a:t>
            </a:r>
            <a:r>
              <a:rPr lang="en-IN" sz="2400" dirty="0">
                <a:solidFill>
                  <a:srgbClr val="303030"/>
                </a:solidFill>
                <a:latin typeface="Arimo"/>
              </a:rPr>
              <a:t> → T</a:t>
            </a:r>
            <a:r>
              <a:rPr lang="en-IN" sz="2400" baseline="-25000" dirty="0">
                <a:solidFill>
                  <a:srgbClr val="303030"/>
                </a:solidFill>
                <a:latin typeface="Arimo"/>
              </a:rPr>
              <a:t>2</a:t>
            </a:r>
            <a:r>
              <a:rPr lang="en-IN" sz="2400" dirty="0">
                <a:solidFill>
                  <a:srgbClr val="303030"/>
                </a:solidFill>
                <a:latin typeface="Arimo"/>
              </a:rPr>
              <a:t>)</a:t>
            </a:r>
            <a:endParaRPr lang="en-IN" sz="2400" b="0" i="0" dirty="0">
              <a:solidFill>
                <a:srgbClr val="303030"/>
              </a:solidFill>
              <a:effectLst/>
              <a:latin typeface="Arimo"/>
            </a:endParaRPr>
          </a:p>
        </p:txBody>
      </p:sp>
      <p:pic>
        <p:nvPicPr>
          <p:cNvPr id="1026" name="Picture 2" descr="https://www.gatevidyalay.com/wp-content/uploads/2018/06/Conflict-Serializability-Problem-0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33245" y="3709147"/>
            <a:ext cx="2495550" cy="183832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2480795" y="5722817"/>
            <a:ext cx="6096000" cy="646331"/>
          </a:xfrm>
          <a:prstGeom prst="rect">
            <a:avLst/>
          </a:prstGeom>
        </p:spPr>
        <p:txBody>
          <a:bodyPr>
            <a:spAutoFit/>
          </a:bodyPr>
          <a:lstStyle/>
          <a:p>
            <a:pPr fontAlgn="base">
              <a:buFont typeface="Arial" panose="020B0604020202020204" pitchFamily="34" charset="0"/>
              <a:buChar char="•"/>
            </a:pPr>
            <a:r>
              <a:rPr lang="en-IN" dirty="0">
                <a:solidFill>
                  <a:srgbClr val="303030"/>
                </a:solidFill>
                <a:latin typeface="Arimo"/>
              </a:rPr>
              <a:t>Clearly, there exists a cycle in the precedence graph.</a:t>
            </a:r>
          </a:p>
          <a:p>
            <a:pPr fontAlgn="base">
              <a:buFont typeface="Arial" panose="020B0604020202020204" pitchFamily="34" charset="0"/>
              <a:buChar char="•"/>
            </a:pPr>
            <a:r>
              <a:rPr lang="en-IN" dirty="0">
                <a:solidFill>
                  <a:srgbClr val="303030"/>
                </a:solidFill>
                <a:latin typeface="Arimo"/>
              </a:rPr>
              <a:t>Therefore, the given schedule S is not conflict serializable</a:t>
            </a:r>
            <a:endParaRPr lang="en-IN" b="0" i="0" dirty="0">
              <a:solidFill>
                <a:srgbClr val="303030"/>
              </a:solidFill>
              <a:effectLst/>
              <a:latin typeface="Arimo"/>
            </a:endParaRPr>
          </a:p>
        </p:txBody>
      </p:sp>
    </p:spTree>
    <p:extLst>
      <p:ext uri="{BB962C8B-B14F-4D97-AF65-F5344CB8AC3E}">
        <p14:creationId xmlns:p14="http://schemas.microsoft.com/office/powerpoint/2010/main" val="30313996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1143002" y="274887"/>
            <a:ext cx="9520310"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303030"/>
                </a:solidFill>
                <a:effectLst/>
                <a:latin typeface="Arimo"/>
              </a:rPr>
              <a:t>Check whether the given schedule S is conflict serializable or not. If yes, then determine all the possible serialized schedules-</a:t>
            </a:r>
            <a:endParaRPr kumimoji="0" lang="en-US" altLang="en-US" sz="20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303030"/>
                </a:solidFill>
                <a:effectLst/>
                <a:latin typeface="Arimo"/>
              </a:rPr>
              <a:t> </a:t>
            </a:r>
            <a:endParaRPr kumimoji="0" lang="en-US" altLang="en-US" sz="20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303030"/>
                </a:solidFill>
                <a:effectLst/>
                <a:latin typeface="Arimo"/>
              </a:rPr>
              <a:t>  </a:t>
            </a:r>
            <a:endParaRPr kumimoji="0" lang="en-US" altLang="en-US" sz="20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303030"/>
                </a:solidFill>
                <a:effectLst/>
                <a:latin typeface="Arimo"/>
              </a:rPr>
              <a:t> </a:t>
            </a:r>
          </a:p>
        </p:txBody>
      </p:sp>
      <p:pic>
        <p:nvPicPr>
          <p:cNvPr id="1026" name="Picture 2" descr="https://www.gatevidyalay.com/wp-content/uploads/2018/06/Conflict-Serializability-Problem-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1951" y="1732430"/>
            <a:ext cx="4600575" cy="4219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39616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0977" y="1059214"/>
            <a:ext cx="6096000" cy="2308324"/>
          </a:xfrm>
          <a:prstGeom prst="rect">
            <a:avLst/>
          </a:prstGeom>
        </p:spPr>
        <p:txBody>
          <a:bodyPr>
            <a:spAutoFit/>
          </a:bodyPr>
          <a:lstStyle/>
          <a:p>
            <a:pPr fontAlgn="base">
              <a:buFont typeface="Arial" panose="020B0604020202020204" pitchFamily="34" charset="0"/>
              <a:buChar char="•"/>
            </a:pPr>
            <a:r>
              <a:rPr lang="fr-FR" sz="2400" dirty="0" smtClean="0">
                <a:solidFill>
                  <a:srgbClr val="303030"/>
                </a:solidFill>
                <a:latin typeface="Arimo"/>
              </a:rPr>
              <a:t>R</a:t>
            </a:r>
            <a:r>
              <a:rPr lang="fr-FR" sz="2400" baseline="-25000" dirty="0" smtClean="0">
                <a:solidFill>
                  <a:srgbClr val="303030"/>
                </a:solidFill>
                <a:latin typeface="Arimo"/>
              </a:rPr>
              <a:t>2</a:t>
            </a:r>
            <a:r>
              <a:rPr lang="fr-FR" sz="2400" dirty="0" smtClean="0">
                <a:solidFill>
                  <a:srgbClr val="303030"/>
                </a:solidFill>
                <a:latin typeface="Arimo"/>
              </a:rPr>
              <a:t>(X) </a:t>
            </a:r>
            <a:r>
              <a:rPr lang="fr-FR" sz="2400" dirty="0">
                <a:solidFill>
                  <a:srgbClr val="303030"/>
                </a:solidFill>
                <a:latin typeface="Arimo"/>
              </a:rPr>
              <a:t>, W</a:t>
            </a:r>
            <a:r>
              <a:rPr lang="fr-FR" sz="2400" baseline="-25000" dirty="0">
                <a:solidFill>
                  <a:srgbClr val="303030"/>
                </a:solidFill>
                <a:latin typeface="Arimo"/>
              </a:rPr>
              <a:t>3</a:t>
            </a:r>
            <a:r>
              <a:rPr lang="fr-FR" sz="2400" dirty="0">
                <a:solidFill>
                  <a:srgbClr val="303030"/>
                </a:solidFill>
                <a:latin typeface="Arimo"/>
              </a:rPr>
              <a:t>(X) (T</a:t>
            </a:r>
            <a:r>
              <a:rPr lang="fr-FR" sz="2400" baseline="-25000" dirty="0">
                <a:solidFill>
                  <a:srgbClr val="303030"/>
                </a:solidFill>
                <a:latin typeface="Arimo"/>
              </a:rPr>
              <a:t>2</a:t>
            </a:r>
            <a:r>
              <a:rPr lang="fr-FR" sz="2400" dirty="0">
                <a:solidFill>
                  <a:srgbClr val="303030"/>
                </a:solidFill>
                <a:latin typeface="Arimo"/>
              </a:rPr>
              <a:t> → T</a:t>
            </a:r>
            <a:r>
              <a:rPr lang="fr-FR" sz="2400" baseline="-25000" dirty="0">
                <a:solidFill>
                  <a:srgbClr val="303030"/>
                </a:solidFill>
                <a:latin typeface="Arimo"/>
              </a:rPr>
              <a:t>3</a:t>
            </a:r>
            <a:r>
              <a:rPr lang="fr-FR" sz="2400" dirty="0">
                <a:solidFill>
                  <a:srgbClr val="303030"/>
                </a:solidFill>
                <a:latin typeface="Arimo"/>
              </a:rPr>
              <a:t>)</a:t>
            </a:r>
          </a:p>
          <a:p>
            <a:pPr fontAlgn="base">
              <a:buFont typeface="Arial" panose="020B0604020202020204" pitchFamily="34" charset="0"/>
              <a:buChar char="•"/>
            </a:pPr>
            <a:r>
              <a:rPr lang="fr-FR" sz="2400" dirty="0">
                <a:solidFill>
                  <a:srgbClr val="303030"/>
                </a:solidFill>
                <a:latin typeface="Arimo"/>
              </a:rPr>
              <a:t>R</a:t>
            </a:r>
            <a:r>
              <a:rPr lang="fr-FR" sz="2400" baseline="-25000" dirty="0">
                <a:solidFill>
                  <a:srgbClr val="303030"/>
                </a:solidFill>
                <a:latin typeface="Arimo"/>
              </a:rPr>
              <a:t>2</a:t>
            </a:r>
            <a:r>
              <a:rPr lang="fr-FR" sz="2400" dirty="0">
                <a:solidFill>
                  <a:srgbClr val="303030"/>
                </a:solidFill>
                <a:latin typeface="Arimo"/>
              </a:rPr>
              <a:t>(X) , W</a:t>
            </a:r>
            <a:r>
              <a:rPr lang="fr-FR" sz="2400" baseline="-25000" dirty="0">
                <a:solidFill>
                  <a:srgbClr val="303030"/>
                </a:solidFill>
                <a:latin typeface="Arimo"/>
              </a:rPr>
              <a:t>1</a:t>
            </a:r>
            <a:r>
              <a:rPr lang="fr-FR" sz="2400" dirty="0">
                <a:solidFill>
                  <a:srgbClr val="303030"/>
                </a:solidFill>
                <a:latin typeface="Arimo"/>
              </a:rPr>
              <a:t>(X) (T</a:t>
            </a:r>
            <a:r>
              <a:rPr lang="fr-FR" sz="2400" baseline="-25000" dirty="0">
                <a:solidFill>
                  <a:srgbClr val="303030"/>
                </a:solidFill>
                <a:latin typeface="Arimo"/>
              </a:rPr>
              <a:t>2</a:t>
            </a:r>
            <a:r>
              <a:rPr lang="fr-FR" sz="2400" dirty="0">
                <a:solidFill>
                  <a:srgbClr val="303030"/>
                </a:solidFill>
                <a:latin typeface="Arimo"/>
              </a:rPr>
              <a:t> → T</a:t>
            </a:r>
            <a:r>
              <a:rPr lang="fr-FR" sz="2400" baseline="-25000" dirty="0">
                <a:solidFill>
                  <a:srgbClr val="303030"/>
                </a:solidFill>
                <a:latin typeface="Arimo"/>
              </a:rPr>
              <a:t>1</a:t>
            </a:r>
            <a:r>
              <a:rPr lang="fr-FR" sz="2400" dirty="0">
                <a:solidFill>
                  <a:srgbClr val="303030"/>
                </a:solidFill>
                <a:latin typeface="Arimo"/>
              </a:rPr>
              <a:t>)</a:t>
            </a:r>
          </a:p>
          <a:p>
            <a:pPr fontAlgn="base">
              <a:buFont typeface="Arial" panose="020B0604020202020204" pitchFamily="34" charset="0"/>
              <a:buChar char="•"/>
            </a:pPr>
            <a:r>
              <a:rPr lang="fr-FR" sz="2400" dirty="0">
                <a:solidFill>
                  <a:srgbClr val="303030"/>
                </a:solidFill>
                <a:latin typeface="Arimo"/>
              </a:rPr>
              <a:t>W</a:t>
            </a:r>
            <a:r>
              <a:rPr lang="fr-FR" sz="2400" baseline="-25000" dirty="0">
                <a:solidFill>
                  <a:srgbClr val="303030"/>
                </a:solidFill>
                <a:latin typeface="Arimo"/>
              </a:rPr>
              <a:t>3</a:t>
            </a:r>
            <a:r>
              <a:rPr lang="fr-FR" sz="2400" dirty="0">
                <a:solidFill>
                  <a:srgbClr val="303030"/>
                </a:solidFill>
                <a:latin typeface="Arimo"/>
              </a:rPr>
              <a:t>(X) , W</a:t>
            </a:r>
            <a:r>
              <a:rPr lang="fr-FR" sz="2400" baseline="-25000" dirty="0">
                <a:solidFill>
                  <a:srgbClr val="303030"/>
                </a:solidFill>
                <a:latin typeface="Arimo"/>
              </a:rPr>
              <a:t>1</a:t>
            </a:r>
            <a:r>
              <a:rPr lang="fr-FR" sz="2400" dirty="0">
                <a:solidFill>
                  <a:srgbClr val="303030"/>
                </a:solidFill>
                <a:latin typeface="Arimo"/>
              </a:rPr>
              <a:t>(X</a:t>
            </a:r>
            <a:r>
              <a:rPr lang="fr-FR" sz="2400" dirty="0" smtClean="0">
                <a:solidFill>
                  <a:srgbClr val="303030"/>
                </a:solidFill>
                <a:latin typeface="Arimo"/>
              </a:rPr>
              <a:t>) </a:t>
            </a:r>
            <a:r>
              <a:rPr lang="fr-FR" sz="2400" dirty="0">
                <a:solidFill>
                  <a:srgbClr val="303030"/>
                </a:solidFill>
                <a:latin typeface="Arimo"/>
              </a:rPr>
              <a:t>(T</a:t>
            </a:r>
            <a:r>
              <a:rPr lang="fr-FR" sz="2400" baseline="-25000" dirty="0">
                <a:solidFill>
                  <a:srgbClr val="303030"/>
                </a:solidFill>
                <a:latin typeface="Arimo"/>
              </a:rPr>
              <a:t>3</a:t>
            </a:r>
            <a:r>
              <a:rPr lang="fr-FR" sz="2400" dirty="0">
                <a:solidFill>
                  <a:srgbClr val="303030"/>
                </a:solidFill>
                <a:latin typeface="Arimo"/>
              </a:rPr>
              <a:t> → T</a:t>
            </a:r>
            <a:r>
              <a:rPr lang="fr-FR" sz="2400" baseline="-25000" dirty="0">
                <a:solidFill>
                  <a:srgbClr val="303030"/>
                </a:solidFill>
                <a:latin typeface="Arimo"/>
              </a:rPr>
              <a:t>1</a:t>
            </a:r>
            <a:r>
              <a:rPr lang="fr-FR" sz="2400" dirty="0">
                <a:solidFill>
                  <a:srgbClr val="303030"/>
                </a:solidFill>
                <a:latin typeface="Arimo"/>
              </a:rPr>
              <a:t>)</a:t>
            </a:r>
          </a:p>
          <a:p>
            <a:pPr fontAlgn="base">
              <a:buFont typeface="Arial" panose="020B0604020202020204" pitchFamily="34" charset="0"/>
              <a:buChar char="•"/>
            </a:pPr>
            <a:r>
              <a:rPr lang="fr-FR" sz="2400" dirty="0">
                <a:solidFill>
                  <a:srgbClr val="303030"/>
                </a:solidFill>
                <a:latin typeface="Arimo"/>
              </a:rPr>
              <a:t>W</a:t>
            </a:r>
            <a:r>
              <a:rPr lang="fr-FR" sz="2400" baseline="-25000" dirty="0">
                <a:solidFill>
                  <a:srgbClr val="303030"/>
                </a:solidFill>
                <a:latin typeface="Arimo"/>
              </a:rPr>
              <a:t>3</a:t>
            </a:r>
            <a:r>
              <a:rPr lang="fr-FR" sz="2400" dirty="0">
                <a:solidFill>
                  <a:srgbClr val="303030"/>
                </a:solidFill>
                <a:latin typeface="Arimo"/>
              </a:rPr>
              <a:t>(X) , R</a:t>
            </a:r>
            <a:r>
              <a:rPr lang="fr-FR" sz="2400" baseline="-25000" dirty="0">
                <a:solidFill>
                  <a:srgbClr val="303030"/>
                </a:solidFill>
                <a:latin typeface="Arimo"/>
              </a:rPr>
              <a:t>4</a:t>
            </a:r>
            <a:r>
              <a:rPr lang="fr-FR" sz="2400" dirty="0">
                <a:solidFill>
                  <a:srgbClr val="303030"/>
                </a:solidFill>
                <a:latin typeface="Arimo"/>
              </a:rPr>
              <a:t>(X) (T</a:t>
            </a:r>
            <a:r>
              <a:rPr lang="fr-FR" sz="2400" baseline="-25000" dirty="0">
                <a:solidFill>
                  <a:srgbClr val="303030"/>
                </a:solidFill>
                <a:latin typeface="Arimo"/>
              </a:rPr>
              <a:t>3</a:t>
            </a:r>
            <a:r>
              <a:rPr lang="fr-FR" sz="2400" dirty="0">
                <a:solidFill>
                  <a:srgbClr val="303030"/>
                </a:solidFill>
                <a:latin typeface="Arimo"/>
              </a:rPr>
              <a:t> → T</a:t>
            </a:r>
            <a:r>
              <a:rPr lang="fr-FR" sz="2400" baseline="-25000" dirty="0">
                <a:solidFill>
                  <a:srgbClr val="303030"/>
                </a:solidFill>
                <a:latin typeface="Arimo"/>
              </a:rPr>
              <a:t>4</a:t>
            </a:r>
            <a:r>
              <a:rPr lang="fr-FR" sz="2400" dirty="0">
                <a:solidFill>
                  <a:srgbClr val="303030"/>
                </a:solidFill>
                <a:latin typeface="Arimo"/>
              </a:rPr>
              <a:t>)</a:t>
            </a:r>
          </a:p>
          <a:p>
            <a:pPr fontAlgn="base">
              <a:buFont typeface="Arial" panose="020B0604020202020204" pitchFamily="34" charset="0"/>
              <a:buChar char="•"/>
            </a:pPr>
            <a:r>
              <a:rPr lang="fr-FR" sz="2400" dirty="0">
                <a:solidFill>
                  <a:srgbClr val="303030"/>
                </a:solidFill>
                <a:latin typeface="Arimo"/>
              </a:rPr>
              <a:t>W</a:t>
            </a:r>
            <a:r>
              <a:rPr lang="fr-FR" sz="2400" baseline="-25000" dirty="0">
                <a:solidFill>
                  <a:srgbClr val="303030"/>
                </a:solidFill>
                <a:latin typeface="Arimo"/>
              </a:rPr>
              <a:t>1</a:t>
            </a:r>
            <a:r>
              <a:rPr lang="fr-FR" sz="2400" dirty="0">
                <a:solidFill>
                  <a:srgbClr val="303030"/>
                </a:solidFill>
                <a:latin typeface="Arimo"/>
              </a:rPr>
              <a:t>(X) , R</a:t>
            </a:r>
            <a:r>
              <a:rPr lang="fr-FR" sz="2400" baseline="-25000" dirty="0">
                <a:solidFill>
                  <a:srgbClr val="303030"/>
                </a:solidFill>
                <a:latin typeface="Arimo"/>
              </a:rPr>
              <a:t>4</a:t>
            </a:r>
            <a:r>
              <a:rPr lang="fr-FR" sz="2400" dirty="0">
                <a:solidFill>
                  <a:srgbClr val="303030"/>
                </a:solidFill>
                <a:latin typeface="Arimo"/>
              </a:rPr>
              <a:t>(X) (T</a:t>
            </a:r>
            <a:r>
              <a:rPr lang="fr-FR" sz="2400" baseline="-25000" dirty="0">
                <a:solidFill>
                  <a:srgbClr val="303030"/>
                </a:solidFill>
                <a:latin typeface="Arimo"/>
              </a:rPr>
              <a:t>1</a:t>
            </a:r>
            <a:r>
              <a:rPr lang="fr-FR" sz="2400" dirty="0">
                <a:solidFill>
                  <a:srgbClr val="303030"/>
                </a:solidFill>
                <a:latin typeface="Arimo"/>
              </a:rPr>
              <a:t> → T</a:t>
            </a:r>
            <a:r>
              <a:rPr lang="fr-FR" sz="2400" baseline="-25000" dirty="0">
                <a:solidFill>
                  <a:srgbClr val="303030"/>
                </a:solidFill>
                <a:latin typeface="Arimo"/>
              </a:rPr>
              <a:t>4</a:t>
            </a:r>
            <a:r>
              <a:rPr lang="fr-FR" sz="2400" dirty="0">
                <a:solidFill>
                  <a:srgbClr val="303030"/>
                </a:solidFill>
                <a:latin typeface="Arimo"/>
              </a:rPr>
              <a:t>)</a:t>
            </a:r>
          </a:p>
          <a:p>
            <a:pPr fontAlgn="base">
              <a:buFont typeface="Arial" panose="020B0604020202020204" pitchFamily="34" charset="0"/>
              <a:buChar char="•"/>
            </a:pPr>
            <a:r>
              <a:rPr lang="fr-FR" sz="2400" dirty="0" smtClean="0">
                <a:solidFill>
                  <a:srgbClr val="303030"/>
                </a:solidFill>
                <a:latin typeface="Arimo"/>
              </a:rPr>
              <a:t>W</a:t>
            </a:r>
            <a:r>
              <a:rPr lang="fr-FR" sz="2400" baseline="-25000" dirty="0" smtClean="0">
                <a:solidFill>
                  <a:srgbClr val="303030"/>
                </a:solidFill>
                <a:latin typeface="Arimo"/>
              </a:rPr>
              <a:t>2</a:t>
            </a:r>
            <a:r>
              <a:rPr lang="fr-FR" sz="2400" dirty="0" smtClean="0">
                <a:solidFill>
                  <a:srgbClr val="303030"/>
                </a:solidFill>
                <a:latin typeface="Arimo"/>
              </a:rPr>
              <a:t>(Y) , R</a:t>
            </a:r>
            <a:r>
              <a:rPr lang="fr-FR" sz="2400" baseline="-25000" dirty="0" smtClean="0">
                <a:solidFill>
                  <a:srgbClr val="303030"/>
                </a:solidFill>
                <a:latin typeface="Arimo"/>
              </a:rPr>
              <a:t>4</a:t>
            </a:r>
            <a:r>
              <a:rPr lang="fr-FR" sz="2400" dirty="0" smtClean="0">
                <a:solidFill>
                  <a:srgbClr val="303030"/>
                </a:solidFill>
                <a:latin typeface="Arimo"/>
              </a:rPr>
              <a:t>(Y) (T</a:t>
            </a:r>
            <a:r>
              <a:rPr lang="fr-FR" sz="2400" baseline="-25000" dirty="0" smtClean="0">
                <a:solidFill>
                  <a:srgbClr val="303030"/>
                </a:solidFill>
                <a:latin typeface="Arimo"/>
              </a:rPr>
              <a:t>2</a:t>
            </a:r>
            <a:r>
              <a:rPr lang="fr-FR" sz="2400" dirty="0" smtClean="0">
                <a:solidFill>
                  <a:srgbClr val="303030"/>
                </a:solidFill>
                <a:latin typeface="Arimo"/>
              </a:rPr>
              <a:t> → T</a:t>
            </a:r>
            <a:r>
              <a:rPr lang="fr-FR" sz="2400" baseline="-25000" dirty="0" smtClean="0">
                <a:solidFill>
                  <a:srgbClr val="303030"/>
                </a:solidFill>
                <a:latin typeface="Arimo"/>
              </a:rPr>
              <a:t>4</a:t>
            </a:r>
            <a:r>
              <a:rPr lang="fr-FR" sz="2400" dirty="0" smtClean="0">
                <a:solidFill>
                  <a:srgbClr val="303030"/>
                </a:solidFill>
                <a:latin typeface="Arimo"/>
              </a:rPr>
              <a:t>)</a:t>
            </a:r>
            <a:endParaRPr lang="fr-FR" sz="2400" b="0" i="0" dirty="0">
              <a:solidFill>
                <a:srgbClr val="303030"/>
              </a:solidFill>
              <a:effectLst/>
              <a:latin typeface="Arimo"/>
            </a:endParaRPr>
          </a:p>
        </p:txBody>
      </p:sp>
      <p:pic>
        <p:nvPicPr>
          <p:cNvPr id="1026" name="Picture 2" descr="https://www.gatevidyalay.com/wp-content/uploads/2018/06/Conflict-Serializability-Problem-02-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23610" y="1444180"/>
            <a:ext cx="3638550" cy="2095501"/>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2346885" y="4383306"/>
            <a:ext cx="6096000" cy="646331"/>
          </a:xfrm>
          <a:prstGeom prst="rect">
            <a:avLst/>
          </a:prstGeom>
        </p:spPr>
        <p:txBody>
          <a:bodyPr>
            <a:spAutoFit/>
          </a:bodyPr>
          <a:lstStyle/>
          <a:p>
            <a:pPr fontAlgn="base">
              <a:buFont typeface="Arial" panose="020B0604020202020204" pitchFamily="34" charset="0"/>
              <a:buChar char="•"/>
            </a:pPr>
            <a:r>
              <a:rPr lang="en-IN" dirty="0">
                <a:solidFill>
                  <a:srgbClr val="303030"/>
                </a:solidFill>
                <a:latin typeface="Arimo"/>
              </a:rPr>
              <a:t>Clearly, there exists no cycle in the precedence graph.</a:t>
            </a:r>
          </a:p>
          <a:p>
            <a:pPr fontAlgn="base">
              <a:buFont typeface="Arial" panose="020B0604020202020204" pitchFamily="34" charset="0"/>
              <a:buChar char="•"/>
            </a:pPr>
            <a:r>
              <a:rPr lang="en-IN" dirty="0">
                <a:solidFill>
                  <a:srgbClr val="303030"/>
                </a:solidFill>
                <a:latin typeface="Arimo"/>
              </a:rPr>
              <a:t>Therefore, the given schedule S is conflict serializable.</a:t>
            </a:r>
            <a:endParaRPr lang="en-IN" b="0" i="0" dirty="0">
              <a:solidFill>
                <a:srgbClr val="303030"/>
              </a:solidFill>
              <a:effectLst/>
              <a:latin typeface="Arimo"/>
            </a:endParaRPr>
          </a:p>
        </p:txBody>
      </p:sp>
    </p:spTree>
    <p:extLst>
      <p:ext uri="{BB962C8B-B14F-4D97-AF65-F5344CB8AC3E}">
        <p14:creationId xmlns:p14="http://schemas.microsoft.com/office/powerpoint/2010/main" val="13958846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23364" y="331711"/>
            <a:ext cx="6096000" cy="923330"/>
          </a:xfrm>
          <a:prstGeom prst="rect">
            <a:avLst/>
          </a:prstGeom>
        </p:spPr>
        <p:txBody>
          <a:bodyPr>
            <a:spAutoFit/>
          </a:bodyPr>
          <a:lstStyle/>
          <a:p>
            <a:r>
              <a:rPr lang="en-IN" dirty="0">
                <a:solidFill>
                  <a:srgbClr val="303030"/>
                </a:solidFill>
                <a:latin typeface="Arimo"/>
              </a:rPr>
              <a:t>Check whether the given schedule S is conflict serializable or not. If yes, then determine all the possible serialized schedules-</a:t>
            </a:r>
            <a:endParaRPr lang="en-IN" dirty="0"/>
          </a:p>
        </p:txBody>
      </p:sp>
      <p:pic>
        <p:nvPicPr>
          <p:cNvPr id="2050" name="Picture 2" descr="https://www.gatevidyalay.com/wp-content/uploads/2018/06/Conflict-Serializability-Problem-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0316" y="2152929"/>
            <a:ext cx="6110754" cy="41537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01112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35106" y="503856"/>
            <a:ext cx="6096000" cy="2246769"/>
          </a:xfrm>
          <a:prstGeom prst="rect">
            <a:avLst/>
          </a:prstGeom>
        </p:spPr>
        <p:txBody>
          <a:bodyPr>
            <a:spAutoFit/>
          </a:bodyPr>
          <a:lstStyle/>
          <a:p>
            <a:pPr fontAlgn="base"/>
            <a:r>
              <a:rPr lang="en-IN" sz="2000" dirty="0">
                <a:solidFill>
                  <a:srgbClr val="303030"/>
                </a:solidFill>
                <a:latin typeface="Arimo"/>
              </a:rPr>
              <a:t>List all the conflicting operations and determine the dependency between the transactions-</a:t>
            </a:r>
          </a:p>
          <a:p>
            <a:pPr fontAlgn="base">
              <a:buFont typeface="Arial" panose="020B0604020202020204" pitchFamily="34" charset="0"/>
              <a:buChar char="•"/>
            </a:pPr>
            <a:r>
              <a:rPr lang="en-IN" sz="2000" dirty="0">
                <a:solidFill>
                  <a:srgbClr val="303030"/>
                </a:solidFill>
                <a:latin typeface="Arimo"/>
              </a:rPr>
              <a:t>R</a:t>
            </a:r>
            <a:r>
              <a:rPr lang="en-IN" sz="2000" baseline="-25000" dirty="0">
                <a:solidFill>
                  <a:srgbClr val="303030"/>
                </a:solidFill>
                <a:latin typeface="Arimo"/>
              </a:rPr>
              <a:t>4</a:t>
            </a:r>
            <a:r>
              <a:rPr lang="en-IN" sz="2000" dirty="0">
                <a:solidFill>
                  <a:srgbClr val="303030"/>
                </a:solidFill>
                <a:latin typeface="Arimo"/>
              </a:rPr>
              <a:t>(A) , W</a:t>
            </a:r>
            <a:r>
              <a:rPr lang="en-IN" sz="2000" baseline="-25000" dirty="0">
                <a:solidFill>
                  <a:srgbClr val="303030"/>
                </a:solidFill>
                <a:latin typeface="Arimo"/>
              </a:rPr>
              <a:t>2</a:t>
            </a:r>
            <a:r>
              <a:rPr lang="en-IN" sz="2000" dirty="0">
                <a:solidFill>
                  <a:srgbClr val="303030"/>
                </a:solidFill>
                <a:latin typeface="Arimo"/>
              </a:rPr>
              <a:t>(A) (T</a:t>
            </a:r>
            <a:r>
              <a:rPr lang="en-IN" sz="2000" baseline="-25000" dirty="0">
                <a:solidFill>
                  <a:srgbClr val="303030"/>
                </a:solidFill>
                <a:latin typeface="Arimo"/>
              </a:rPr>
              <a:t>4</a:t>
            </a:r>
            <a:r>
              <a:rPr lang="en-IN" sz="2000" dirty="0">
                <a:solidFill>
                  <a:srgbClr val="303030"/>
                </a:solidFill>
                <a:latin typeface="Arimo"/>
              </a:rPr>
              <a:t> → T</a:t>
            </a:r>
            <a:r>
              <a:rPr lang="en-IN" sz="2000" baseline="-25000" dirty="0">
                <a:solidFill>
                  <a:srgbClr val="303030"/>
                </a:solidFill>
                <a:latin typeface="Arimo"/>
              </a:rPr>
              <a:t>2</a:t>
            </a:r>
            <a:r>
              <a:rPr lang="en-IN" sz="2000" dirty="0">
                <a:solidFill>
                  <a:srgbClr val="303030"/>
                </a:solidFill>
                <a:latin typeface="Arimo"/>
              </a:rPr>
              <a:t>)</a:t>
            </a:r>
          </a:p>
          <a:p>
            <a:pPr fontAlgn="base">
              <a:buFont typeface="Arial" panose="020B0604020202020204" pitchFamily="34" charset="0"/>
              <a:buChar char="•"/>
            </a:pPr>
            <a:r>
              <a:rPr lang="en-IN" sz="2000" dirty="0">
                <a:solidFill>
                  <a:srgbClr val="303030"/>
                </a:solidFill>
                <a:latin typeface="Arimo"/>
              </a:rPr>
              <a:t>R</a:t>
            </a:r>
            <a:r>
              <a:rPr lang="en-IN" sz="2000" baseline="-25000" dirty="0">
                <a:solidFill>
                  <a:srgbClr val="303030"/>
                </a:solidFill>
                <a:latin typeface="Arimo"/>
              </a:rPr>
              <a:t>3</a:t>
            </a:r>
            <a:r>
              <a:rPr lang="en-IN" sz="2000" dirty="0">
                <a:solidFill>
                  <a:srgbClr val="303030"/>
                </a:solidFill>
                <a:latin typeface="Arimo"/>
              </a:rPr>
              <a:t>(A) , W</a:t>
            </a:r>
            <a:r>
              <a:rPr lang="en-IN" sz="2000" baseline="-25000" dirty="0">
                <a:solidFill>
                  <a:srgbClr val="303030"/>
                </a:solidFill>
                <a:latin typeface="Arimo"/>
              </a:rPr>
              <a:t>2</a:t>
            </a:r>
            <a:r>
              <a:rPr lang="en-IN" sz="2000" dirty="0">
                <a:solidFill>
                  <a:srgbClr val="303030"/>
                </a:solidFill>
                <a:latin typeface="Arimo"/>
              </a:rPr>
              <a:t>(A) (T</a:t>
            </a:r>
            <a:r>
              <a:rPr lang="en-IN" sz="2000" baseline="-25000" dirty="0">
                <a:solidFill>
                  <a:srgbClr val="303030"/>
                </a:solidFill>
                <a:latin typeface="Arimo"/>
              </a:rPr>
              <a:t>3</a:t>
            </a:r>
            <a:r>
              <a:rPr lang="en-IN" sz="2000" dirty="0">
                <a:solidFill>
                  <a:srgbClr val="303030"/>
                </a:solidFill>
                <a:latin typeface="Arimo"/>
              </a:rPr>
              <a:t> → T</a:t>
            </a:r>
            <a:r>
              <a:rPr lang="en-IN" sz="2000" baseline="-25000" dirty="0">
                <a:solidFill>
                  <a:srgbClr val="303030"/>
                </a:solidFill>
                <a:latin typeface="Arimo"/>
              </a:rPr>
              <a:t>2</a:t>
            </a:r>
            <a:r>
              <a:rPr lang="en-IN" sz="2000" dirty="0">
                <a:solidFill>
                  <a:srgbClr val="303030"/>
                </a:solidFill>
                <a:latin typeface="Arimo"/>
              </a:rPr>
              <a:t>)</a:t>
            </a:r>
          </a:p>
          <a:p>
            <a:pPr fontAlgn="base">
              <a:buFont typeface="Arial" panose="020B0604020202020204" pitchFamily="34" charset="0"/>
              <a:buChar char="•"/>
            </a:pPr>
            <a:r>
              <a:rPr lang="en-IN" sz="2000" dirty="0">
                <a:solidFill>
                  <a:srgbClr val="303030"/>
                </a:solidFill>
                <a:latin typeface="Arimo"/>
              </a:rPr>
              <a:t>W</a:t>
            </a:r>
            <a:r>
              <a:rPr lang="en-IN" sz="2000" baseline="-25000" dirty="0">
                <a:solidFill>
                  <a:srgbClr val="303030"/>
                </a:solidFill>
                <a:latin typeface="Arimo"/>
              </a:rPr>
              <a:t>1</a:t>
            </a:r>
            <a:r>
              <a:rPr lang="en-IN" sz="2000" dirty="0">
                <a:solidFill>
                  <a:srgbClr val="303030"/>
                </a:solidFill>
                <a:latin typeface="Arimo"/>
              </a:rPr>
              <a:t>(B) , R</a:t>
            </a:r>
            <a:r>
              <a:rPr lang="en-IN" sz="2000" baseline="-25000" dirty="0">
                <a:solidFill>
                  <a:srgbClr val="303030"/>
                </a:solidFill>
                <a:latin typeface="Arimo"/>
              </a:rPr>
              <a:t>3</a:t>
            </a:r>
            <a:r>
              <a:rPr lang="en-IN" sz="2000" dirty="0">
                <a:solidFill>
                  <a:srgbClr val="303030"/>
                </a:solidFill>
                <a:latin typeface="Arimo"/>
              </a:rPr>
              <a:t>(B) (T</a:t>
            </a:r>
            <a:r>
              <a:rPr lang="en-IN" sz="2000" baseline="-25000" dirty="0">
                <a:solidFill>
                  <a:srgbClr val="303030"/>
                </a:solidFill>
                <a:latin typeface="Arimo"/>
              </a:rPr>
              <a:t>1</a:t>
            </a:r>
            <a:r>
              <a:rPr lang="en-IN" sz="2000" dirty="0">
                <a:solidFill>
                  <a:srgbClr val="303030"/>
                </a:solidFill>
                <a:latin typeface="Arimo"/>
              </a:rPr>
              <a:t> → T</a:t>
            </a:r>
            <a:r>
              <a:rPr lang="en-IN" sz="2000" baseline="-25000" dirty="0">
                <a:solidFill>
                  <a:srgbClr val="303030"/>
                </a:solidFill>
                <a:latin typeface="Arimo"/>
              </a:rPr>
              <a:t>3</a:t>
            </a:r>
            <a:r>
              <a:rPr lang="en-IN" sz="2000" dirty="0">
                <a:solidFill>
                  <a:srgbClr val="303030"/>
                </a:solidFill>
                <a:latin typeface="Arimo"/>
              </a:rPr>
              <a:t>)</a:t>
            </a:r>
          </a:p>
          <a:p>
            <a:pPr fontAlgn="base">
              <a:buFont typeface="Arial" panose="020B0604020202020204" pitchFamily="34" charset="0"/>
              <a:buChar char="•"/>
            </a:pPr>
            <a:r>
              <a:rPr lang="en-IN" sz="2000" dirty="0">
                <a:solidFill>
                  <a:srgbClr val="303030"/>
                </a:solidFill>
                <a:latin typeface="Arimo"/>
              </a:rPr>
              <a:t>W</a:t>
            </a:r>
            <a:r>
              <a:rPr lang="en-IN" sz="2000" baseline="-25000" dirty="0">
                <a:solidFill>
                  <a:srgbClr val="303030"/>
                </a:solidFill>
                <a:latin typeface="Arimo"/>
              </a:rPr>
              <a:t>1</a:t>
            </a:r>
            <a:r>
              <a:rPr lang="en-IN" sz="2000" dirty="0">
                <a:solidFill>
                  <a:srgbClr val="303030"/>
                </a:solidFill>
                <a:latin typeface="Arimo"/>
              </a:rPr>
              <a:t>(B) , W</a:t>
            </a:r>
            <a:r>
              <a:rPr lang="en-IN" sz="2000" baseline="-25000" dirty="0">
                <a:solidFill>
                  <a:srgbClr val="303030"/>
                </a:solidFill>
                <a:latin typeface="Arimo"/>
              </a:rPr>
              <a:t>2</a:t>
            </a:r>
            <a:r>
              <a:rPr lang="en-IN" sz="2000" dirty="0">
                <a:solidFill>
                  <a:srgbClr val="303030"/>
                </a:solidFill>
                <a:latin typeface="Arimo"/>
              </a:rPr>
              <a:t>(B) (T</a:t>
            </a:r>
            <a:r>
              <a:rPr lang="en-IN" sz="2000" baseline="-25000" dirty="0">
                <a:solidFill>
                  <a:srgbClr val="303030"/>
                </a:solidFill>
                <a:latin typeface="Arimo"/>
              </a:rPr>
              <a:t>1</a:t>
            </a:r>
            <a:r>
              <a:rPr lang="en-IN" sz="2000" dirty="0">
                <a:solidFill>
                  <a:srgbClr val="303030"/>
                </a:solidFill>
                <a:latin typeface="Arimo"/>
              </a:rPr>
              <a:t> → T</a:t>
            </a:r>
            <a:r>
              <a:rPr lang="en-IN" sz="2000" baseline="-25000" dirty="0">
                <a:solidFill>
                  <a:srgbClr val="303030"/>
                </a:solidFill>
                <a:latin typeface="Arimo"/>
              </a:rPr>
              <a:t>2</a:t>
            </a:r>
            <a:r>
              <a:rPr lang="en-IN" sz="2000" dirty="0">
                <a:solidFill>
                  <a:srgbClr val="303030"/>
                </a:solidFill>
                <a:latin typeface="Arimo"/>
              </a:rPr>
              <a:t>)</a:t>
            </a:r>
          </a:p>
          <a:p>
            <a:pPr fontAlgn="base">
              <a:buFont typeface="Arial" panose="020B0604020202020204" pitchFamily="34" charset="0"/>
              <a:buChar char="•"/>
            </a:pPr>
            <a:r>
              <a:rPr lang="en-IN" sz="2000" dirty="0">
                <a:solidFill>
                  <a:srgbClr val="303030"/>
                </a:solidFill>
                <a:latin typeface="Arimo"/>
              </a:rPr>
              <a:t>R</a:t>
            </a:r>
            <a:r>
              <a:rPr lang="en-IN" sz="2000" baseline="-25000" dirty="0">
                <a:solidFill>
                  <a:srgbClr val="303030"/>
                </a:solidFill>
                <a:latin typeface="Arimo"/>
              </a:rPr>
              <a:t>3</a:t>
            </a:r>
            <a:r>
              <a:rPr lang="en-IN" sz="2000" dirty="0">
                <a:solidFill>
                  <a:srgbClr val="303030"/>
                </a:solidFill>
                <a:latin typeface="Arimo"/>
              </a:rPr>
              <a:t>(B) , W</a:t>
            </a:r>
            <a:r>
              <a:rPr lang="en-IN" sz="2000" baseline="-25000" dirty="0">
                <a:solidFill>
                  <a:srgbClr val="303030"/>
                </a:solidFill>
                <a:latin typeface="Arimo"/>
              </a:rPr>
              <a:t>2</a:t>
            </a:r>
            <a:r>
              <a:rPr lang="en-IN" sz="2000" dirty="0">
                <a:solidFill>
                  <a:srgbClr val="303030"/>
                </a:solidFill>
                <a:latin typeface="Arimo"/>
              </a:rPr>
              <a:t>(B) (T</a:t>
            </a:r>
            <a:r>
              <a:rPr lang="en-IN" sz="2000" baseline="-25000" dirty="0">
                <a:solidFill>
                  <a:srgbClr val="303030"/>
                </a:solidFill>
                <a:latin typeface="Arimo"/>
              </a:rPr>
              <a:t>3</a:t>
            </a:r>
            <a:r>
              <a:rPr lang="en-IN" sz="2000" dirty="0">
                <a:solidFill>
                  <a:srgbClr val="303030"/>
                </a:solidFill>
                <a:latin typeface="Arimo"/>
              </a:rPr>
              <a:t> → T</a:t>
            </a:r>
            <a:r>
              <a:rPr lang="en-IN" sz="2000" baseline="-25000" dirty="0">
                <a:solidFill>
                  <a:srgbClr val="303030"/>
                </a:solidFill>
                <a:latin typeface="Arimo"/>
              </a:rPr>
              <a:t>2</a:t>
            </a:r>
            <a:r>
              <a:rPr lang="en-IN" sz="2000" dirty="0">
                <a:solidFill>
                  <a:srgbClr val="303030"/>
                </a:solidFill>
                <a:latin typeface="Arimo"/>
              </a:rPr>
              <a:t>)</a:t>
            </a:r>
            <a:endParaRPr lang="en-IN" sz="2000" b="0" i="0" dirty="0">
              <a:solidFill>
                <a:srgbClr val="303030"/>
              </a:solidFill>
              <a:effectLst/>
              <a:latin typeface="Arimo"/>
            </a:endParaRPr>
          </a:p>
        </p:txBody>
      </p:sp>
      <p:pic>
        <p:nvPicPr>
          <p:cNvPr id="3074" name="Picture 2" descr="https://www.gatevidyalay.com/wp-content/uploads/2018/06/Conflict-Serializability-Problem-0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6762" y="3322824"/>
            <a:ext cx="4564343" cy="26476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80477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26776" y="579148"/>
            <a:ext cx="6096000" cy="2677656"/>
          </a:xfrm>
          <a:prstGeom prst="rect">
            <a:avLst/>
          </a:prstGeom>
        </p:spPr>
        <p:txBody>
          <a:bodyPr>
            <a:spAutoFit/>
          </a:bodyPr>
          <a:lstStyle/>
          <a:p>
            <a:pPr fontAlgn="base"/>
            <a:r>
              <a:rPr lang="fr-FR" sz="2800" dirty="0" err="1">
                <a:solidFill>
                  <a:srgbClr val="303030"/>
                </a:solidFill>
                <a:latin typeface="Arimo"/>
              </a:rPr>
              <a:t>After</a:t>
            </a:r>
            <a:r>
              <a:rPr lang="fr-FR" sz="2800" dirty="0">
                <a:solidFill>
                  <a:srgbClr val="303030"/>
                </a:solidFill>
                <a:latin typeface="Arimo"/>
              </a:rPr>
              <a:t> </a:t>
            </a:r>
            <a:r>
              <a:rPr lang="fr-FR" sz="2800" dirty="0" err="1">
                <a:solidFill>
                  <a:srgbClr val="303030"/>
                </a:solidFill>
                <a:latin typeface="Arimo"/>
              </a:rPr>
              <a:t>performing</a:t>
            </a:r>
            <a:r>
              <a:rPr lang="fr-FR" sz="2800" dirty="0">
                <a:solidFill>
                  <a:srgbClr val="303030"/>
                </a:solidFill>
                <a:latin typeface="Arimo"/>
              </a:rPr>
              <a:t> the </a:t>
            </a:r>
            <a:r>
              <a:rPr lang="fr-FR" sz="2800" dirty="0" err="1">
                <a:solidFill>
                  <a:srgbClr val="303030"/>
                </a:solidFill>
                <a:latin typeface="Arimo"/>
              </a:rPr>
              <a:t>topological</a:t>
            </a:r>
            <a:r>
              <a:rPr lang="fr-FR" sz="2800" dirty="0">
                <a:solidFill>
                  <a:srgbClr val="303030"/>
                </a:solidFill>
                <a:latin typeface="Arimo"/>
              </a:rPr>
              <a:t> sort, the possible </a:t>
            </a:r>
            <a:r>
              <a:rPr lang="fr-FR" sz="2800" dirty="0" err="1">
                <a:solidFill>
                  <a:srgbClr val="303030"/>
                </a:solidFill>
                <a:latin typeface="Arimo"/>
              </a:rPr>
              <a:t>serialized</a:t>
            </a:r>
            <a:r>
              <a:rPr lang="fr-FR" sz="2800" dirty="0">
                <a:solidFill>
                  <a:srgbClr val="303030"/>
                </a:solidFill>
                <a:latin typeface="Arimo"/>
              </a:rPr>
              <a:t> </a:t>
            </a:r>
            <a:r>
              <a:rPr lang="fr-FR" sz="2800" dirty="0" err="1">
                <a:solidFill>
                  <a:srgbClr val="303030"/>
                </a:solidFill>
                <a:latin typeface="Arimo"/>
              </a:rPr>
              <a:t>schedules</a:t>
            </a:r>
            <a:r>
              <a:rPr lang="fr-FR" sz="2800" dirty="0">
                <a:solidFill>
                  <a:srgbClr val="303030"/>
                </a:solidFill>
                <a:latin typeface="Arimo"/>
              </a:rPr>
              <a:t> are-</a:t>
            </a:r>
          </a:p>
          <a:p>
            <a:pPr fontAlgn="base">
              <a:buFont typeface="+mj-lt"/>
              <a:buAutoNum type="arabicPeriod"/>
            </a:pPr>
            <a:r>
              <a:rPr lang="fr-FR" sz="2800" dirty="0">
                <a:solidFill>
                  <a:srgbClr val="303030"/>
                </a:solidFill>
                <a:latin typeface="Arimo"/>
              </a:rPr>
              <a:t>T</a:t>
            </a:r>
            <a:r>
              <a:rPr lang="fr-FR" sz="2800" baseline="-25000" dirty="0">
                <a:solidFill>
                  <a:srgbClr val="303030"/>
                </a:solidFill>
                <a:latin typeface="Arimo"/>
              </a:rPr>
              <a:t>1</a:t>
            </a:r>
            <a:r>
              <a:rPr lang="fr-FR" sz="2800" dirty="0">
                <a:solidFill>
                  <a:srgbClr val="303030"/>
                </a:solidFill>
                <a:latin typeface="Arimo"/>
              </a:rPr>
              <a:t> → T</a:t>
            </a:r>
            <a:r>
              <a:rPr lang="fr-FR" sz="2800" baseline="-25000" dirty="0">
                <a:solidFill>
                  <a:srgbClr val="303030"/>
                </a:solidFill>
                <a:latin typeface="Arimo"/>
              </a:rPr>
              <a:t>3</a:t>
            </a:r>
            <a:r>
              <a:rPr lang="fr-FR" sz="2800" dirty="0">
                <a:solidFill>
                  <a:srgbClr val="303030"/>
                </a:solidFill>
                <a:latin typeface="Arimo"/>
              </a:rPr>
              <a:t> → T</a:t>
            </a:r>
            <a:r>
              <a:rPr lang="fr-FR" sz="2800" baseline="-25000" dirty="0">
                <a:solidFill>
                  <a:srgbClr val="303030"/>
                </a:solidFill>
                <a:latin typeface="Arimo"/>
              </a:rPr>
              <a:t>4</a:t>
            </a:r>
            <a:r>
              <a:rPr lang="fr-FR" sz="2800" dirty="0">
                <a:solidFill>
                  <a:srgbClr val="303030"/>
                </a:solidFill>
                <a:latin typeface="Arimo"/>
              </a:rPr>
              <a:t> → T</a:t>
            </a:r>
            <a:r>
              <a:rPr lang="fr-FR" sz="2800" baseline="-25000" dirty="0">
                <a:solidFill>
                  <a:srgbClr val="303030"/>
                </a:solidFill>
                <a:latin typeface="Arimo"/>
              </a:rPr>
              <a:t>2</a:t>
            </a:r>
            <a:endParaRPr lang="fr-FR" sz="2800" dirty="0">
              <a:solidFill>
                <a:srgbClr val="303030"/>
              </a:solidFill>
              <a:latin typeface="Arimo"/>
            </a:endParaRPr>
          </a:p>
          <a:p>
            <a:pPr fontAlgn="base">
              <a:buFont typeface="+mj-lt"/>
              <a:buAutoNum type="arabicPeriod"/>
            </a:pPr>
            <a:r>
              <a:rPr lang="fr-FR" sz="2800" dirty="0">
                <a:solidFill>
                  <a:srgbClr val="303030"/>
                </a:solidFill>
                <a:latin typeface="Arimo"/>
              </a:rPr>
              <a:t>T</a:t>
            </a:r>
            <a:r>
              <a:rPr lang="fr-FR" sz="2800" baseline="-25000" dirty="0">
                <a:solidFill>
                  <a:srgbClr val="303030"/>
                </a:solidFill>
                <a:latin typeface="Arimo"/>
              </a:rPr>
              <a:t>1</a:t>
            </a:r>
            <a:r>
              <a:rPr lang="fr-FR" sz="2800" dirty="0">
                <a:solidFill>
                  <a:srgbClr val="303030"/>
                </a:solidFill>
                <a:latin typeface="Arimo"/>
              </a:rPr>
              <a:t> → T</a:t>
            </a:r>
            <a:r>
              <a:rPr lang="fr-FR" sz="2800" baseline="-25000" dirty="0">
                <a:solidFill>
                  <a:srgbClr val="303030"/>
                </a:solidFill>
                <a:latin typeface="Arimo"/>
              </a:rPr>
              <a:t>4</a:t>
            </a:r>
            <a:r>
              <a:rPr lang="fr-FR" sz="2800" dirty="0">
                <a:solidFill>
                  <a:srgbClr val="303030"/>
                </a:solidFill>
                <a:latin typeface="Arimo"/>
              </a:rPr>
              <a:t> → T</a:t>
            </a:r>
            <a:r>
              <a:rPr lang="fr-FR" sz="2800" baseline="-25000" dirty="0">
                <a:solidFill>
                  <a:srgbClr val="303030"/>
                </a:solidFill>
                <a:latin typeface="Arimo"/>
              </a:rPr>
              <a:t>3</a:t>
            </a:r>
            <a:r>
              <a:rPr lang="fr-FR" sz="2800" dirty="0">
                <a:solidFill>
                  <a:srgbClr val="303030"/>
                </a:solidFill>
                <a:latin typeface="Arimo"/>
              </a:rPr>
              <a:t> → T</a:t>
            </a:r>
            <a:r>
              <a:rPr lang="fr-FR" sz="2800" baseline="-25000" dirty="0">
                <a:solidFill>
                  <a:srgbClr val="303030"/>
                </a:solidFill>
                <a:latin typeface="Arimo"/>
              </a:rPr>
              <a:t>2</a:t>
            </a:r>
            <a:endParaRPr lang="fr-FR" sz="2800" dirty="0">
              <a:solidFill>
                <a:srgbClr val="303030"/>
              </a:solidFill>
              <a:latin typeface="Arimo"/>
            </a:endParaRPr>
          </a:p>
          <a:p>
            <a:pPr fontAlgn="base">
              <a:buFont typeface="+mj-lt"/>
              <a:buAutoNum type="arabicPeriod"/>
            </a:pPr>
            <a:r>
              <a:rPr lang="fr-FR" sz="2800" dirty="0">
                <a:solidFill>
                  <a:srgbClr val="303030"/>
                </a:solidFill>
                <a:latin typeface="Arimo"/>
              </a:rPr>
              <a:t>T</a:t>
            </a:r>
            <a:r>
              <a:rPr lang="fr-FR" sz="2800" baseline="-25000" dirty="0">
                <a:solidFill>
                  <a:srgbClr val="303030"/>
                </a:solidFill>
                <a:latin typeface="Arimo"/>
              </a:rPr>
              <a:t>4</a:t>
            </a:r>
            <a:r>
              <a:rPr lang="fr-FR" sz="2800" dirty="0">
                <a:solidFill>
                  <a:srgbClr val="303030"/>
                </a:solidFill>
                <a:latin typeface="Arimo"/>
              </a:rPr>
              <a:t> → T</a:t>
            </a:r>
            <a:r>
              <a:rPr lang="fr-FR" sz="2800" baseline="-25000" dirty="0">
                <a:solidFill>
                  <a:srgbClr val="303030"/>
                </a:solidFill>
                <a:latin typeface="Arimo"/>
              </a:rPr>
              <a:t>1</a:t>
            </a:r>
            <a:r>
              <a:rPr lang="fr-FR" sz="2800" dirty="0">
                <a:solidFill>
                  <a:srgbClr val="303030"/>
                </a:solidFill>
                <a:latin typeface="Arimo"/>
              </a:rPr>
              <a:t> → T</a:t>
            </a:r>
            <a:r>
              <a:rPr lang="fr-FR" sz="2800" baseline="-25000" dirty="0">
                <a:solidFill>
                  <a:srgbClr val="303030"/>
                </a:solidFill>
                <a:latin typeface="Arimo"/>
              </a:rPr>
              <a:t>3</a:t>
            </a:r>
            <a:r>
              <a:rPr lang="fr-FR" sz="2800" dirty="0">
                <a:solidFill>
                  <a:srgbClr val="303030"/>
                </a:solidFill>
                <a:latin typeface="Arimo"/>
              </a:rPr>
              <a:t> → T</a:t>
            </a:r>
            <a:r>
              <a:rPr lang="fr-FR" sz="2800" baseline="-25000" dirty="0">
                <a:solidFill>
                  <a:srgbClr val="303030"/>
                </a:solidFill>
                <a:latin typeface="Arimo"/>
              </a:rPr>
              <a:t>2</a:t>
            </a:r>
            <a:endParaRPr lang="fr-FR" sz="2800" b="0" i="0" dirty="0">
              <a:solidFill>
                <a:srgbClr val="303030"/>
              </a:solidFill>
              <a:effectLst/>
              <a:latin typeface="Arimo"/>
            </a:endParaRPr>
          </a:p>
        </p:txBody>
      </p:sp>
    </p:spTree>
    <p:extLst>
      <p:ext uri="{BB962C8B-B14F-4D97-AF65-F5344CB8AC3E}">
        <p14:creationId xmlns:p14="http://schemas.microsoft.com/office/powerpoint/2010/main" val="401065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https://www.gatevidyalay.com/wp-content/uploads/2018/06/Conflict-Serializability-Problem-4.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00481" y="1165599"/>
            <a:ext cx="3838575" cy="4981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32895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78857" y="304870"/>
            <a:ext cx="9928413" cy="3416320"/>
          </a:xfrm>
          <a:prstGeom prst="rect">
            <a:avLst/>
          </a:prstGeom>
        </p:spPr>
        <p:txBody>
          <a:bodyPr wrap="square">
            <a:spAutoFit/>
          </a:bodyPr>
          <a:lstStyle/>
          <a:p>
            <a:r>
              <a:rPr lang="en-IN" dirty="0">
                <a:solidFill>
                  <a:srgbClr val="222222"/>
                </a:solidFill>
                <a:latin typeface="open sans"/>
              </a:rPr>
              <a:t>Consider the transactions T1, T2, and T3 and the schedules S1 and S2 given below.</a:t>
            </a:r>
            <a:r>
              <a:rPr lang="en-IN" dirty="0"/>
              <a:t/>
            </a:r>
            <a:br>
              <a:rPr lang="en-IN" dirty="0"/>
            </a:br>
            <a:r>
              <a:rPr lang="en-IN" dirty="0"/>
              <a:t/>
            </a:r>
            <a:br>
              <a:rPr lang="en-IN" dirty="0"/>
            </a:br>
            <a:r>
              <a:rPr lang="en-IN" dirty="0">
                <a:solidFill>
                  <a:srgbClr val="222222"/>
                </a:solidFill>
                <a:latin typeface="open sans"/>
              </a:rPr>
              <a:t>T1: r1(X); r1(Z); w1(X); w1(Z)</a:t>
            </a:r>
            <a:r>
              <a:rPr lang="en-IN" dirty="0"/>
              <a:t/>
            </a:r>
            <a:br>
              <a:rPr lang="en-IN" dirty="0"/>
            </a:br>
            <a:r>
              <a:rPr lang="en-IN" dirty="0">
                <a:solidFill>
                  <a:srgbClr val="222222"/>
                </a:solidFill>
                <a:latin typeface="open sans"/>
              </a:rPr>
              <a:t>T2: r2(Y); r2(Z); w2(Z)</a:t>
            </a:r>
            <a:r>
              <a:rPr lang="en-IN" dirty="0"/>
              <a:t/>
            </a:r>
            <a:br>
              <a:rPr lang="en-IN" dirty="0"/>
            </a:br>
            <a:r>
              <a:rPr lang="en-IN" dirty="0">
                <a:solidFill>
                  <a:srgbClr val="222222"/>
                </a:solidFill>
                <a:latin typeface="open sans"/>
              </a:rPr>
              <a:t>T3: r3(Y); r3(X); w3(Y)</a:t>
            </a:r>
            <a:r>
              <a:rPr lang="en-IN" dirty="0"/>
              <a:t/>
            </a:r>
            <a:br>
              <a:rPr lang="en-IN" dirty="0"/>
            </a:br>
            <a:r>
              <a:rPr lang="en-IN" dirty="0">
                <a:solidFill>
                  <a:srgbClr val="222222"/>
                </a:solidFill>
                <a:latin typeface="open sans"/>
              </a:rPr>
              <a:t>S1: r1(X); r3(Y); r3(X); r2(Y); r2(Z);</a:t>
            </a:r>
            <a:r>
              <a:rPr lang="en-IN" dirty="0"/>
              <a:t/>
            </a:r>
            <a:br>
              <a:rPr lang="en-IN" dirty="0"/>
            </a:br>
            <a:r>
              <a:rPr lang="en-IN" dirty="0">
                <a:solidFill>
                  <a:srgbClr val="222222"/>
                </a:solidFill>
                <a:latin typeface="open sans"/>
              </a:rPr>
              <a:t>w3(Y); w2(Z); r1(Z); w1(X); w1(Z)</a:t>
            </a:r>
            <a:r>
              <a:rPr lang="en-IN" dirty="0"/>
              <a:t/>
            </a:r>
            <a:br>
              <a:rPr lang="en-IN" dirty="0"/>
            </a:br>
            <a:r>
              <a:rPr lang="en-IN" dirty="0">
                <a:solidFill>
                  <a:srgbClr val="222222"/>
                </a:solidFill>
                <a:latin typeface="open sans"/>
              </a:rPr>
              <a:t>S2: r1(X); r3(Y); r2(Y); r3(X); r1(Z);</a:t>
            </a:r>
            <a:r>
              <a:rPr lang="en-IN" dirty="0"/>
              <a:t/>
            </a:r>
            <a:br>
              <a:rPr lang="en-IN" dirty="0"/>
            </a:br>
            <a:r>
              <a:rPr lang="en-IN" dirty="0">
                <a:solidFill>
                  <a:srgbClr val="222222"/>
                </a:solidFill>
                <a:latin typeface="open sans"/>
              </a:rPr>
              <a:t>r2(Z); w3(Y); w1(X); w2(Z); w1(Z)</a:t>
            </a:r>
            <a:r>
              <a:rPr lang="en-IN" dirty="0"/>
              <a:t/>
            </a:r>
            <a:br>
              <a:rPr lang="en-IN" dirty="0"/>
            </a:br>
            <a:r>
              <a:rPr lang="en-IN" dirty="0"/>
              <a:t/>
            </a:r>
            <a:br>
              <a:rPr lang="en-IN" dirty="0"/>
            </a:br>
            <a:r>
              <a:rPr lang="en-IN" dirty="0">
                <a:solidFill>
                  <a:srgbClr val="222222"/>
                </a:solidFill>
                <a:latin typeface="open sans"/>
              </a:rPr>
              <a:t>Which one of the following statements about the schedules is TRUE</a:t>
            </a:r>
            <a:r>
              <a:rPr lang="en-IN" dirty="0" smtClean="0">
                <a:solidFill>
                  <a:srgbClr val="222222"/>
                </a:solidFill>
                <a:latin typeface="open sans"/>
              </a:rPr>
              <a:t>?</a:t>
            </a:r>
          </a:p>
          <a:p>
            <a:endParaRPr lang="en-IN" dirty="0"/>
          </a:p>
        </p:txBody>
      </p:sp>
      <p:graphicFrame>
        <p:nvGraphicFramePr>
          <p:cNvPr id="3" name="Table 2"/>
          <p:cNvGraphicFramePr>
            <a:graphicFrameLocks noGrp="1"/>
          </p:cNvGraphicFramePr>
          <p:nvPr>
            <p:extLst>
              <p:ext uri="{D42A27DB-BD31-4B8C-83A1-F6EECF244321}">
                <p14:modId xmlns:p14="http://schemas.microsoft.com/office/powerpoint/2010/main" val="1949774355"/>
              </p:ext>
            </p:extLst>
          </p:nvPr>
        </p:nvGraphicFramePr>
        <p:xfrm>
          <a:off x="1178857" y="3721190"/>
          <a:ext cx="8521598" cy="1706880"/>
        </p:xfrm>
        <a:graphic>
          <a:graphicData uri="http://schemas.openxmlformats.org/drawingml/2006/table">
            <a:tbl>
              <a:tblPr/>
              <a:tblGrid>
                <a:gridCol w="4260799"/>
                <a:gridCol w="4260799"/>
              </a:tblGrid>
              <a:tr h="0">
                <a:tc>
                  <a:txBody>
                    <a:bodyPr/>
                    <a:lstStyle/>
                    <a:p>
                      <a:pPr algn="l"/>
                      <a:r>
                        <a:rPr lang="en-IN" b="1">
                          <a:effectLst/>
                        </a:rPr>
                        <a:t>a.</a:t>
                      </a:r>
                      <a:endParaRPr lang="en-IN">
                        <a:effectLst/>
                      </a:endParaRPr>
                    </a:p>
                  </a:txBody>
                  <a:tcPr marL="76200" marR="76200" marT="76200" marB="76200" anchor="b">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algn="l"/>
                      <a:r>
                        <a:rPr lang="en-IN">
                          <a:solidFill>
                            <a:srgbClr val="222222"/>
                          </a:solidFill>
                          <a:effectLst/>
                          <a:latin typeface="open sans"/>
                        </a:rPr>
                        <a:t>Only S1 is conflict-serializable</a:t>
                      </a:r>
                      <a:endParaRPr lang="en-IN">
                        <a:effectLst/>
                      </a:endParaRPr>
                    </a:p>
                  </a:txBody>
                  <a:tcPr marL="76200" marR="76200" marT="76200" marB="76200" anchor="b">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r>
              <a:tr h="0">
                <a:tc>
                  <a:txBody>
                    <a:bodyPr/>
                    <a:lstStyle/>
                    <a:p>
                      <a:pPr algn="l"/>
                      <a:r>
                        <a:rPr lang="en-IN" b="1">
                          <a:effectLst/>
                        </a:rPr>
                        <a:t>b.</a:t>
                      </a:r>
                      <a:endParaRPr lang="en-IN">
                        <a:effectLst/>
                      </a:endParaRPr>
                    </a:p>
                  </a:txBody>
                  <a:tcPr marL="76200" marR="76200" marT="76200" marB="76200" anchor="b">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9F9F9"/>
                    </a:solidFill>
                  </a:tcPr>
                </a:tc>
                <a:tc>
                  <a:txBody>
                    <a:bodyPr/>
                    <a:lstStyle/>
                    <a:p>
                      <a:pPr algn="l"/>
                      <a:r>
                        <a:rPr lang="en-IN">
                          <a:solidFill>
                            <a:srgbClr val="222222"/>
                          </a:solidFill>
                          <a:effectLst/>
                          <a:latin typeface="open sans"/>
                        </a:rPr>
                        <a:t>Only S2 is conflict-serializable</a:t>
                      </a:r>
                      <a:endParaRPr lang="en-IN">
                        <a:effectLst/>
                      </a:endParaRPr>
                    </a:p>
                  </a:txBody>
                  <a:tcPr marL="76200" marR="76200" marT="76200" marB="76200" anchor="b">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9F9F9"/>
                    </a:solidFill>
                  </a:tcPr>
                </a:tc>
              </a:tr>
              <a:tr h="0">
                <a:tc>
                  <a:txBody>
                    <a:bodyPr/>
                    <a:lstStyle/>
                    <a:p>
                      <a:pPr algn="l"/>
                      <a:r>
                        <a:rPr lang="en-IN" b="1">
                          <a:effectLst/>
                        </a:rPr>
                        <a:t>c.</a:t>
                      </a:r>
                      <a:endParaRPr lang="en-IN">
                        <a:effectLst/>
                      </a:endParaRPr>
                    </a:p>
                  </a:txBody>
                  <a:tcPr marL="76200" marR="76200" marT="76200" marB="76200" anchor="b">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algn="l"/>
                      <a:r>
                        <a:rPr lang="en-IN">
                          <a:solidFill>
                            <a:srgbClr val="222222"/>
                          </a:solidFill>
                          <a:effectLst/>
                          <a:latin typeface="open sans"/>
                        </a:rPr>
                        <a:t>Both S1 and S2 are conflict-serializable</a:t>
                      </a:r>
                      <a:endParaRPr lang="en-IN">
                        <a:effectLst/>
                      </a:endParaRPr>
                    </a:p>
                  </a:txBody>
                  <a:tcPr marL="76200" marR="76200" marT="76200" marB="76200" anchor="b">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r>
              <a:tr h="0">
                <a:tc>
                  <a:txBody>
                    <a:bodyPr/>
                    <a:lstStyle/>
                    <a:p>
                      <a:pPr algn="l"/>
                      <a:r>
                        <a:rPr lang="en-IN" b="1">
                          <a:effectLst/>
                        </a:rPr>
                        <a:t>d.</a:t>
                      </a:r>
                      <a:endParaRPr lang="en-IN">
                        <a:effectLst/>
                      </a:endParaRPr>
                    </a:p>
                  </a:txBody>
                  <a:tcPr marL="76200" marR="76200" marT="76200" marB="76200" anchor="b">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9F9F9"/>
                    </a:solidFill>
                  </a:tcPr>
                </a:tc>
                <a:tc>
                  <a:txBody>
                    <a:bodyPr/>
                    <a:lstStyle/>
                    <a:p>
                      <a:pPr algn="l"/>
                      <a:r>
                        <a:rPr lang="en-IN" dirty="0">
                          <a:solidFill>
                            <a:srgbClr val="222222"/>
                          </a:solidFill>
                          <a:effectLst/>
                          <a:latin typeface="open sans"/>
                        </a:rPr>
                        <a:t>Neither S1 nor S2 is conflict-serializable</a:t>
                      </a:r>
                      <a:endParaRPr lang="en-IN" dirty="0">
                        <a:effectLst/>
                      </a:endParaRPr>
                    </a:p>
                  </a:txBody>
                  <a:tcPr marL="76200" marR="76200" marT="76200" marB="76200" anchor="b">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9F9F9"/>
                    </a:solidFill>
                  </a:tcPr>
                </a:tc>
              </a:tr>
            </a:tbl>
          </a:graphicData>
        </a:graphic>
      </p:graphicFrame>
    </p:spTree>
    <p:extLst>
      <p:ext uri="{BB962C8B-B14F-4D97-AF65-F5344CB8AC3E}">
        <p14:creationId xmlns:p14="http://schemas.microsoft.com/office/powerpoint/2010/main" val="17809890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3456</TotalTime>
  <Words>760</Words>
  <Application>Microsoft Office PowerPoint</Application>
  <PresentationFormat>Widescreen</PresentationFormat>
  <Paragraphs>90</Paragraphs>
  <Slides>18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Arimo</vt:lpstr>
      <vt:lpstr>Calibri</vt:lpstr>
      <vt:lpstr>Calibri Light</vt:lpstr>
      <vt:lpstr>inherit</vt:lpstr>
      <vt:lpstr>open sans</vt:lpstr>
      <vt:lpstr>roboto condensed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HP</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madhuri.23525@lpu.co.in</dc:creator>
  <cp:lastModifiedBy>madhuri.23525@lpu.co.in</cp:lastModifiedBy>
  <cp:revision>6</cp:revision>
  <dcterms:created xsi:type="dcterms:W3CDTF">2021-10-20T20:07:39Z</dcterms:created>
  <dcterms:modified xsi:type="dcterms:W3CDTF">2022-09-29T16:05:37Z</dcterms:modified>
</cp:coreProperties>
</file>