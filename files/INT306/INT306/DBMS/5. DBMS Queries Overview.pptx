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2"/>
    <p:sldId id="312" r:id="rId3"/>
    <p:sldId id="257" r:id="rId4"/>
    <p:sldId id="315" r:id="rId5"/>
    <p:sldId id="328" r:id="rId6"/>
    <p:sldId id="317" r:id="rId7"/>
    <p:sldId id="318" r:id="rId8"/>
    <p:sldId id="319" r:id="rId9"/>
    <p:sldId id="320" r:id="rId10"/>
    <p:sldId id="321" r:id="rId11"/>
    <p:sldId id="322" r:id="rId12"/>
    <p:sldId id="323" r:id="rId13"/>
    <p:sldId id="324" r:id="rId14"/>
    <p:sldId id="325" r:id="rId15"/>
    <p:sldId id="326" r:id="rId16"/>
    <p:sldId id="329" r:id="rId17"/>
    <p:sldId id="258" r:id="rId18"/>
    <p:sldId id="316" r:id="rId19"/>
    <p:sldId id="297" r:id="rId20"/>
    <p:sldId id="298" r:id="rId21"/>
    <p:sldId id="299" r:id="rId22"/>
    <p:sldId id="290" r:id="rId23"/>
    <p:sldId id="262" r:id="rId24"/>
    <p:sldId id="291" r:id="rId25"/>
    <p:sldId id="292" r:id="rId26"/>
    <p:sldId id="331" r:id="rId27"/>
    <p:sldId id="293" r:id="rId28"/>
    <p:sldId id="294" r:id="rId29"/>
    <p:sldId id="295" r:id="rId30"/>
    <p:sldId id="296" r:id="rId31"/>
    <p:sldId id="311" r:id="rId32"/>
    <p:sldId id="330" r:id="rId33"/>
    <p:sldId id="309" r:id="rId34"/>
    <p:sldId id="314" r:id="rId35"/>
    <p:sldId id="308" r:id="rId36"/>
    <p:sldId id="332" r:id="rId37"/>
    <p:sldId id="333" r:id="rId38"/>
    <p:sldId id="307" r:id="rId39"/>
    <p:sldId id="310" r:id="rId4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37" autoAdjust="0"/>
    <p:restoredTop sz="94660"/>
  </p:normalViewPr>
  <p:slideViewPr>
    <p:cSldViewPr>
      <p:cViewPr varScale="1">
        <p:scale>
          <a:sx n="67" d="100"/>
          <a:sy n="67" d="100"/>
        </p:scale>
        <p:origin x="148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408A52-3F66-4336-ADCE-6EEA53D2A73C}" type="datetimeFigureOut">
              <a:rPr lang="en-US" smtClean="0"/>
              <a:pPr/>
              <a:t>9/13/2022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8EE900-7B5B-41E3-BCE7-C5713261C24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057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CB2E2152-880C-4AD3-AFE3-3B8F9E841797}" type="slidenum">
              <a:rPr lang="en-US" smtClean="0"/>
              <a:pPr/>
              <a:t>11</a:t>
            </a:fld>
            <a:endParaRPr lang="en-US" smtClean="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1619440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8EE900-7B5B-41E3-BCE7-C5713261C248}" type="slidenum">
              <a:rPr lang="en-IN" smtClean="0"/>
              <a:pPr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76781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Data</a:t>
            </a:r>
          </a:p>
          <a:p>
            <a:r>
              <a:rPr lang="en-US" dirty="0" smtClean="0"/>
              <a:t>Information</a:t>
            </a:r>
          </a:p>
          <a:p>
            <a:r>
              <a:rPr lang="en-US" dirty="0" smtClean="0"/>
              <a:t>Database</a:t>
            </a:r>
          </a:p>
          <a:p>
            <a:r>
              <a:rPr lang="en-US" dirty="0" smtClean="0"/>
              <a:t>DBMS</a:t>
            </a:r>
          </a:p>
          <a:p>
            <a:r>
              <a:rPr lang="en-US" dirty="0" smtClean="0"/>
              <a:t>Table/relation</a:t>
            </a:r>
          </a:p>
          <a:p>
            <a:r>
              <a:rPr lang="en-US" dirty="0" smtClean="0"/>
              <a:t>Oracle</a:t>
            </a:r>
          </a:p>
          <a:p>
            <a:r>
              <a:rPr lang="en-US" dirty="0" smtClean="0"/>
              <a:t>SQL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What is SQL?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 smtClean="0"/>
              <a:t>SQL is structured Query Language which is a computer language for storing, manipulating and retrieving data stored in relational database. </a:t>
            </a:r>
          </a:p>
          <a:p>
            <a:r>
              <a:rPr lang="en-IN" dirty="0" smtClean="0"/>
              <a:t>SQL is the standard language for Relation Database System. All relational database management systems like MySQL, MS Access, Oracle, Sybase, Informix and SQL Server uses SQL as standard database language. 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SQL Components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DDL– create table/rename/alter/drop/ truncate</a:t>
            </a:r>
          </a:p>
          <a:p>
            <a:r>
              <a:rPr lang="en-US" dirty="0" smtClean="0"/>
              <a:t>DML—insert/update/delete</a:t>
            </a:r>
          </a:p>
          <a:p>
            <a:r>
              <a:rPr lang="en-US" dirty="0" smtClean="0"/>
              <a:t>DCL---grant/revoke</a:t>
            </a:r>
          </a:p>
          <a:p>
            <a:r>
              <a:rPr lang="en-US" dirty="0" smtClean="0"/>
              <a:t>TCL---commit/rollback</a:t>
            </a:r>
          </a:p>
          <a:p>
            <a:r>
              <a:rPr lang="en-US" dirty="0" smtClean="0"/>
              <a:t>DQL--Select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304800"/>
            <a:ext cx="8153399" cy="5821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 data types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Char</a:t>
            </a:r>
          </a:p>
          <a:p>
            <a:r>
              <a:rPr lang="en-US" dirty="0" err="1" smtClean="0"/>
              <a:t>Varchar</a:t>
            </a:r>
            <a:r>
              <a:rPr lang="en-US" dirty="0" smtClean="0"/>
              <a:t>(size)</a:t>
            </a:r>
            <a:r>
              <a:rPr lang="en-IN" dirty="0" smtClean="0"/>
              <a:t>/varchar2</a:t>
            </a:r>
          </a:p>
          <a:p>
            <a:r>
              <a:rPr lang="en-US" dirty="0" smtClean="0"/>
              <a:t>Date</a:t>
            </a:r>
          </a:p>
          <a:p>
            <a:r>
              <a:rPr lang="en-US" dirty="0" smtClean="0"/>
              <a:t>Number</a:t>
            </a:r>
          </a:p>
          <a:p>
            <a:r>
              <a:rPr lang="en-US" dirty="0" smtClean="0"/>
              <a:t>Long</a:t>
            </a:r>
          </a:p>
          <a:p>
            <a:r>
              <a:rPr lang="en-US" dirty="0" smtClean="0"/>
              <a:t>Raw/long raw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 b="1" smtClean="0"/>
              <a:t>Create Command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029200"/>
          </a:xfrm>
        </p:spPr>
        <p:txBody>
          <a:bodyPr/>
          <a:lstStyle/>
          <a:p>
            <a:pPr eaLnBrk="1" hangingPunct="1"/>
            <a:r>
              <a:rPr lang="en-US" sz="2400" b="1" dirty="0" smtClean="0"/>
              <a:t>This command is used to create/generate new tables.</a:t>
            </a:r>
          </a:p>
          <a:p>
            <a:pPr eaLnBrk="1" hangingPunct="1"/>
            <a:r>
              <a:rPr lang="en-US" sz="2400" b="1" dirty="0" smtClean="0"/>
              <a:t>Syntax</a:t>
            </a:r>
          </a:p>
          <a:p>
            <a:pPr lvl="1" eaLnBrk="1" hangingPunct="1">
              <a:buFontTx/>
              <a:buNone/>
            </a:pPr>
            <a:r>
              <a:rPr lang="en-US" dirty="0" smtClean="0"/>
              <a:t>	</a:t>
            </a:r>
            <a:r>
              <a:rPr lang="en-US" sz="2400" b="1" dirty="0" smtClean="0"/>
              <a:t>CREATE TABLE</a:t>
            </a:r>
            <a:r>
              <a:rPr lang="en-US" sz="2400" dirty="0" smtClean="0"/>
              <a:t> </a:t>
            </a:r>
            <a:r>
              <a:rPr lang="en-US" sz="2400" dirty="0" err="1" smtClean="0">
                <a:solidFill>
                  <a:srgbClr val="3333CC"/>
                </a:solidFill>
              </a:rPr>
              <a:t>table</a:t>
            </a:r>
            <a:r>
              <a:rPr lang="en-US" sz="2400" dirty="0" smtClean="0">
                <a:solidFill>
                  <a:srgbClr val="3333CC"/>
                </a:solidFill>
              </a:rPr>
              <a:t> name</a:t>
            </a:r>
          </a:p>
          <a:p>
            <a:pPr lvl="1" eaLnBrk="1" hangingPunct="1">
              <a:buFontTx/>
              <a:buNone/>
            </a:pPr>
            <a:r>
              <a:rPr lang="en-US" sz="2400" dirty="0" smtClean="0"/>
              <a:t>	(</a:t>
            </a:r>
            <a:r>
              <a:rPr lang="en-US" sz="2400" dirty="0" smtClean="0">
                <a:solidFill>
                  <a:srgbClr val="009900"/>
                </a:solidFill>
              </a:rPr>
              <a:t>column name</a:t>
            </a:r>
            <a:r>
              <a:rPr lang="en-US" sz="2400" dirty="0" smtClean="0"/>
              <a:t> </a:t>
            </a:r>
            <a:r>
              <a:rPr lang="en-US" sz="2400" dirty="0" err="1" smtClean="0">
                <a:solidFill>
                  <a:srgbClr val="FF0000"/>
                </a:solidFill>
              </a:rPr>
              <a:t>datatype</a:t>
            </a:r>
            <a:r>
              <a:rPr lang="en-US" sz="2400" dirty="0" smtClean="0">
                <a:solidFill>
                  <a:srgbClr val="FF0000"/>
                </a:solidFill>
              </a:rPr>
              <a:t>(size)</a:t>
            </a:r>
            <a:r>
              <a:rPr lang="en-US" sz="2400" dirty="0" smtClean="0"/>
              <a:t>, </a:t>
            </a:r>
            <a:r>
              <a:rPr lang="en-US" sz="2400" dirty="0" smtClean="0">
                <a:solidFill>
                  <a:srgbClr val="009900"/>
                </a:solidFill>
              </a:rPr>
              <a:t>column name</a:t>
            </a:r>
            <a:r>
              <a:rPr lang="en-US" sz="2400" dirty="0" smtClean="0"/>
              <a:t> </a:t>
            </a:r>
            <a:r>
              <a:rPr lang="en-US" sz="2400" dirty="0" err="1" smtClean="0">
                <a:solidFill>
                  <a:srgbClr val="FF0000"/>
                </a:solidFill>
              </a:rPr>
              <a:t>datatype</a:t>
            </a:r>
            <a:r>
              <a:rPr lang="en-US" sz="2400" dirty="0" smtClean="0">
                <a:solidFill>
                  <a:srgbClr val="FF0000"/>
                </a:solidFill>
              </a:rPr>
              <a:t>(size)</a:t>
            </a:r>
            <a:r>
              <a:rPr lang="en-US" sz="2400" dirty="0" smtClean="0"/>
              <a:t> --- ); </a:t>
            </a:r>
          </a:p>
          <a:p>
            <a:pPr eaLnBrk="1" hangingPunct="1"/>
            <a:r>
              <a:rPr lang="en-US" sz="2400" b="1" dirty="0" smtClean="0"/>
              <a:t>Example</a:t>
            </a:r>
          </a:p>
          <a:p>
            <a:pPr lvl="1" eaLnBrk="1" hangingPunct="1">
              <a:buFontTx/>
              <a:buNone/>
            </a:pPr>
            <a:r>
              <a:rPr lang="en-US" sz="2000" b="1" dirty="0" smtClean="0"/>
              <a:t>	</a:t>
            </a:r>
            <a:r>
              <a:rPr lang="en-US" sz="2400" b="1" dirty="0" smtClean="0"/>
              <a:t>CREATE TABLE</a:t>
            </a:r>
            <a:r>
              <a:rPr lang="en-US" sz="2400" dirty="0" smtClean="0"/>
              <a:t> </a:t>
            </a:r>
            <a:r>
              <a:rPr lang="en-US" sz="2400" dirty="0" smtClean="0">
                <a:solidFill>
                  <a:srgbClr val="3333CC"/>
                </a:solidFill>
              </a:rPr>
              <a:t>Student</a:t>
            </a:r>
          </a:p>
          <a:p>
            <a:pPr lvl="1" eaLnBrk="1" hangingPunct="1">
              <a:buFontTx/>
              <a:buNone/>
            </a:pPr>
            <a:r>
              <a:rPr lang="en-US" sz="2400" dirty="0" smtClean="0"/>
              <a:t>	(</a:t>
            </a:r>
            <a:r>
              <a:rPr lang="en-US" sz="2400" dirty="0" err="1" smtClean="0">
                <a:solidFill>
                  <a:srgbClr val="009900"/>
                </a:solidFill>
              </a:rPr>
              <a:t>std_name</a:t>
            </a:r>
            <a:r>
              <a:rPr lang="en-US" sz="2400" dirty="0" smtClean="0"/>
              <a:t> </a:t>
            </a:r>
            <a:r>
              <a:rPr lang="en-US" sz="2400" dirty="0" smtClean="0">
                <a:solidFill>
                  <a:srgbClr val="FF0000"/>
                </a:solidFill>
              </a:rPr>
              <a:t>varchar2(20)</a:t>
            </a:r>
            <a:r>
              <a:rPr lang="en-US" sz="2400" dirty="0" smtClean="0"/>
              <a:t>, </a:t>
            </a:r>
            <a:r>
              <a:rPr lang="en-US" sz="2400" dirty="0" err="1" smtClean="0">
                <a:solidFill>
                  <a:srgbClr val="009900"/>
                </a:solidFill>
              </a:rPr>
              <a:t>father_name</a:t>
            </a:r>
            <a:r>
              <a:rPr lang="en-US" sz="2400" dirty="0" smtClean="0"/>
              <a:t> </a:t>
            </a:r>
            <a:r>
              <a:rPr lang="en-US" sz="2400" dirty="0" smtClean="0">
                <a:solidFill>
                  <a:srgbClr val="FF0000"/>
                </a:solidFill>
              </a:rPr>
              <a:t>varchar2(20)</a:t>
            </a:r>
            <a:r>
              <a:rPr lang="en-US" sz="2400" dirty="0" smtClean="0"/>
              <a:t>, </a:t>
            </a:r>
            <a:r>
              <a:rPr lang="en-US" sz="2400" dirty="0" smtClean="0">
                <a:solidFill>
                  <a:srgbClr val="009900"/>
                </a:solidFill>
              </a:rPr>
              <a:t>DOB</a:t>
            </a:r>
            <a:r>
              <a:rPr lang="en-US" sz="2400" dirty="0" smtClean="0"/>
              <a:t> </a:t>
            </a:r>
            <a:r>
              <a:rPr lang="en-US" sz="2400" dirty="0" smtClean="0">
                <a:solidFill>
                  <a:srgbClr val="FF0000"/>
                </a:solidFill>
              </a:rPr>
              <a:t>number(10)</a:t>
            </a:r>
            <a:r>
              <a:rPr lang="en-US" sz="2400" dirty="0" smtClean="0"/>
              <a:t>, </a:t>
            </a:r>
            <a:r>
              <a:rPr lang="en-US" sz="2400" dirty="0" smtClean="0">
                <a:solidFill>
                  <a:srgbClr val="009900"/>
                </a:solidFill>
              </a:rPr>
              <a:t>address</a:t>
            </a:r>
            <a:r>
              <a:rPr lang="en-US" sz="2400" dirty="0" smtClean="0"/>
              <a:t> </a:t>
            </a:r>
            <a:r>
              <a:rPr lang="en-US" sz="2400" dirty="0" smtClean="0">
                <a:solidFill>
                  <a:srgbClr val="FF0000"/>
                </a:solidFill>
              </a:rPr>
              <a:t>varchar2(20)</a:t>
            </a:r>
            <a:r>
              <a:rPr lang="en-US" sz="2400" dirty="0" smtClean="0"/>
              <a:t>); </a:t>
            </a:r>
          </a:p>
          <a:p>
            <a:pPr lvl="1" eaLnBrk="1" hangingPunct="1">
              <a:buFontTx/>
              <a:buNone/>
            </a:pPr>
            <a:endParaRPr lang="en-US" sz="2000" b="1" dirty="0" smtClean="0"/>
          </a:p>
          <a:p>
            <a:pPr lvl="1" eaLnBrk="1" hangingPunct="1">
              <a:buFontTx/>
              <a:buNone/>
            </a:pPr>
            <a:endParaRPr lang="en-US" sz="20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 b="1" smtClean="0"/>
              <a:t>Insert Command</a:t>
            </a:r>
            <a:r>
              <a:rPr lang="en-US" sz="2800" smtClean="0"/>
              <a:t> 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953000"/>
          </a:xfrm>
        </p:spPr>
        <p:txBody>
          <a:bodyPr/>
          <a:lstStyle/>
          <a:p>
            <a:pPr eaLnBrk="1" hangingPunct="1"/>
            <a:r>
              <a:rPr lang="en-US" sz="2400" b="1" dirty="0" smtClean="0"/>
              <a:t>This command is used to insert rows into the table containing already defined columns.</a:t>
            </a:r>
          </a:p>
          <a:p>
            <a:pPr eaLnBrk="1" hangingPunct="1"/>
            <a:r>
              <a:rPr lang="en-US" sz="2400" b="1" dirty="0" smtClean="0"/>
              <a:t>Syntax</a:t>
            </a:r>
          </a:p>
          <a:p>
            <a:pPr eaLnBrk="1" hangingPunct="1">
              <a:buFontTx/>
              <a:buNone/>
            </a:pPr>
            <a:r>
              <a:rPr lang="en-US" sz="2400" b="1" dirty="0" smtClean="0"/>
              <a:t>		INSERT INTO </a:t>
            </a:r>
            <a:r>
              <a:rPr lang="en-US" sz="2400" dirty="0" smtClean="0">
                <a:solidFill>
                  <a:srgbClr val="3333CC"/>
                </a:solidFill>
              </a:rPr>
              <a:t>table name</a:t>
            </a:r>
          </a:p>
          <a:p>
            <a:pPr lvl="1" eaLnBrk="1" hangingPunct="1">
              <a:buFontTx/>
              <a:buNone/>
            </a:pPr>
            <a:r>
              <a:rPr lang="en-US" sz="2400" dirty="0" smtClean="0"/>
              <a:t>		(</a:t>
            </a:r>
            <a:r>
              <a:rPr lang="en-US" sz="2400" dirty="0" smtClean="0">
                <a:solidFill>
                  <a:srgbClr val="009900"/>
                </a:solidFill>
              </a:rPr>
              <a:t>column name</a:t>
            </a:r>
            <a:r>
              <a:rPr lang="en-US" sz="2400" dirty="0" smtClean="0"/>
              <a:t>, </a:t>
            </a:r>
            <a:r>
              <a:rPr lang="en-US" sz="2400" dirty="0" smtClean="0">
                <a:solidFill>
                  <a:srgbClr val="009900"/>
                </a:solidFill>
              </a:rPr>
              <a:t>column name,</a:t>
            </a:r>
            <a:r>
              <a:rPr lang="en-US" sz="2400" dirty="0" smtClean="0"/>
              <a:t> --- )</a:t>
            </a:r>
          </a:p>
          <a:p>
            <a:pPr lvl="1" eaLnBrk="1" hangingPunct="1">
              <a:buFontTx/>
              <a:buNone/>
            </a:pPr>
            <a:r>
              <a:rPr lang="en-US" sz="2400" dirty="0" smtClean="0"/>
              <a:t>		</a:t>
            </a:r>
            <a:r>
              <a:rPr lang="en-US" sz="2400" b="1" dirty="0" smtClean="0"/>
              <a:t>VALUES</a:t>
            </a:r>
            <a:r>
              <a:rPr lang="en-US" sz="2400" dirty="0" smtClean="0"/>
              <a:t> (</a:t>
            </a:r>
            <a:r>
              <a:rPr lang="en-US" sz="2400" dirty="0" smtClean="0">
                <a:solidFill>
                  <a:srgbClr val="FF0000"/>
                </a:solidFill>
              </a:rPr>
              <a:t>expression</a:t>
            </a:r>
            <a:r>
              <a:rPr lang="en-US" sz="2400" dirty="0" smtClean="0"/>
              <a:t>, </a:t>
            </a:r>
            <a:r>
              <a:rPr lang="en-US" sz="2400" dirty="0" smtClean="0">
                <a:solidFill>
                  <a:srgbClr val="FF0000"/>
                </a:solidFill>
              </a:rPr>
              <a:t>expression, </a:t>
            </a:r>
            <a:r>
              <a:rPr lang="en-US" sz="2400" dirty="0" smtClean="0"/>
              <a:t>---);</a:t>
            </a:r>
          </a:p>
          <a:p>
            <a:pPr eaLnBrk="1" hangingPunct="1"/>
            <a:r>
              <a:rPr lang="en-US" sz="2400" b="1" dirty="0" smtClean="0"/>
              <a:t>Example</a:t>
            </a:r>
          </a:p>
          <a:p>
            <a:pPr>
              <a:buNone/>
            </a:pPr>
            <a:r>
              <a:rPr lang="en-US" sz="2400" b="1" dirty="0" smtClean="0"/>
              <a:t>		</a:t>
            </a:r>
            <a:endParaRPr lang="en-US" sz="2400" b="1" dirty="0"/>
          </a:p>
          <a:p>
            <a:pPr>
              <a:buNone/>
            </a:pPr>
            <a:r>
              <a:rPr lang="en-US" sz="2400" b="1" dirty="0"/>
              <a:t>INSERT INTO Student</a:t>
            </a:r>
          </a:p>
          <a:p>
            <a:pPr>
              <a:buNone/>
            </a:pPr>
            <a:r>
              <a:rPr lang="en-US" sz="2400" b="1" dirty="0"/>
              <a:t>		(</a:t>
            </a:r>
            <a:r>
              <a:rPr lang="en-US" sz="2400" b="1" dirty="0" err="1"/>
              <a:t>std_name</a:t>
            </a:r>
            <a:r>
              <a:rPr lang="en-US" sz="2400" b="1" dirty="0"/>
              <a:t>, </a:t>
            </a:r>
            <a:r>
              <a:rPr lang="en-US" sz="2400" b="1" dirty="0" err="1"/>
              <a:t>father_name</a:t>
            </a:r>
            <a:r>
              <a:rPr lang="en-US" sz="2400" b="1" dirty="0"/>
              <a:t>, DOB, address)</a:t>
            </a:r>
          </a:p>
          <a:p>
            <a:pPr>
              <a:buNone/>
            </a:pPr>
            <a:r>
              <a:rPr lang="en-US" sz="2400" b="1" dirty="0"/>
              <a:t>		VALUES ('</a:t>
            </a:r>
            <a:r>
              <a:rPr lang="en-US" sz="2400" b="1" dirty="0" err="1"/>
              <a:t>Abid</a:t>
            </a:r>
            <a:r>
              <a:rPr lang="en-US" sz="2400" b="1" dirty="0"/>
              <a:t>', 'Ibrahim', 1984, 'KARAK');</a:t>
            </a:r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 b="1" smtClean="0"/>
              <a:t>Select Command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876800"/>
          </a:xfrm>
        </p:spPr>
        <p:txBody>
          <a:bodyPr/>
          <a:lstStyle/>
          <a:p>
            <a:pPr eaLnBrk="1" hangingPunct="1"/>
            <a:r>
              <a:rPr lang="en-US" sz="2400" b="1" dirty="0" smtClean="0"/>
              <a:t>This command is used for viewing/retrieving of data from table.</a:t>
            </a:r>
          </a:p>
          <a:p>
            <a:pPr eaLnBrk="1" hangingPunct="1"/>
            <a:r>
              <a:rPr lang="en-US" sz="2400" b="1" dirty="0" smtClean="0"/>
              <a:t>Syntax</a:t>
            </a:r>
          </a:p>
          <a:p>
            <a:pPr lvl="1" eaLnBrk="1" hangingPunct="1">
              <a:buFontTx/>
              <a:buNone/>
            </a:pPr>
            <a:r>
              <a:rPr lang="en-US" sz="2400" b="1" dirty="0" smtClean="0"/>
              <a:t>		SELECT </a:t>
            </a:r>
            <a:r>
              <a:rPr lang="en-US" sz="2400" dirty="0" smtClean="0">
                <a:solidFill>
                  <a:srgbClr val="009900"/>
                </a:solidFill>
              </a:rPr>
              <a:t>column name</a:t>
            </a:r>
            <a:r>
              <a:rPr lang="en-US" sz="2400" dirty="0" smtClean="0"/>
              <a:t>, </a:t>
            </a:r>
            <a:r>
              <a:rPr lang="en-US" sz="2400" dirty="0" smtClean="0">
                <a:solidFill>
                  <a:srgbClr val="009900"/>
                </a:solidFill>
              </a:rPr>
              <a:t>column name,</a:t>
            </a:r>
            <a:r>
              <a:rPr lang="en-US" sz="2400" dirty="0" smtClean="0"/>
              <a:t> ---</a:t>
            </a:r>
            <a:r>
              <a:rPr lang="en-US" dirty="0" smtClean="0"/>
              <a:t> </a:t>
            </a:r>
          </a:p>
          <a:p>
            <a:pPr lvl="1" eaLnBrk="1" hangingPunct="1">
              <a:buFontTx/>
              <a:buNone/>
            </a:pPr>
            <a:r>
              <a:rPr lang="en-US" dirty="0" smtClean="0"/>
              <a:t>		</a:t>
            </a:r>
            <a:r>
              <a:rPr lang="en-US" sz="2400" b="1" dirty="0" smtClean="0"/>
              <a:t>FROM</a:t>
            </a:r>
            <a:r>
              <a:rPr lang="en-US" dirty="0" smtClean="0"/>
              <a:t> </a:t>
            </a:r>
            <a:r>
              <a:rPr lang="en-US" sz="2400" dirty="0" smtClean="0">
                <a:solidFill>
                  <a:srgbClr val="3333CC"/>
                </a:solidFill>
              </a:rPr>
              <a:t>table name;</a:t>
            </a:r>
            <a:endParaRPr lang="en-US" sz="2000" b="1" dirty="0" smtClean="0"/>
          </a:p>
          <a:p>
            <a:pPr eaLnBrk="1" hangingPunct="1"/>
            <a:r>
              <a:rPr lang="en-US" sz="2400" b="1" dirty="0" smtClean="0"/>
              <a:t>Examples</a:t>
            </a:r>
          </a:p>
          <a:p>
            <a:pPr eaLnBrk="1" hangingPunct="1"/>
            <a:r>
              <a:rPr lang="en-US" sz="2400" b="1" dirty="0" smtClean="0"/>
              <a:t>Retrieving student names and father names from student</a:t>
            </a:r>
          </a:p>
          <a:p>
            <a:pPr lvl="1">
              <a:buNone/>
            </a:pPr>
            <a:r>
              <a:rPr lang="en-US" sz="2400" b="1" dirty="0" smtClean="0"/>
              <a:t>		</a:t>
            </a:r>
            <a:endParaRPr lang="en-US" sz="2400" b="1" dirty="0"/>
          </a:p>
          <a:p>
            <a:pPr lvl="1">
              <a:buNone/>
            </a:pPr>
            <a:r>
              <a:rPr lang="en-US" sz="2400" b="1" dirty="0"/>
              <a:t>SELECT </a:t>
            </a:r>
            <a:r>
              <a:rPr lang="en-US" sz="2400" b="1" dirty="0" err="1"/>
              <a:t>std_name</a:t>
            </a:r>
            <a:r>
              <a:rPr lang="en-US" sz="2400" b="1" dirty="0"/>
              <a:t> , </a:t>
            </a:r>
            <a:r>
              <a:rPr lang="en-US" sz="2400" b="1" dirty="0" err="1"/>
              <a:t>father_name</a:t>
            </a:r>
            <a:r>
              <a:rPr lang="en-US" sz="2400" b="1" dirty="0"/>
              <a:t> FROM Student;</a:t>
            </a:r>
            <a:endParaRPr lang="en-US" sz="2400" dirty="0" smtClean="0">
              <a:solidFill>
                <a:srgbClr val="3333C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685800"/>
            <a:ext cx="8229600" cy="5562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b="1" dirty="0" smtClean="0"/>
              <a:t>Retrieving all records from student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sz="2000" b="1" dirty="0" smtClean="0"/>
              <a:t>		</a:t>
            </a:r>
            <a:r>
              <a:rPr lang="en-US" sz="2400" b="1" dirty="0" smtClean="0"/>
              <a:t>SELECT </a:t>
            </a:r>
            <a:r>
              <a:rPr lang="en-US" dirty="0" smtClean="0"/>
              <a:t>* </a:t>
            </a:r>
            <a:r>
              <a:rPr lang="en-US" sz="2400" b="1" dirty="0" smtClean="0"/>
              <a:t>FROM</a:t>
            </a:r>
            <a:r>
              <a:rPr lang="en-US" dirty="0" smtClean="0"/>
              <a:t> </a:t>
            </a:r>
            <a:r>
              <a:rPr lang="en-US" sz="2400" dirty="0" smtClean="0">
                <a:solidFill>
                  <a:srgbClr val="3333CC"/>
                </a:solidFill>
              </a:rPr>
              <a:t>Student;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b="1" dirty="0" smtClean="0"/>
              <a:t>Selected columns and all rows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sz="2000" b="1" dirty="0" smtClean="0"/>
              <a:t>		</a:t>
            </a:r>
            <a:r>
              <a:rPr lang="en-US" sz="2400" b="1" dirty="0" smtClean="0"/>
              <a:t>SELECT </a:t>
            </a:r>
            <a:r>
              <a:rPr lang="en-US" dirty="0" smtClean="0"/>
              <a:t>(</a:t>
            </a:r>
            <a:r>
              <a:rPr lang="en-US" sz="2400" dirty="0" err="1" smtClean="0">
                <a:solidFill>
                  <a:srgbClr val="009900"/>
                </a:solidFill>
              </a:rPr>
              <a:t>std_name</a:t>
            </a:r>
            <a:r>
              <a:rPr lang="en-US" sz="2400" dirty="0" smtClean="0"/>
              <a:t>, </a:t>
            </a:r>
            <a:r>
              <a:rPr lang="en-US" sz="2400" dirty="0" err="1" smtClean="0">
                <a:solidFill>
                  <a:srgbClr val="009900"/>
                </a:solidFill>
              </a:rPr>
              <a:t>father_name</a:t>
            </a:r>
            <a:r>
              <a:rPr lang="en-US" dirty="0" smtClean="0"/>
              <a:t>)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dirty="0" smtClean="0"/>
              <a:t>		</a:t>
            </a:r>
            <a:r>
              <a:rPr lang="en-US" sz="2400" b="1" dirty="0" smtClean="0"/>
              <a:t>FROM</a:t>
            </a:r>
            <a:r>
              <a:rPr lang="en-US" dirty="0" smtClean="0"/>
              <a:t> </a:t>
            </a:r>
            <a:r>
              <a:rPr lang="en-US" sz="2400" dirty="0" smtClean="0">
                <a:solidFill>
                  <a:srgbClr val="3333CC"/>
                </a:solidFill>
              </a:rPr>
              <a:t>Student;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b="1" dirty="0" smtClean="0"/>
              <a:t>Selected rows and all columns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sz="2400" b="1" dirty="0" smtClean="0"/>
              <a:t>		SELECT </a:t>
            </a:r>
            <a:r>
              <a:rPr lang="en-US" dirty="0" smtClean="0"/>
              <a:t>* </a:t>
            </a:r>
            <a:r>
              <a:rPr lang="en-US" sz="2400" b="1" dirty="0" smtClean="0"/>
              <a:t>FROM</a:t>
            </a:r>
            <a:r>
              <a:rPr lang="en-US" dirty="0" smtClean="0"/>
              <a:t> </a:t>
            </a:r>
            <a:r>
              <a:rPr lang="en-US" sz="2400" dirty="0" smtClean="0">
                <a:solidFill>
                  <a:srgbClr val="3333CC"/>
                </a:solidFill>
              </a:rPr>
              <a:t>Student </a:t>
            </a:r>
            <a:r>
              <a:rPr lang="en-US" sz="2400" b="1" dirty="0" smtClean="0"/>
              <a:t>where</a:t>
            </a:r>
            <a:r>
              <a:rPr lang="en-US" sz="2400" dirty="0" smtClean="0"/>
              <a:t> </a:t>
            </a:r>
            <a:r>
              <a:rPr lang="en-US" sz="2400" dirty="0" smtClean="0">
                <a:solidFill>
                  <a:srgbClr val="009900"/>
                </a:solidFill>
              </a:rPr>
              <a:t>DOB</a:t>
            </a:r>
            <a:r>
              <a:rPr lang="en-US" sz="2400" dirty="0" smtClean="0"/>
              <a:t>=</a:t>
            </a:r>
            <a:r>
              <a:rPr lang="en-US" sz="2400" dirty="0" smtClean="0">
                <a:solidFill>
                  <a:srgbClr val="FF0000"/>
                </a:solidFill>
              </a:rPr>
              <a:t>1984</a:t>
            </a:r>
            <a:r>
              <a:rPr lang="en-US" sz="2400" dirty="0" smtClean="0"/>
              <a:t>;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b="1" dirty="0" smtClean="0"/>
              <a:t>Selected columns and selected rows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sz="2000" b="1" dirty="0" smtClean="0"/>
              <a:t>		</a:t>
            </a:r>
            <a:r>
              <a:rPr lang="en-US" sz="2400" b="1" dirty="0" smtClean="0"/>
              <a:t>SELECT </a:t>
            </a:r>
            <a:r>
              <a:rPr lang="en-US" sz="2400" dirty="0" err="1" smtClean="0">
                <a:solidFill>
                  <a:srgbClr val="009900"/>
                </a:solidFill>
              </a:rPr>
              <a:t>std_name</a:t>
            </a:r>
            <a:r>
              <a:rPr lang="en-US" sz="2400" dirty="0" smtClean="0"/>
              <a:t>, </a:t>
            </a:r>
            <a:r>
              <a:rPr lang="en-US" sz="2400" dirty="0" smtClean="0">
                <a:solidFill>
                  <a:srgbClr val="009900"/>
                </a:solidFill>
              </a:rPr>
              <a:t>DOB</a:t>
            </a:r>
            <a:r>
              <a:rPr lang="en-US" dirty="0" smtClean="0"/>
              <a:t> </a:t>
            </a:r>
            <a:r>
              <a:rPr lang="en-US" sz="2400" b="1" dirty="0" smtClean="0"/>
              <a:t>FROM</a:t>
            </a:r>
            <a:r>
              <a:rPr lang="en-US" dirty="0" smtClean="0"/>
              <a:t> </a:t>
            </a:r>
            <a:r>
              <a:rPr lang="en-US" sz="2400" dirty="0" smtClean="0">
                <a:solidFill>
                  <a:srgbClr val="3333CC"/>
                </a:solidFill>
              </a:rPr>
              <a:t>Student </a:t>
            </a:r>
            <a:r>
              <a:rPr lang="en-US" sz="2400" b="1" dirty="0" smtClean="0"/>
              <a:t>where</a:t>
            </a:r>
            <a:r>
              <a:rPr lang="en-US" sz="2400" dirty="0" smtClean="0">
                <a:solidFill>
                  <a:srgbClr val="3333CC"/>
                </a:solidFill>
              </a:rPr>
              <a:t> </a:t>
            </a:r>
            <a:r>
              <a:rPr lang="en-US" sz="2400" dirty="0" smtClean="0">
                <a:solidFill>
                  <a:srgbClr val="009900"/>
                </a:solidFill>
              </a:rPr>
              <a:t>address</a:t>
            </a:r>
            <a:r>
              <a:rPr lang="en-US" sz="2400" dirty="0" smtClean="0"/>
              <a:t>=</a:t>
            </a:r>
            <a:r>
              <a:rPr lang="en-US" sz="2400" dirty="0" smtClean="0">
                <a:solidFill>
                  <a:srgbClr val="FF0000"/>
                </a:solidFill>
              </a:rPr>
              <a:t>‘KARAK’</a:t>
            </a:r>
            <a:r>
              <a:rPr lang="en-US" sz="2400" dirty="0" smtClean="0">
                <a:solidFill>
                  <a:srgbClr val="3333CC"/>
                </a:solidFill>
              </a:rPr>
              <a:t>;</a:t>
            </a:r>
            <a:endParaRPr lang="en-US" sz="2000" b="1" dirty="0" smtClean="0"/>
          </a:p>
          <a:p>
            <a:pPr eaLnBrk="1" hangingPunct="1">
              <a:lnSpc>
                <a:spcPct val="90000"/>
              </a:lnSpc>
            </a:pPr>
            <a:r>
              <a:rPr lang="en-US" sz="2400" b="1" dirty="0" smtClean="0"/>
              <a:t>Elimination of Duplicates from Select 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sz="2400" b="1" dirty="0" smtClean="0"/>
              <a:t>		SELECT DISTINCT * FROM</a:t>
            </a:r>
            <a:r>
              <a:rPr lang="en-US" dirty="0" smtClean="0"/>
              <a:t> </a:t>
            </a:r>
            <a:r>
              <a:rPr lang="en-US" sz="2400" dirty="0" smtClean="0">
                <a:solidFill>
                  <a:srgbClr val="3333CC"/>
                </a:solidFill>
              </a:rPr>
              <a:t>Student;</a:t>
            </a:r>
            <a:endParaRPr lang="en-US" sz="20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 b="1" smtClean="0"/>
              <a:t>Delete Command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</p:spPr>
        <p:txBody>
          <a:bodyPr/>
          <a:lstStyle/>
          <a:p>
            <a:pPr eaLnBrk="1" hangingPunct="1"/>
            <a:r>
              <a:rPr lang="en-US" sz="2400" b="1" dirty="0" smtClean="0"/>
              <a:t>This is used to delete specified row from table.</a:t>
            </a:r>
          </a:p>
          <a:p>
            <a:pPr eaLnBrk="1" hangingPunct="1"/>
            <a:r>
              <a:rPr lang="en-US" sz="2400" b="1" dirty="0" smtClean="0"/>
              <a:t>Syntax</a:t>
            </a:r>
          </a:p>
          <a:p>
            <a:pPr eaLnBrk="1" hangingPunct="1">
              <a:buFontTx/>
              <a:buNone/>
            </a:pPr>
            <a:r>
              <a:rPr lang="en-US" sz="2400" b="1" dirty="0" smtClean="0"/>
              <a:t>		DELETE FROM </a:t>
            </a:r>
            <a:r>
              <a:rPr lang="en-US" sz="2400" dirty="0" smtClean="0">
                <a:solidFill>
                  <a:srgbClr val="3333CC"/>
                </a:solidFill>
              </a:rPr>
              <a:t>table name</a:t>
            </a:r>
            <a:r>
              <a:rPr lang="en-US" sz="2400" b="1" dirty="0" smtClean="0"/>
              <a:t>;</a:t>
            </a:r>
          </a:p>
          <a:p>
            <a:pPr eaLnBrk="1" hangingPunct="1"/>
            <a:r>
              <a:rPr lang="en-US" sz="2400" b="1" dirty="0" smtClean="0"/>
              <a:t>Examples</a:t>
            </a:r>
          </a:p>
          <a:p>
            <a:pPr eaLnBrk="1" hangingPunct="1"/>
            <a:r>
              <a:rPr lang="en-US" sz="2400" b="1" dirty="0" smtClean="0"/>
              <a:t>Removing all rows from table student</a:t>
            </a:r>
          </a:p>
          <a:p>
            <a:pPr eaLnBrk="1" hangingPunct="1">
              <a:buFontTx/>
              <a:buNone/>
            </a:pPr>
            <a:r>
              <a:rPr lang="en-US" sz="2400" b="1" dirty="0" smtClean="0"/>
              <a:t>		DELETE FROM </a:t>
            </a:r>
            <a:r>
              <a:rPr lang="en-US" sz="2400" dirty="0" smtClean="0">
                <a:solidFill>
                  <a:srgbClr val="3333CC"/>
                </a:solidFill>
              </a:rPr>
              <a:t>Student</a:t>
            </a:r>
            <a:r>
              <a:rPr lang="en-US" sz="2400" b="1" dirty="0" smtClean="0"/>
              <a:t>;</a:t>
            </a:r>
          </a:p>
          <a:p>
            <a:pPr eaLnBrk="1" hangingPunct="1"/>
            <a:r>
              <a:rPr lang="en-US" sz="2400" b="1" dirty="0" smtClean="0"/>
              <a:t>Removing all rows from table student</a:t>
            </a:r>
          </a:p>
          <a:p>
            <a:pPr eaLnBrk="1" hangingPunct="1">
              <a:buFontTx/>
              <a:buNone/>
            </a:pPr>
            <a:r>
              <a:rPr lang="en-US" sz="2400" b="1" dirty="0" smtClean="0"/>
              <a:t>		DELETE FROM </a:t>
            </a:r>
            <a:r>
              <a:rPr lang="en-US" sz="2400" dirty="0" smtClean="0">
                <a:solidFill>
                  <a:srgbClr val="3333CC"/>
                </a:solidFill>
              </a:rPr>
              <a:t>Student </a:t>
            </a:r>
            <a:r>
              <a:rPr lang="en-US" sz="2400" b="1" dirty="0" smtClean="0"/>
              <a:t>where</a:t>
            </a:r>
            <a:r>
              <a:rPr lang="en-US" sz="2400" dirty="0" smtClean="0">
                <a:solidFill>
                  <a:srgbClr val="3333CC"/>
                </a:solidFill>
              </a:rPr>
              <a:t> </a:t>
            </a:r>
            <a:r>
              <a:rPr lang="en-US" sz="2400" dirty="0" smtClean="0">
                <a:solidFill>
                  <a:srgbClr val="009900"/>
                </a:solidFill>
              </a:rPr>
              <a:t>address</a:t>
            </a:r>
            <a:r>
              <a:rPr lang="en-US" sz="2400" dirty="0" smtClean="0"/>
              <a:t>=</a:t>
            </a:r>
            <a:r>
              <a:rPr lang="en-US" sz="2400" dirty="0" smtClean="0">
                <a:solidFill>
                  <a:srgbClr val="FF0000"/>
                </a:solidFill>
              </a:rPr>
              <a:t>‘KARAK’</a:t>
            </a:r>
            <a:r>
              <a:rPr lang="en-US" sz="2400" b="1" dirty="0" smtClean="0"/>
              <a:t>;</a:t>
            </a:r>
          </a:p>
          <a:p>
            <a:pPr eaLnBrk="1" hangingPunct="1">
              <a:buFontTx/>
              <a:buNone/>
            </a:pPr>
            <a:endParaRPr lang="en-US" sz="24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 b="1" smtClean="0"/>
              <a:t>Alter Command</a:t>
            </a:r>
            <a:r>
              <a:rPr lang="en-US" smtClean="0"/>
              <a:t> 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sz="2400" b="1" dirty="0" smtClean="0"/>
              <a:t>This is used to change description of a column or add an extra column.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sz="2400" b="1" dirty="0" smtClean="0"/>
              <a:t>Syntax</a:t>
            </a:r>
          </a:p>
          <a:p>
            <a:pPr lvl="1" algn="just" eaLnBrk="1" hangingPunct="1">
              <a:lnSpc>
                <a:spcPct val="90000"/>
              </a:lnSpc>
              <a:buFontTx/>
              <a:buNone/>
            </a:pPr>
            <a:r>
              <a:rPr lang="en-US" sz="2000" b="1" dirty="0" smtClean="0"/>
              <a:t>	</a:t>
            </a:r>
            <a:r>
              <a:rPr lang="en-US" sz="2400" b="1" dirty="0" smtClean="0"/>
              <a:t>ALTER TABLE </a:t>
            </a:r>
            <a:r>
              <a:rPr lang="en-US" sz="2400" dirty="0" err="1" smtClean="0">
                <a:solidFill>
                  <a:srgbClr val="3333CC"/>
                </a:solidFill>
              </a:rPr>
              <a:t>table</a:t>
            </a:r>
            <a:r>
              <a:rPr lang="en-US" sz="2400" dirty="0" smtClean="0">
                <a:solidFill>
                  <a:srgbClr val="3333CC"/>
                </a:solidFill>
              </a:rPr>
              <a:t> name </a:t>
            </a:r>
          </a:p>
          <a:p>
            <a:pPr lvl="1" algn="just" eaLnBrk="1" hangingPunct="1">
              <a:lnSpc>
                <a:spcPct val="90000"/>
              </a:lnSpc>
              <a:buFontTx/>
              <a:buNone/>
            </a:pPr>
            <a:r>
              <a:rPr lang="en-US" sz="2400" dirty="0" smtClean="0">
                <a:solidFill>
                  <a:srgbClr val="3333CC"/>
                </a:solidFill>
              </a:rPr>
              <a:t>	</a:t>
            </a:r>
            <a:r>
              <a:rPr lang="en-US" sz="2400" b="1" dirty="0" smtClean="0"/>
              <a:t>ADD</a:t>
            </a:r>
            <a:r>
              <a:rPr lang="en-US" sz="2400" dirty="0" smtClean="0">
                <a:solidFill>
                  <a:srgbClr val="3333CC"/>
                </a:solidFill>
              </a:rPr>
              <a:t> </a:t>
            </a:r>
            <a:r>
              <a:rPr lang="en-US" sz="2400" dirty="0" smtClean="0"/>
              <a:t>(</a:t>
            </a:r>
            <a:r>
              <a:rPr lang="en-US" sz="2400" dirty="0" smtClean="0">
                <a:solidFill>
                  <a:srgbClr val="009900"/>
                </a:solidFill>
              </a:rPr>
              <a:t>new column name</a:t>
            </a:r>
            <a:r>
              <a:rPr lang="en-US" sz="2400" dirty="0" smtClean="0">
                <a:solidFill>
                  <a:srgbClr val="3333CC"/>
                </a:solidFill>
              </a:rPr>
              <a:t> </a:t>
            </a:r>
            <a:r>
              <a:rPr lang="en-US" sz="2400" dirty="0" smtClean="0">
                <a:solidFill>
                  <a:srgbClr val="FF0000"/>
                </a:solidFill>
              </a:rPr>
              <a:t>data type (size)</a:t>
            </a:r>
            <a:r>
              <a:rPr lang="en-US" sz="2400" dirty="0" smtClean="0">
                <a:solidFill>
                  <a:srgbClr val="3333CC"/>
                </a:solidFill>
              </a:rPr>
              <a:t>, </a:t>
            </a:r>
            <a:r>
              <a:rPr lang="en-US" sz="2400" dirty="0" smtClean="0">
                <a:solidFill>
                  <a:srgbClr val="009900"/>
                </a:solidFill>
              </a:rPr>
              <a:t>new column name</a:t>
            </a:r>
            <a:r>
              <a:rPr lang="en-US" sz="2400" dirty="0" smtClean="0">
                <a:solidFill>
                  <a:srgbClr val="3333CC"/>
                </a:solidFill>
              </a:rPr>
              <a:t> </a:t>
            </a:r>
            <a:r>
              <a:rPr lang="en-US" sz="2400" dirty="0" smtClean="0">
                <a:solidFill>
                  <a:srgbClr val="FF0000"/>
                </a:solidFill>
              </a:rPr>
              <a:t>data type (size)</a:t>
            </a:r>
            <a:r>
              <a:rPr lang="en-US" sz="2400" dirty="0" smtClean="0">
                <a:solidFill>
                  <a:srgbClr val="3333CC"/>
                </a:solidFill>
              </a:rPr>
              <a:t> </a:t>
            </a:r>
            <a:r>
              <a:rPr lang="en-US" sz="2400" dirty="0" smtClean="0"/>
              <a:t>---);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sz="2400" b="1" dirty="0" smtClean="0"/>
              <a:t>Example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sz="2400" b="1" dirty="0" smtClean="0"/>
              <a:t>	ALTER TABLE Student</a:t>
            </a:r>
            <a:endParaRPr lang="en-US" sz="2400" dirty="0" smtClean="0">
              <a:solidFill>
                <a:srgbClr val="3333CC"/>
              </a:solidFill>
            </a:endParaRPr>
          </a:p>
          <a:p>
            <a:pPr lvl="1" algn="just" eaLnBrk="1" hangingPunct="1">
              <a:lnSpc>
                <a:spcPct val="90000"/>
              </a:lnSpc>
              <a:buFontTx/>
              <a:buNone/>
            </a:pPr>
            <a:r>
              <a:rPr lang="en-US" sz="2400" dirty="0" smtClean="0">
                <a:solidFill>
                  <a:srgbClr val="3333CC"/>
                </a:solidFill>
              </a:rPr>
              <a:t>		</a:t>
            </a:r>
            <a:r>
              <a:rPr lang="en-US" sz="2400" b="1" dirty="0" smtClean="0"/>
              <a:t>ADD</a:t>
            </a:r>
            <a:r>
              <a:rPr lang="en-US" sz="2400" dirty="0" smtClean="0">
                <a:solidFill>
                  <a:srgbClr val="3333CC"/>
                </a:solidFill>
              </a:rPr>
              <a:t> </a:t>
            </a:r>
            <a:r>
              <a:rPr lang="en-US" sz="2400" dirty="0" smtClean="0"/>
              <a:t>(</a:t>
            </a:r>
            <a:r>
              <a:rPr lang="en-US" sz="2400" dirty="0" smtClean="0">
                <a:solidFill>
                  <a:srgbClr val="009900"/>
                </a:solidFill>
              </a:rPr>
              <a:t>marks </a:t>
            </a:r>
            <a:r>
              <a:rPr lang="en-US" sz="2400" dirty="0" smtClean="0">
                <a:solidFill>
                  <a:srgbClr val="FF0000"/>
                </a:solidFill>
              </a:rPr>
              <a:t>number(3)</a:t>
            </a:r>
            <a:r>
              <a:rPr lang="en-US" sz="2400" dirty="0" smtClean="0">
                <a:solidFill>
                  <a:srgbClr val="3333CC"/>
                </a:solidFill>
              </a:rPr>
              <a:t>, </a:t>
            </a:r>
            <a:r>
              <a:rPr lang="en-US" sz="2400" dirty="0" smtClean="0">
                <a:solidFill>
                  <a:srgbClr val="009900"/>
                </a:solidFill>
              </a:rPr>
              <a:t>gender </a:t>
            </a:r>
            <a:r>
              <a:rPr lang="en-US" sz="2400" dirty="0" err="1" smtClean="0">
                <a:solidFill>
                  <a:srgbClr val="FF0000"/>
                </a:solidFill>
              </a:rPr>
              <a:t>varchar</a:t>
            </a:r>
            <a:r>
              <a:rPr lang="en-US" sz="2400" dirty="0" smtClean="0">
                <a:solidFill>
                  <a:srgbClr val="FF0000"/>
                </a:solidFill>
              </a:rPr>
              <a:t>(2)</a:t>
            </a:r>
            <a:r>
              <a:rPr lang="en-US" sz="2400" dirty="0" smtClean="0"/>
              <a:t>);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sz="2400" b="1" dirty="0" smtClean="0"/>
              <a:t>	ALTER TABLE Student</a:t>
            </a:r>
            <a:endParaRPr lang="en-US" sz="2400" dirty="0" smtClean="0">
              <a:solidFill>
                <a:srgbClr val="3333CC"/>
              </a:solidFill>
            </a:endParaRPr>
          </a:p>
          <a:p>
            <a:pPr lvl="1" algn="just" eaLnBrk="1" hangingPunct="1">
              <a:lnSpc>
                <a:spcPct val="90000"/>
              </a:lnSpc>
              <a:buFontTx/>
              <a:buNone/>
            </a:pPr>
            <a:r>
              <a:rPr lang="en-US" sz="2400" dirty="0" smtClean="0">
                <a:solidFill>
                  <a:srgbClr val="3333CC"/>
                </a:solidFill>
              </a:rPr>
              <a:t>		</a:t>
            </a:r>
            <a:r>
              <a:rPr lang="en-US" sz="2400" b="1" dirty="0" smtClean="0"/>
              <a:t>MODIFY</a:t>
            </a:r>
            <a:r>
              <a:rPr lang="en-US" sz="2400" dirty="0" smtClean="0">
                <a:solidFill>
                  <a:srgbClr val="3333CC"/>
                </a:solidFill>
              </a:rPr>
              <a:t> </a:t>
            </a:r>
            <a:r>
              <a:rPr lang="en-US" sz="2400" dirty="0" smtClean="0"/>
              <a:t>(</a:t>
            </a:r>
            <a:r>
              <a:rPr lang="en-US" sz="2400" dirty="0" smtClean="0">
                <a:solidFill>
                  <a:srgbClr val="009900"/>
                </a:solidFill>
              </a:rPr>
              <a:t>address </a:t>
            </a:r>
            <a:r>
              <a:rPr lang="en-US" sz="2400" dirty="0" smtClean="0">
                <a:solidFill>
                  <a:srgbClr val="FF0000"/>
                </a:solidFill>
              </a:rPr>
              <a:t>char(20)</a:t>
            </a:r>
            <a:r>
              <a:rPr lang="en-US" sz="2400" dirty="0" smtClean="0"/>
              <a:t>);</a:t>
            </a:r>
          </a:p>
          <a:p>
            <a:pPr lvl="1" algn="just" eaLnBrk="1" hangingPunct="1">
              <a:lnSpc>
                <a:spcPct val="90000"/>
              </a:lnSpc>
              <a:buFontTx/>
              <a:buNone/>
            </a:pPr>
            <a:r>
              <a:rPr lang="en-US" sz="2400" dirty="0" smtClean="0">
                <a:solidFill>
                  <a:srgbClr val="3333CC"/>
                </a:solidFill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 b="1" smtClean="0"/>
              <a:t>Update Command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800600"/>
          </a:xfrm>
        </p:spPr>
        <p:txBody>
          <a:bodyPr/>
          <a:lstStyle/>
          <a:p>
            <a:pPr eaLnBrk="1" hangingPunct="1"/>
            <a:r>
              <a:rPr lang="en-US" sz="2400" b="1" dirty="0" smtClean="0"/>
              <a:t>This is used for changing one or more values in the row of the table.</a:t>
            </a:r>
          </a:p>
          <a:p>
            <a:pPr eaLnBrk="1" hangingPunct="1"/>
            <a:r>
              <a:rPr lang="en-US" sz="2400" b="1" dirty="0" smtClean="0"/>
              <a:t>Syntax </a:t>
            </a:r>
          </a:p>
          <a:p>
            <a:pPr eaLnBrk="1" hangingPunct="1">
              <a:buFontTx/>
              <a:buNone/>
            </a:pPr>
            <a:r>
              <a:rPr lang="en-US" sz="2400" b="1" dirty="0" smtClean="0"/>
              <a:t>		UPDATE </a:t>
            </a:r>
            <a:r>
              <a:rPr lang="en-US" sz="2400" dirty="0" smtClean="0">
                <a:solidFill>
                  <a:srgbClr val="3333CC"/>
                </a:solidFill>
              </a:rPr>
              <a:t>table name</a:t>
            </a:r>
            <a:r>
              <a:rPr lang="en-US" sz="2400" b="1" dirty="0" smtClean="0"/>
              <a:t> SET </a:t>
            </a:r>
            <a:r>
              <a:rPr lang="en-US" sz="2400" dirty="0" smtClean="0"/>
              <a:t>(</a:t>
            </a:r>
            <a:r>
              <a:rPr lang="en-US" sz="2400" dirty="0" smtClean="0">
                <a:solidFill>
                  <a:srgbClr val="009900"/>
                </a:solidFill>
              </a:rPr>
              <a:t>column name</a:t>
            </a:r>
            <a:r>
              <a:rPr lang="en-US" sz="2400" dirty="0" smtClean="0"/>
              <a:t> =</a:t>
            </a:r>
            <a:r>
              <a:rPr lang="en-US" sz="2400" b="1" dirty="0" smtClean="0"/>
              <a:t> 	</a:t>
            </a:r>
            <a:r>
              <a:rPr lang="en-US" sz="2400" dirty="0" smtClean="0">
                <a:solidFill>
                  <a:srgbClr val="FF0000"/>
                </a:solidFill>
              </a:rPr>
              <a:t>expression</a:t>
            </a:r>
            <a:r>
              <a:rPr lang="en-US" sz="2400" b="1" dirty="0" smtClean="0"/>
              <a:t>, </a:t>
            </a:r>
            <a:r>
              <a:rPr lang="en-US" sz="2400" dirty="0" smtClean="0">
                <a:solidFill>
                  <a:srgbClr val="009900"/>
                </a:solidFill>
              </a:rPr>
              <a:t>column name</a:t>
            </a:r>
            <a:r>
              <a:rPr lang="en-US" sz="2400" b="1" dirty="0" smtClean="0"/>
              <a:t> </a:t>
            </a:r>
            <a:r>
              <a:rPr lang="en-US" sz="2400" dirty="0" smtClean="0"/>
              <a:t>=</a:t>
            </a:r>
            <a:r>
              <a:rPr lang="en-US" sz="2400" b="1" dirty="0" smtClean="0"/>
              <a:t> </a:t>
            </a:r>
            <a:r>
              <a:rPr lang="en-US" sz="2400" dirty="0" smtClean="0">
                <a:solidFill>
                  <a:srgbClr val="FF0000"/>
                </a:solidFill>
              </a:rPr>
              <a:t>expression </a:t>
            </a:r>
            <a:r>
              <a:rPr lang="en-US" sz="2400" dirty="0" smtClean="0"/>
              <a:t>---);</a:t>
            </a:r>
          </a:p>
          <a:p>
            <a:pPr eaLnBrk="1" hangingPunct="1"/>
            <a:r>
              <a:rPr lang="en-US" sz="2400" b="1" dirty="0" smtClean="0"/>
              <a:t>Example </a:t>
            </a:r>
          </a:p>
          <a:p>
            <a:pPr eaLnBrk="1" hangingPunct="1">
              <a:buFontTx/>
              <a:buNone/>
            </a:pPr>
            <a:r>
              <a:rPr lang="en-US" sz="2400" b="1" dirty="0" smtClean="0"/>
              <a:t>		UPDATE </a:t>
            </a:r>
            <a:r>
              <a:rPr lang="en-US" sz="2400" dirty="0" smtClean="0">
                <a:solidFill>
                  <a:srgbClr val="3333CC"/>
                </a:solidFill>
              </a:rPr>
              <a:t>Student</a:t>
            </a:r>
            <a:r>
              <a:rPr lang="en-US" sz="2400" b="1" dirty="0" smtClean="0"/>
              <a:t> SET </a:t>
            </a:r>
            <a:r>
              <a:rPr lang="en-US" sz="2400" dirty="0" smtClean="0">
                <a:solidFill>
                  <a:srgbClr val="009900"/>
                </a:solidFill>
              </a:rPr>
              <a:t>marks</a:t>
            </a:r>
            <a:r>
              <a:rPr lang="en-US" sz="2400" dirty="0" smtClean="0"/>
              <a:t> =</a:t>
            </a:r>
            <a:r>
              <a:rPr lang="en-US" sz="2400" b="1" dirty="0" smtClean="0"/>
              <a:t> </a:t>
            </a:r>
            <a:r>
              <a:rPr lang="en-US" sz="2400" dirty="0" smtClean="0">
                <a:solidFill>
                  <a:srgbClr val="FF0000"/>
                </a:solidFill>
              </a:rPr>
              <a:t>5</a:t>
            </a:r>
            <a:r>
              <a:rPr lang="en-US" sz="2400" dirty="0" smtClean="0"/>
              <a:t>;</a:t>
            </a:r>
          </a:p>
          <a:p>
            <a:pPr eaLnBrk="1" hangingPunct="1">
              <a:buFontTx/>
              <a:buNone/>
            </a:pPr>
            <a:r>
              <a:rPr lang="en-US" sz="2400" b="1" dirty="0" smtClean="0"/>
              <a:t>		</a:t>
            </a:r>
          </a:p>
          <a:p>
            <a:pPr eaLnBrk="1" hangingPunct="1">
              <a:buFontTx/>
              <a:buNone/>
            </a:pPr>
            <a:r>
              <a:rPr lang="en-US" sz="2400" b="1" dirty="0" smtClean="0"/>
              <a:t>		UPDATE </a:t>
            </a:r>
            <a:r>
              <a:rPr lang="en-US" sz="2400" dirty="0" smtClean="0">
                <a:solidFill>
                  <a:srgbClr val="3333CC"/>
                </a:solidFill>
              </a:rPr>
              <a:t>Student</a:t>
            </a:r>
            <a:r>
              <a:rPr lang="en-US" sz="2400" b="1" dirty="0" smtClean="0"/>
              <a:t> SET </a:t>
            </a:r>
            <a:r>
              <a:rPr lang="en-US" sz="2400" dirty="0" smtClean="0">
                <a:solidFill>
                  <a:srgbClr val="009900"/>
                </a:solidFill>
              </a:rPr>
              <a:t>marks</a:t>
            </a:r>
            <a:r>
              <a:rPr lang="en-US" sz="2400" dirty="0" smtClean="0"/>
              <a:t> =</a:t>
            </a:r>
            <a:r>
              <a:rPr lang="en-US" sz="2400" b="1" dirty="0" smtClean="0"/>
              <a:t> </a:t>
            </a:r>
            <a:r>
              <a:rPr lang="en-US" sz="2400" dirty="0" smtClean="0">
                <a:solidFill>
                  <a:srgbClr val="FF0000"/>
                </a:solidFill>
              </a:rPr>
              <a:t>5 </a:t>
            </a:r>
            <a:r>
              <a:rPr lang="en-US" sz="2400" b="1" dirty="0" smtClean="0"/>
              <a:t>where</a:t>
            </a:r>
            <a:r>
              <a:rPr lang="en-US" sz="2400" dirty="0" smtClean="0">
                <a:solidFill>
                  <a:srgbClr val="FF0000"/>
                </a:solidFill>
              </a:rPr>
              <a:t> 	</a:t>
            </a:r>
            <a:r>
              <a:rPr lang="en-US" sz="2400" dirty="0" err="1" smtClean="0">
                <a:solidFill>
                  <a:srgbClr val="009900"/>
                </a:solidFill>
              </a:rPr>
              <a:t>std_name</a:t>
            </a:r>
            <a:r>
              <a:rPr lang="en-US" sz="2400" dirty="0" smtClean="0"/>
              <a:t>=</a:t>
            </a:r>
            <a:r>
              <a:rPr lang="en-US" sz="2400" dirty="0" smtClean="0">
                <a:solidFill>
                  <a:srgbClr val="FF0000"/>
                </a:solidFill>
              </a:rPr>
              <a:t>‘</a:t>
            </a:r>
            <a:r>
              <a:rPr lang="en-US" sz="2400" dirty="0" err="1" smtClean="0">
                <a:solidFill>
                  <a:srgbClr val="FF0000"/>
                </a:solidFill>
              </a:rPr>
              <a:t>Abid</a:t>
            </a:r>
            <a:r>
              <a:rPr lang="en-US" sz="2400" dirty="0" smtClean="0">
                <a:solidFill>
                  <a:srgbClr val="FF0000"/>
                </a:solidFill>
              </a:rPr>
              <a:t>’</a:t>
            </a:r>
            <a:r>
              <a:rPr lang="en-US" sz="2400" dirty="0" smtClean="0"/>
              <a:t>;</a:t>
            </a:r>
            <a:endParaRPr lang="en-US" sz="24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 b="1" smtClean="0"/>
              <a:t>Rename Command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525963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400" b="1" dirty="0" smtClean="0"/>
              <a:t>This is used to rename old/existing table.</a:t>
            </a:r>
          </a:p>
          <a:p>
            <a:pPr eaLnBrk="1" hangingPunct="1"/>
            <a:endParaRPr lang="en-US" sz="2400" b="1" dirty="0" smtClean="0"/>
          </a:p>
          <a:p>
            <a:pPr marL="0" indent="0" eaLnBrk="1" hangingPunct="1">
              <a:buNone/>
            </a:pPr>
            <a:endParaRPr lang="en-US" sz="2400" b="1" dirty="0" smtClean="0"/>
          </a:p>
          <a:p>
            <a:pPr eaLnBrk="1" hangingPunct="1"/>
            <a:r>
              <a:rPr lang="en-US" sz="2400" b="1" dirty="0" smtClean="0"/>
              <a:t>Example</a:t>
            </a:r>
          </a:p>
          <a:p>
            <a:pPr eaLnBrk="1" hangingPunct="1">
              <a:buFontTx/>
              <a:buNone/>
            </a:pPr>
            <a:r>
              <a:rPr lang="en-US" sz="2400" b="1" dirty="0" smtClean="0"/>
              <a:t>		</a:t>
            </a:r>
            <a:endParaRPr lang="en-US" sz="2400" dirty="0">
              <a:solidFill>
                <a:srgbClr val="3333CC"/>
              </a:solidFill>
            </a:endParaRPr>
          </a:p>
          <a:p>
            <a:pPr>
              <a:buNone/>
            </a:pPr>
            <a:endParaRPr lang="en-US" sz="2400" dirty="0">
              <a:solidFill>
                <a:srgbClr val="3333CC"/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rgbClr val="3333CC"/>
                </a:solidFill>
              </a:rPr>
              <a:t>ALTER table Student RENAME TO </a:t>
            </a:r>
            <a:r>
              <a:rPr lang="en-US" sz="2400" dirty="0" err="1">
                <a:solidFill>
                  <a:srgbClr val="3333CC"/>
                </a:solidFill>
              </a:rPr>
              <a:t>PersonalData</a:t>
            </a:r>
            <a:r>
              <a:rPr lang="en-US" sz="2400" dirty="0">
                <a:solidFill>
                  <a:srgbClr val="3333CC"/>
                </a:solidFill>
              </a:rPr>
              <a:t> ;</a:t>
            </a:r>
            <a:endParaRPr lang="en-US" sz="2400" dirty="0" smtClean="0">
              <a:solidFill>
                <a:srgbClr val="3333C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 b="1" smtClean="0"/>
              <a:t>Drop Command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400" b="1" dirty="0" smtClean="0"/>
              <a:t>This is used to remove table from database.</a:t>
            </a:r>
          </a:p>
          <a:p>
            <a:pPr eaLnBrk="1" hangingPunct="1"/>
            <a:endParaRPr lang="en-US" sz="2400" b="1" dirty="0" smtClean="0"/>
          </a:p>
          <a:p>
            <a:pPr eaLnBrk="1" hangingPunct="1"/>
            <a:r>
              <a:rPr lang="en-US" sz="2400" b="1" dirty="0" smtClean="0"/>
              <a:t>Syntax</a:t>
            </a:r>
          </a:p>
          <a:p>
            <a:pPr eaLnBrk="1" hangingPunct="1">
              <a:buFontTx/>
              <a:buNone/>
            </a:pPr>
            <a:r>
              <a:rPr lang="en-US" sz="2400" b="1" dirty="0" smtClean="0"/>
              <a:t>		DROP TABLE </a:t>
            </a:r>
            <a:r>
              <a:rPr lang="en-US" sz="2400" b="1" dirty="0" err="1" smtClean="0"/>
              <a:t>table</a:t>
            </a:r>
            <a:r>
              <a:rPr lang="en-US" sz="2400" b="1" dirty="0" smtClean="0"/>
              <a:t> name;</a:t>
            </a:r>
          </a:p>
          <a:p>
            <a:pPr eaLnBrk="1" hangingPunct="1"/>
            <a:endParaRPr lang="en-US" sz="2400" b="1" dirty="0" smtClean="0"/>
          </a:p>
          <a:p>
            <a:pPr eaLnBrk="1" hangingPunct="1"/>
            <a:r>
              <a:rPr lang="en-US" sz="2400" b="1" dirty="0" smtClean="0"/>
              <a:t>Example</a:t>
            </a:r>
          </a:p>
          <a:p>
            <a:pPr eaLnBrk="1" hangingPunct="1">
              <a:buFontTx/>
              <a:buNone/>
            </a:pPr>
            <a:r>
              <a:rPr lang="en-US" sz="2400" b="1" dirty="0" smtClean="0"/>
              <a:t>		DROP Table </a:t>
            </a:r>
            <a:r>
              <a:rPr lang="en-US" sz="2400" dirty="0" smtClean="0">
                <a:solidFill>
                  <a:srgbClr val="3333CC"/>
                </a:solidFill>
              </a:rPr>
              <a:t>Student</a:t>
            </a:r>
            <a:r>
              <a:rPr lang="en-US" sz="2400" b="1" dirty="0" smtClean="0"/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 b="1" smtClean="0"/>
              <a:t>Describe Command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/>
            <a:r>
              <a:rPr lang="en-US" sz="2400" b="1" dirty="0" smtClean="0"/>
              <a:t>This command is used to display column names, data types and attributes connected to the database.</a:t>
            </a:r>
          </a:p>
          <a:p>
            <a:pPr algn="just" eaLnBrk="1" hangingPunct="1"/>
            <a:endParaRPr lang="en-US" sz="2400" b="1" dirty="0" smtClean="0"/>
          </a:p>
          <a:p>
            <a:pPr algn="just" eaLnBrk="1" hangingPunct="1"/>
            <a:r>
              <a:rPr lang="en-US" sz="2400" b="1" dirty="0" smtClean="0"/>
              <a:t>Syntax</a:t>
            </a:r>
          </a:p>
          <a:p>
            <a:pPr algn="just" eaLnBrk="1" hangingPunct="1">
              <a:buFontTx/>
              <a:buNone/>
            </a:pPr>
            <a:r>
              <a:rPr lang="en-US" sz="2400" b="1" dirty="0" smtClean="0"/>
              <a:t>		DESCRIBE </a:t>
            </a:r>
            <a:r>
              <a:rPr lang="en-US" sz="2400" dirty="0" smtClean="0">
                <a:solidFill>
                  <a:srgbClr val="3333CC"/>
                </a:solidFill>
              </a:rPr>
              <a:t>table name</a:t>
            </a:r>
            <a:r>
              <a:rPr lang="en-US" sz="2400" b="1" dirty="0" smtClean="0"/>
              <a:t>;</a:t>
            </a:r>
          </a:p>
          <a:p>
            <a:pPr algn="just" eaLnBrk="1" hangingPunct="1"/>
            <a:endParaRPr lang="en-US" sz="2400" b="1" dirty="0" smtClean="0"/>
          </a:p>
          <a:p>
            <a:pPr algn="just" eaLnBrk="1" hangingPunct="1"/>
            <a:r>
              <a:rPr lang="en-US" sz="2400" b="1" dirty="0" smtClean="0"/>
              <a:t>Example</a:t>
            </a:r>
          </a:p>
          <a:p>
            <a:pPr algn="just" eaLnBrk="1" hangingPunct="1">
              <a:buFontTx/>
              <a:buNone/>
            </a:pPr>
            <a:r>
              <a:rPr lang="en-US" sz="2400" b="1" dirty="0" smtClean="0"/>
              <a:t>		DESCRIBE </a:t>
            </a:r>
            <a:r>
              <a:rPr lang="en-US" sz="2400" dirty="0" smtClean="0">
                <a:solidFill>
                  <a:srgbClr val="3333CC"/>
                </a:solidFill>
              </a:rPr>
              <a:t>Student</a:t>
            </a:r>
            <a:r>
              <a:rPr lang="en-US" sz="2400" b="1" dirty="0" smtClean="0"/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 fontScale="47500" lnSpcReduction="20000"/>
          </a:bodyPr>
          <a:lstStyle/>
          <a:p>
            <a:r>
              <a:rPr lang="en-IN" dirty="0" smtClean="0"/>
              <a:t>SQL Components: DDL/DML/DCL/TCL</a:t>
            </a:r>
          </a:p>
          <a:p>
            <a:r>
              <a:rPr lang="en-IN" dirty="0" smtClean="0"/>
              <a:t> </a:t>
            </a:r>
          </a:p>
          <a:p>
            <a:r>
              <a:rPr lang="en-IN" dirty="0" smtClean="0"/>
              <a:t>create table </a:t>
            </a:r>
            <a:r>
              <a:rPr lang="en-IN" dirty="0" err="1" smtClean="0"/>
              <a:t>emp</a:t>
            </a:r>
            <a:r>
              <a:rPr lang="en-IN" dirty="0" smtClean="0"/>
              <a:t> </a:t>
            </a:r>
          </a:p>
          <a:p>
            <a:r>
              <a:rPr lang="en-IN" dirty="0" smtClean="0"/>
              <a:t>(</a:t>
            </a:r>
          </a:p>
          <a:p>
            <a:r>
              <a:rPr lang="en-IN" dirty="0" err="1" smtClean="0"/>
              <a:t>rno</a:t>
            </a:r>
            <a:r>
              <a:rPr lang="en-IN" dirty="0" smtClean="0"/>
              <a:t> number(5),</a:t>
            </a:r>
          </a:p>
          <a:p>
            <a:r>
              <a:rPr lang="en-IN" dirty="0" smtClean="0"/>
              <a:t>name varchar2(15),</a:t>
            </a:r>
          </a:p>
          <a:p>
            <a:r>
              <a:rPr lang="en-IN" dirty="0" smtClean="0"/>
              <a:t>marks number(5));</a:t>
            </a:r>
          </a:p>
          <a:p>
            <a:r>
              <a:rPr lang="en-IN" dirty="0" smtClean="0"/>
              <a:t>…………………………</a:t>
            </a:r>
          </a:p>
          <a:p>
            <a:r>
              <a:rPr lang="en-IN" dirty="0" smtClean="0"/>
              <a:t> </a:t>
            </a:r>
          </a:p>
          <a:p>
            <a:r>
              <a:rPr lang="en-IN" dirty="0" smtClean="0"/>
              <a:t>update </a:t>
            </a:r>
            <a:r>
              <a:rPr lang="en-IN" dirty="0" err="1" smtClean="0"/>
              <a:t>emp</a:t>
            </a:r>
            <a:r>
              <a:rPr lang="en-IN" dirty="0" smtClean="0"/>
              <a:t> set marks=’40’ where marks=’55’;</a:t>
            </a:r>
          </a:p>
          <a:p>
            <a:r>
              <a:rPr lang="en-IN" dirty="0" smtClean="0"/>
              <a:t>………………………….</a:t>
            </a:r>
          </a:p>
          <a:p>
            <a:r>
              <a:rPr lang="en-IN" dirty="0" smtClean="0"/>
              <a:t> </a:t>
            </a:r>
          </a:p>
          <a:p>
            <a:r>
              <a:rPr lang="en-IN" dirty="0" smtClean="0"/>
              <a:t>update </a:t>
            </a:r>
            <a:r>
              <a:rPr lang="en-IN" dirty="0" err="1" smtClean="0"/>
              <a:t>emp</a:t>
            </a:r>
            <a:r>
              <a:rPr lang="en-IN" dirty="0" smtClean="0"/>
              <a:t> set marks=’21’;</a:t>
            </a:r>
          </a:p>
          <a:p>
            <a:r>
              <a:rPr lang="en-IN" dirty="0" smtClean="0"/>
              <a:t>……………………………….</a:t>
            </a:r>
          </a:p>
          <a:p>
            <a:r>
              <a:rPr lang="en-IN" dirty="0" smtClean="0"/>
              <a:t>select </a:t>
            </a:r>
            <a:r>
              <a:rPr lang="en-IN" dirty="0" err="1" smtClean="0"/>
              <a:t>rowid</a:t>
            </a:r>
            <a:r>
              <a:rPr lang="en-IN" dirty="0" smtClean="0"/>
              <a:t> from </a:t>
            </a:r>
            <a:r>
              <a:rPr lang="en-IN" dirty="0" err="1" smtClean="0"/>
              <a:t>emp</a:t>
            </a:r>
            <a:r>
              <a:rPr lang="en-IN" dirty="0" smtClean="0"/>
              <a:t>;</a:t>
            </a:r>
          </a:p>
          <a:p>
            <a:r>
              <a:rPr lang="en-IN" dirty="0" smtClean="0"/>
              <a:t>--------------------------------------</a:t>
            </a:r>
          </a:p>
          <a:p>
            <a:r>
              <a:rPr lang="en-IN" dirty="0"/>
              <a:t>delete from </a:t>
            </a:r>
            <a:r>
              <a:rPr lang="en-IN" dirty="0" err="1"/>
              <a:t>emp</a:t>
            </a:r>
            <a:r>
              <a:rPr lang="en-IN" dirty="0"/>
              <a:t> where </a:t>
            </a:r>
            <a:r>
              <a:rPr lang="en-IN" dirty="0" smtClean="0"/>
              <a:t>marks=‘21';</a:t>
            </a:r>
            <a:endParaRPr lang="en-IN" dirty="0"/>
          </a:p>
          <a:p>
            <a:r>
              <a:rPr lang="en-IN" dirty="0"/>
              <a:t>……………………………………</a:t>
            </a:r>
          </a:p>
          <a:p>
            <a:endParaRPr lang="en-IN" dirty="0"/>
          </a:p>
          <a:p>
            <a:endParaRPr lang="en-IN" dirty="0" smtClean="0"/>
          </a:p>
          <a:p>
            <a:r>
              <a:rPr lang="en-IN" dirty="0" smtClean="0"/>
              <a:t> </a:t>
            </a:r>
          </a:p>
          <a:p>
            <a:r>
              <a:rPr lang="en-IN" dirty="0" smtClean="0"/>
              <a:t>delete from </a:t>
            </a:r>
            <a:r>
              <a:rPr lang="en-IN" dirty="0" err="1" smtClean="0"/>
              <a:t>emp</a:t>
            </a:r>
            <a:r>
              <a:rPr lang="en-IN" dirty="0" smtClean="0"/>
              <a:t> where </a:t>
            </a:r>
            <a:r>
              <a:rPr lang="en-IN" dirty="0" err="1" smtClean="0"/>
              <a:t>rowid</a:t>
            </a:r>
            <a:r>
              <a:rPr lang="en-IN" dirty="0" smtClean="0"/>
              <a:t>='AAADVTAABAAAKS6AAC';</a:t>
            </a:r>
          </a:p>
          <a:p>
            <a:r>
              <a:rPr lang="en-IN" dirty="0" smtClean="0"/>
              <a:t>……………………………………</a:t>
            </a:r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Integrity constraints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Primary key</a:t>
            </a:r>
          </a:p>
          <a:p>
            <a:r>
              <a:rPr lang="en-US" dirty="0" smtClean="0"/>
              <a:t>Foreign key</a:t>
            </a:r>
          </a:p>
          <a:p>
            <a:r>
              <a:rPr lang="en-US" dirty="0" smtClean="0"/>
              <a:t>Check</a:t>
            </a:r>
          </a:p>
          <a:p>
            <a:r>
              <a:rPr lang="en-US" dirty="0" smtClean="0"/>
              <a:t>Not null</a:t>
            </a:r>
          </a:p>
          <a:p>
            <a:r>
              <a:rPr lang="en-US" dirty="0" smtClean="0"/>
              <a:t>Unique</a:t>
            </a:r>
          </a:p>
          <a:p>
            <a:r>
              <a:rPr lang="en-US" dirty="0" smtClean="0"/>
              <a:t>Default</a:t>
            </a:r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endParaRPr lang="en-IN" dirty="0" smtClean="0"/>
          </a:p>
          <a:p>
            <a:r>
              <a:rPr lang="en-IN" dirty="0" smtClean="0"/>
              <a:t>NOT NULL Constraint: Ensures that a column cannot have NULL value. </a:t>
            </a:r>
          </a:p>
          <a:p>
            <a:r>
              <a:rPr lang="en-IN" dirty="0" smtClean="0"/>
              <a:t>DEFAULT Constraint : Provides a default value for a column when none is specified. </a:t>
            </a:r>
          </a:p>
          <a:p>
            <a:r>
              <a:rPr lang="en-IN" dirty="0" smtClean="0"/>
              <a:t>UNIQUE Constraint: Ensures that all values in a column are different. </a:t>
            </a:r>
          </a:p>
          <a:p>
            <a:r>
              <a:rPr lang="en-IN" dirty="0" smtClean="0"/>
              <a:t>PRIMARY Key: Uniquely identified each rows/records in a database table. </a:t>
            </a:r>
          </a:p>
          <a:p>
            <a:r>
              <a:rPr lang="en-IN" dirty="0" smtClean="0"/>
              <a:t>FOREIGN Key: Uniquely identified a rows/records in any another database table. </a:t>
            </a:r>
          </a:p>
          <a:p>
            <a:r>
              <a:rPr lang="en-IN" dirty="0" smtClean="0"/>
              <a:t>CHECK Constraint: The CHECK constraint ensures that all values in a column satisfy certain conditions. </a:t>
            </a:r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Primary key</a:t>
            </a:r>
            <a:endParaRPr lang="en-IN" dirty="0" smtClean="0"/>
          </a:p>
          <a:p>
            <a:r>
              <a:rPr lang="en-IN" dirty="0" smtClean="0"/>
              <a:t>alter table </a:t>
            </a:r>
            <a:r>
              <a:rPr lang="en-IN" dirty="0" err="1" smtClean="0"/>
              <a:t>emp</a:t>
            </a:r>
            <a:endParaRPr lang="en-IN" dirty="0" smtClean="0"/>
          </a:p>
          <a:p>
            <a:r>
              <a:rPr lang="en-IN" dirty="0" smtClean="0"/>
              <a:t>add primary key(</a:t>
            </a:r>
            <a:r>
              <a:rPr lang="en-IN" dirty="0" err="1" smtClean="0"/>
              <a:t>rno</a:t>
            </a:r>
            <a:r>
              <a:rPr lang="en-IN" dirty="0" smtClean="0"/>
              <a:t>);</a:t>
            </a:r>
          </a:p>
          <a:p>
            <a:pPr>
              <a:buNone/>
            </a:pPr>
            <a:endParaRPr lang="en-IN" dirty="0" smtClean="0"/>
          </a:p>
          <a:p>
            <a:pPr>
              <a:buNone/>
            </a:pPr>
            <a:r>
              <a:rPr lang="en-US" dirty="0" smtClean="0"/>
              <a:t>Default</a:t>
            </a:r>
            <a:endParaRPr lang="en-IN" dirty="0" smtClean="0"/>
          </a:p>
          <a:p>
            <a:r>
              <a:rPr lang="en-IN" dirty="0" smtClean="0"/>
              <a:t>alter table </a:t>
            </a:r>
            <a:r>
              <a:rPr lang="en-IN" dirty="0" err="1" smtClean="0"/>
              <a:t>emp</a:t>
            </a:r>
            <a:endParaRPr lang="en-IN" dirty="0" smtClean="0"/>
          </a:p>
          <a:p>
            <a:r>
              <a:rPr lang="en-IN" dirty="0" smtClean="0"/>
              <a:t>modify name default '</a:t>
            </a:r>
            <a:r>
              <a:rPr lang="en-IN" dirty="0" err="1" smtClean="0"/>
              <a:t>aaa</a:t>
            </a:r>
            <a:r>
              <a:rPr lang="en-IN" dirty="0" smtClean="0"/>
              <a:t>'</a:t>
            </a:r>
          </a:p>
          <a:p>
            <a:endParaRPr lang="en-IN" dirty="0" smtClean="0"/>
          </a:p>
          <a:p>
            <a:pPr>
              <a:buNone/>
            </a:pPr>
            <a:endParaRPr lang="en-IN" dirty="0" smtClean="0"/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Check</a:t>
            </a:r>
            <a:endParaRPr lang="en-IN" dirty="0" smtClean="0"/>
          </a:p>
          <a:p>
            <a:r>
              <a:rPr lang="en-IN" dirty="0" smtClean="0"/>
              <a:t>alter table </a:t>
            </a:r>
            <a:r>
              <a:rPr lang="en-IN" dirty="0" err="1" smtClean="0"/>
              <a:t>emp</a:t>
            </a:r>
            <a:endParaRPr lang="en-IN" dirty="0" smtClean="0"/>
          </a:p>
          <a:p>
            <a:r>
              <a:rPr lang="en-IN" dirty="0" smtClean="0"/>
              <a:t>add check(</a:t>
            </a:r>
            <a:r>
              <a:rPr lang="en-IN" dirty="0" err="1" smtClean="0"/>
              <a:t>rno</a:t>
            </a:r>
            <a:r>
              <a:rPr lang="en-IN" dirty="0" smtClean="0"/>
              <a:t>&gt;5);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Foreign key</a:t>
            </a:r>
            <a:endParaRPr lang="en-IN" dirty="0" smtClean="0"/>
          </a:p>
          <a:p>
            <a:r>
              <a:rPr lang="en-IN" dirty="0" smtClean="0"/>
              <a:t>Alter table </a:t>
            </a:r>
            <a:r>
              <a:rPr lang="en-IN" dirty="0" err="1" smtClean="0"/>
              <a:t>emp</a:t>
            </a:r>
            <a:r>
              <a:rPr lang="en-IN" dirty="0" smtClean="0"/>
              <a:t> add foreign key (</a:t>
            </a:r>
            <a:r>
              <a:rPr lang="en-IN" dirty="0" err="1" smtClean="0"/>
              <a:t>dno</a:t>
            </a:r>
            <a:r>
              <a:rPr lang="en-IN" dirty="0" smtClean="0"/>
              <a:t>)  references dept(</a:t>
            </a:r>
            <a:r>
              <a:rPr lang="en-IN" dirty="0" err="1" smtClean="0"/>
              <a:t>depno</a:t>
            </a:r>
            <a:r>
              <a:rPr lang="en-IN" dirty="0" smtClean="0"/>
              <a:t>);</a:t>
            </a:r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Unique</a:t>
            </a:r>
          </a:p>
          <a:p>
            <a:r>
              <a:rPr lang="en-US" dirty="0" smtClean="0"/>
              <a:t>ALTER TABLE </a:t>
            </a:r>
            <a:r>
              <a:rPr lang="en-US" dirty="0" err="1" smtClean="0"/>
              <a:t>emp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ADD UNIQUE (name);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NOT NULL</a:t>
            </a:r>
          </a:p>
          <a:p>
            <a:r>
              <a:rPr lang="en-US" dirty="0" smtClean="0"/>
              <a:t>Alter table </a:t>
            </a:r>
            <a:r>
              <a:rPr lang="en-US" dirty="0" err="1" smtClean="0"/>
              <a:t>emp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modify </a:t>
            </a:r>
            <a:r>
              <a:rPr lang="en-US" dirty="0" err="1" smtClean="0"/>
              <a:t>esal</a:t>
            </a:r>
            <a:r>
              <a:rPr lang="en-US" dirty="0" smtClean="0"/>
              <a:t> number(5) not null;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IN" dirty="0" smtClean="0"/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Joins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 smtClean="0"/>
              <a:t>1. The purpose of a join is to combine the data across tables.</a:t>
            </a:r>
          </a:p>
          <a:p>
            <a:r>
              <a:rPr lang="en-IN" dirty="0" smtClean="0"/>
              <a:t>2. A join is actually performed by the where clause which combines the specified rows of tables.</a:t>
            </a:r>
          </a:p>
          <a:p>
            <a:r>
              <a:rPr lang="en-IN" dirty="0" smtClean="0"/>
              <a:t>3. If a join involves in more than two tables then oracle joins first two tables based on the joins condition and then compares the result with the next table and so on.</a:t>
            </a:r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Joins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Natural join</a:t>
            </a:r>
          </a:p>
          <a:p>
            <a:r>
              <a:rPr lang="en-US" dirty="0" smtClean="0"/>
              <a:t>Inner join</a:t>
            </a:r>
          </a:p>
          <a:p>
            <a:r>
              <a:rPr lang="en-US" dirty="0" smtClean="0"/>
              <a:t>Outer join</a:t>
            </a:r>
            <a:endParaRPr lang="en-IN" dirty="0" smtClean="0"/>
          </a:p>
          <a:p>
            <a:pPr>
              <a:buFont typeface="Wingdings" pitchFamily="2" charset="2"/>
              <a:buChar char="ü"/>
            </a:pPr>
            <a:r>
              <a:rPr lang="en-IN" sz="2400" dirty="0" smtClean="0"/>
              <a:t>left outer join</a:t>
            </a:r>
          </a:p>
          <a:p>
            <a:pPr>
              <a:buFont typeface="Wingdings" pitchFamily="2" charset="2"/>
              <a:buChar char="ü"/>
            </a:pPr>
            <a:r>
              <a:rPr lang="en-IN" sz="2400" dirty="0" smtClean="0"/>
              <a:t>right outer join</a:t>
            </a:r>
          </a:p>
          <a:p>
            <a:pPr>
              <a:buFont typeface="Wingdings" pitchFamily="2" charset="2"/>
              <a:buChar char="ü"/>
            </a:pPr>
            <a:r>
              <a:rPr lang="en-IN" sz="2400" dirty="0" smtClean="0"/>
              <a:t>full outer join </a:t>
            </a:r>
          </a:p>
          <a:p>
            <a:r>
              <a:rPr lang="en-US" dirty="0" smtClean="0"/>
              <a:t>Self join</a:t>
            </a:r>
          </a:p>
          <a:p>
            <a:r>
              <a:rPr lang="en-US" dirty="0" smtClean="0"/>
              <a:t>Cross join (Cartesian product)</a:t>
            </a:r>
          </a:p>
          <a:p>
            <a:r>
              <a:rPr lang="en-US" dirty="0" err="1" smtClean="0"/>
              <a:t>Equi</a:t>
            </a:r>
            <a:r>
              <a:rPr lang="en-US" dirty="0" smtClean="0"/>
              <a:t> &amp; Non </a:t>
            </a:r>
            <a:r>
              <a:rPr lang="en-US" dirty="0" err="1" smtClean="0"/>
              <a:t>Equi</a:t>
            </a:r>
            <a:r>
              <a:rPr lang="en-US" dirty="0" smtClean="0"/>
              <a:t> joins</a:t>
            </a:r>
          </a:p>
          <a:p>
            <a:pPr>
              <a:buNone/>
            </a:pPr>
            <a:endParaRPr lang="en-US" sz="2400" dirty="0" smtClean="0"/>
          </a:p>
          <a:p>
            <a:endParaRPr lang="en-US" dirty="0" smtClean="0"/>
          </a:p>
          <a:p>
            <a:pPr>
              <a:buNone/>
            </a:pP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sz="3200" dirty="0" smtClean="0"/>
              <a:t>Assume that we have the following tables.</a:t>
            </a:r>
            <a:endParaRPr lang="en-IN" sz="3200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1447801"/>
            <a:ext cx="7467600" cy="39631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5897563"/>
          </a:xfrm>
        </p:spPr>
        <p:txBody>
          <a:bodyPr>
            <a:normAutofit/>
          </a:bodyPr>
          <a:lstStyle/>
          <a:p>
            <a:pPr lvl="0"/>
            <a:r>
              <a:rPr lang="en-IN" b="1" dirty="0" smtClean="0"/>
              <a:t>1. EQUI JOIN</a:t>
            </a:r>
            <a:endParaRPr lang="en-IN" dirty="0" smtClean="0"/>
          </a:p>
          <a:p>
            <a:r>
              <a:rPr lang="en-IN" dirty="0" smtClean="0"/>
              <a:t>A join which contains an equal to ‘=’ operator in the joins condition.</a:t>
            </a:r>
          </a:p>
          <a:p>
            <a:r>
              <a:rPr lang="en-IN" i="1" dirty="0" smtClean="0"/>
              <a:t>Ex: SQL&gt; </a:t>
            </a:r>
            <a:r>
              <a:rPr lang="en-IN" dirty="0" smtClean="0"/>
              <a:t>select </a:t>
            </a:r>
            <a:r>
              <a:rPr lang="en-IN" dirty="0" err="1" smtClean="0"/>
              <a:t>eno,ename,esal,dname</a:t>
            </a:r>
            <a:r>
              <a:rPr lang="en-IN" dirty="0" smtClean="0"/>
              <a:t> from </a:t>
            </a:r>
            <a:r>
              <a:rPr lang="en-IN" dirty="0" err="1" smtClean="0"/>
              <a:t>emp</a:t>
            </a:r>
            <a:r>
              <a:rPr lang="en-IN" dirty="0" smtClean="0"/>
              <a:t> ,dept  where </a:t>
            </a:r>
            <a:r>
              <a:rPr lang="en-IN" dirty="0" err="1" smtClean="0"/>
              <a:t>emp.deptno</a:t>
            </a:r>
            <a:r>
              <a:rPr lang="en-IN" dirty="0" smtClean="0"/>
              <a:t>=</a:t>
            </a:r>
            <a:r>
              <a:rPr lang="en-IN" dirty="0" err="1" smtClean="0"/>
              <a:t>dept.deptno</a:t>
            </a:r>
            <a:r>
              <a:rPr lang="en-IN" dirty="0" smtClean="0"/>
              <a:t>;</a:t>
            </a:r>
          </a:p>
          <a:p>
            <a:pPr lvl="0"/>
            <a:r>
              <a:rPr lang="en-IN" b="1" dirty="0" smtClean="0"/>
              <a:t>2. NON-EQUI JOIN</a:t>
            </a:r>
            <a:endParaRPr lang="en-IN" dirty="0" smtClean="0"/>
          </a:p>
          <a:p>
            <a:r>
              <a:rPr lang="en-IN" dirty="0" smtClean="0"/>
              <a:t> A join which contains an operator other than equal to ‘=’ in the joins condition.</a:t>
            </a:r>
          </a:p>
          <a:p>
            <a:r>
              <a:rPr lang="en-IN" dirty="0" smtClean="0"/>
              <a:t> Ex: SQL&gt; select </a:t>
            </a:r>
            <a:r>
              <a:rPr lang="en-IN" dirty="0" err="1" smtClean="0"/>
              <a:t>eno,ename,esal,dname</a:t>
            </a:r>
            <a:r>
              <a:rPr lang="en-IN" dirty="0" smtClean="0"/>
              <a:t> from </a:t>
            </a:r>
            <a:r>
              <a:rPr lang="en-IN" dirty="0" err="1" smtClean="0"/>
              <a:t>emp</a:t>
            </a:r>
            <a:r>
              <a:rPr lang="en-IN" dirty="0" smtClean="0"/>
              <a:t> ,dept  where </a:t>
            </a:r>
            <a:r>
              <a:rPr lang="en-IN" dirty="0" err="1" smtClean="0"/>
              <a:t>emp.deptno</a:t>
            </a:r>
            <a:r>
              <a:rPr lang="en-IN" dirty="0" smtClean="0"/>
              <a:t>&gt;</a:t>
            </a:r>
            <a:r>
              <a:rPr lang="en-IN" dirty="0" err="1" smtClean="0"/>
              <a:t>dept.deptno</a:t>
            </a:r>
            <a:r>
              <a:rPr lang="en-IN" dirty="0" smtClean="0"/>
              <a:t>; </a:t>
            </a:r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/>
          <a:lstStyle/>
          <a:p>
            <a:pPr lvl="0"/>
            <a:r>
              <a:rPr lang="en-IN" b="1" dirty="0" smtClean="0"/>
              <a:t>3.   SELF JOIN</a:t>
            </a:r>
            <a:endParaRPr lang="en-IN" dirty="0" smtClean="0"/>
          </a:p>
          <a:p>
            <a:pPr>
              <a:buNone/>
            </a:pPr>
            <a:r>
              <a:rPr lang="en-IN" dirty="0" smtClean="0"/>
              <a:t>Joining the table itself is called self join.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Select a.name “teacher”, c.name “</a:t>
            </a:r>
            <a:r>
              <a:rPr lang="en-US" dirty="0" err="1" smtClean="0"/>
              <a:t>hod</a:t>
            </a:r>
            <a:r>
              <a:rPr lang="en-US" dirty="0" smtClean="0"/>
              <a:t>” from teacher a, teacher c where a.hod=c.id</a:t>
            </a:r>
          </a:p>
          <a:p>
            <a:endParaRPr lang="en-US" dirty="0" smtClean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24000" y="3657600"/>
          <a:ext cx="4876800" cy="1905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25600"/>
                <a:gridCol w="1625600"/>
                <a:gridCol w="1625600"/>
              </a:tblGrid>
              <a:tr h="38100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HOD</a:t>
                      </a:r>
                      <a:endParaRPr lang="en-IN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/>
          </a:bodyPr>
          <a:lstStyle/>
          <a:p>
            <a:pPr>
              <a:buNone/>
            </a:pPr>
            <a:endParaRPr lang="en-IN" dirty="0" smtClean="0"/>
          </a:p>
          <a:p>
            <a:pPr lvl="0"/>
            <a:r>
              <a:rPr lang="en-IN" b="1" dirty="0" smtClean="0"/>
              <a:t>4.  NATURAL JOIN</a:t>
            </a:r>
            <a:endParaRPr lang="en-IN" dirty="0" smtClean="0"/>
          </a:p>
          <a:p>
            <a:r>
              <a:rPr lang="en-IN" dirty="0" smtClean="0"/>
              <a:t>Natural join compares all the common columns.</a:t>
            </a:r>
          </a:p>
          <a:p>
            <a:r>
              <a:rPr lang="en-IN" dirty="0" smtClean="0"/>
              <a:t>Ex: SQL&gt; select </a:t>
            </a:r>
            <a:r>
              <a:rPr lang="en-IN" dirty="0" err="1" smtClean="0"/>
              <a:t>eno,ename,dname,loc</a:t>
            </a:r>
            <a:r>
              <a:rPr lang="en-IN" dirty="0" smtClean="0"/>
              <a:t> from </a:t>
            </a:r>
            <a:r>
              <a:rPr lang="en-IN" dirty="0" err="1" smtClean="0"/>
              <a:t>emp</a:t>
            </a:r>
            <a:r>
              <a:rPr lang="en-IN" dirty="0" smtClean="0"/>
              <a:t> natural join dept;</a:t>
            </a:r>
          </a:p>
          <a:p>
            <a:pPr lvl="0"/>
            <a:r>
              <a:rPr lang="en-IN" b="1" dirty="0" smtClean="0"/>
              <a:t>5.  CROSS JOIN</a:t>
            </a:r>
            <a:endParaRPr lang="en-IN" dirty="0" smtClean="0"/>
          </a:p>
          <a:p>
            <a:r>
              <a:rPr lang="en-IN" dirty="0" smtClean="0"/>
              <a:t>This will gives the cross product.</a:t>
            </a:r>
          </a:p>
          <a:p>
            <a:r>
              <a:rPr lang="en-IN" dirty="0" smtClean="0"/>
              <a:t>Ex: SQL&gt; select </a:t>
            </a:r>
            <a:r>
              <a:rPr lang="en-IN" dirty="0" err="1" smtClean="0"/>
              <a:t>empno,ename,esal,dname,loc</a:t>
            </a:r>
            <a:r>
              <a:rPr lang="en-IN" dirty="0" smtClean="0"/>
              <a:t> from </a:t>
            </a:r>
            <a:r>
              <a:rPr lang="en-IN" dirty="0" err="1" smtClean="0"/>
              <a:t>emp</a:t>
            </a:r>
            <a:r>
              <a:rPr lang="en-IN" dirty="0" smtClean="0"/>
              <a:t> cross join dept;</a:t>
            </a:r>
          </a:p>
          <a:p>
            <a:endParaRPr lang="en-IN" dirty="0" smtClean="0"/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5897563"/>
          </a:xfrm>
        </p:spPr>
        <p:txBody>
          <a:bodyPr>
            <a:normAutofit fontScale="85000" lnSpcReduction="10000"/>
          </a:bodyPr>
          <a:lstStyle/>
          <a:p>
            <a:pPr lvl="0"/>
            <a:r>
              <a:rPr lang="en-IN" b="1" dirty="0" smtClean="0"/>
              <a:t>6.      OUTER JOIN</a:t>
            </a:r>
            <a:endParaRPr lang="en-IN" dirty="0" smtClean="0"/>
          </a:p>
          <a:p>
            <a:r>
              <a:rPr lang="en-IN" dirty="0" smtClean="0"/>
              <a:t>Outer join gives the non-matching records along with matching records.</a:t>
            </a:r>
          </a:p>
          <a:p>
            <a:pPr>
              <a:buNone/>
            </a:pPr>
            <a:r>
              <a:rPr lang="en-IN" dirty="0" smtClean="0"/>
              <a:t/>
            </a:r>
            <a:br>
              <a:rPr lang="en-IN" dirty="0" smtClean="0"/>
            </a:br>
            <a:endParaRPr lang="en-IN" dirty="0" smtClean="0"/>
          </a:p>
          <a:p>
            <a:r>
              <a:rPr lang="en-IN" b="1" dirty="0" smtClean="0"/>
              <a:t>LEFT OUTER JOIN</a:t>
            </a:r>
            <a:endParaRPr lang="en-IN" dirty="0" smtClean="0"/>
          </a:p>
          <a:p>
            <a:r>
              <a:rPr lang="en-IN" dirty="0" smtClean="0"/>
              <a:t>This will display the all matching records and the records which are in left hand side table those that are not in right hand side table.</a:t>
            </a:r>
          </a:p>
          <a:p>
            <a:r>
              <a:rPr lang="en-IN" dirty="0" smtClean="0"/>
              <a:t>Ex: SQL&gt; select </a:t>
            </a:r>
            <a:r>
              <a:rPr lang="en-IN" dirty="0" err="1" smtClean="0"/>
              <a:t>eno,ename,job,dname,loc</a:t>
            </a:r>
            <a:r>
              <a:rPr lang="en-IN" dirty="0" smtClean="0"/>
              <a:t> from </a:t>
            </a:r>
            <a:r>
              <a:rPr lang="en-IN" dirty="0" err="1" smtClean="0"/>
              <a:t>emp</a:t>
            </a:r>
            <a:r>
              <a:rPr lang="en-IN" dirty="0" smtClean="0"/>
              <a:t>  left outer join dept  on(</a:t>
            </a:r>
            <a:r>
              <a:rPr lang="en-IN" dirty="0" err="1" smtClean="0"/>
              <a:t>emp.depno</a:t>
            </a:r>
            <a:r>
              <a:rPr lang="en-IN" dirty="0" smtClean="0"/>
              <a:t>=</a:t>
            </a:r>
            <a:r>
              <a:rPr lang="en-IN" dirty="0" err="1" smtClean="0"/>
              <a:t>dept.dno</a:t>
            </a:r>
            <a:r>
              <a:rPr lang="en-IN" dirty="0" smtClean="0"/>
              <a:t>);</a:t>
            </a:r>
          </a:p>
          <a:p>
            <a:r>
              <a:rPr lang="en-IN" dirty="0" smtClean="0"/>
              <a:t>Or</a:t>
            </a:r>
          </a:p>
          <a:p>
            <a:r>
              <a:rPr lang="en-IN" dirty="0" smtClean="0"/>
              <a:t>SQL&gt; select </a:t>
            </a:r>
            <a:r>
              <a:rPr lang="en-IN" dirty="0" err="1" smtClean="0"/>
              <a:t>eno,ename,job,dname,loc</a:t>
            </a:r>
            <a:r>
              <a:rPr lang="en-IN" dirty="0" smtClean="0"/>
              <a:t> from </a:t>
            </a:r>
            <a:r>
              <a:rPr lang="en-IN" dirty="0" err="1" smtClean="0"/>
              <a:t>emp</a:t>
            </a:r>
            <a:r>
              <a:rPr lang="en-IN" dirty="0" smtClean="0"/>
              <a:t> ,dept where </a:t>
            </a:r>
            <a:r>
              <a:rPr lang="en-IN" dirty="0" err="1" smtClean="0"/>
              <a:t>emp.depno</a:t>
            </a:r>
            <a:r>
              <a:rPr lang="en-IN" dirty="0" smtClean="0"/>
              <a:t>=</a:t>
            </a:r>
            <a:r>
              <a:rPr lang="en-IN" dirty="0" err="1" smtClean="0"/>
              <a:t>dept.dno</a:t>
            </a:r>
            <a:r>
              <a:rPr lang="en-IN" dirty="0" smtClean="0"/>
              <a:t>(+);</a:t>
            </a:r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5897563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 smtClean="0"/>
              <a:t>RIGHT OUTER JOIN</a:t>
            </a:r>
            <a:endParaRPr lang="en-IN" dirty="0" smtClean="0"/>
          </a:p>
          <a:p>
            <a:r>
              <a:rPr lang="en-IN" dirty="0" smtClean="0"/>
              <a:t>This will display the all matching records and the records which are in right hand side table those that are not in left hand side table.</a:t>
            </a:r>
          </a:p>
          <a:p>
            <a:r>
              <a:rPr lang="en-IN" dirty="0" smtClean="0"/>
              <a:t>Ex:</a:t>
            </a:r>
          </a:p>
          <a:p>
            <a:r>
              <a:rPr lang="en-IN" dirty="0" smtClean="0"/>
              <a:t>SQL&gt; select </a:t>
            </a:r>
            <a:r>
              <a:rPr lang="en-IN" dirty="0" err="1" smtClean="0"/>
              <a:t>empno,ename,job,dname,loc</a:t>
            </a:r>
            <a:r>
              <a:rPr lang="en-IN" dirty="0" smtClean="0"/>
              <a:t> from </a:t>
            </a:r>
            <a:r>
              <a:rPr lang="en-IN" dirty="0" err="1" smtClean="0"/>
              <a:t>emp</a:t>
            </a:r>
            <a:r>
              <a:rPr lang="en-IN" dirty="0" smtClean="0"/>
              <a:t> right outer join dept  on(</a:t>
            </a:r>
            <a:r>
              <a:rPr lang="en-IN" dirty="0" err="1" smtClean="0"/>
              <a:t>emp.depno</a:t>
            </a:r>
            <a:r>
              <a:rPr lang="en-IN" dirty="0" smtClean="0"/>
              <a:t>=</a:t>
            </a:r>
            <a:r>
              <a:rPr lang="en-IN" dirty="0" err="1" smtClean="0"/>
              <a:t>dept.dno</a:t>
            </a:r>
            <a:r>
              <a:rPr lang="en-IN" dirty="0" smtClean="0"/>
              <a:t>);</a:t>
            </a:r>
          </a:p>
          <a:p>
            <a:r>
              <a:rPr lang="en-IN" dirty="0" smtClean="0"/>
              <a:t>Or</a:t>
            </a:r>
          </a:p>
          <a:p>
            <a:r>
              <a:rPr lang="en-IN" dirty="0" smtClean="0"/>
              <a:t>SQL&gt; select </a:t>
            </a:r>
            <a:r>
              <a:rPr lang="en-IN" dirty="0" err="1" smtClean="0"/>
              <a:t>empno,ename,job,dname,loc</a:t>
            </a:r>
            <a:r>
              <a:rPr lang="en-IN" dirty="0" smtClean="0"/>
              <a:t> from </a:t>
            </a:r>
            <a:r>
              <a:rPr lang="en-IN" dirty="0" err="1" smtClean="0"/>
              <a:t>emp</a:t>
            </a:r>
            <a:r>
              <a:rPr lang="en-IN" dirty="0" smtClean="0"/>
              <a:t> ,dept where </a:t>
            </a:r>
            <a:r>
              <a:rPr lang="en-IN" dirty="0" err="1" smtClean="0"/>
              <a:t>emp.depno</a:t>
            </a:r>
            <a:r>
              <a:rPr lang="en-IN" dirty="0" smtClean="0"/>
              <a:t>(+) = </a:t>
            </a:r>
            <a:r>
              <a:rPr lang="en-IN" dirty="0" err="1" smtClean="0"/>
              <a:t>dept.dno</a:t>
            </a:r>
            <a:r>
              <a:rPr lang="en-IN" dirty="0" smtClean="0"/>
              <a:t>;</a:t>
            </a:r>
          </a:p>
          <a:p>
            <a:r>
              <a:rPr lang="en-IN" b="1" dirty="0" smtClean="0"/>
              <a:t>FULL OUTER JOIN</a:t>
            </a:r>
            <a:endParaRPr lang="en-IN" dirty="0" smtClean="0"/>
          </a:p>
          <a:p>
            <a:r>
              <a:rPr lang="en-IN" dirty="0" smtClean="0"/>
              <a:t>This will display the all matching records and the non-matching records from both tables.</a:t>
            </a:r>
          </a:p>
          <a:p>
            <a:r>
              <a:rPr lang="en-IN" dirty="0" smtClean="0"/>
              <a:t>Ex:</a:t>
            </a:r>
          </a:p>
          <a:p>
            <a:r>
              <a:rPr lang="en-IN" dirty="0" smtClean="0"/>
              <a:t>SQL&gt; select </a:t>
            </a:r>
            <a:r>
              <a:rPr lang="en-IN" dirty="0" err="1" smtClean="0"/>
              <a:t>empno,ename,job,dname,loc</a:t>
            </a:r>
            <a:r>
              <a:rPr lang="en-IN" dirty="0" smtClean="0"/>
              <a:t> from </a:t>
            </a:r>
            <a:r>
              <a:rPr lang="en-IN" dirty="0" err="1" smtClean="0"/>
              <a:t>emp</a:t>
            </a:r>
            <a:r>
              <a:rPr lang="en-IN" dirty="0" smtClean="0"/>
              <a:t> full outer join dept on(</a:t>
            </a:r>
            <a:r>
              <a:rPr lang="en-IN" dirty="0" err="1" smtClean="0"/>
              <a:t>emp.depno</a:t>
            </a:r>
            <a:r>
              <a:rPr lang="en-IN" dirty="0" smtClean="0"/>
              <a:t>=</a:t>
            </a:r>
            <a:r>
              <a:rPr lang="en-IN" dirty="0" err="1" smtClean="0"/>
              <a:t>dept.dno</a:t>
            </a:r>
            <a:r>
              <a:rPr lang="en-IN" dirty="0" smtClean="0"/>
              <a:t>);</a:t>
            </a:r>
          </a:p>
          <a:p>
            <a:endParaRPr lang="en-IN" dirty="0" smtClean="0"/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b="1" dirty="0" smtClean="0"/>
              <a:t>  7.   INNER JOIN</a:t>
            </a:r>
            <a:endParaRPr lang="en-IN" dirty="0" smtClean="0"/>
          </a:p>
          <a:p>
            <a:r>
              <a:rPr lang="en-IN" dirty="0" smtClean="0"/>
              <a:t>This will display all the records that have matched.</a:t>
            </a:r>
          </a:p>
          <a:p>
            <a:r>
              <a:rPr lang="en-IN" dirty="0" smtClean="0"/>
              <a:t>Ex: SQL&gt; select </a:t>
            </a:r>
            <a:r>
              <a:rPr lang="en-IN" dirty="0" err="1" smtClean="0"/>
              <a:t>empno,ename,job,dname,loc</a:t>
            </a:r>
            <a:r>
              <a:rPr lang="en-IN" dirty="0" smtClean="0"/>
              <a:t> from </a:t>
            </a:r>
            <a:r>
              <a:rPr lang="en-IN" dirty="0" err="1" smtClean="0"/>
              <a:t>emp</a:t>
            </a:r>
            <a:r>
              <a:rPr lang="en-IN" dirty="0" smtClean="0"/>
              <a:t> inner join dept using(</a:t>
            </a:r>
            <a:r>
              <a:rPr lang="en-IN" dirty="0" err="1" smtClean="0"/>
              <a:t>deptno</a:t>
            </a:r>
            <a:r>
              <a:rPr lang="en-IN" dirty="0" smtClean="0"/>
              <a:t>);</a:t>
            </a:r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Operators and clauses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IN</a:t>
            </a:r>
          </a:p>
          <a:p>
            <a:r>
              <a:rPr lang="en-US" dirty="0" smtClean="0"/>
              <a:t>OR</a:t>
            </a:r>
          </a:p>
          <a:p>
            <a:r>
              <a:rPr lang="en-US" dirty="0" smtClean="0"/>
              <a:t>AND</a:t>
            </a:r>
          </a:p>
          <a:p>
            <a:r>
              <a:rPr lang="en-US" dirty="0" smtClean="0"/>
              <a:t>Between</a:t>
            </a:r>
          </a:p>
          <a:p>
            <a:r>
              <a:rPr lang="en-US" dirty="0" smtClean="0"/>
              <a:t>Like</a:t>
            </a:r>
          </a:p>
          <a:p>
            <a:r>
              <a:rPr lang="en-US" dirty="0" smtClean="0"/>
              <a:t>Distinct</a:t>
            </a:r>
          </a:p>
          <a:p>
            <a:r>
              <a:rPr lang="en-US" dirty="0" err="1" smtClean="0"/>
              <a:t>Rowid</a:t>
            </a:r>
            <a:endParaRPr lang="en-US" dirty="0" smtClean="0"/>
          </a:p>
          <a:p>
            <a:r>
              <a:rPr lang="en-US" dirty="0" smtClean="0"/>
              <a:t>Order by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Like operator is used for string or pattern matching</a:t>
            </a:r>
          </a:p>
          <a:p>
            <a:r>
              <a:rPr lang="en-US" dirty="0" smtClean="0"/>
              <a:t>% character is used to match any string of any length.</a:t>
            </a:r>
          </a:p>
          <a:p>
            <a:r>
              <a:rPr lang="en-US" dirty="0" smtClean="0"/>
              <a:t>_ character to match a single character.</a:t>
            </a:r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Aggregate functions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IN" dirty="0" smtClean="0"/>
          </a:p>
          <a:p>
            <a:endParaRPr lang="en-IN" dirty="0" smtClean="0"/>
          </a:p>
          <a:p>
            <a:r>
              <a:rPr lang="en-IN" dirty="0" smtClean="0"/>
              <a:t>These functions operate on the </a:t>
            </a:r>
            <a:r>
              <a:rPr lang="en-IN" dirty="0" err="1" smtClean="0"/>
              <a:t>multiset</a:t>
            </a:r>
            <a:r>
              <a:rPr lang="en-IN" dirty="0" smtClean="0"/>
              <a:t> of values of a column of a relation, and return a value.</a:t>
            </a:r>
          </a:p>
          <a:p>
            <a:endParaRPr lang="en-IN" dirty="0" smtClean="0"/>
          </a:p>
          <a:p>
            <a:r>
              <a:rPr lang="en-IN" b="1" dirty="0" err="1" smtClean="0"/>
              <a:t>avg</a:t>
            </a:r>
            <a:r>
              <a:rPr lang="en-IN" b="1" dirty="0" smtClean="0"/>
              <a:t>: average value </a:t>
            </a:r>
          </a:p>
          <a:p>
            <a:r>
              <a:rPr lang="en-IN" b="1" dirty="0" smtClean="0"/>
              <a:t>min: minimum value </a:t>
            </a:r>
          </a:p>
          <a:p>
            <a:r>
              <a:rPr lang="en-IN" b="1" dirty="0" smtClean="0"/>
              <a:t>max: maximum value </a:t>
            </a:r>
          </a:p>
          <a:p>
            <a:r>
              <a:rPr lang="en-IN" b="1" dirty="0" smtClean="0"/>
              <a:t>sum: sum of values </a:t>
            </a:r>
          </a:p>
          <a:p>
            <a:r>
              <a:rPr lang="en-IN" b="1" dirty="0" smtClean="0"/>
              <a:t>count: number of values </a:t>
            </a:r>
          </a:p>
          <a:p>
            <a:endParaRPr lang="en-US" dirty="0" smtClean="0"/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 fontScale="77500" lnSpcReduction="20000"/>
          </a:bodyPr>
          <a:lstStyle/>
          <a:p>
            <a:endParaRPr lang="en-IN" dirty="0" smtClean="0"/>
          </a:p>
          <a:p>
            <a:endParaRPr lang="en-IN" dirty="0" smtClean="0"/>
          </a:p>
          <a:p>
            <a:pPr>
              <a:buNone/>
            </a:pPr>
            <a:r>
              <a:rPr lang="en-IN" dirty="0" smtClean="0"/>
              <a:t>Find the average account balance at the </a:t>
            </a:r>
            <a:r>
              <a:rPr lang="en-IN" dirty="0" err="1" smtClean="0"/>
              <a:t>Perryridge</a:t>
            </a:r>
            <a:r>
              <a:rPr lang="en-IN" dirty="0" smtClean="0"/>
              <a:t> branch.</a:t>
            </a:r>
          </a:p>
          <a:p>
            <a:pPr>
              <a:buNone/>
            </a:pPr>
            <a:r>
              <a:rPr lang="en-IN" b="1" dirty="0" smtClean="0"/>
              <a:t>select </a:t>
            </a:r>
            <a:r>
              <a:rPr lang="en-IN" b="1" dirty="0" err="1" smtClean="0"/>
              <a:t>avg</a:t>
            </a:r>
            <a:r>
              <a:rPr lang="en-IN" b="1" i="1" dirty="0" smtClean="0"/>
              <a:t>(balance)</a:t>
            </a:r>
          </a:p>
          <a:p>
            <a:pPr>
              <a:buNone/>
            </a:pPr>
            <a:r>
              <a:rPr lang="en-IN" b="1" dirty="0" smtClean="0"/>
              <a:t>From </a:t>
            </a:r>
            <a:r>
              <a:rPr lang="en-IN" b="1" i="1" dirty="0" smtClean="0"/>
              <a:t>account</a:t>
            </a:r>
          </a:p>
          <a:p>
            <a:pPr>
              <a:buNone/>
            </a:pPr>
            <a:r>
              <a:rPr lang="en-IN" b="1" dirty="0" smtClean="0"/>
              <a:t>where </a:t>
            </a:r>
            <a:r>
              <a:rPr lang="en-IN" b="1" i="1" dirty="0" smtClean="0"/>
              <a:t>branch-name = ‘</a:t>
            </a:r>
            <a:r>
              <a:rPr lang="en-IN" b="1" i="1" dirty="0" err="1" smtClean="0"/>
              <a:t>Perryridge</a:t>
            </a:r>
            <a:r>
              <a:rPr lang="en-IN" b="1" i="1" dirty="0" smtClean="0"/>
              <a:t>’</a:t>
            </a:r>
            <a:endParaRPr lang="en-IN" dirty="0" smtClean="0"/>
          </a:p>
          <a:p>
            <a:endParaRPr lang="en-IN" dirty="0" smtClean="0"/>
          </a:p>
          <a:p>
            <a:pPr>
              <a:buNone/>
            </a:pPr>
            <a:r>
              <a:rPr lang="en-IN" dirty="0" smtClean="0"/>
              <a:t>Find the number of depositors in the bank.</a:t>
            </a:r>
          </a:p>
          <a:p>
            <a:pPr lvl="1">
              <a:buNone/>
            </a:pPr>
            <a:r>
              <a:rPr lang="en-IN" b="1" dirty="0" smtClean="0"/>
              <a:t>select count (*)</a:t>
            </a:r>
          </a:p>
          <a:p>
            <a:pPr lvl="1">
              <a:buNone/>
            </a:pPr>
            <a:r>
              <a:rPr lang="en-IN" b="1" dirty="0" smtClean="0"/>
              <a:t>from </a:t>
            </a:r>
            <a:r>
              <a:rPr lang="en-IN" b="1" i="1" dirty="0" smtClean="0"/>
              <a:t>customer</a:t>
            </a:r>
            <a:endParaRPr lang="en-IN" dirty="0" smtClean="0"/>
          </a:p>
          <a:p>
            <a:endParaRPr lang="en-IN" dirty="0" smtClean="0"/>
          </a:p>
          <a:p>
            <a:pPr>
              <a:buNone/>
            </a:pPr>
            <a:r>
              <a:rPr lang="en-IN" dirty="0" smtClean="0"/>
              <a:t>Find the number of tuples in the </a:t>
            </a:r>
            <a:r>
              <a:rPr lang="en-IN" i="1" dirty="0" smtClean="0"/>
              <a:t>customer relation.</a:t>
            </a:r>
          </a:p>
          <a:p>
            <a:pPr>
              <a:buNone/>
            </a:pPr>
            <a:endParaRPr lang="en-IN" dirty="0" smtClean="0"/>
          </a:p>
          <a:p>
            <a:pPr>
              <a:buNone/>
            </a:pPr>
            <a:r>
              <a:rPr lang="en-IN" b="1" dirty="0" smtClean="0"/>
              <a:t>select count (distinct </a:t>
            </a:r>
            <a:r>
              <a:rPr lang="en-IN" b="1" i="1" dirty="0" smtClean="0"/>
              <a:t>customer-name)</a:t>
            </a:r>
          </a:p>
          <a:p>
            <a:pPr>
              <a:buNone/>
            </a:pPr>
            <a:r>
              <a:rPr lang="en-IN" b="1" dirty="0" smtClean="0"/>
              <a:t>from </a:t>
            </a:r>
            <a:r>
              <a:rPr lang="en-IN" b="1" i="1" dirty="0" smtClean="0"/>
              <a:t>depositor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Group By and Having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endParaRPr lang="en-IN" dirty="0" smtClean="0"/>
          </a:p>
          <a:p>
            <a:endParaRPr lang="en-IN" dirty="0" smtClean="0"/>
          </a:p>
          <a:p>
            <a:pPr>
              <a:buNone/>
            </a:pPr>
            <a:r>
              <a:rPr lang="en-IN" dirty="0" smtClean="0"/>
              <a:t>Find the names of all branches where the average account balance is more than $1,200.</a:t>
            </a:r>
          </a:p>
          <a:p>
            <a:pPr lvl="1">
              <a:buNone/>
            </a:pPr>
            <a:r>
              <a:rPr lang="en-IN" b="1" dirty="0" smtClean="0"/>
              <a:t>Select </a:t>
            </a:r>
            <a:r>
              <a:rPr lang="en-IN" b="1" i="1" dirty="0" smtClean="0"/>
              <a:t>branch-name, </a:t>
            </a:r>
            <a:r>
              <a:rPr lang="en-IN" b="1" i="1" dirty="0" err="1" smtClean="0"/>
              <a:t>avg</a:t>
            </a:r>
            <a:r>
              <a:rPr lang="en-IN" b="1" i="1" dirty="0" smtClean="0"/>
              <a:t>(balance)</a:t>
            </a:r>
          </a:p>
          <a:p>
            <a:pPr lvl="1">
              <a:buNone/>
            </a:pPr>
            <a:r>
              <a:rPr lang="en-IN" b="1" dirty="0" smtClean="0"/>
              <a:t>From </a:t>
            </a:r>
            <a:r>
              <a:rPr lang="en-IN" b="1" i="1" dirty="0" smtClean="0"/>
              <a:t>account</a:t>
            </a:r>
          </a:p>
          <a:p>
            <a:pPr lvl="1">
              <a:buNone/>
            </a:pPr>
            <a:r>
              <a:rPr lang="en-IN" b="1" dirty="0" smtClean="0"/>
              <a:t>group by </a:t>
            </a:r>
            <a:r>
              <a:rPr lang="en-IN" b="1" i="1" dirty="0" smtClean="0"/>
              <a:t>branch-name </a:t>
            </a:r>
            <a:r>
              <a:rPr lang="en-IN" b="1" dirty="0" smtClean="0"/>
              <a:t>having </a:t>
            </a:r>
            <a:r>
              <a:rPr lang="en-IN" b="1" dirty="0" err="1" smtClean="0"/>
              <a:t>avg</a:t>
            </a:r>
            <a:r>
              <a:rPr lang="en-IN" b="1" i="1" dirty="0" smtClean="0"/>
              <a:t>(balance) &gt; 1200</a:t>
            </a:r>
            <a:endParaRPr lang="en-IN" dirty="0" smtClean="0"/>
          </a:p>
          <a:p>
            <a:pPr>
              <a:buNone/>
            </a:pPr>
            <a:endParaRPr lang="en-IN" dirty="0" smtClean="0"/>
          </a:p>
          <a:p>
            <a:pPr>
              <a:buNone/>
            </a:pPr>
            <a:r>
              <a:rPr lang="en-IN" dirty="0" smtClean="0"/>
              <a:t>Note: predicates in the </a:t>
            </a:r>
            <a:r>
              <a:rPr lang="en-IN" b="1" dirty="0" smtClean="0"/>
              <a:t>having clause are applied after the </a:t>
            </a:r>
          </a:p>
          <a:p>
            <a:pPr>
              <a:buNone/>
            </a:pPr>
            <a:r>
              <a:rPr lang="en-IN" dirty="0" smtClean="0"/>
              <a:t>formation of groups whereas predicates in the </a:t>
            </a:r>
            <a:r>
              <a:rPr lang="en-IN" b="1" dirty="0" smtClean="0"/>
              <a:t>where</a:t>
            </a:r>
          </a:p>
          <a:p>
            <a:pPr>
              <a:buNone/>
            </a:pPr>
            <a:r>
              <a:rPr lang="en-IN" dirty="0" smtClean="0"/>
              <a:t>clause are applied before forming groups</a:t>
            </a:r>
          </a:p>
          <a:p>
            <a:endParaRPr lang="en-I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Problems</a:t>
            </a:r>
            <a:endParaRPr lang="en-IN" dirty="0"/>
          </a:p>
        </p:txBody>
      </p:sp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6688" y="1695450"/>
            <a:ext cx="8810625" cy="432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609600"/>
            <a:ext cx="8229600" cy="5237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600200"/>
            <a:ext cx="7848599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524000"/>
            <a:ext cx="8229600" cy="38375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1339</TotalTime>
  <Words>863</Words>
  <Application>Microsoft Office PowerPoint</Application>
  <PresentationFormat>On-screen Show (4:3)</PresentationFormat>
  <Paragraphs>291</Paragraphs>
  <Slides>39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Arial</vt:lpstr>
      <vt:lpstr>Calibri</vt:lpstr>
      <vt:lpstr>Wingdings</vt:lpstr>
      <vt:lpstr>Office Theme</vt:lpstr>
      <vt:lpstr>INTRODUCTION</vt:lpstr>
      <vt:lpstr>What is SQL?</vt:lpstr>
      <vt:lpstr>SQL Components</vt:lpstr>
      <vt:lpstr>PowerPoint Presentation</vt:lpstr>
      <vt:lpstr>Basic data types</vt:lpstr>
      <vt:lpstr>Create Command</vt:lpstr>
      <vt:lpstr>Insert Command </vt:lpstr>
      <vt:lpstr>Select Command</vt:lpstr>
      <vt:lpstr>PowerPoint Presentation</vt:lpstr>
      <vt:lpstr>Delete Command</vt:lpstr>
      <vt:lpstr>Alter Command </vt:lpstr>
      <vt:lpstr>Update Command</vt:lpstr>
      <vt:lpstr>Rename Command</vt:lpstr>
      <vt:lpstr>Drop Command</vt:lpstr>
      <vt:lpstr>Describe Command</vt:lpstr>
      <vt:lpstr>PowerPoint Presentation</vt:lpstr>
      <vt:lpstr>Integrity constraints</vt:lpstr>
      <vt:lpstr>PowerPoint Presentation</vt:lpstr>
      <vt:lpstr>PowerPoint Presentation</vt:lpstr>
      <vt:lpstr>PowerPoint Presentation</vt:lpstr>
      <vt:lpstr>PowerPoint Presentation</vt:lpstr>
      <vt:lpstr>Joins</vt:lpstr>
      <vt:lpstr>Types of Joins</vt:lpstr>
      <vt:lpstr>Assume that we have the following tables.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Operators and clauses</vt:lpstr>
      <vt:lpstr>PowerPoint Presentation</vt:lpstr>
      <vt:lpstr>Aggregate functions</vt:lpstr>
      <vt:lpstr>PowerPoint Presentation</vt:lpstr>
      <vt:lpstr>Group By and Having </vt:lpstr>
      <vt:lpstr>Problems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BARJINDER</dc:creator>
  <cp:lastModifiedBy>madhuri.23525@lpu.co.in</cp:lastModifiedBy>
  <cp:revision>61</cp:revision>
  <dcterms:created xsi:type="dcterms:W3CDTF">2006-08-16T00:00:00Z</dcterms:created>
  <dcterms:modified xsi:type="dcterms:W3CDTF">2022-09-13T09:52:10Z</dcterms:modified>
</cp:coreProperties>
</file>