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8" r:id="rId3"/>
    <p:sldId id="259" r:id="rId4"/>
    <p:sldId id="260" r:id="rId5"/>
    <p:sldId id="261" r:id="rId6"/>
    <p:sldId id="269" r:id="rId7"/>
    <p:sldId id="270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1" r:id="rId16"/>
    <p:sldId id="272" r:id="rId17"/>
    <p:sldId id="273" r:id="rId18"/>
    <p:sldId id="274" r:id="rId19"/>
    <p:sldId id="275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7" d="100"/>
          <a:sy n="67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FC2CEF8-559F-41BE-B8C5-D19501FFD1DA}" type="datetimeFigureOut">
              <a:rPr lang="en-IN" smtClean="0"/>
              <a:t>01-11-2021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B9009B-6ED0-4C93-B7A4-B12E729C27A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67743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View Serializable 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FB9009B-6ED0-4C93-B7A4-B12E729C27AC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5414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AB71-E82E-482E-9627-92FF9F7906A5}" type="datetimeFigureOut">
              <a:rPr lang="en-IN" smtClean="0"/>
              <a:t>01-11-2021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D5B3-315B-4998-8584-AD3335983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5106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AB71-E82E-482E-9627-92FF9F7906A5}" type="datetimeFigureOut">
              <a:rPr lang="en-IN" smtClean="0"/>
              <a:t>01-11-2021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D5B3-315B-4998-8584-AD3335983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6537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AB71-E82E-482E-9627-92FF9F7906A5}" type="datetimeFigureOut">
              <a:rPr lang="en-IN" smtClean="0"/>
              <a:t>01-11-2021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D5B3-315B-4998-8584-AD3335983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155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AB71-E82E-482E-9627-92FF9F7906A5}" type="datetimeFigureOut">
              <a:rPr lang="en-IN" smtClean="0"/>
              <a:t>01-11-2021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D5B3-315B-4998-8584-AD3335983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928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AB71-E82E-482E-9627-92FF9F7906A5}" type="datetimeFigureOut">
              <a:rPr lang="en-IN" smtClean="0"/>
              <a:t>01-11-2021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D5B3-315B-4998-8584-AD3335983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4512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AB71-E82E-482E-9627-92FF9F7906A5}" type="datetimeFigureOut">
              <a:rPr lang="en-IN" smtClean="0"/>
              <a:t>01-11-2021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D5B3-315B-4998-8584-AD3335983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7739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AB71-E82E-482E-9627-92FF9F7906A5}" type="datetimeFigureOut">
              <a:rPr lang="en-IN" smtClean="0"/>
              <a:t>01-11-2021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D5B3-315B-4998-8584-AD3335983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32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AB71-E82E-482E-9627-92FF9F7906A5}" type="datetimeFigureOut">
              <a:rPr lang="en-IN" smtClean="0"/>
              <a:t>01-11-2021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D5B3-315B-4998-8584-AD3335983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1761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AB71-E82E-482E-9627-92FF9F7906A5}" type="datetimeFigureOut">
              <a:rPr lang="en-IN" smtClean="0"/>
              <a:t>01-11-2021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D5B3-315B-4998-8584-AD3335983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59948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AB71-E82E-482E-9627-92FF9F7906A5}" type="datetimeFigureOut">
              <a:rPr lang="en-IN" smtClean="0"/>
              <a:t>01-11-2021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D5B3-315B-4998-8584-AD3335983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875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2AB71-E82E-482E-9627-92FF9F7906A5}" type="datetimeFigureOut">
              <a:rPr lang="en-IN" smtClean="0"/>
              <a:t>01-11-2021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7BD5B3-315B-4998-8584-AD3335983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1224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2AB71-E82E-482E-9627-92FF9F7906A5}" type="datetimeFigureOut">
              <a:rPr lang="en-IN" smtClean="0"/>
              <a:t>01-11-2021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7BD5B3-315B-4998-8584-AD333598332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5625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View </a:t>
            </a:r>
            <a:r>
              <a:rPr lang="en-IN" dirty="0" err="1" smtClean="0"/>
              <a:t>Serializability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29490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853440" y="632098"/>
            <a:ext cx="92752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400" b="0" i="0" dirty="0" smtClean="0">
                <a:solidFill>
                  <a:srgbClr val="303030"/>
                </a:solidFill>
                <a:effectLst/>
                <a:latin typeface="Arimo"/>
              </a:rPr>
              <a:t>If a given schedule is found to be view equivalent to some serial schedule, then it is called as a view serializable schedule.</a:t>
            </a: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853440" y="2202323"/>
            <a:ext cx="60960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IN" sz="2400" b="1" i="0" u="sng" dirty="0" smtClean="0">
                <a:solidFill>
                  <a:srgbClr val="303030"/>
                </a:solidFill>
                <a:effectLst/>
                <a:latin typeface="roboto condensed"/>
              </a:rPr>
              <a:t>View Equivalent Schedules-</a:t>
            </a:r>
            <a:endParaRPr lang="en-IN" sz="2400" b="1" i="0" dirty="0" smtClean="0">
              <a:solidFill>
                <a:srgbClr val="303030"/>
              </a:solidFill>
              <a:effectLst/>
              <a:latin typeface="roboto condensed"/>
            </a:endParaRPr>
          </a:p>
          <a:p>
            <a:pPr fontAlgn="base"/>
            <a:r>
              <a:rPr lang="en-IN" sz="2400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fontAlgn="base"/>
            <a:r>
              <a:rPr lang="en-IN" sz="2400" b="0" i="0" dirty="0" smtClean="0">
                <a:solidFill>
                  <a:srgbClr val="303030"/>
                </a:solidFill>
                <a:effectLst/>
                <a:latin typeface="Arimo"/>
              </a:rPr>
              <a:t>Consider two schedules S1 and S2 each consisting of two transactions T1 and T2.</a:t>
            </a:r>
          </a:p>
          <a:p>
            <a:pPr fontAlgn="base"/>
            <a:r>
              <a:rPr lang="en-IN" sz="2400" b="0" i="0" dirty="0" smtClean="0">
                <a:solidFill>
                  <a:srgbClr val="303030"/>
                </a:solidFill>
                <a:effectLst/>
                <a:latin typeface="Arimo"/>
              </a:rPr>
              <a:t>Schedules S1 and S2 are called view equivalent if the following three conditions hold true for them-</a:t>
            </a:r>
          </a:p>
          <a:p>
            <a:pPr fontAlgn="base"/>
            <a:r>
              <a:rPr lang="en-IN" sz="2400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  <a:endParaRPr lang="en-IN" sz="2400" b="0" i="0" dirty="0">
              <a:solidFill>
                <a:srgbClr val="303030"/>
              </a:solidFill>
              <a:effectLst/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34326968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54965" y="329141"/>
            <a:ext cx="10006819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sz="2000" b="1" i="0" u="sng" dirty="0" smtClean="0">
                <a:solidFill>
                  <a:srgbClr val="303030"/>
                </a:solidFill>
                <a:effectLst/>
                <a:latin typeface="roboto condensed"/>
              </a:rPr>
              <a:t>Condition-01:</a:t>
            </a:r>
            <a:endParaRPr lang="en-IN" sz="2000" b="1" i="0" dirty="0" smtClean="0">
              <a:solidFill>
                <a:srgbClr val="303030"/>
              </a:solidFill>
              <a:effectLst/>
              <a:latin typeface="roboto condensed"/>
            </a:endParaRPr>
          </a:p>
          <a:p>
            <a:pPr fontAlgn="base"/>
            <a:r>
              <a:rPr lang="en-IN" sz="2000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fontAlgn="base"/>
            <a:r>
              <a:rPr lang="en-IN" sz="2000" b="0" i="0" dirty="0" smtClean="0">
                <a:solidFill>
                  <a:srgbClr val="303030"/>
                </a:solidFill>
                <a:effectLst/>
                <a:latin typeface="Arimo"/>
              </a:rPr>
              <a:t>For each data item X, if transaction </a:t>
            </a:r>
            <a:r>
              <a:rPr lang="en-IN" sz="2000" b="0" i="0" dirty="0" err="1" smtClean="0">
                <a:solidFill>
                  <a:srgbClr val="303030"/>
                </a:solidFill>
                <a:effectLst/>
                <a:latin typeface="Arimo"/>
              </a:rPr>
              <a:t>T</a:t>
            </a:r>
            <a:r>
              <a:rPr lang="en-IN" sz="2000" b="0" i="0" baseline="-25000" dirty="0" err="1" smtClean="0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2000" b="0" i="0" dirty="0" smtClean="0">
                <a:solidFill>
                  <a:srgbClr val="303030"/>
                </a:solidFill>
                <a:effectLst/>
                <a:latin typeface="Arimo"/>
              </a:rPr>
              <a:t> reads X from the database initially in schedule S1, then in schedule S2 also, </a:t>
            </a:r>
            <a:r>
              <a:rPr lang="en-IN" sz="2000" b="0" i="0" dirty="0" err="1" smtClean="0">
                <a:solidFill>
                  <a:srgbClr val="303030"/>
                </a:solidFill>
                <a:effectLst/>
                <a:latin typeface="Arimo"/>
              </a:rPr>
              <a:t>T</a:t>
            </a:r>
            <a:r>
              <a:rPr lang="en-IN" sz="2000" b="0" i="0" baseline="-25000" dirty="0" err="1" smtClean="0">
                <a:solidFill>
                  <a:srgbClr val="303030"/>
                </a:solidFill>
                <a:effectLst/>
                <a:latin typeface="Arimo"/>
              </a:rPr>
              <a:t>i</a:t>
            </a:r>
            <a:r>
              <a:rPr lang="en-IN" sz="2000" b="0" i="0" baseline="-2500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  <a:r>
              <a:rPr lang="en-IN" sz="2000" b="0" i="0" dirty="0" smtClean="0">
                <a:solidFill>
                  <a:srgbClr val="303030"/>
                </a:solidFill>
                <a:effectLst/>
                <a:latin typeface="Arimo"/>
              </a:rPr>
              <a:t>must perform the initial read of X from the database.</a:t>
            </a:r>
          </a:p>
          <a:p>
            <a:pPr fontAlgn="base"/>
            <a:r>
              <a:rPr lang="en-IN" sz="2000" b="1" dirty="0">
                <a:solidFill>
                  <a:srgbClr val="303030"/>
                </a:solidFill>
                <a:latin typeface="Arimo"/>
              </a:rPr>
              <a:t> </a:t>
            </a:r>
            <a:r>
              <a:rPr lang="en-IN" sz="2000" b="1" dirty="0" smtClean="0">
                <a:solidFill>
                  <a:srgbClr val="303030"/>
                </a:solidFill>
                <a:latin typeface="Arimo"/>
              </a:rPr>
              <a:t>  </a:t>
            </a:r>
            <a:r>
              <a:rPr lang="en-IN" sz="2000" b="1" dirty="0"/>
              <a:t>“Initial readers must be same for all the data items</a:t>
            </a:r>
            <a:r>
              <a:rPr lang="en-IN" sz="2000" b="1" dirty="0" smtClean="0"/>
              <a:t>”.</a:t>
            </a:r>
            <a:endParaRPr lang="en-IN" sz="2000" b="1" dirty="0"/>
          </a:p>
          <a:p>
            <a:pPr fontAlgn="base"/>
            <a:endParaRPr lang="en-IN" sz="2000" b="0" i="0" dirty="0" smtClean="0">
              <a:solidFill>
                <a:srgbClr val="303030"/>
              </a:solidFill>
              <a:effectLst/>
              <a:latin typeface="Arimo"/>
            </a:endParaRPr>
          </a:p>
          <a:p>
            <a:pPr fontAlgn="base"/>
            <a:r>
              <a:rPr lang="en-IN" sz="2000" b="1" u="sng" dirty="0"/>
              <a:t>Condition-02:</a:t>
            </a:r>
            <a:endParaRPr lang="en-IN" sz="2000" b="1" dirty="0"/>
          </a:p>
          <a:p>
            <a:pPr fontAlgn="base"/>
            <a:r>
              <a:rPr lang="en-IN" sz="2000" dirty="0"/>
              <a:t> </a:t>
            </a:r>
          </a:p>
          <a:p>
            <a:pPr fontAlgn="base"/>
            <a:r>
              <a:rPr lang="en-IN" sz="2000" dirty="0"/>
              <a:t>If transaction </a:t>
            </a:r>
            <a:r>
              <a:rPr lang="en-IN" sz="2000" dirty="0" err="1"/>
              <a:t>T</a:t>
            </a:r>
            <a:r>
              <a:rPr lang="en-IN" sz="2000" baseline="-25000" dirty="0" err="1"/>
              <a:t>i</a:t>
            </a:r>
            <a:r>
              <a:rPr lang="en-IN" sz="2000" dirty="0"/>
              <a:t> reads a data item that has been updated by the transaction </a:t>
            </a:r>
            <a:r>
              <a:rPr lang="en-IN" sz="2000" dirty="0" err="1"/>
              <a:t>T</a:t>
            </a:r>
            <a:r>
              <a:rPr lang="en-IN" sz="2000" baseline="-25000" dirty="0" err="1"/>
              <a:t>j</a:t>
            </a:r>
            <a:r>
              <a:rPr lang="en-IN" sz="2000" dirty="0"/>
              <a:t> in schedule S1, then in schedule S2 also, transaction </a:t>
            </a:r>
            <a:r>
              <a:rPr lang="en-IN" sz="2000" dirty="0" err="1"/>
              <a:t>T</a:t>
            </a:r>
            <a:r>
              <a:rPr lang="en-IN" sz="2000" baseline="-25000" dirty="0" err="1"/>
              <a:t>i</a:t>
            </a:r>
            <a:r>
              <a:rPr lang="en-IN" sz="2000" dirty="0"/>
              <a:t> must read the same data item that has been updated by the transaction </a:t>
            </a:r>
            <a:r>
              <a:rPr lang="en-IN" sz="2000" dirty="0" err="1"/>
              <a:t>T</a:t>
            </a:r>
            <a:r>
              <a:rPr lang="en-IN" sz="2000" baseline="-25000" dirty="0" err="1"/>
              <a:t>j</a:t>
            </a:r>
            <a:r>
              <a:rPr lang="en-IN" sz="2000" baseline="-25000" dirty="0"/>
              <a:t>.</a:t>
            </a:r>
            <a:endParaRPr lang="en-IN" sz="2000" dirty="0"/>
          </a:p>
          <a:p>
            <a:pPr fontAlgn="base"/>
            <a:r>
              <a:rPr lang="en-IN" sz="2000" b="1" dirty="0" smtClean="0">
                <a:solidFill>
                  <a:srgbClr val="303030"/>
                </a:solidFill>
                <a:latin typeface="Arimo"/>
              </a:rPr>
              <a:t>    </a:t>
            </a:r>
            <a:r>
              <a:rPr lang="en-IN" sz="2000" b="1" dirty="0"/>
              <a:t>“Write-read sequence must be same</a:t>
            </a:r>
            <a:r>
              <a:rPr lang="en-IN" sz="2000" b="1" dirty="0" smtClean="0"/>
              <a:t>.”.</a:t>
            </a:r>
          </a:p>
          <a:p>
            <a:pPr fontAlgn="base"/>
            <a:r>
              <a:rPr lang="en-IN" sz="2000" b="1" u="sng" dirty="0"/>
              <a:t>Condition-03:</a:t>
            </a:r>
            <a:endParaRPr lang="en-IN" sz="2000" b="1" dirty="0"/>
          </a:p>
          <a:p>
            <a:pPr fontAlgn="base"/>
            <a:r>
              <a:rPr lang="en-IN" sz="2000" dirty="0"/>
              <a:t> </a:t>
            </a:r>
          </a:p>
          <a:p>
            <a:pPr fontAlgn="base"/>
            <a:r>
              <a:rPr lang="en-IN" sz="2000" dirty="0"/>
              <a:t>For each data item X, if X has been updated at last by transaction </a:t>
            </a:r>
            <a:r>
              <a:rPr lang="en-IN" sz="2000" dirty="0" err="1"/>
              <a:t>T</a:t>
            </a:r>
            <a:r>
              <a:rPr lang="en-IN" sz="2000" baseline="-25000" dirty="0" err="1"/>
              <a:t>i</a:t>
            </a:r>
            <a:r>
              <a:rPr lang="en-IN" sz="2000" dirty="0"/>
              <a:t> in schedule S1, then in schedule S2 also, X must be updated at last by transaction </a:t>
            </a:r>
            <a:r>
              <a:rPr lang="en-IN" sz="2000" dirty="0" err="1"/>
              <a:t>T</a:t>
            </a:r>
            <a:r>
              <a:rPr lang="en-IN" sz="2000" baseline="-25000" dirty="0" err="1"/>
              <a:t>i</a:t>
            </a:r>
            <a:r>
              <a:rPr lang="en-IN" sz="2000" dirty="0"/>
              <a:t>.</a:t>
            </a:r>
          </a:p>
          <a:p>
            <a:pPr fontAlgn="base"/>
            <a:r>
              <a:rPr lang="en-IN" sz="2000" dirty="0" smtClean="0">
                <a:solidFill>
                  <a:srgbClr val="303030"/>
                </a:solidFill>
                <a:latin typeface="Arimo"/>
              </a:rPr>
              <a:t>  </a:t>
            </a:r>
            <a:r>
              <a:rPr lang="en-IN" sz="2000" b="1" dirty="0"/>
              <a:t>“Final writers must be same for all the data items”.</a:t>
            </a:r>
            <a:endParaRPr lang="en-IN" sz="2000" b="1" dirty="0">
              <a:solidFill>
                <a:srgbClr val="303030"/>
              </a:solidFill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1039909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6153" y="229664"/>
            <a:ext cx="10175631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b="1" i="0" u="sng" dirty="0" smtClean="0">
                <a:solidFill>
                  <a:srgbClr val="303030"/>
                </a:solidFill>
                <a:effectLst/>
                <a:latin typeface="roboto condensed"/>
              </a:rPr>
              <a:t>Checking Whether a Schedule is View Serializable Or Not-</a:t>
            </a:r>
            <a:endParaRPr lang="en-IN" b="1" i="0" dirty="0" smtClean="0">
              <a:solidFill>
                <a:srgbClr val="303030"/>
              </a:solidFill>
              <a:effectLst/>
              <a:latin typeface="roboto condensed"/>
            </a:endParaRP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fontAlgn="base"/>
            <a:r>
              <a:rPr lang="en-IN" b="1" i="0" u="sng" dirty="0" smtClean="0">
                <a:solidFill>
                  <a:srgbClr val="303030"/>
                </a:solidFill>
                <a:effectLst/>
                <a:latin typeface="roboto condensed"/>
              </a:rPr>
              <a:t>Method-01:</a:t>
            </a:r>
            <a:endParaRPr lang="en-IN" b="1" i="0" dirty="0" smtClean="0">
              <a:solidFill>
                <a:srgbClr val="303030"/>
              </a:solidFill>
              <a:effectLst/>
              <a:latin typeface="roboto condensed"/>
            </a:endParaRP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Check whether the given schedule is conflict serializable or not.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If the given schedule is conflict serializable, then it is surely view serializable. Stop and report your answer.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If the given schedule is not conflict serializable, then it may or may not be view serializable. Go and check using other methods.</a:t>
            </a:r>
          </a:p>
          <a:p>
            <a:pPr fontAlgn="base"/>
            <a:r>
              <a:rPr lang="en-IN" b="1" dirty="0"/>
              <a:t>All conflict serializable schedules are view serializable.</a:t>
            </a:r>
          </a:p>
          <a:p>
            <a:pPr fontAlgn="base"/>
            <a:r>
              <a:rPr lang="en-IN" b="1" dirty="0"/>
              <a:t>All view serializable schedules may or may not be conflict serializable</a:t>
            </a:r>
            <a:r>
              <a:rPr lang="en-IN" b="1" dirty="0" smtClean="0"/>
              <a:t>.</a:t>
            </a:r>
          </a:p>
          <a:p>
            <a:pPr fontAlgn="base"/>
            <a:endParaRPr lang="en-IN" b="1" dirty="0" smtClean="0"/>
          </a:p>
          <a:p>
            <a:pPr fontAlgn="base"/>
            <a:r>
              <a:rPr lang="en-IN" b="1" u="sng" dirty="0"/>
              <a:t>Method-02</a:t>
            </a:r>
            <a:r>
              <a:rPr lang="en-IN" b="1" u="sng" dirty="0" smtClean="0"/>
              <a:t>:</a:t>
            </a:r>
          </a:p>
          <a:p>
            <a:pPr fontAlgn="base"/>
            <a:r>
              <a:rPr lang="en-IN" dirty="0"/>
              <a:t>Check if there exists any blind write operation.</a:t>
            </a:r>
          </a:p>
          <a:p>
            <a:pPr fontAlgn="base"/>
            <a:r>
              <a:rPr lang="en-IN" dirty="0"/>
              <a:t>(Writing without reading is called as a blind write).</a:t>
            </a:r>
          </a:p>
          <a:p>
            <a:pPr fontAlgn="base"/>
            <a:r>
              <a:rPr lang="en-IN" dirty="0"/>
              <a:t>If there does not exist any blind write, then the schedule is surely not view serializable. Stop and report your answer.</a:t>
            </a:r>
          </a:p>
          <a:p>
            <a:pPr fontAlgn="base"/>
            <a:r>
              <a:rPr lang="en-IN" dirty="0"/>
              <a:t>If there exists any blind write, then the schedule may or may not be view serializable. Go and check using other methods.</a:t>
            </a:r>
          </a:p>
          <a:p>
            <a:pPr fontAlgn="base"/>
            <a:r>
              <a:rPr lang="en-IN" b="1" dirty="0"/>
              <a:t>No blind write means not a view serializable schedule.</a:t>
            </a:r>
          </a:p>
          <a:p>
            <a:pPr fontAlgn="base"/>
            <a:endParaRPr lang="en-IN" b="1" dirty="0"/>
          </a:p>
          <a:p>
            <a:pPr fontAlgn="base">
              <a:buFont typeface="Arial" panose="020B0604020202020204" pitchFamily="34" charset="0"/>
              <a:buChar char="•"/>
            </a:pPr>
            <a:endParaRPr lang="en-IN" b="0" i="0" dirty="0">
              <a:solidFill>
                <a:srgbClr val="303030"/>
              </a:solidFill>
              <a:effectLst/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2582411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37845" y="532622"/>
            <a:ext cx="10639865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b="1" i="0" u="sng" dirty="0" smtClean="0">
                <a:solidFill>
                  <a:srgbClr val="303030"/>
                </a:solidFill>
                <a:effectLst/>
                <a:latin typeface="roboto condensed"/>
              </a:rPr>
              <a:t>Method-03:</a:t>
            </a:r>
            <a:endParaRPr lang="en-IN" b="1" i="0" dirty="0" smtClean="0">
              <a:solidFill>
                <a:srgbClr val="303030"/>
              </a:solidFill>
              <a:effectLst/>
              <a:latin typeface="roboto condensed"/>
            </a:endParaRP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In this method, try finding a view equivalent serial schedule.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By using the above three conditions, write all the dependencies.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Then, draw a graph using those dependencies.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If there exists no cycle in the graph, then the schedule is view serializable otherwise not.</a:t>
            </a:r>
            <a:endParaRPr lang="en-IN" b="0" i="0" dirty="0">
              <a:solidFill>
                <a:srgbClr val="303030"/>
              </a:solidFill>
              <a:effectLst/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181236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424604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Example: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 smtClean="0"/>
              <a:t>T1             T2             T3</a:t>
            </a:r>
          </a:p>
          <a:p>
            <a:pPr marL="0" indent="0">
              <a:buNone/>
            </a:pPr>
            <a:r>
              <a:rPr lang="en-IN" dirty="0" smtClean="0"/>
              <a:t>R(A)     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      W(A)</a:t>
            </a:r>
          </a:p>
          <a:p>
            <a:pPr marL="0" indent="0">
              <a:buNone/>
            </a:pPr>
            <a:r>
              <a:rPr lang="en-IN" dirty="0" smtClean="0"/>
              <a:t>W(A) 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                       W(A)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 smtClean="0"/>
              <a:t>S’</a:t>
            </a:r>
            <a:endParaRPr lang="en-IN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 smtClean="0"/>
              <a:t>T1                     T2                T3</a:t>
            </a:r>
          </a:p>
          <a:p>
            <a:pPr marL="0" indent="0">
              <a:buNone/>
            </a:pPr>
            <a:r>
              <a:rPr lang="en-IN" dirty="0" smtClean="0"/>
              <a:t>R(A)</a:t>
            </a:r>
          </a:p>
          <a:p>
            <a:pPr marL="0" indent="0">
              <a:buNone/>
            </a:pPr>
            <a:r>
              <a:rPr lang="en-IN" dirty="0" smtClean="0"/>
              <a:t>W(A)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            W(A)</a:t>
            </a:r>
          </a:p>
          <a:p>
            <a:pPr marL="0" indent="0">
              <a:buNone/>
            </a:pPr>
            <a:r>
              <a:rPr lang="en-IN" dirty="0"/>
              <a:t> </a:t>
            </a:r>
            <a:r>
              <a:rPr lang="en-IN" dirty="0" smtClean="0"/>
              <a:t>                                             W(A)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18276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183341" y="1064728"/>
            <a:ext cx="7168629" cy="4970591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sng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roboto condensed"/>
              </a:rPr>
              <a:t>Problem-01:</a:t>
            </a:r>
            <a:endParaRPr kumimoji="0" lang="en-US" altLang="en-US" sz="1600" b="1" i="0" u="none" strike="noStrike" cap="none" normalizeH="0" baseline="0" dirty="0" smtClean="0">
              <a:ln>
                <a:noFill/>
              </a:ln>
              <a:solidFill>
                <a:srgbClr val="303030"/>
              </a:solidFill>
              <a:effectLst/>
              <a:latin typeface="roboto condensed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 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Check whether the given schedule S is view serializable or not-</a:t>
            </a:r>
            <a:endParaRPr kumimoji="0" lang="en-US" altLang="en-US" sz="2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 </a:t>
            </a:r>
            <a:endParaRPr kumimoji="0" lang="en-US" altLang="en-US" sz="11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  </a:t>
            </a:r>
            <a:r>
              <a:rPr kumimoji="0" lang="en-US" altLang="en-US" sz="265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 </a:t>
            </a:r>
            <a:r>
              <a:rPr kumimoji="0" lang="en-US" altLang="en-US" sz="1100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 </a:t>
            </a:r>
          </a:p>
        </p:txBody>
      </p:sp>
      <p:pic>
        <p:nvPicPr>
          <p:cNvPr id="2050" name="Picture 2" descr="https://www.gatevidyalay.com/wp-content/uploads/2018/06/View-Serializability-Problem-0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830" y="2335679"/>
            <a:ext cx="6124575" cy="4219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4479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https://www.gatevidyalay.com/wp-content/uploads/2018/06/View-Serializability-Problem-01-Precedence-Grap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9869" y="1218173"/>
            <a:ext cx="2876550" cy="1895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246094" y="4160095"/>
            <a:ext cx="6096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Clearly, there exists no cycle in the precedence graph.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Therefore, the given schedule S is conflict serializable.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Thus, we conclude that the given schedule is also view serializable.</a:t>
            </a:r>
            <a:endParaRPr lang="en-IN" b="0" i="0" dirty="0">
              <a:solidFill>
                <a:srgbClr val="303030"/>
              </a:solidFill>
              <a:effectLst/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13714001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42682" y="490408"/>
            <a:ext cx="838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b="1" i="0" u="sng" dirty="0" smtClean="0">
                <a:solidFill>
                  <a:srgbClr val="303030"/>
                </a:solidFill>
                <a:effectLst/>
                <a:latin typeface="roboto condensed"/>
              </a:rPr>
              <a:t>Problem-02:</a:t>
            </a:r>
            <a:endParaRPr lang="en-IN" b="1" i="0" dirty="0" smtClean="0">
              <a:solidFill>
                <a:srgbClr val="303030"/>
              </a:solidFill>
              <a:effectLst/>
              <a:latin typeface="roboto condensed"/>
            </a:endParaRP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Check whether the given schedule S is view serializable or not-</a:t>
            </a: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pic>
        <p:nvPicPr>
          <p:cNvPr id="4098" name="Picture 2" descr="https://www.gatevidyalay.com/wp-content/uploads/2018/06/View-Serializability-Problem-02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8540" y="2377889"/>
            <a:ext cx="5670812" cy="2853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686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https://www.gatevidyalay.com/wp-content/uploads/2018/06/View-Serializability-Problem-02-Precedence-Grap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47446" y="1152151"/>
            <a:ext cx="3649942" cy="1638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425388" y="3482458"/>
            <a:ext cx="7839635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Clearly, there exists a cycle in the precedence graph.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Therefore, the given schedule S is not conflict serializable.</a:t>
            </a: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Now,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Since, the given schedule S is not conflict serializable, so, it may or may not be view serializable.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To check whether S is view serializable or not, let us use another method.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Let us check for blind writes.</a:t>
            </a: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4155078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53670" y="675999"/>
            <a:ext cx="10358717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b="1" i="0" u="sng" dirty="0" smtClean="0">
                <a:solidFill>
                  <a:srgbClr val="303030"/>
                </a:solidFill>
                <a:effectLst/>
                <a:latin typeface="roboto condensed"/>
              </a:rPr>
              <a:t>Checking for Blind Writes-</a:t>
            </a:r>
            <a:endParaRPr lang="en-IN" b="1" i="0" dirty="0" smtClean="0">
              <a:solidFill>
                <a:srgbClr val="303030"/>
              </a:solidFill>
              <a:effectLst/>
              <a:latin typeface="roboto condensed"/>
            </a:endParaRP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There exists a blind write W</a:t>
            </a:r>
            <a:r>
              <a:rPr lang="en-IN" b="0" i="0" baseline="-25000" dirty="0" smtClean="0">
                <a:solidFill>
                  <a:srgbClr val="303030"/>
                </a:solidFill>
                <a:effectLst/>
                <a:latin typeface="Arimo"/>
              </a:rPr>
              <a:t>3 </a:t>
            </a: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(A) in the given schedule 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Therefore, the given schedule S may or may not be view serializable.</a:t>
            </a: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Now,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To check whether S is view serializable or not, let us use another method.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Let us derive the dependencies and then draw a dependency graph.</a:t>
            </a:r>
            <a:endParaRPr lang="en-IN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53670" y="3173123"/>
            <a:ext cx="710453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b="1" i="0" u="sng" dirty="0" smtClean="0">
                <a:solidFill>
                  <a:srgbClr val="303030"/>
                </a:solidFill>
                <a:effectLst/>
                <a:latin typeface="roboto condensed"/>
              </a:rPr>
              <a:t>Drawing a Dependency Graph-</a:t>
            </a:r>
            <a:endParaRPr lang="en-IN" b="1" i="0" dirty="0" smtClean="0">
              <a:solidFill>
                <a:srgbClr val="303030"/>
              </a:solidFill>
              <a:effectLst/>
              <a:latin typeface="roboto condensed"/>
            </a:endParaRP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T1 firstly reads A and T3 firstly updates A.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So, T1 must execute before T3.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Thus, we get the dependency </a:t>
            </a:r>
            <a:r>
              <a:rPr lang="en-IN" b="1" i="0" dirty="0" smtClean="0">
                <a:solidFill>
                  <a:srgbClr val="303030"/>
                </a:solidFill>
                <a:effectLst/>
                <a:latin typeface="Arimo"/>
              </a:rPr>
              <a:t>T1 → T3</a:t>
            </a: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Final </a:t>
            </a:r>
            <a:r>
              <a:rPr lang="en-IN" b="0" i="0" dirty="0" err="1" smtClean="0">
                <a:solidFill>
                  <a:srgbClr val="303030"/>
                </a:solidFill>
                <a:effectLst/>
                <a:latin typeface="Arimo"/>
              </a:rPr>
              <a:t>updation</a:t>
            </a: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 on A is made by the transaction T1.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So, T1 must execute after all other transactions.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Thus, we get the dependency </a:t>
            </a:r>
            <a:r>
              <a:rPr lang="en-IN" b="1" i="0" dirty="0" smtClean="0">
                <a:solidFill>
                  <a:srgbClr val="303030"/>
                </a:solidFill>
                <a:effectLst/>
                <a:latin typeface="Arimo"/>
              </a:rPr>
              <a:t>(T2, T3) → T1</a:t>
            </a: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There exists no write-read sequence.</a:t>
            </a: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Now, let us draw a dependency graph using these dependencies-</a:t>
            </a:r>
            <a:endParaRPr lang="en-IN" b="0" i="0" dirty="0">
              <a:solidFill>
                <a:srgbClr val="303030"/>
              </a:solidFill>
              <a:effectLst/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21090944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https://www.gatevidyalay.com/wp-content/uploads/2018/06/View-Serializability-Problem-02-Dependency-Grap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397" y="893015"/>
            <a:ext cx="3286873" cy="2356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1407458" y="4056546"/>
            <a:ext cx="651285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Clearly, there exists a cycle in the dependency graph.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Thus, we conclude that the given schedule S is not view serializable.</a:t>
            </a:r>
            <a:endParaRPr lang="en-IN" b="0" i="0" dirty="0">
              <a:solidFill>
                <a:srgbClr val="303030"/>
              </a:solidFill>
              <a:effectLst/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507245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0" y="606041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IN" b="1" i="0" u="sng" dirty="0" smtClean="0">
                <a:solidFill>
                  <a:srgbClr val="303030"/>
                </a:solidFill>
                <a:effectLst/>
                <a:latin typeface="roboto condensed"/>
              </a:rPr>
              <a:t>Problem-04:</a:t>
            </a:r>
            <a:endParaRPr lang="en-IN" b="1" i="0" dirty="0" smtClean="0">
              <a:solidFill>
                <a:srgbClr val="303030"/>
              </a:solidFill>
              <a:effectLst/>
              <a:latin typeface="roboto condensed"/>
            </a:endParaRP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 </a:t>
            </a:r>
          </a:p>
          <a:p>
            <a:pPr fontAlgn="base"/>
            <a:r>
              <a:rPr lang="en-IN" b="0" i="0" dirty="0" smtClean="0">
                <a:solidFill>
                  <a:srgbClr val="303030"/>
                </a:solidFill>
                <a:effectLst/>
                <a:latin typeface="Arimo"/>
              </a:rPr>
              <a:t>Check whether the given schedule S is view serializable or not. If yes, then give the serial schedule.</a:t>
            </a:r>
          </a:p>
          <a:p>
            <a:pPr algn="ctr" fontAlgn="base"/>
            <a:r>
              <a:rPr lang="en-IN" b="1" i="0" dirty="0" smtClean="0">
                <a:solidFill>
                  <a:srgbClr val="303030"/>
                </a:solidFill>
                <a:effectLst/>
                <a:latin typeface="Arimo"/>
              </a:rPr>
              <a:t>S : R</a:t>
            </a:r>
            <a:r>
              <a:rPr lang="en-IN" b="1" i="0" baseline="-25000" dirty="0" smtClean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IN" b="1" i="0" dirty="0" smtClean="0">
                <a:solidFill>
                  <a:srgbClr val="303030"/>
                </a:solidFill>
                <a:effectLst/>
                <a:latin typeface="Arimo"/>
              </a:rPr>
              <a:t>(A) , W</a:t>
            </a:r>
            <a:r>
              <a:rPr lang="en-IN" b="1" i="0" baseline="-25000" dirty="0" smtClean="0">
                <a:solidFill>
                  <a:srgbClr val="303030"/>
                </a:solidFill>
                <a:effectLst/>
                <a:latin typeface="Arimo"/>
              </a:rPr>
              <a:t>2</a:t>
            </a:r>
            <a:r>
              <a:rPr lang="en-IN" b="1" i="0" dirty="0" smtClean="0">
                <a:solidFill>
                  <a:srgbClr val="303030"/>
                </a:solidFill>
                <a:effectLst/>
                <a:latin typeface="Arimo"/>
              </a:rPr>
              <a:t>(A) , R</a:t>
            </a:r>
            <a:r>
              <a:rPr lang="en-IN" b="1" i="0" baseline="-25000" dirty="0" smtClean="0">
                <a:solidFill>
                  <a:srgbClr val="303030"/>
                </a:solidFill>
                <a:effectLst/>
                <a:latin typeface="Arimo"/>
              </a:rPr>
              <a:t>3</a:t>
            </a:r>
            <a:r>
              <a:rPr lang="en-IN" b="1" i="0" dirty="0" smtClean="0">
                <a:solidFill>
                  <a:srgbClr val="303030"/>
                </a:solidFill>
                <a:effectLst/>
                <a:latin typeface="Arimo"/>
              </a:rPr>
              <a:t>(A) , W</a:t>
            </a:r>
            <a:r>
              <a:rPr lang="en-IN" b="1" i="0" baseline="-25000" dirty="0" smtClean="0">
                <a:solidFill>
                  <a:srgbClr val="303030"/>
                </a:solidFill>
                <a:effectLst/>
                <a:latin typeface="Arimo"/>
              </a:rPr>
              <a:t>1</a:t>
            </a:r>
            <a:r>
              <a:rPr lang="en-IN" b="1" i="0" dirty="0" smtClean="0">
                <a:solidFill>
                  <a:srgbClr val="303030"/>
                </a:solidFill>
                <a:effectLst/>
                <a:latin typeface="Arimo"/>
              </a:rPr>
              <a:t>(A) , W</a:t>
            </a:r>
            <a:r>
              <a:rPr lang="en-IN" b="1" i="0" baseline="-25000" dirty="0" smtClean="0">
                <a:solidFill>
                  <a:srgbClr val="303030"/>
                </a:solidFill>
                <a:effectLst/>
                <a:latin typeface="Arimo"/>
              </a:rPr>
              <a:t>3</a:t>
            </a:r>
            <a:r>
              <a:rPr lang="en-IN" b="1" i="0" dirty="0" smtClean="0">
                <a:solidFill>
                  <a:srgbClr val="303030"/>
                </a:solidFill>
                <a:effectLst/>
                <a:latin typeface="Arimo"/>
              </a:rPr>
              <a:t>(A)</a:t>
            </a:r>
            <a:endParaRPr lang="en-IN" b="0" i="0" dirty="0">
              <a:solidFill>
                <a:srgbClr val="303030"/>
              </a:solidFill>
              <a:effectLst/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1400421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128713" y="889844"/>
            <a:ext cx="8015287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b="1" u="sng" dirty="0">
                <a:solidFill>
                  <a:srgbClr val="303030"/>
                </a:solidFill>
                <a:latin typeface="roboto condensed"/>
              </a:rPr>
              <a:t>Checking Whether S is Conflict Serializable Or Not-</a:t>
            </a:r>
            <a:endParaRPr lang="en-IN" b="1" dirty="0">
              <a:solidFill>
                <a:srgbClr val="303030"/>
              </a:solidFill>
              <a:latin typeface="roboto condensed"/>
            </a:endParaRPr>
          </a:p>
          <a:p>
            <a:pPr fontAlgn="base"/>
            <a:r>
              <a:rPr lang="en-IN" dirty="0">
                <a:solidFill>
                  <a:srgbClr val="303030"/>
                </a:solidFill>
                <a:latin typeface="Arimo"/>
              </a:rPr>
              <a:t> </a:t>
            </a:r>
          </a:p>
          <a:p>
            <a:pPr fontAlgn="base"/>
            <a:r>
              <a:rPr lang="en-IN" b="1" u="sng" dirty="0">
                <a:solidFill>
                  <a:srgbClr val="303030"/>
                </a:solidFill>
                <a:latin typeface="roboto condensed"/>
              </a:rPr>
              <a:t>Step-01:</a:t>
            </a:r>
            <a:endParaRPr lang="en-IN" b="1" dirty="0">
              <a:solidFill>
                <a:srgbClr val="303030"/>
              </a:solidFill>
              <a:latin typeface="roboto condensed"/>
            </a:endParaRPr>
          </a:p>
          <a:p>
            <a:pPr fontAlgn="base"/>
            <a:r>
              <a:rPr lang="en-IN" dirty="0">
                <a:solidFill>
                  <a:srgbClr val="303030"/>
                </a:solidFill>
                <a:latin typeface="Arimo"/>
              </a:rPr>
              <a:t> </a:t>
            </a:r>
          </a:p>
          <a:p>
            <a:pPr fontAlgn="base"/>
            <a:r>
              <a:rPr lang="en-IN" dirty="0">
                <a:solidFill>
                  <a:srgbClr val="303030"/>
                </a:solidFill>
                <a:latin typeface="Arimo"/>
              </a:rPr>
              <a:t>List all the conflicting operations and determine the dependency between the transactions-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R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1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(A) , W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2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(A) (T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1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 → T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2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)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R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1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(A) , W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3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(A) (T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1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 → T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3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)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W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2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(A) , R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3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(A) (T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2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 → T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3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)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W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2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(A) , W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1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(A) (T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2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 → T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1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)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W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2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(A) , W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3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(A) (T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2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 → T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3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)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R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3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(A) , W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1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(A) (T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3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 → T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1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)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W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1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(A) , W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3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(A) (T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1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 → T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3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)</a:t>
            </a:r>
          </a:p>
          <a:p>
            <a:pPr fontAlgn="base"/>
            <a:r>
              <a:rPr lang="en-IN" dirty="0">
                <a:solidFill>
                  <a:srgbClr val="303030"/>
                </a:solidFill>
                <a:latin typeface="Arimo"/>
              </a:rPr>
              <a:t> </a:t>
            </a:r>
          </a:p>
          <a:p>
            <a:pPr fontAlgn="base"/>
            <a:r>
              <a:rPr lang="en-IN" b="1" u="sng" dirty="0">
                <a:solidFill>
                  <a:srgbClr val="303030"/>
                </a:solidFill>
                <a:latin typeface="roboto condensed"/>
              </a:rPr>
              <a:t>Step-02:</a:t>
            </a:r>
            <a:endParaRPr lang="en-IN" b="1" dirty="0">
              <a:solidFill>
                <a:srgbClr val="303030"/>
              </a:solidFill>
              <a:latin typeface="roboto condensed"/>
            </a:endParaRPr>
          </a:p>
          <a:p>
            <a:pPr fontAlgn="base"/>
            <a:r>
              <a:rPr lang="en-IN" dirty="0">
                <a:solidFill>
                  <a:srgbClr val="303030"/>
                </a:solidFill>
                <a:latin typeface="Arimo"/>
              </a:rPr>
              <a:t> </a:t>
            </a:r>
          </a:p>
          <a:p>
            <a:pPr fontAlgn="base"/>
            <a:r>
              <a:rPr lang="en-IN" dirty="0">
                <a:solidFill>
                  <a:srgbClr val="303030"/>
                </a:solidFill>
                <a:latin typeface="Arimo"/>
              </a:rPr>
              <a:t>Draw the precedence graph-</a:t>
            </a:r>
          </a:p>
          <a:p>
            <a:pPr fontAlgn="base"/>
            <a:r>
              <a:rPr lang="en-IN" dirty="0">
                <a:solidFill>
                  <a:srgbClr val="303030"/>
                </a:solidFill>
                <a:latin typeface="Arimo"/>
              </a:rPr>
              <a:t> </a:t>
            </a:r>
            <a:endParaRPr lang="en-IN" b="0" i="0" dirty="0">
              <a:solidFill>
                <a:srgbClr val="303030"/>
              </a:solidFill>
              <a:effectLst/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962041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600199" y="3893789"/>
            <a:ext cx="6215063" cy="138499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 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 </a:t>
            </a:r>
            <a:endParaRPr kumimoji="0" lang="en-US" altLang="en-US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     </a:t>
            </a:r>
            <a:r>
              <a:rPr lang="en-IN" dirty="0"/>
              <a:t>Clearly, there exists a cycle in the precedence graph.</a:t>
            </a:r>
          </a:p>
          <a:p>
            <a:r>
              <a:rPr lang="en-IN" dirty="0"/>
              <a:t>Therefore, the given schedule S is not conflict serializable.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rgbClr val="303030"/>
                </a:solidFill>
                <a:effectLst/>
                <a:latin typeface="Arimo"/>
              </a:rPr>
              <a:t>                                                                           </a:t>
            </a:r>
          </a:p>
        </p:txBody>
      </p:sp>
      <p:pic>
        <p:nvPicPr>
          <p:cNvPr id="1026" name="Picture 2" descr="https://www.gatevidyalay.com/wp-content/uploads/2018/06/View-Serializability-Problem-04-Precedence-Grap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1895474"/>
            <a:ext cx="2971800" cy="17621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5317974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19138" y="587752"/>
            <a:ext cx="6096000" cy="3139321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base"/>
            <a:r>
              <a:rPr lang="en-IN" b="1" u="sng" dirty="0">
                <a:solidFill>
                  <a:srgbClr val="303030"/>
                </a:solidFill>
                <a:latin typeface="roboto condensed"/>
              </a:rPr>
              <a:t>Checking for Blind Writes-</a:t>
            </a:r>
            <a:endParaRPr lang="en-IN" b="1" dirty="0">
              <a:solidFill>
                <a:srgbClr val="303030"/>
              </a:solidFill>
              <a:latin typeface="roboto condensed"/>
            </a:endParaRPr>
          </a:p>
          <a:p>
            <a:pPr fontAlgn="base"/>
            <a:r>
              <a:rPr lang="en-IN" dirty="0">
                <a:solidFill>
                  <a:srgbClr val="303030"/>
                </a:solidFill>
                <a:latin typeface="Arimo"/>
              </a:rPr>
              <a:t> 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There exists a blind write W</a:t>
            </a:r>
            <a:r>
              <a:rPr lang="en-IN" baseline="-25000" dirty="0">
                <a:solidFill>
                  <a:srgbClr val="303030"/>
                </a:solidFill>
                <a:latin typeface="Arimo"/>
              </a:rPr>
              <a:t>2 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(A) in the given schedule 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Therefore, the given schedule S may or may not be view serializable.</a:t>
            </a:r>
          </a:p>
          <a:p>
            <a:pPr fontAlgn="base"/>
            <a:r>
              <a:rPr lang="en-IN" dirty="0">
                <a:solidFill>
                  <a:srgbClr val="303030"/>
                </a:solidFill>
                <a:latin typeface="Arimo"/>
              </a:rPr>
              <a:t> </a:t>
            </a:r>
          </a:p>
          <a:p>
            <a:pPr fontAlgn="base"/>
            <a:r>
              <a:rPr lang="en-IN" dirty="0">
                <a:solidFill>
                  <a:srgbClr val="303030"/>
                </a:solidFill>
                <a:latin typeface="Arimo"/>
              </a:rPr>
              <a:t>Now,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To check whether S is view serializable or not, let us use another method.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Let us derive the dependencies and then draw a dependency graph.</a:t>
            </a:r>
            <a:endParaRPr lang="en-IN" b="0" i="0" dirty="0">
              <a:solidFill>
                <a:srgbClr val="303030"/>
              </a:solidFill>
              <a:effectLst/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33135741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3425" y="859215"/>
            <a:ext cx="786765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/>
            <a:r>
              <a:rPr lang="en-IN" b="1" u="sng" dirty="0">
                <a:solidFill>
                  <a:srgbClr val="303030"/>
                </a:solidFill>
                <a:latin typeface="roboto condensed"/>
              </a:rPr>
              <a:t>Drawing a Dependency Graph-</a:t>
            </a:r>
            <a:endParaRPr lang="en-IN" b="1" dirty="0">
              <a:solidFill>
                <a:srgbClr val="303030"/>
              </a:solidFill>
              <a:latin typeface="roboto condensed"/>
            </a:endParaRPr>
          </a:p>
          <a:p>
            <a:pPr fontAlgn="base"/>
            <a:r>
              <a:rPr lang="en-IN" dirty="0">
                <a:solidFill>
                  <a:srgbClr val="303030"/>
                </a:solidFill>
                <a:latin typeface="Arimo"/>
              </a:rPr>
              <a:t> 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T1 firstly reads A and T2 firstly updates A.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So, T1 must execute before T2.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Thus, we get the dependency </a:t>
            </a:r>
            <a:r>
              <a:rPr lang="en-IN" b="1" dirty="0">
                <a:solidFill>
                  <a:srgbClr val="303030"/>
                </a:solidFill>
                <a:latin typeface="Arimo"/>
              </a:rPr>
              <a:t>T1 → T2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Final </a:t>
            </a:r>
            <a:r>
              <a:rPr lang="en-IN" dirty="0" err="1">
                <a:solidFill>
                  <a:srgbClr val="303030"/>
                </a:solidFill>
                <a:latin typeface="Arimo"/>
              </a:rPr>
              <a:t>updation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 on A is made by the transaction T3.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So, T3 must execute after all other transactions.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Thus, we get the dependency </a:t>
            </a:r>
            <a:r>
              <a:rPr lang="en-IN" b="1" dirty="0">
                <a:solidFill>
                  <a:srgbClr val="303030"/>
                </a:solidFill>
                <a:latin typeface="Arimo"/>
              </a:rPr>
              <a:t>(T1, T2) → T3</a:t>
            </a:r>
            <a:r>
              <a:rPr lang="en-IN" dirty="0">
                <a:solidFill>
                  <a:srgbClr val="303030"/>
                </a:solidFill>
                <a:latin typeface="Arimo"/>
              </a:rPr>
              <a:t>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From write-read sequence, we get the dependency </a:t>
            </a:r>
            <a:r>
              <a:rPr lang="en-IN" b="1" dirty="0">
                <a:solidFill>
                  <a:srgbClr val="303030"/>
                </a:solidFill>
                <a:latin typeface="Arimo"/>
              </a:rPr>
              <a:t>T2 → T3</a:t>
            </a:r>
            <a:endParaRPr lang="en-IN" dirty="0">
              <a:solidFill>
                <a:srgbClr val="303030"/>
              </a:solidFill>
              <a:latin typeface="Arimo"/>
            </a:endParaRPr>
          </a:p>
          <a:p>
            <a:pPr fontAlgn="base"/>
            <a:r>
              <a:rPr lang="en-IN" dirty="0">
                <a:solidFill>
                  <a:srgbClr val="303030"/>
                </a:solidFill>
                <a:latin typeface="Arimo"/>
              </a:rPr>
              <a:t> </a:t>
            </a:r>
            <a:endParaRPr lang="en-IN" b="0" i="0" dirty="0">
              <a:solidFill>
                <a:srgbClr val="303030"/>
              </a:solidFill>
              <a:effectLst/>
              <a:latin typeface="Arimo"/>
            </a:endParaRPr>
          </a:p>
        </p:txBody>
      </p:sp>
      <p:pic>
        <p:nvPicPr>
          <p:cNvPr id="2050" name="Picture 2" descr="https://www.gatevidyalay.com/wp-content/uploads/2018/06/View-Serializability-Problem-04-Dependency-Graph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4235450"/>
            <a:ext cx="2305050" cy="1447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162550" y="4610398"/>
            <a:ext cx="443865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Clearly, there exists no cycle in the dependency graph.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Therefore, the given schedule S is view serializable.</a:t>
            </a:r>
          </a:p>
          <a:p>
            <a:pPr fontAlgn="base">
              <a:buFont typeface="Arial" panose="020B0604020202020204" pitchFamily="34" charset="0"/>
              <a:buChar char="•"/>
            </a:pPr>
            <a:r>
              <a:rPr lang="en-IN" dirty="0">
                <a:solidFill>
                  <a:srgbClr val="303030"/>
                </a:solidFill>
                <a:latin typeface="Arimo"/>
              </a:rPr>
              <a:t>The serialization order T1 → T2 → T3.</a:t>
            </a:r>
            <a:endParaRPr lang="en-IN" b="0" i="0" dirty="0">
              <a:solidFill>
                <a:srgbClr val="303030"/>
              </a:solidFill>
              <a:effectLst/>
              <a:latin typeface="Arimo"/>
            </a:endParaRPr>
          </a:p>
        </p:txBody>
      </p:sp>
    </p:spTree>
    <p:extLst>
      <p:ext uri="{BB962C8B-B14F-4D97-AF65-F5344CB8AC3E}">
        <p14:creationId xmlns:p14="http://schemas.microsoft.com/office/powerpoint/2010/main" val="289404161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d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1437" y="720725"/>
            <a:ext cx="6245225" cy="385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758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218</Words>
  <Application>Microsoft Office PowerPoint</Application>
  <PresentationFormat>Widescreen</PresentationFormat>
  <Paragraphs>146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Arial</vt:lpstr>
      <vt:lpstr>Arimo</vt:lpstr>
      <vt:lpstr>Calibri</vt:lpstr>
      <vt:lpstr>Calibri Light</vt:lpstr>
      <vt:lpstr>roboto condensed</vt:lpstr>
      <vt:lpstr>Office Theme</vt:lpstr>
      <vt:lpstr>View Serializability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Example: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View Serializability</dc:title>
  <dc:creator>madhuri.23525@lpu.co.in</dc:creator>
  <cp:lastModifiedBy>madhuri.23525@lpu.co.in</cp:lastModifiedBy>
  <cp:revision>3</cp:revision>
  <dcterms:created xsi:type="dcterms:W3CDTF">2021-10-26T06:08:48Z</dcterms:created>
  <dcterms:modified xsi:type="dcterms:W3CDTF">2021-11-01T07:08:28Z</dcterms:modified>
</cp:coreProperties>
</file>