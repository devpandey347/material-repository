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8C8F1-55F9-4A9E-A815-CF428DF7C6D1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B8371-9374-417D-900E-CFD04189A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24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0" kern="1200" baseline="-250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induced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emf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motor known as Back EMF, A is the number of parallel paths through the armature between the brushes of opposite polarity. P is the number of poles, N is the speed, Z is the total number of conductors in the armature and ϕ is the useful flux per pole.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C4799E-FBF6-495B-A89D-8C8E0383CE4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7094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1"/>
          <p:cNvSpPr>
            <a:spLocks noChangeArrowheads="1" noTextEdit="1"/>
          </p:cNvSpPr>
          <p:nvPr>
            <p:ph type="sldImg"/>
          </p:nvPr>
        </p:nvSpPr>
        <p:spPr bwMode="auto">
          <a:xfrm>
            <a:off x="-14225588" y="-11796713"/>
            <a:ext cx="16651288" cy="12490451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Rectangle 2"/>
          <p:cNvSpPr>
            <a:spLocks noChangeArrowheads="1"/>
          </p:cNvSpPr>
          <p:nvPr>
            <p:ph type="body" idx="1"/>
          </p:nvPr>
        </p:nvSpPr>
        <p:spPr bwMode="auto">
          <a:xfrm>
            <a:off x="685800" y="4343400"/>
            <a:ext cx="5483225" cy="4111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endParaRPr lang="en-US" altLang="en-US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ECBD33B8-9549-4240-BF9A-B124EE5D8BF5}" type="slidenum">
              <a:rPr lang="en-US" altLang="en-US">
                <a:latin typeface="Calibri" pitchFamily="34" charset="0"/>
              </a:rPr>
              <a:pPr/>
              <a:t>22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96259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31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78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926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002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167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42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4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0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40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31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471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 2: DC Machines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9148868-FEAF-42EB-B520-8BAF961312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27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52E61-9FF5-4FEC-8A04-09F712338CCA}" type="datetimeFigureOut">
              <a:rPr lang="en-IN" smtClean="0"/>
              <a:t>11-10-2022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F0AF0-128B-4B92-ADA9-8088CA87BD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117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4u.com/magnetic-field/" TargetMode="External"/><Relationship Id="rId2" Type="http://schemas.openxmlformats.org/officeDocument/2006/relationships/hyperlink" Target="https://www.electrical4u.com/electrical-conductor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DC Machines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771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475" y="690563"/>
            <a:ext cx="6877050" cy="547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294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895350"/>
            <a:ext cx="7019925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319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1471613"/>
            <a:ext cx="5753100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461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042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BF39A482-6B06-4BC0-93BE-6635872E8074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6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pic>
        <p:nvPicPr>
          <p:cNvPr id="522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8382000" cy="5486400"/>
          </a:xfrm>
          <a:prstGeom prst="rect">
            <a:avLst/>
          </a:prstGeom>
          <a:noFill/>
          <a:ln w="25400">
            <a:solidFill>
              <a:srgbClr val="3366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8" name="Rectangle 3"/>
          <p:cNvSpPr>
            <a:spLocks noGrp="1" noChangeArrowheads="1"/>
          </p:cNvSpPr>
          <p:nvPr>
            <p:ph type="title"/>
          </p:nvPr>
        </p:nvSpPr>
        <p:spPr>
          <a:xfrm>
            <a:off x="285750" y="198438"/>
            <a:ext cx="8229600" cy="788987"/>
          </a:xfrm>
        </p:spPr>
        <p:txBody>
          <a:bodyPr/>
          <a:lstStyle/>
          <a:p>
            <a:pPr eaLnBrk="1" hangingPunct="1"/>
            <a:r>
              <a:rPr lang="en-US" altLang="en-US" sz="2400" b="1" smtClean="0">
                <a:solidFill>
                  <a:srgbClr val="FF0000"/>
                </a:solidFill>
                <a:latin typeface="Book Antiqua" pitchFamily="18" charset="0"/>
              </a:rPr>
              <a:t>WORKING OF DC MOTOR</a:t>
            </a:r>
          </a:p>
        </p:txBody>
      </p:sp>
    </p:spTree>
    <p:extLst>
      <p:ext uri="{BB962C8B-B14F-4D97-AF65-F5344CB8AC3E}">
        <p14:creationId xmlns:p14="http://schemas.microsoft.com/office/powerpoint/2010/main" val="387328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AE837D5C-EC9C-4298-8944-207F32AC2A37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7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636587"/>
          </a:xfrm>
        </p:spPr>
        <p:txBody>
          <a:bodyPr/>
          <a:lstStyle/>
          <a:p>
            <a:pPr eaLnBrk="1" hangingPunct="1"/>
            <a:r>
              <a:rPr lang="en-US" altLang="en-US" sz="3000" b="1" smtClean="0">
                <a:latin typeface="Book Antiqua" pitchFamily="18" charset="0"/>
              </a:rPr>
              <a:t>Current in DC Motor</a:t>
            </a:r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66800"/>
            <a:ext cx="7391400" cy="5289550"/>
          </a:xfrm>
          <a:prstGeom prst="rect">
            <a:avLst/>
          </a:prstGeom>
          <a:noFill/>
          <a:ln w="254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73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39108E9A-B9C3-4B5F-97A1-A62409BC7FB8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8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9713"/>
            <a:ext cx="8229600" cy="788987"/>
          </a:xfrm>
        </p:spPr>
        <p:txBody>
          <a:bodyPr/>
          <a:lstStyle/>
          <a:p>
            <a:pPr eaLnBrk="1" hangingPunct="1"/>
            <a:r>
              <a:rPr lang="en-US" altLang="en-US" sz="3000" b="1" smtClean="0">
                <a:latin typeface="Book Antiqua" pitchFamily="18" charset="0"/>
              </a:rPr>
              <a:t>Magnetic Field in DC Motor</a:t>
            </a:r>
          </a:p>
        </p:txBody>
      </p:sp>
      <p:pic>
        <p:nvPicPr>
          <p:cNvPr id="5427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924800" cy="5334000"/>
          </a:xfrm>
          <a:prstGeom prst="rect">
            <a:avLst/>
          </a:prstGeom>
          <a:noFill/>
          <a:ln w="254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5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479EB4D1-1EBA-4F45-9D71-DC0687BE81F1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9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pPr eaLnBrk="1" hangingPunct="1"/>
            <a:r>
              <a:rPr lang="en-US" altLang="en-US" sz="3000" b="1" smtClean="0">
                <a:latin typeface="Book Antiqua" pitchFamily="18" charset="0"/>
              </a:rPr>
              <a:t>Force in DC Motor</a:t>
            </a:r>
          </a:p>
        </p:txBody>
      </p:sp>
      <p:pic>
        <p:nvPicPr>
          <p:cNvPr id="5530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924800" cy="5365750"/>
          </a:xfrm>
          <a:prstGeom prst="rect">
            <a:avLst/>
          </a:prstGeom>
          <a:noFill/>
          <a:ln w="25400">
            <a:solidFill>
              <a:srgbClr val="3333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78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52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Back EMF in DC Motor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When </a:t>
            </a:r>
            <a:r>
              <a:rPr lang="en-US" dirty="0"/>
              <a:t>the current-carrying conductor placed in a magnetic field, the torque induces on the conductor, the torque rotates the conductor which cuts the flux of the magnetic field. According to the Electromagnetic Induction Phenomenon </a:t>
            </a:r>
            <a:r>
              <a:rPr lang="en-US" b="1" dirty="0"/>
              <a:t>“when the conductor cuts the magnetic field, EMF induces in the conductor”</a:t>
            </a:r>
            <a:r>
              <a:rPr lang="en-US" dirty="0"/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71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magnitude of the back </a:t>
            </a:r>
            <a:r>
              <a:rPr lang="en-US" dirty="0" err="1" smtClean="0"/>
              <a:t>emf</a:t>
            </a:r>
            <a:r>
              <a:rPr lang="en-US" dirty="0" smtClean="0"/>
              <a:t> is given by the same expression shown below: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3033713"/>
            <a:ext cx="1381125" cy="79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2940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900113"/>
            <a:ext cx="7134225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1947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body"/>
          </p:nvPr>
        </p:nvSpPr>
        <p:spPr>
          <a:xfrm>
            <a:off x="381000" y="1371600"/>
            <a:ext cx="8534400" cy="5160963"/>
          </a:xfrm>
        </p:spPr>
        <p:txBody>
          <a:bodyPr anchor="t">
            <a:normAutofit fontScale="85000" lnSpcReduction="10000"/>
          </a:bodyPr>
          <a:lstStyle/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According to the speed equation of a dc motor</a:t>
            </a:r>
          </a:p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                 N ∞ </a:t>
            </a:r>
            <a:r>
              <a:rPr lang="en-US" sz="3200" dirty="0" err="1" smtClean="0">
                <a:solidFill>
                  <a:srgbClr val="0070C0"/>
                </a:solidFill>
                <a:latin typeface="Constantia" pitchFamily="16" charset="0"/>
              </a:rPr>
              <a:t>Eb</a:t>
            </a: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/φ </a:t>
            </a:r>
          </a:p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                     ∞ V- </a:t>
            </a:r>
            <a:r>
              <a:rPr lang="en-US" sz="3200" dirty="0" err="1" smtClean="0">
                <a:solidFill>
                  <a:srgbClr val="0070C0"/>
                </a:solidFill>
                <a:latin typeface="Constantia" pitchFamily="16" charset="0"/>
              </a:rPr>
              <a:t>Ia</a:t>
            </a: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 Ra/ φ</a:t>
            </a:r>
          </a:p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dirty="0" smtClean="0">
                <a:solidFill>
                  <a:srgbClr val="0070C0"/>
                </a:solidFill>
                <a:latin typeface="Constantia" pitchFamily="16" charset="0"/>
              </a:rPr>
              <a:t>Thus speed can be controlled by:</a:t>
            </a:r>
          </a:p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u="sng" dirty="0" smtClean="0">
                <a:solidFill>
                  <a:srgbClr val="FF0000"/>
                </a:solidFill>
                <a:latin typeface="Constantia" pitchFamily="16" charset="0"/>
              </a:rPr>
              <a:t>Flux control method:</a:t>
            </a:r>
            <a:r>
              <a:rPr lang="en-US" sz="3200" dirty="0" smtClean="0">
                <a:solidFill>
                  <a:srgbClr val="FF0000"/>
                </a:solidFill>
                <a:latin typeface="Constantia" pitchFamily="16" charset="0"/>
              </a:rPr>
              <a:t> </a:t>
            </a:r>
            <a:r>
              <a:rPr lang="en-US" sz="3200" dirty="0" smtClean="0">
                <a:latin typeface="Constantia" pitchFamily="16" charset="0"/>
              </a:rPr>
              <a:t>By Changing the flux by controlling the current through the field winding.</a:t>
            </a:r>
          </a:p>
          <a:p>
            <a:pPr marL="342900" indent="-339725" algn="just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u="sng" dirty="0" smtClean="0">
                <a:solidFill>
                  <a:srgbClr val="FF0000"/>
                </a:solidFill>
                <a:latin typeface="Constantia" pitchFamily="16" charset="0"/>
              </a:rPr>
              <a:t>Armature control method:</a:t>
            </a:r>
            <a:r>
              <a:rPr lang="en-US" sz="3200" dirty="0" smtClean="0">
                <a:solidFill>
                  <a:srgbClr val="FF0000"/>
                </a:solidFill>
                <a:latin typeface="Constantia" pitchFamily="16" charset="0"/>
              </a:rPr>
              <a:t> </a:t>
            </a:r>
            <a:r>
              <a:rPr lang="en-US" sz="3200" dirty="0" smtClean="0">
                <a:solidFill>
                  <a:srgbClr val="00B050"/>
                </a:solidFill>
                <a:latin typeface="Constantia" pitchFamily="16" charset="0"/>
              </a:rPr>
              <a:t>By Changing the armature  resistance which in turn changes the voltage applied across the armature</a:t>
            </a:r>
          </a:p>
          <a:p>
            <a:pPr marL="342900" indent="-339725" algn="l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endParaRPr lang="en-US" sz="3200" dirty="0" smtClean="0">
              <a:solidFill>
                <a:schemeClr val="bg1"/>
              </a:solidFill>
              <a:latin typeface="Constantia" pitchFamily="16" charset="0"/>
            </a:endParaRPr>
          </a:p>
          <a:p>
            <a:pPr marL="342900" indent="-339725" algn="l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3200" dirty="0" smtClean="0">
                <a:solidFill>
                  <a:schemeClr val="bg1"/>
                </a:solidFill>
                <a:latin typeface="Constantia" pitchFamily="16" charset="0"/>
              </a:rPr>
              <a:t>  </a:t>
            </a:r>
          </a:p>
        </p:txBody>
      </p:sp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3048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3600" b="1">
                <a:solidFill>
                  <a:srgbClr val="FF0000"/>
                </a:solidFill>
                <a:latin typeface="Calibri" pitchFamily="34" charset="0"/>
                <a:ea typeface="Microsoft YaHei" pitchFamily="34" charset="-122"/>
              </a:rPr>
              <a:t>Speed Control of DC motors</a:t>
            </a:r>
          </a:p>
        </p:txBody>
      </p:sp>
    </p:spTree>
    <p:extLst>
      <p:ext uri="{BB962C8B-B14F-4D97-AF65-F5344CB8AC3E}">
        <p14:creationId xmlns:p14="http://schemas.microsoft.com/office/powerpoint/2010/main" val="3058140186"/>
      </p:ext>
    </p:extLst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1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0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1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1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0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1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1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1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" grpId="0" build="p"/>
      <p:bldP spid="5017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body"/>
          </p:nvPr>
        </p:nvSpPr>
        <p:spPr>
          <a:xfrm>
            <a:off x="0" y="1219200"/>
            <a:ext cx="9144000" cy="5043488"/>
          </a:xfrm>
        </p:spPr>
        <p:txBody>
          <a:bodyPr anchor="t"/>
          <a:lstStyle/>
          <a:p>
            <a:pPr marL="342900" indent="-339725" algn="l" eaLnBrk="1" hangingPunct="1">
              <a:spcBef>
                <a:spcPts val="800"/>
              </a:spcBef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u="sng" dirty="0" smtClean="0">
                <a:solidFill>
                  <a:srgbClr val="00B050"/>
                </a:solidFill>
                <a:latin typeface="Constantia" pitchFamily="16" charset="0"/>
              </a:rPr>
              <a:t>Advantages:</a:t>
            </a:r>
          </a:p>
          <a:p>
            <a:pPr marL="341313" indent="-339725" algn="l" eaLnBrk="1" hangingPunct="1">
              <a:spcBef>
                <a:spcPts val="800"/>
              </a:spcBef>
              <a:buSzPct val="64000"/>
              <a:buFont typeface="Times New Roman" pitchFamily="16" charset="0"/>
              <a:buBlip>
                <a:blip r:embed="rId2"/>
              </a:buBlip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It provides relatively smooth and easy control </a:t>
            </a:r>
          </a:p>
          <a:p>
            <a:pPr marL="341313" indent="-339725" algn="l" eaLnBrk="1" hangingPunct="1">
              <a:spcBef>
                <a:spcPts val="800"/>
              </a:spcBef>
              <a:buSzPct val="64000"/>
              <a:buFont typeface="Times New Roman" pitchFamily="16" charset="0"/>
              <a:buBlip>
                <a:blip r:embed="rId2"/>
              </a:buBlip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Speed control above rated speed is possible</a:t>
            </a:r>
          </a:p>
          <a:p>
            <a:pPr marL="341313" indent="-339725" algn="l" eaLnBrk="1" hangingPunct="1">
              <a:spcBef>
                <a:spcPts val="800"/>
              </a:spcBef>
              <a:buSzPct val="64000"/>
              <a:buFont typeface="Times New Roman" pitchFamily="16" charset="0"/>
              <a:buBlip>
                <a:blip r:embed="rId2"/>
              </a:buBlip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As the field winding resistance is high the field current is small. Power loss in the external resistance is small . Hence this method is economical</a:t>
            </a:r>
          </a:p>
          <a:p>
            <a:pPr marL="342900" indent="-339725" algn="l" eaLnBrk="1" hangingPunct="1">
              <a:spcBef>
                <a:spcPts val="800"/>
              </a:spcBef>
              <a:buSzPct val="64000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u="sng" dirty="0" smtClean="0">
                <a:solidFill>
                  <a:srgbClr val="00B050"/>
                </a:solidFill>
                <a:latin typeface="Constantia" pitchFamily="16" charset="0"/>
              </a:rPr>
              <a:t>Disadvantages:</a:t>
            </a:r>
          </a:p>
          <a:p>
            <a:pPr marL="341313" indent="-339725" algn="l" eaLnBrk="1" hangingPunct="1">
              <a:spcBef>
                <a:spcPts val="800"/>
              </a:spcBef>
              <a:buSzPct val="64000"/>
              <a:buFont typeface="Times New Roman" pitchFamily="16" charset="0"/>
              <a:buBlip>
                <a:blip r:embed="rId2"/>
              </a:buBlip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Flux can be increased only </a:t>
            </a:r>
            <a:r>
              <a:rPr lang="en-US" sz="2800" dirty="0" err="1" smtClean="0">
                <a:solidFill>
                  <a:srgbClr val="C00000"/>
                </a:solidFill>
                <a:latin typeface="Constantia" pitchFamily="16" charset="0"/>
              </a:rPr>
              <a:t>upto</a:t>
            </a: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 its rated value</a:t>
            </a:r>
          </a:p>
          <a:p>
            <a:pPr marL="341313" indent="-339725" algn="l" eaLnBrk="1" hangingPunct="1">
              <a:spcBef>
                <a:spcPts val="800"/>
              </a:spcBef>
              <a:buSzPct val="64000"/>
              <a:buFont typeface="Times New Roman" pitchFamily="16" charset="0"/>
              <a:buBlip>
                <a:blip r:embed="rId2"/>
              </a:buBlip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/>
            </a:pPr>
            <a:r>
              <a:rPr lang="en-US" sz="2800" dirty="0" smtClean="0">
                <a:solidFill>
                  <a:srgbClr val="C00000"/>
                </a:solidFill>
                <a:latin typeface="Constantia" pitchFamily="16" charset="0"/>
              </a:rPr>
              <a:t>High speed affects the commutation, motor operation becomes unstable </a:t>
            </a:r>
          </a:p>
        </p:txBody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219200" y="344488"/>
            <a:ext cx="7467600" cy="85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5000">
                <a:latin typeface="Calibri" pitchFamily="34" charset="0"/>
                <a:ea typeface="Microsoft YaHei" pitchFamily="34" charset="-122"/>
              </a:rPr>
              <a:t>        </a:t>
            </a:r>
            <a:r>
              <a:rPr lang="en-US" altLang="en-US" sz="3600">
                <a:solidFill>
                  <a:srgbClr val="00B050"/>
                </a:solidFill>
                <a:latin typeface="Calibri" pitchFamily="34" charset="0"/>
                <a:ea typeface="Microsoft YaHei" pitchFamily="34" charset="-122"/>
              </a:rPr>
              <a:t>Flux Control Method </a:t>
            </a:r>
          </a:p>
        </p:txBody>
      </p:sp>
    </p:spTree>
    <p:extLst>
      <p:ext uri="{BB962C8B-B14F-4D97-AF65-F5344CB8AC3E}">
        <p14:creationId xmlns:p14="http://schemas.microsoft.com/office/powerpoint/2010/main" val="1927435837"/>
      </p:ext>
    </p:extLst>
  </p:cSld>
  <p:clrMapOvr>
    <a:masterClrMapping/>
  </p:clrMapOvr>
  <p:transition spd="slow"/>
  <p:timing>
    <p:tnLst>
      <p:par>
        <p:cTn id="1" dur="indefinite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1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1" grpId="0" build="p"/>
      <p:bldP spid="5120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199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1728788"/>
            <a:ext cx="6886575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4758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8" y="1943100"/>
            <a:ext cx="576262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944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1900238"/>
            <a:ext cx="4648200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7302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1871663"/>
            <a:ext cx="5429250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0403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1714500"/>
            <a:ext cx="4695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5680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399462" cy="454025"/>
          </a:xfrm>
        </p:spPr>
        <p:txBody>
          <a:bodyPr/>
          <a:lstStyle/>
          <a:p>
            <a:r>
              <a:rPr lang="en-US" altLang="en-US" sz="2200" b="1" u="sng" smtClean="0">
                <a:solidFill>
                  <a:srgbClr val="009900"/>
                </a:solidFill>
                <a:latin typeface="Times New Roman" pitchFamily="18" charset="0"/>
              </a:rPr>
              <a:t>Types of DC Machines</a:t>
            </a:r>
            <a:endParaRPr lang="en-US" altLang="en-US" sz="2400" smtClean="0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 smtClean="0"/>
              <a:t>	</a:t>
            </a:r>
            <a:endParaRPr lang="en-US" altLang="en-US" sz="2800" smtClean="0">
              <a:latin typeface="Times New Roman" pitchFamily="18" charset="0"/>
            </a:endParaRPr>
          </a:p>
        </p:txBody>
      </p:sp>
      <p:sp>
        <p:nvSpPr>
          <p:cNvPr id="57348" name="Rectangle 6"/>
          <p:cNvSpPr>
            <a:spLocks noChangeArrowheads="1"/>
          </p:cNvSpPr>
          <p:nvPr/>
        </p:nvSpPr>
        <p:spPr bwMode="auto">
          <a:xfrm>
            <a:off x="827088" y="1233488"/>
            <a:ext cx="7848600" cy="520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 altLang="en-US" sz="2200">
              <a:latin typeface="Times New Roman" pitchFamily="18" charset="0"/>
            </a:endParaRPr>
          </a:p>
          <a:p>
            <a:r>
              <a:rPr lang="en-US" altLang="en-US" sz="2200">
                <a:solidFill>
                  <a:srgbClr val="009900"/>
                </a:solidFill>
                <a:latin typeface="Times New Roman" pitchFamily="18" charset="0"/>
              </a:rPr>
              <a:t>Self-excited DC machine</a:t>
            </a:r>
            <a:r>
              <a:rPr lang="en-US" altLang="en-US" sz="2200">
                <a:latin typeface="Times New Roman" pitchFamily="18" charset="0"/>
              </a:rPr>
              <a:t>:  when a machine supplies its own excitation of the field windings. In this machine, residual magnetism must be present in the ferromagnetic circuit of the machine in order to start the self-excitation process.</a:t>
            </a:r>
          </a:p>
          <a:p>
            <a:endParaRPr lang="en-US" altLang="en-US" sz="2200">
              <a:latin typeface="Times New Roman" pitchFamily="18" charset="0"/>
            </a:endParaRPr>
          </a:p>
          <a:p>
            <a:endParaRPr lang="en-US" altLang="en-US" sz="800">
              <a:latin typeface="Times New Roman" pitchFamily="18" charset="0"/>
            </a:endParaRPr>
          </a:p>
          <a:p>
            <a:r>
              <a:rPr lang="en-US" altLang="en-US" sz="2200">
                <a:solidFill>
                  <a:srgbClr val="009900"/>
                </a:solidFill>
                <a:latin typeface="Times New Roman" pitchFamily="18" charset="0"/>
              </a:rPr>
              <a:t>Separately-excited DC machine</a:t>
            </a:r>
            <a:r>
              <a:rPr lang="en-US" altLang="en-US" sz="2200">
                <a:latin typeface="Times New Roman" pitchFamily="18" charset="0"/>
              </a:rPr>
              <a:t>:  The field windings may be separately excited from an eternal DC source. </a:t>
            </a:r>
          </a:p>
          <a:p>
            <a:endParaRPr lang="en-US" altLang="en-US" sz="2200">
              <a:latin typeface="Times New Roman" pitchFamily="18" charset="0"/>
            </a:endParaRPr>
          </a:p>
          <a:p>
            <a:endParaRPr lang="en-US" altLang="en-US" sz="800">
              <a:latin typeface="Times New Roman" pitchFamily="18" charset="0"/>
            </a:endParaRPr>
          </a:p>
          <a:p>
            <a:r>
              <a:rPr lang="en-US" altLang="en-US" sz="2200">
                <a:solidFill>
                  <a:srgbClr val="009900"/>
                </a:solidFill>
                <a:latin typeface="Times New Roman" pitchFamily="18" charset="0"/>
              </a:rPr>
              <a:t>Shunt Machine</a:t>
            </a:r>
            <a:r>
              <a:rPr lang="en-US" altLang="en-US" sz="2200">
                <a:latin typeface="Times New Roman" pitchFamily="18" charset="0"/>
              </a:rPr>
              <a:t>: armature and field circuits are connected in parallel. Shunt generator can be separately-excited or self-excited.</a:t>
            </a:r>
          </a:p>
          <a:p>
            <a:endParaRPr lang="en-US" altLang="en-US" sz="2200">
              <a:latin typeface="Times New Roman" pitchFamily="18" charset="0"/>
            </a:endParaRPr>
          </a:p>
          <a:p>
            <a:endParaRPr lang="en-US" altLang="en-US" sz="800">
              <a:latin typeface="Times New Roman" pitchFamily="18" charset="0"/>
            </a:endParaRPr>
          </a:p>
          <a:p>
            <a:r>
              <a:rPr lang="en-US" altLang="en-US" sz="2200">
                <a:solidFill>
                  <a:srgbClr val="009900"/>
                </a:solidFill>
                <a:latin typeface="Times New Roman" pitchFamily="18" charset="0"/>
              </a:rPr>
              <a:t>Series Machine</a:t>
            </a:r>
            <a:r>
              <a:rPr lang="en-US" altLang="en-US" sz="2200">
                <a:latin typeface="Times New Roman" pitchFamily="18" charset="0"/>
              </a:rPr>
              <a:t>: armature and field circuits are connected in series.</a:t>
            </a:r>
          </a:p>
          <a:p>
            <a:endParaRPr lang="en-US" altLang="en-US" sz="22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96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4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2" grpId="0"/>
      <p:bldP spid="18432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>
                <a:solidFill>
                  <a:srgbClr val="FF0000"/>
                </a:solidFill>
              </a:rPr>
              <a:t>Applications of DC Motors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 New Roman" pitchFamily="18" charset="0"/>
              <a:buNone/>
            </a:pPr>
            <a:r>
              <a:rPr lang="en-US" altLang="en-US" u="sng" smtClean="0">
                <a:solidFill>
                  <a:srgbClr val="00B050"/>
                </a:solidFill>
              </a:rPr>
              <a:t>Shunt Motor</a:t>
            </a:r>
            <a:r>
              <a:rPr lang="en-US" altLang="en-US" smtClean="0">
                <a:solidFill>
                  <a:srgbClr val="00B050"/>
                </a:solidFill>
              </a:rPr>
              <a:t>: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Blowers and fans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Centrifugal and reciprocating pumps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Lathe machines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Machine tools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Milling machines 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70C0"/>
                </a:solidFill>
              </a:rPr>
              <a:t>	Drilling machines</a:t>
            </a:r>
          </a:p>
        </p:txBody>
      </p:sp>
    </p:spTree>
    <p:extLst>
      <p:ext uri="{BB962C8B-B14F-4D97-AF65-F5344CB8AC3E}">
        <p14:creationId xmlns:p14="http://schemas.microsoft.com/office/powerpoint/2010/main" val="108548220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 New Roman" pitchFamily="18" charset="0"/>
              <a:buNone/>
            </a:pPr>
            <a:r>
              <a:rPr lang="en-US" altLang="en-US" u="sng" smtClean="0">
                <a:solidFill>
                  <a:srgbClr val="00B050"/>
                </a:solidFill>
              </a:rPr>
              <a:t>Series Motor: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FF0000"/>
                </a:solidFill>
              </a:rPr>
              <a:t>Cranes 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FF0000"/>
                </a:solidFill>
              </a:rPr>
              <a:t>Hoists , Elevators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FF0000"/>
                </a:solidFill>
              </a:rPr>
              <a:t>Trolleys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FF0000"/>
                </a:solidFill>
              </a:rPr>
              <a:t>Conveyors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FF0000"/>
                </a:solidFill>
              </a:rPr>
              <a:t>Electric locomotives</a:t>
            </a:r>
            <a:endParaRPr lang="en-IN" altLang="en-US" smtClean="0">
              <a:solidFill>
                <a:srgbClr val="FF0000"/>
              </a:solidFill>
            </a:endParaRPr>
          </a:p>
          <a:p>
            <a:pPr eaLnBrk="1" hangingPunct="1">
              <a:buFont typeface="Times New Roman" pitchFamily="18" charset="0"/>
              <a:buNone/>
            </a:pPr>
            <a:endParaRPr lang="en-US" altLang="en-US" smtClean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>
                <a:solidFill>
                  <a:srgbClr val="FF0000"/>
                </a:solidFill>
              </a:rPr>
              <a:t>Applications of DC Motors</a:t>
            </a:r>
          </a:p>
        </p:txBody>
      </p:sp>
    </p:spTree>
    <p:extLst>
      <p:ext uri="{BB962C8B-B14F-4D97-AF65-F5344CB8AC3E}">
        <p14:creationId xmlns:p14="http://schemas.microsoft.com/office/powerpoint/2010/main" val="30761961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 New Roman" pitchFamily="18" charset="0"/>
              <a:buNone/>
            </a:pPr>
            <a:r>
              <a:rPr lang="en-US" altLang="en-US" u="sng" smtClean="0">
                <a:solidFill>
                  <a:srgbClr val="00B050"/>
                </a:solidFill>
              </a:rPr>
              <a:t>Cumulative compound Motor: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B050"/>
                </a:solidFill>
              </a:rPr>
              <a:t>Rolling mills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B050"/>
                </a:solidFill>
              </a:rPr>
              <a:t>Punches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B050"/>
                </a:solidFill>
              </a:rPr>
              <a:t>Shears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B050"/>
                </a:solidFill>
              </a:rPr>
              <a:t>Heavy planers</a:t>
            </a:r>
          </a:p>
          <a:p>
            <a:pPr eaLnBrk="1" hangingPunct="1">
              <a:buFont typeface="Times New Roman" pitchFamily="18" charset="0"/>
              <a:buBlip>
                <a:blip r:embed="rId2"/>
              </a:buBlip>
            </a:pPr>
            <a:r>
              <a:rPr lang="en-US" altLang="en-US" smtClean="0">
                <a:solidFill>
                  <a:srgbClr val="00B050"/>
                </a:solidFill>
              </a:rPr>
              <a:t>Elevators</a:t>
            </a:r>
            <a:endParaRPr lang="en-IN" altLang="en-US" smtClean="0">
              <a:solidFill>
                <a:srgbClr val="00B050"/>
              </a:solidFill>
            </a:endParaRPr>
          </a:p>
          <a:p>
            <a:pPr eaLnBrk="1" hangingPunct="1">
              <a:buFont typeface="Times New Roman" pitchFamily="18" charset="0"/>
              <a:buNone/>
            </a:pPr>
            <a:endParaRPr lang="en-US" altLang="en-US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223250" cy="1136650"/>
          </a:xfrm>
        </p:spPr>
        <p:txBody>
          <a:bodyPr/>
          <a:lstStyle/>
          <a:p>
            <a:pPr eaLnBrk="1" hangingPunct="1"/>
            <a:r>
              <a:rPr lang="en-US" altLang="en-US" sz="3200" smtClean="0">
                <a:solidFill>
                  <a:srgbClr val="FF0000"/>
                </a:solidFill>
              </a:rPr>
              <a:t>Applications of DC Motors</a:t>
            </a:r>
          </a:p>
        </p:txBody>
      </p:sp>
    </p:spTree>
    <p:extLst>
      <p:ext uri="{BB962C8B-B14F-4D97-AF65-F5344CB8AC3E}">
        <p14:creationId xmlns:p14="http://schemas.microsoft.com/office/powerpoint/2010/main" val="225227417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 Generator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Principle-When </a:t>
            </a:r>
            <a:r>
              <a:rPr lang="en-US" dirty="0"/>
              <a:t>a </a:t>
            </a:r>
            <a:r>
              <a:rPr lang="en-US" dirty="0">
                <a:hlinkClick r:id="rId2"/>
              </a:rPr>
              <a:t>conductor</a:t>
            </a:r>
            <a:r>
              <a:rPr lang="en-US" dirty="0"/>
              <a:t> moves in a </a:t>
            </a:r>
            <a:r>
              <a:rPr lang="en-US" dirty="0">
                <a:hlinkClick r:id="rId3"/>
              </a:rPr>
              <a:t>magnetic field</a:t>
            </a:r>
            <a:r>
              <a:rPr lang="en-US" dirty="0"/>
              <a:t> it cuts magnetic lines of force, which induces an electromagnetic force (EMF) in the conductor.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1416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7654801" cy="4588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6070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Waveform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2543175"/>
            <a:ext cx="59626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606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394</Words>
  <Application>Microsoft Office PowerPoint</Application>
  <PresentationFormat>On-screen Show (4:3)</PresentationFormat>
  <Paragraphs>84</Paragraphs>
  <Slides>28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DC Machines</vt:lpstr>
      <vt:lpstr> </vt:lpstr>
      <vt:lpstr> </vt:lpstr>
      <vt:lpstr>PowerPoint Presentation</vt:lpstr>
      <vt:lpstr>PowerPoint Presentation</vt:lpstr>
      <vt:lpstr>WORKING OF DC MOTOR</vt:lpstr>
      <vt:lpstr>Current in DC Motor</vt:lpstr>
      <vt:lpstr>Magnetic Field in DC Motor</vt:lpstr>
      <vt:lpstr>Force in DC Motor</vt:lpstr>
      <vt:lpstr>PowerPoint Presentation</vt:lpstr>
      <vt:lpstr>Back EMF in DC Motor </vt:lpstr>
      <vt:lpstr> </vt:lpstr>
      <vt:lpstr>PowerPoint Presentation</vt:lpstr>
      <vt:lpstr>PowerPoint Presentation</vt:lpstr>
      <vt:lpstr>PowerPoint Presentation</vt:lpstr>
      <vt:lpstr>PowerPoint Presentation</vt:lpstr>
      <vt:lpstr>Types</vt:lpstr>
      <vt:lpstr>PowerPoint Presentation</vt:lpstr>
      <vt:lpstr> </vt:lpstr>
      <vt:lpstr>PowerPoint Presentation</vt:lpstr>
      <vt:lpstr>PowerPoint Presentation</vt:lpstr>
      <vt:lpstr>Types of DC Machines</vt:lpstr>
      <vt:lpstr>Applications of DC Motors</vt:lpstr>
      <vt:lpstr>Applications of DC Motors</vt:lpstr>
      <vt:lpstr>Applications of DC Motors</vt:lpstr>
      <vt:lpstr>DC Generator</vt:lpstr>
      <vt:lpstr> </vt:lpstr>
      <vt:lpstr>Waveform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ABC</cp:lastModifiedBy>
  <cp:revision>2</cp:revision>
  <dcterms:created xsi:type="dcterms:W3CDTF">2022-10-11T04:29:14Z</dcterms:created>
  <dcterms:modified xsi:type="dcterms:W3CDTF">2022-10-11T04:37:40Z</dcterms:modified>
</cp:coreProperties>
</file>