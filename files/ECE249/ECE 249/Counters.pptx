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1"/>
  </p:notesMasterIdLst>
  <p:sldIdLst>
    <p:sldId id="257" r:id="rId2"/>
    <p:sldId id="258" r:id="rId3"/>
    <p:sldId id="263" r:id="rId4"/>
    <p:sldId id="260" r:id="rId5"/>
    <p:sldId id="410" r:id="rId6"/>
    <p:sldId id="261" r:id="rId7"/>
    <p:sldId id="411" r:id="rId8"/>
    <p:sldId id="299" r:id="rId9"/>
    <p:sldId id="324" r:id="rId10"/>
    <p:sldId id="334" r:id="rId11"/>
    <p:sldId id="335" r:id="rId12"/>
    <p:sldId id="412" r:id="rId13"/>
    <p:sldId id="413" r:id="rId14"/>
    <p:sldId id="272" r:id="rId15"/>
    <p:sldId id="264" r:id="rId16"/>
    <p:sldId id="265" r:id="rId17"/>
    <p:sldId id="273" r:id="rId18"/>
    <p:sldId id="414" r:id="rId19"/>
    <p:sldId id="41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A82FE-E152-4304-B388-B7E290B585AA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04C60C-DE13-4E31-AEB6-21C4F7E227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81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320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03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8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07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1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176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7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82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0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6703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27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4874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351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2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04BBC-0752-4070-AA86-12E3F9A116D6}" type="datetimeFigureOut">
              <a:rPr lang="en-US" smtClean="0"/>
              <a:pPr/>
              <a:t>12/26/2022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4392652-3B12-496A-A3C3-872FEB21A1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6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79000-E7E9-4259-879E-F2A815B22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16765"/>
            <a:ext cx="12191999" cy="874642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5400" dirty="0"/>
              <a:t>UNIT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75BFD-3EF7-48D1-BCEE-977C53083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147" y="2491407"/>
            <a:ext cx="7952679" cy="3848127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600" dirty="0"/>
              <a:t>Counter</a:t>
            </a:r>
            <a:br>
              <a:rPr lang="en-US" sz="3600" dirty="0"/>
            </a:br>
            <a:r>
              <a:rPr lang="en-US" sz="3600" dirty="0"/>
              <a:t>Synchronous – Asynchronous Counter</a:t>
            </a:r>
            <a:br>
              <a:rPr lang="en-US" sz="3600" dirty="0"/>
            </a:br>
            <a:r>
              <a:rPr lang="en-US" sz="3600" dirty="0"/>
              <a:t>MOD Counter</a:t>
            </a:r>
            <a:br>
              <a:rPr lang="en-US" sz="3600" dirty="0"/>
            </a:br>
            <a:r>
              <a:rPr lang="en-US" sz="3600" dirty="0"/>
              <a:t>Shift Register</a:t>
            </a:r>
            <a:br>
              <a:rPr lang="en-US" sz="3600" dirty="0"/>
            </a:br>
            <a:r>
              <a:rPr lang="en-US" sz="3600" dirty="0"/>
              <a:t>Ring Counter</a:t>
            </a:r>
            <a:br>
              <a:rPr lang="en-US" sz="3600" dirty="0"/>
            </a:br>
            <a:r>
              <a:rPr lang="en-US" sz="3600" dirty="0"/>
              <a:t>Johnson Counter</a:t>
            </a:r>
            <a:br>
              <a:rPr lang="en-US" sz="3600" dirty="0"/>
            </a:b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784738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F1A2-2685-46AC-B3BE-071C759D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6638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6000" dirty="0"/>
              <a:t>Counter</a:t>
            </a:r>
            <a:br>
              <a:rPr lang="en-US" sz="6000" dirty="0"/>
            </a:br>
            <a:endParaRPr lang="en-US" sz="6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229441-96C6-44DF-A17B-ADAD4AF2B2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9038" y="1488613"/>
                <a:ext cx="11792961" cy="512422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 sequential circuit intended to count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Cascaded connection of flip flop (usually T flip flop)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Counts either positive/negative edge of clock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It counts either upward or downward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                It used for counting purpose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	   Frequency division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With n flip flop can counts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clock trigger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Counting starts from 0, thus range of counts (0 -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-1)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Mod number of counter = number of different counts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4229441-96C6-44DF-A17B-ADAD4AF2B2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9038" y="1488613"/>
                <a:ext cx="11792961" cy="5124222"/>
              </a:xfrm>
              <a:blipFill>
                <a:blip r:embed="rId2"/>
                <a:stretch>
                  <a:fillRect l="-413" t="-7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5AFA271-10E0-429D-AA9D-4B279B16E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669" y="1624852"/>
            <a:ext cx="6262612" cy="249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9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1DEA0-E172-41FE-86D1-BBEEA83A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16638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QUIZ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32CDB-03BB-4B15-B783-F5A26CCFD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03" y="1206432"/>
            <a:ext cx="10070179" cy="4399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How many FF requires to design MOD 16 counter</a:t>
            </a:r>
          </a:p>
          <a:p>
            <a:pPr marL="0" indent="0">
              <a:buNone/>
            </a:pPr>
            <a:endParaRPr lang="en-US" sz="3200" dirty="0"/>
          </a:p>
          <a:p>
            <a:pPr>
              <a:buFont typeface="+mj-lt"/>
              <a:buAutoNum type="alphaUcPeriod"/>
            </a:pPr>
            <a:r>
              <a:rPr lang="en-US" sz="3200" dirty="0"/>
              <a:t>2</a:t>
            </a:r>
          </a:p>
          <a:p>
            <a:pPr>
              <a:buFont typeface="+mj-lt"/>
              <a:buAutoNum type="alphaUcPeriod"/>
            </a:pPr>
            <a:r>
              <a:rPr lang="en-US" sz="3200" dirty="0"/>
              <a:t>4</a:t>
            </a:r>
          </a:p>
          <a:p>
            <a:pPr>
              <a:buFont typeface="+mj-lt"/>
              <a:buAutoNum type="alphaUcPeriod"/>
            </a:pPr>
            <a:r>
              <a:rPr lang="en-US" sz="3200" dirty="0"/>
              <a:t>8</a:t>
            </a:r>
          </a:p>
          <a:p>
            <a:pPr>
              <a:buFont typeface="+mj-lt"/>
              <a:buAutoNum type="alphaUcPeriod"/>
            </a:pPr>
            <a:r>
              <a:rPr lang="en-US" sz="320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60019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FCBA-2B5E-450B-8229-AB4A7D90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02365"/>
          </a:xfr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dirty="0"/>
              <a:t>Asynchronous Counter / Ripple Counter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19D7AA-A821-4FEC-AC58-F41FFFB980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388" y="729357"/>
                <a:ext cx="11859223" cy="201384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n- number of flip flop (in toggle condition) in series connection</a:t>
                </a:r>
              </a:p>
              <a:p>
                <a:pPr marL="0" indent="0">
                  <a:buNone/>
                </a:pPr>
                <a:r>
                  <a:rPr lang="en-US" dirty="0"/>
                  <a:t>First FF receive direct clock, proceeding FF receive clock from output of previous FF</a:t>
                </a:r>
              </a:p>
              <a:p>
                <a:pPr marL="0" indent="0">
                  <a:buNone/>
                </a:pPr>
                <a:r>
                  <a:rPr lang="en-US" dirty="0"/>
                  <a:t>First FF(receive direct clock) counts LSB and last FF (receive clock at last) count MSB</a:t>
                </a:r>
              </a:p>
              <a:p>
                <a:pPr marL="0" indent="0">
                  <a:buNone/>
                </a:pPr>
                <a:r>
                  <a:rPr lang="en-US" dirty="0"/>
                  <a:t>Count range from 0 to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-1) clock trigger</a:t>
                </a:r>
              </a:p>
              <a:p>
                <a:pPr marL="0" indent="0">
                  <a:buNone/>
                </a:pPr>
                <a:r>
                  <a:rPr lang="en-US" dirty="0"/>
                  <a:t>MOD number ≤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7A19D7AA-A821-4FEC-AC58-F41FFFB980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388" y="729357"/>
                <a:ext cx="11859223" cy="2013845"/>
              </a:xfrm>
              <a:blipFill>
                <a:blip r:embed="rId2"/>
                <a:stretch>
                  <a:fillRect l="-411" t="-2121" b="-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044FC8E-1D12-4D9A-8334-33FF9815422C}"/>
              </a:ext>
            </a:extLst>
          </p:cNvPr>
          <p:cNvSpPr txBox="1"/>
          <p:nvPr/>
        </p:nvSpPr>
        <p:spPr>
          <a:xfrm>
            <a:off x="0" y="2743202"/>
            <a:ext cx="4059766" cy="461665"/>
          </a:xfrm>
          <a:prstGeom prst="rect">
            <a:avLst/>
          </a:prstGeom>
          <a:solidFill>
            <a:srgbClr val="0070C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2- bit Asynchronous Counter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61CFA0-6774-4457-A881-271B4D842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347" y="2435369"/>
            <a:ext cx="521017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367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A5A982-9F21-4559-A052-93279863FD25}"/>
              </a:ext>
            </a:extLst>
          </p:cNvPr>
          <p:cNvSpPr txBox="1"/>
          <p:nvPr/>
        </p:nvSpPr>
        <p:spPr>
          <a:xfrm>
            <a:off x="4412974" y="304801"/>
            <a:ext cx="2324419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3600" dirty="0"/>
              <a:t>QUIZ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75AF5-C43E-4CCF-9927-65A14ABE53F6}"/>
              </a:ext>
            </a:extLst>
          </p:cNvPr>
          <p:cNvSpPr txBox="1"/>
          <p:nvPr/>
        </p:nvSpPr>
        <p:spPr>
          <a:xfrm>
            <a:off x="808461" y="1951672"/>
            <a:ext cx="1055635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 Asynchronous counter first FF receive direct clock and other from output of previous FF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   TRUE</a:t>
            </a:r>
          </a:p>
          <a:p>
            <a:r>
              <a:rPr lang="en-US" sz="2000" dirty="0"/>
              <a:t>B   FALSE</a:t>
            </a:r>
          </a:p>
        </p:txBody>
      </p:sp>
    </p:spTree>
    <p:extLst>
      <p:ext uri="{BB962C8B-B14F-4D97-AF65-F5344CB8AC3E}">
        <p14:creationId xmlns:p14="http://schemas.microsoft.com/office/powerpoint/2010/main" val="344362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8E9D01-4B36-4D87-B3CF-33BFB9CAC8DF}"/>
              </a:ext>
            </a:extLst>
          </p:cNvPr>
          <p:cNvSpPr txBox="1"/>
          <p:nvPr/>
        </p:nvSpPr>
        <p:spPr>
          <a:xfrm>
            <a:off x="0" y="0"/>
            <a:ext cx="4059766" cy="461665"/>
          </a:xfrm>
          <a:prstGeom prst="rect">
            <a:avLst/>
          </a:prstGeom>
          <a:solidFill>
            <a:srgbClr val="0070C0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3- bit Asynchronous Counter</a:t>
            </a:r>
          </a:p>
        </p:txBody>
      </p:sp>
      <p:pic>
        <p:nvPicPr>
          <p:cNvPr id="1032" name="Picture 8" descr="Explain the working of 3 bit asynchronous counter with proper timing diagram">
            <a:extLst>
              <a:ext uri="{FF2B5EF4-FFF2-40B4-BE49-F238E27FC236}">
                <a16:creationId xmlns:a16="http://schemas.microsoft.com/office/drawing/2014/main" id="{0B6D445E-EFC3-404C-8C91-46FA4A085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2145" y="461665"/>
            <a:ext cx="9282545" cy="5828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036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1252E1-4D95-4303-BD15-F57A4A1B3885}"/>
              </a:ext>
            </a:extLst>
          </p:cNvPr>
          <p:cNvSpPr txBox="1"/>
          <p:nvPr/>
        </p:nvSpPr>
        <p:spPr>
          <a:xfrm flipH="1">
            <a:off x="1463747" y="174807"/>
            <a:ext cx="4667249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MOD 10 / Decade/BCD Asynchronous Counter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5D01A-1B92-4CA2-9BF2-34C4E1992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8557"/>
            <a:ext cx="7180729" cy="42085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F60CD2-4263-4625-95D5-326AE757F6A2}"/>
              </a:ext>
            </a:extLst>
          </p:cNvPr>
          <p:cNvSpPr txBox="1"/>
          <p:nvPr/>
        </p:nvSpPr>
        <p:spPr>
          <a:xfrm>
            <a:off x="627317" y="5407271"/>
            <a:ext cx="22756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NAND gate clear each </a:t>
            </a:r>
          </a:p>
          <a:p>
            <a:r>
              <a:rPr lang="en-US" dirty="0"/>
              <a:t>FF at count 1010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E71938-C024-461B-BD43-A25D9AF10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341" y="690282"/>
            <a:ext cx="4572000" cy="44296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B376-8366-403C-B3BB-321B9A1C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8139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/>
              <a:t>Synchronous Counter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427FD-4FDA-47B5-8EE7-70FF7C653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39" y="977486"/>
            <a:ext cx="5858568" cy="1447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Lato"/>
              </a:rPr>
              <a:t>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Lato"/>
              </a:rPr>
              <a:t>lock input of all flip-flops clocked together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Lato"/>
              </a:rPr>
              <a:t>Each FF toggle simultaneously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Lato"/>
              </a:rPr>
              <a:t>Q output acts as data input of next FF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C1511-B96A-491F-A424-88E587DCD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669" y="848140"/>
            <a:ext cx="5062329" cy="2146852"/>
          </a:xfrm>
          <a:prstGeom prst="rect">
            <a:avLst/>
          </a:prstGeom>
        </p:spPr>
      </p:pic>
      <p:pic>
        <p:nvPicPr>
          <p:cNvPr id="16" name="Picture 4" descr="Sequential Circuits-2 Study Notes for EE/EC : ESE &amp; GATE EE">
            <a:extLst>
              <a:ext uri="{FF2B5EF4-FFF2-40B4-BE49-F238E27FC236}">
                <a16:creationId xmlns:a16="http://schemas.microsoft.com/office/drawing/2014/main" id="{A9D737E8-8621-440A-992F-36E1AC698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328" y="2945841"/>
            <a:ext cx="6995492" cy="2385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91346C-F66B-4EE0-A97B-16E09332A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565" y="5371568"/>
            <a:ext cx="3608255" cy="14476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14FC11-75E3-4F70-B87A-BF064654A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403" y="5332799"/>
            <a:ext cx="3186545" cy="152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336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762000"/>
          </a:xfrm>
        </p:spPr>
        <p:txBody>
          <a:bodyPr>
            <a:normAutofit/>
          </a:bodyPr>
          <a:lstStyle/>
          <a:p>
            <a:r>
              <a:rPr lang="en-US" dirty="0"/>
              <a:t>Binary Counter - Analysis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71801" y="990601"/>
            <a:ext cx="5762625" cy="5619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-304800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Counter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18" y="1030941"/>
            <a:ext cx="10139082" cy="5598459"/>
          </a:xfrm>
        </p:spPr>
        <p:txBody>
          <a:bodyPr>
            <a:noAutofit/>
          </a:bodyPr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Observing the state diagram, we need three Flip flops.</a:t>
            </a:r>
          </a:p>
          <a:p>
            <a:pPr algn="just"/>
            <a:r>
              <a:rPr lang="en-US" dirty="0"/>
              <a:t>3 FFs with given variables designations A2, A1, A0.</a:t>
            </a:r>
          </a:p>
          <a:p>
            <a:pPr algn="just"/>
            <a:r>
              <a:rPr lang="en-US" dirty="0"/>
              <a:t>Constructed using the T-FFs.</a:t>
            </a:r>
          </a:p>
          <a:p>
            <a:pPr algn="just"/>
            <a:r>
              <a:rPr lang="en-US" dirty="0"/>
              <a:t>Deriving the excitation table for the counter.</a:t>
            </a:r>
          </a:p>
          <a:p>
            <a:pPr algn="just"/>
            <a:r>
              <a:rPr lang="en-US" dirty="0"/>
              <a:t>T-inputs of FFs  of counter is derived from the excitation table of T-FF.</a:t>
            </a:r>
          </a:p>
          <a:p>
            <a:pPr algn="just"/>
            <a:r>
              <a:rPr lang="en-US" dirty="0"/>
              <a:t>From the state diagram of Fig 6.32,  the table showing the present state and the next state can be filled.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34471"/>
            <a:ext cx="8229600" cy="744069"/>
          </a:xfrm>
        </p:spPr>
        <p:txBody>
          <a:bodyPr>
            <a:normAutofit/>
          </a:bodyPr>
          <a:lstStyle/>
          <a:p>
            <a:r>
              <a:rPr lang="en-US" b="1" dirty="0"/>
              <a:t>Excitation Table for 3-bit Counter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533400"/>
            <a:ext cx="9144000" cy="6096000"/>
          </a:xfrm>
        </p:spPr>
        <p:txBody>
          <a:bodyPr>
            <a:noAutofit/>
          </a:bodyPr>
          <a:lstStyle/>
          <a:p>
            <a:pPr algn="just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1A6308-A266-489F-9CCA-89CBB12DD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8116" y="2038249"/>
            <a:ext cx="2110923" cy="23243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200A40-EA77-4399-AB89-FACEAE468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57" y="729400"/>
            <a:ext cx="8899578" cy="55313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0CDC-9D02-43C7-8A82-333653F15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6C2DD0-469A-4525-8DB8-83879EB592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152" y="609600"/>
            <a:ext cx="6194611" cy="5513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4FE73A-9937-4BD2-8EEE-671208977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835" y="2453072"/>
            <a:ext cx="5728448" cy="27586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CBF601-1197-4C88-B68A-3562F5278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765" y="3296869"/>
            <a:ext cx="1272987" cy="19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58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38F49DFD-D467-496A-BDF7-F54B619A6EE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027238" y="4800601"/>
            <a:ext cx="8183562" cy="1050925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>
              <a:defRPr/>
            </a:pPr>
            <a:r>
              <a:rPr lang="en-US" sz="22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Ring counters are implemented using shift registers. It is essentially a circulating shift register connected so that the last flip-flop shifts its value into the first flip-flop. There is usually only a single 1 circulating in the register, as long as clock pulses are applied. (Starts 1000-&gt;0100-&gt;0010-&gt;0001 repeat)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8CAE30CA-986C-4A50-A457-A49CA61E7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238" y="530226"/>
            <a:ext cx="8183562" cy="41878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Ring Counter</a:t>
            </a:r>
          </a:p>
        </p:txBody>
      </p:sp>
      <p:pic>
        <p:nvPicPr>
          <p:cNvPr id="18436" name="Picture 2" descr="http://www.doc.ic.ac.uk/~nd/surprise_96/journal/vol4/cwl3/report.ring.gif">
            <a:extLst>
              <a:ext uri="{FF2B5EF4-FFF2-40B4-BE49-F238E27FC236}">
                <a16:creationId xmlns:a16="http://schemas.microsoft.com/office/drawing/2014/main" id="{1E69ECFC-149D-404F-8657-887129238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143000"/>
            <a:ext cx="7810500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5C15D0A1-2F97-4D1E-AB9D-D82EAC65D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1" y="941389"/>
            <a:ext cx="8183563" cy="4187825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19459" name="Picture 3" descr="Ring Counter Timing Diagram">
            <a:extLst>
              <a:ext uri="{FF2B5EF4-FFF2-40B4-BE49-F238E27FC236}">
                <a16:creationId xmlns:a16="http://schemas.microsoft.com/office/drawing/2014/main" id="{A4384A9D-D44D-4562-8ECD-08113EE20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6" y="3048001"/>
            <a:ext cx="3814763" cy="300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2" descr="Data Movement through a Ring Counter">
            <a:extLst>
              <a:ext uri="{FF2B5EF4-FFF2-40B4-BE49-F238E27FC236}">
                <a16:creationId xmlns:a16="http://schemas.microsoft.com/office/drawing/2014/main" id="{170F15A0-7B7C-4F0F-B193-2E35AE03C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-1949450"/>
            <a:ext cx="2809875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5">
            <a:extLst>
              <a:ext uri="{FF2B5EF4-FFF2-40B4-BE49-F238E27FC236}">
                <a16:creationId xmlns:a16="http://schemas.microsoft.com/office/drawing/2014/main" id="{98498E8E-BE95-4BB7-B522-F36058BF2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1" y="533400"/>
            <a:ext cx="361791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DD8CCAAA-7613-4C50-AB77-613B1916A3D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027238" y="4648201"/>
            <a:ext cx="8183562" cy="1050925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control signal, which presets the left-most flip-flop to 1 and clears the others to 0.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664BC95-BCA7-4587-ABF2-230260098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238" y="530226"/>
            <a:ext cx="8183562" cy="4187825"/>
          </a:xfrm>
        </p:spPr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20484" name="Picture 3">
            <a:extLst>
              <a:ext uri="{FF2B5EF4-FFF2-40B4-BE49-F238E27FC236}">
                <a16:creationId xmlns:a16="http://schemas.microsoft.com/office/drawing/2014/main" id="{22EF1148-0839-4DA6-8C2B-BF6F752A9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33400"/>
            <a:ext cx="8231188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CA93CB86-AEBC-4BC6-860E-571DB71E4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7238" y="530226"/>
            <a:ext cx="8183562" cy="41878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v"/>
            </a:pPr>
            <a:r>
              <a:rPr lang="en-US" altLang="en-US"/>
              <a:t>Johnson Counter</a:t>
            </a:r>
          </a:p>
        </p:txBody>
      </p:sp>
      <p:sp>
        <p:nvSpPr>
          <p:cNvPr id="21507" name="TextBox 3">
            <a:extLst>
              <a:ext uri="{FF2B5EF4-FFF2-40B4-BE49-F238E27FC236}">
                <a16:creationId xmlns:a16="http://schemas.microsoft.com/office/drawing/2014/main" id="{DDB2DDB0-7DB6-4E99-BC58-B25AEF0BF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962401"/>
            <a:ext cx="7215188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Johnson counter, also known as the twisted-ring counter, is exactly the same as the ring counter except that the inverted output of the last flip-flop is connected to the input of the first flip-flop. </a:t>
            </a:r>
          </a:p>
        </p:txBody>
      </p:sp>
      <p:pic>
        <p:nvPicPr>
          <p:cNvPr id="21508" name="Picture 6">
            <a:extLst>
              <a:ext uri="{FF2B5EF4-FFF2-40B4-BE49-F238E27FC236}">
                <a16:creationId xmlns:a16="http://schemas.microsoft.com/office/drawing/2014/main" id="{2BE49878-1982-4D32-9DCA-317B61E10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143000"/>
            <a:ext cx="6781800" cy="285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29B78E42-362D-4AC3-9DF9-CAB812E2595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081026" y="4036219"/>
            <a:ext cx="8183562" cy="1052512"/>
          </a:xfr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 well as counting or rotating data around a continuous loop, ring counters can also be used to detect or recognize various patterns or number values within a set of data. By connecting simple logic gates such as the </a:t>
            </a:r>
            <a:r>
              <a:rPr lang="en-US" sz="20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or the </a:t>
            </a:r>
            <a:r>
              <a:rPr lang="en-US" sz="20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gates to the outputs of the flip-flops the circuit can be made to detect a set number or value. Standard 2, 3 or 4-stage Johnson ring counters can also be used to divide the frequency of the clock signal by varying their feedback connections and divide-by-3 or divide-by-5 outputs are also available.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976F2A3-C817-49B1-9790-ED7E0B2A24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19801" y="609600"/>
          <a:ext cx="3795713" cy="3013096"/>
        </p:xfrm>
        <a:graphic>
          <a:graphicData uri="http://schemas.openxmlformats.org/drawingml/2006/table">
            <a:tbl>
              <a:tblPr/>
              <a:tblGrid>
                <a:gridCol w="1265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6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6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26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1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Clock Pulse No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FFA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FFB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FFC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0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FFD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E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05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05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05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05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0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05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05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80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577" name="Rectangle 2">
            <a:extLst>
              <a:ext uri="{FF2B5EF4-FFF2-40B4-BE49-F238E27FC236}">
                <a16:creationId xmlns:a16="http://schemas.microsoft.com/office/drawing/2014/main" id="{B858277A-BDF5-4B10-BA65-FA3C65195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371601"/>
            <a:ext cx="3657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Truth Table for a 4-bit Johnson Ring Counter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DD6D-37AD-49BA-8624-B379CC46B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0E0F0-C048-4D63-B842-3576C6DCD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D8DF35-A742-4EF5-ABDD-4BA7657F3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47" y="386939"/>
            <a:ext cx="10838329" cy="594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31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F1DE-C851-471D-B8E0-ECD34704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AA22F-70A8-480C-91F4-14CF7CEC4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2F173-9DB6-477A-970F-F0E4D5D0F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0" y="608941"/>
            <a:ext cx="10940925" cy="60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73124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327</TotalTime>
  <Words>548</Words>
  <Application>Microsoft Office PowerPoint</Application>
  <PresentationFormat>Widescreen</PresentationFormat>
  <Paragraphs>107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Cambria Math</vt:lpstr>
      <vt:lpstr>Lato</vt:lpstr>
      <vt:lpstr>Times New Roman</vt:lpstr>
      <vt:lpstr>Trebuchet MS</vt:lpstr>
      <vt:lpstr>Verdana</vt:lpstr>
      <vt:lpstr>Wingdings</vt:lpstr>
      <vt:lpstr>Wingdings 3</vt:lpstr>
      <vt:lpstr>Facet</vt:lpstr>
      <vt:lpstr>UNIT 5</vt:lpstr>
      <vt:lpstr>Counter </vt:lpstr>
      <vt:lpstr>QUIZ TIME</vt:lpstr>
      <vt:lpstr>Asynchronous Counter / Ripple Counter</vt:lpstr>
      <vt:lpstr>PowerPoint Presentation</vt:lpstr>
      <vt:lpstr>PowerPoint Presentation</vt:lpstr>
      <vt:lpstr>PowerPoint Presentation</vt:lpstr>
      <vt:lpstr>Synchronous Counter </vt:lpstr>
      <vt:lpstr>Binary Counter - Analysis</vt:lpstr>
      <vt:lpstr> Counter Design</vt:lpstr>
      <vt:lpstr>Excitation Table for 3-bit Counter</vt:lpstr>
      <vt:lpstr>PowerPoint Presentation</vt:lpstr>
      <vt:lpstr>Ring counters are implemented using shift registers. It is essentially a circulating shift register connected so that the last flip-flop shifts its value into the first flip-flop. There is usually only a single 1 circulating in the register, as long as clock pulses are applied. (Starts 1000-&gt;0100-&gt;0010-&gt;0001 repeat)</vt:lpstr>
      <vt:lpstr>PowerPoint Presentation</vt:lpstr>
      <vt:lpstr>Start control signal, which presets the left-most flip-flop to 1 and clears the others to 0.</vt:lpstr>
      <vt:lpstr>PowerPoint Presentation</vt:lpstr>
      <vt:lpstr>As well as counting or rotating data around a continuous loop, ring counters can also be used to detect or recognize various patterns or number values within a set of data. By connecting simple logic gates such as the AND or the OR gates to the outputs of the flip-flops the circuit can be made to detect a set number or value. Standard 2, 3 or 4-stage Johnson ring counters can also be used to divide the frequency of the clock signal by varying their feedback connections and divide-by-3 or divide-by-5 outputs are also available.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5</dc:title>
  <dc:creator>HP</dc:creator>
  <cp:lastModifiedBy>Swapnil Bagwari</cp:lastModifiedBy>
  <cp:revision>62</cp:revision>
  <dcterms:created xsi:type="dcterms:W3CDTF">2021-04-06T03:43:53Z</dcterms:created>
  <dcterms:modified xsi:type="dcterms:W3CDTF">2022-12-26T05:01:27Z</dcterms:modified>
</cp:coreProperties>
</file>