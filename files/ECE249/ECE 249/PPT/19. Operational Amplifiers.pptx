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97" r:id="rId17"/>
    <p:sldId id="298" r:id="rId18"/>
  </p:sldIdLst>
  <p:sldSz cx="10693400" cy="7556500"/>
  <p:notesSz cx="10693400" cy="7556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1387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5"/>
            <a:ext cx="9089390" cy="1586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8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1" i="0">
                <a:solidFill>
                  <a:srgbClr val="FF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0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1" i="0">
                <a:solidFill>
                  <a:srgbClr val="FF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1" i="0">
                <a:solidFill>
                  <a:srgbClr val="FF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346679" y="768096"/>
            <a:ext cx="3850640" cy="665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1" i="0">
                <a:solidFill>
                  <a:srgbClr val="FF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0594" y="1304544"/>
            <a:ext cx="5552440" cy="51263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27545"/>
            <a:ext cx="3421888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834371" y="6384875"/>
            <a:ext cx="254634" cy="241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9834371" y="6384875"/>
            <a:ext cx="257810" cy="24447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z="1400" spc="-5" dirty="0">
                <a:solidFill>
                  <a:srgbClr val="888888"/>
                </a:solidFill>
                <a:latin typeface="Calibri"/>
                <a:cs typeface="Calibri"/>
              </a:rPr>
              <a:t>1</a:t>
            </a:fld>
            <a:endParaRPr sz="14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00703" y="679703"/>
            <a:ext cx="193040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45" dirty="0"/>
              <a:t>O</a:t>
            </a:r>
            <a:r>
              <a:rPr spc="20" dirty="0"/>
              <a:t>ut</a:t>
            </a:r>
            <a:r>
              <a:rPr spc="160" dirty="0"/>
              <a:t>li</a:t>
            </a:r>
            <a:r>
              <a:rPr spc="20" dirty="0"/>
              <a:t>n</a:t>
            </a:r>
            <a:r>
              <a:rPr dirty="0"/>
              <a:t>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14655" indent="-402590">
              <a:lnSpc>
                <a:spcPts val="3654"/>
              </a:lnSpc>
              <a:spcBef>
                <a:spcPts val="95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dirty="0"/>
              <a:t>Basics</a:t>
            </a:r>
          </a:p>
          <a:p>
            <a:pPr marL="414655" indent="-402590">
              <a:lnSpc>
                <a:spcPts val="3650"/>
              </a:lnSpc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pc="-10" dirty="0"/>
              <a:t>Circuit</a:t>
            </a:r>
            <a:r>
              <a:rPr spc="-45" dirty="0"/>
              <a:t> </a:t>
            </a:r>
            <a:r>
              <a:rPr spc="-15" dirty="0"/>
              <a:t>Symbol</a:t>
            </a:r>
          </a:p>
          <a:p>
            <a:pPr marL="414655" indent="-402590">
              <a:lnSpc>
                <a:spcPts val="3654"/>
              </a:lnSpc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pc="-5" dirty="0"/>
              <a:t>Construction</a:t>
            </a:r>
            <a:r>
              <a:rPr spc="-100" dirty="0"/>
              <a:t> </a:t>
            </a:r>
            <a:r>
              <a:rPr spc="-5" dirty="0"/>
              <a:t>of</a:t>
            </a:r>
            <a:r>
              <a:rPr spc="-20" dirty="0"/>
              <a:t> </a:t>
            </a:r>
            <a:r>
              <a:rPr spc="-5" dirty="0"/>
              <a:t>Op-Amp</a:t>
            </a:r>
          </a:p>
          <a:p>
            <a:pPr marL="414655" indent="-402590">
              <a:lnSpc>
                <a:spcPts val="3654"/>
              </a:lnSpc>
              <a:spcBef>
                <a:spcPts val="15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pc="-5" dirty="0"/>
              <a:t>Op-Amp</a:t>
            </a:r>
            <a:r>
              <a:rPr spc="-30" dirty="0"/>
              <a:t> </a:t>
            </a:r>
            <a:r>
              <a:rPr spc="-10" dirty="0"/>
              <a:t>Internal</a:t>
            </a:r>
            <a:r>
              <a:rPr spc="-60" dirty="0"/>
              <a:t> </a:t>
            </a:r>
            <a:r>
              <a:rPr spc="-10" dirty="0"/>
              <a:t>Circuit</a:t>
            </a:r>
          </a:p>
          <a:p>
            <a:pPr marL="414655" indent="-402590">
              <a:lnSpc>
                <a:spcPts val="3650"/>
              </a:lnSpc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pc="-10" dirty="0"/>
              <a:t>Characteristics</a:t>
            </a:r>
          </a:p>
          <a:p>
            <a:pPr marL="414655" indent="-402590">
              <a:lnSpc>
                <a:spcPts val="3650"/>
              </a:lnSpc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pc="-35" dirty="0"/>
              <a:t>Types</a:t>
            </a:r>
          </a:p>
          <a:p>
            <a:pPr marL="414655" indent="-402590">
              <a:lnSpc>
                <a:spcPts val="3650"/>
              </a:lnSpc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pc="-10" dirty="0"/>
              <a:t>Salient</a:t>
            </a:r>
            <a:r>
              <a:rPr spc="-35" dirty="0"/>
              <a:t> </a:t>
            </a:r>
            <a:r>
              <a:rPr spc="-20" dirty="0"/>
              <a:t>Features</a:t>
            </a:r>
          </a:p>
          <a:p>
            <a:pPr marL="414655" indent="-402590">
              <a:lnSpc>
                <a:spcPts val="3650"/>
              </a:lnSpc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pc="-5" dirty="0"/>
              <a:t>Virtual </a:t>
            </a:r>
            <a:r>
              <a:rPr spc="-15" dirty="0"/>
              <a:t>Ground</a:t>
            </a:r>
            <a:r>
              <a:rPr spc="-45" dirty="0"/>
              <a:t> </a:t>
            </a:r>
            <a:r>
              <a:rPr spc="-5" dirty="0"/>
              <a:t>Concept</a:t>
            </a:r>
          </a:p>
          <a:p>
            <a:pPr marL="414655" indent="-402590">
              <a:lnSpc>
                <a:spcPts val="3650"/>
              </a:lnSpc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pc="-5" dirty="0"/>
              <a:t>Op-Amp</a:t>
            </a:r>
            <a:r>
              <a:rPr spc="-40" dirty="0"/>
              <a:t> </a:t>
            </a:r>
            <a:r>
              <a:rPr spc="-10" dirty="0"/>
              <a:t>Circuits</a:t>
            </a:r>
          </a:p>
          <a:p>
            <a:pPr marL="414655" indent="-402590">
              <a:lnSpc>
                <a:spcPts val="3650"/>
              </a:lnSpc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pc="-5" dirty="0"/>
              <a:t>Other</a:t>
            </a:r>
            <a:r>
              <a:rPr spc="-35" dirty="0"/>
              <a:t> </a:t>
            </a:r>
            <a:r>
              <a:rPr dirty="0"/>
              <a:t>functions</a:t>
            </a:r>
            <a:r>
              <a:rPr spc="-95" dirty="0"/>
              <a:t> </a:t>
            </a:r>
            <a:r>
              <a:rPr spc="-5" dirty="0"/>
              <a:t>and</a:t>
            </a:r>
            <a:r>
              <a:rPr spc="-15" dirty="0"/>
              <a:t> </a:t>
            </a:r>
            <a:r>
              <a:rPr spc="-5" dirty="0"/>
              <a:t>applications</a:t>
            </a:r>
          </a:p>
          <a:p>
            <a:pPr marL="414655" indent="-402590">
              <a:lnSpc>
                <a:spcPts val="3654"/>
              </a:lnSpc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pc="-20" dirty="0"/>
              <a:t>Advantages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9834371" y="6384875"/>
            <a:ext cx="257810" cy="24447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z="1400" spc="-5" dirty="0">
                <a:solidFill>
                  <a:srgbClr val="888888"/>
                </a:solidFill>
                <a:latin typeface="Calibri"/>
                <a:cs typeface="Calibri"/>
              </a:rPr>
              <a:t>2</a:t>
            </a:fld>
            <a:endParaRPr sz="14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31284" y="679703"/>
            <a:ext cx="1713864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5" dirty="0"/>
              <a:t>B</a:t>
            </a:r>
            <a:r>
              <a:rPr spc="55" dirty="0"/>
              <a:t>a</a:t>
            </a:r>
            <a:r>
              <a:rPr spc="-200" dirty="0"/>
              <a:t>s</a:t>
            </a:r>
            <a:r>
              <a:rPr spc="160" dirty="0"/>
              <a:t>i</a:t>
            </a:r>
            <a:r>
              <a:rPr spc="20" dirty="0"/>
              <a:t>c</a:t>
            </a:r>
            <a:r>
              <a:rPr spc="-195"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371" y="1378305"/>
            <a:ext cx="10186035" cy="301879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z="3250" spc="-10" dirty="0">
                <a:latin typeface="Calibri"/>
                <a:cs typeface="Calibri"/>
              </a:rPr>
              <a:t>Operational</a:t>
            </a:r>
            <a:r>
              <a:rPr sz="3250" spc="5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Amplifier</a:t>
            </a:r>
            <a:r>
              <a:rPr sz="3250" spc="3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-</a:t>
            </a:r>
            <a:r>
              <a:rPr sz="3250" spc="4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Also</a:t>
            </a:r>
            <a:r>
              <a:rPr sz="3250" spc="35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Known</a:t>
            </a:r>
            <a:r>
              <a:rPr sz="3250" spc="5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as</a:t>
            </a:r>
            <a:r>
              <a:rPr sz="3250" spc="25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Op-Amp</a:t>
            </a:r>
            <a:endParaRPr sz="3250">
              <a:latin typeface="Calibri"/>
              <a:cs typeface="Calibri"/>
            </a:endParaRPr>
          </a:p>
          <a:p>
            <a:pPr marL="414655" indent="-402590">
              <a:lnSpc>
                <a:spcPct val="100000"/>
              </a:lnSpc>
              <a:spcBef>
                <a:spcPts val="805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z="3250" dirty="0">
                <a:latin typeface="Calibri"/>
                <a:cs typeface="Calibri"/>
              </a:rPr>
              <a:t>It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is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an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spc="-15" dirty="0">
                <a:latin typeface="Calibri"/>
                <a:cs typeface="Calibri"/>
              </a:rPr>
              <a:t>Integrated</a:t>
            </a:r>
            <a:r>
              <a:rPr sz="3250" spc="-1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Circuit</a:t>
            </a:r>
            <a:r>
              <a:rPr sz="3250" spc="3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(IC)</a:t>
            </a:r>
            <a:endParaRPr sz="3250">
              <a:latin typeface="Calibri"/>
              <a:cs typeface="Calibri"/>
            </a:endParaRPr>
          </a:p>
          <a:p>
            <a:pPr marL="414655" indent="-402590">
              <a:lnSpc>
                <a:spcPct val="100000"/>
              </a:lnSpc>
              <a:spcBef>
                <a:spcPts val="825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z="3250" b="1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Function:</a:t>
            </a:r>
            <a:r>
              <a:rPr sz="3250" b="1" spc="65" dirty="0">
                <a:latin typeface="Calibri"/>
                <a:cs typeface="Calibri"/>
              </a:rPr>
              <a:t> </a:t>
            </a:r>
            <a:r>
              <a:rPr sz="3250" spc="-45" dirty="0">
                <a:latin typeface="Calibri"/>
                <a:cs typeface="Calibri"/>
              </a:rPr>
              <a:t>Linear,</a:t>
            </a:r>
            <a:r>
              <a:rPr sz="3250" spc="8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Non-linear</a:t>
            </a:r>
            <a:r>
              <a:rPr sz="3250" spc="5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and</a:t>
            </a:r>
            <a:r>
              <a:rPr sz="3250" spc="4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mathematical</a:t>
            </a:r>
            <a:r>
              <a:rPr sz="3250" spc="30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operations</a:t>
            </a:r>
            <a:endParaRPr sz="3250">
              <a:latin typeface="Calibri"/>
              <a:cs typeface="Calibri"/>
            </a:endParaRPr>
          </a:p>
          <a:p>
            <a:pPr marL="414655" indent="-402590">
              <a:lnSpc>
                <a:spcPct val="100000"/>
              </a:lnSpc>
              <a:spcBef>
                <a:spcPts val="805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z="3250" spc="-5" dirty="0">
                <a:latin typeface="Calibri"/>
                <a:cs typeface="Calibri"/>
              </a:rPr>
              <a:t>Circuit</a:t>
            </a:r>
            <a:r>
              <a:rPr sz="3250" spc="2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symbol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of</a:t>
            </a:r>
            <a:r>
              <a:rPr sz="3250" spc="-1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an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op-amp.</a:t>
            </a:r>
            <a:endParaRPr sz="3250">
              <a:latin typeface="Calibri"/>
              <a:cs typeface="Calibri"/>
            </a:endParaRPr>
          </a:p>
          <a:p>
            <a:pPr marL="414655" indent="-402590">
              <a:lnSpc>
                <a:spcPct val="100000"/>
              </a:lnSpc>
              <a:spcBef>
                <a:spcPts val="830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z="3250" dirty="0">
                <a:latin typeface="Calibri"/>
                <a:cs typeface="Calibri"/>
              </a:rPr>
              <a:t>Capable</a:t>
            </a:r>
            <a:r>
              <a:rPr sz="3250" spc="45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of</a:t>
            </a:r>
            <a:r>
              <a:rPr sz="3250" spc="-5" dirty="0">
                <a:latin typeface="Calibri"/>
                <a:cs typeface="Calibri"/>
              </a:rPr>
              <a:t> handling</a:t>
            </a:r>
            <a:r>
              <a:rPr sz="3250" spc="95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both</a:t>
            </a:r>
            <a:r>
              <a:rPr sz="3250" spc="4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AC </a:t>
            </a:r>
            <a:r>
              <a:rPr sz="3250" spc="5" dirty="0">
                <a:latin typeface="Calibri"/>
                <a:cs typeface="Calibri"/>
              </a:rPr>
              <a:t>&amp;</a:t>
            </a:r>
            <a:r>
              <a:rPr sz="3250" spc="3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DC</a:t>
            </a:r>
            <a:endParaRPr sz="3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45767" y="679703"/>
            <a:ext cx="612648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80" dirty="0"/>
              <a:t>Op-Amp</a:t>
            </a:r>
            <a:r>
              <a:rPr spc="-30" dirty="0"/>
              <a:t> </a:t>
            </a:r>
            <a:r>
              <a:rPr spc="90" dirty="0"/>
              <a:t>Circuit</a:t>
            </a:r>
            <a:r>
              <a:rPr spc="-100" dirty="0"/>
              <a:t> </a:t>
            </a:r>
            <a:r>
              <a:rPr spc="-75" dirty="0"/>
              <a:t>Symbol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94861" y="2125377"/>
            <a:ext cx="5618024" cy="389937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834371" y="6384875"/>
            <a:ext cx="257810" cy="24447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z="1400" spc="-5" dirty="0">
                <a:solidFill>
                  <a:srgbClr val="888888"/>
                </a:solidFill>
                <a:latin typeface="Calibri"/>
                <a:cs typeface="Calibri"/>
              </a:rPr>
              <a:t>3</a:t>
            </a:fld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9834371" y="6384875"/>
            <a:ext cx="257810" cy="24447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z="1400" spc="-5" dirty="0">
                <a:solidFill>
                  <a:srgbClr val="888888"/>
                </a:solidFill>
                <a:latin typeface="Calibri"/>
                <a:cs typeface="Calibri"/>
              </a:rPr>
              <a:t>4</a:t>
            </a:fld>
            <a:endParaRPr sz="14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07895" y="679703"/>
            <a:ext cx="568896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80" dirty="0"/>
              <a:t>Op-Amp</a:t>
            </a:r>
            <a:r>
              <a:rPr spc="-60" dirty="0"/>
              <a:t> </a:t>
            </a:r>
            <a:r>
              <a:rPr spc="15" dirty="0"/>
              <a:t>Construction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371" y="1478280"/>
            <a:ext cx="10332720" cy="441515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414655" marR="8255" indent="-402590">
              <a:lnSpc>
                <a:spcPct val="100899"/>
              </a:lnSpc>
              <a:spcBef>
                <a:spcPts val="75"/>
              </a:spcBef>
              <a:buFont typeface="Arial MT"/>
              <a:buChar char="•"/>
              <a:tabLst>
                <a:tab pos="414655" algn="l"/>
                <a:tab pos="415290" algn="l"/>
                <a:tab pos="847725" algn="l"/>
                <a:tab pos="2365375" algn="l"/>
                <a:tab pos="2901950" algn="l"/>
                <a:tab pos="5013960" algn="l"/>
                <a:tab pos="6870065" algn="l"/>
                <a:tab pos="7842884" algn="l"/>
                <a:tab pos="9680575" algn="l"/>
              </a:tabLst>
            </a:pPr>
            <a:r>
              <a:rPr sz="3250" spc="-5" dirty="0">
                <a:latin typeface="Calibri"/>
                <a:cs typeface="Calibri"/>
              </a:rPr>
              <a:t>I</a:t>
            </a:r>
            <a:r>
              <a:rPr sz="3250" dirty="0">
                <a:latin typeface="Calibri"/>
                <a:cs typeface="Calibri"/>
              </a:rPr>
              <a:t>t	</a:t>
            </a:r>
            <a:r>
              <a:rPr sz="3250" spc="-5" dirty="0">
                <a:latin typeface="Calibri"/>
                <a:cs typeface="Calibri"/>
              </a:rPr>
              <a:t>c</a:t>
            </a:r>
            <a:r>
              <a:rPr sz="3250" spc="10" dirty="0">
                <a:latin typeface="Calibri"/>
                <a:cs typeface="Calibri"/>
              </a:rPr>
              <a:t>o</a:t>
            </a:r>
            <a:r>
              <a:rPr sz="3250" spc="-5" dirty="0">
                <a:latin typeface="Calibri"/>
                <a:cs typeface="Calibri"/>
              </a:rPr>
              <a:t>n</a:t>
            </a:r>
            <a:r>
              <a:rPr sz="3250" dirty="0">
                <a:latin typeface="Calibri"/>
                <a:cs typeface="Calibri"/>
              </a:rPr>
              <a:t>s</a:t>
            </a:r>
            <a:r>
              <a:rPr sz="3250" spc="15" dirty="0">
                <a:latin typeface="Calibri"/>
                <a:cs typeface="Calibri"/>
              </a:rPr>
              <a:t>i</a:t>
            </a:r>
            <a:r>
              <a:rPr sz="3250" spc="-50" dirty="0">
                <a:latin typeface="Calibri"/>
                <a:cs typeface="Calibri"/>
              </a:rPr>
              <a:t>s</a:t>
            </a:r>
            <a:r>
              <a:rPr sz="3250" spc="30" dirty="0">
                <a:latin typeface="Calibri"/>
                <a:cs typeface="Calibri"/>
              </a:rPr>
              <a:t>t</a:t>
            </a:r>
            <a:r>
              <a:rPr sz="3250" spc="5" dirty="0">
                <a:latin typeface="Calibri"/>
                <a:cs typeface="Calibri"/>
              </a:rPr>
              <a:t>s</a:t>
            </a:r>
            <a:r>
              <a:rPr sz="3250" dirty="0">
                <a:latin typeface="Calibri"/>
                <a:cs typeface="Calibri"/>
              </a:rPr>
              <a:t>	</a:t>
            </a:r>
            <a:r>
              <a:rPr sz="3250" spc="10" dirty="0">
                <a:latin typeface="Calibri"/>
                <a:cs typeface="Calibri"/>
              </a:rPr>
              <a:t>o</a:t>
            </a:r>
            <a:r>
              <a:rPr sz="3250" dirty="0">
                <a:latin typeface="Calibri"/>
                <a:cs typeface="Calibri"/>
              </a:rPr>
              <a:t>f	</a:t>
            </a:r>
            <a:r>
              <a:rPr sz="3250" b="1" u="heavy" spc="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</a:t>
            </a:r>
            <a:r>
              <a:rPr sz="3250" b="1" u="heavy" spc="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</a:t>
            </a:r>
            <a:r>
              <a:rPr sz="3250" b="1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</a:t>
            </a:r>
            <a:r>
              <a:rPr sz="3250" b="1" u="heavy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</a:t>
            </a:r>
            <a:r>
              <a:rPr sz="3250" b="1" u="heavy" spc="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</a:t>
            </a:r>
            <a:r>
              <a:rPr sz="3250" b="1" u="heavy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</a:t>
            </a:r>
            <a:r>
              <a:rPr sz="3250" b="1" u="heavy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</a:t>
            </a:r>
            <a:r>
              <a:rPr sz="3250" b="1" u="heavy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</a:t>
            </a:r>
            <a:r>
              <a:rPr sz="3250" b="1" u="heavy" spc="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</a:t>
            </a:r>
            <a:r>
              <a:rPr sz="3250" b="1" u="heavy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</a:t>
            </a:r>
            <a:r>
              <a:rPr sz="3250" b="1" u="heavy" spc="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</a:t>
            </a:r>
            <a:r>
              <a:rPr sz="3250" b="1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l	a</a:t>
            </a:r>
            <a:r>
              <a:rPr sz="3250" b="1" u="heavy" spc="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</a:t>
            </a:r>
            <a:r>
              <a:rPr sz="3250" b="1" u="heavy" spc="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</a:t>
            </a:r>
            <a:r>
              <a:rPr sz="3250" b="1" u="heavy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li</a:t>
            </a:r>
            <a:r>
              <a:rPr sz="3250" b="1" u="heavy" spc="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</a:t>
            </a:r>
            <a:r>
              <a:rPr sz="3250" b="1" u="heavy" spc="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</a:t>
            </a:r>
            <a:r>
              <a:rPr sz="3250" b="1" u="heavy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</a:t>
            </a:r>
            <a:r>
              <a:rPr sz="3250" b="1" u="heavy" spc="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</a:t>
            </a:r>
            <a:r>
              <a:rPr sz="3250" dirty="0">
                <a:latin typeface="Calibri"/>
                <a:cs typeface="Calibri"/>
              </a:rPr>
              <a:t>,	</a:t>
            </a:r>
            <a:r>
              <a:rPr sz="3250" spc="-5" dirty="0">
                <a:latin typeface="Calibri"/>
                <a:cs typeface="Calibri"/>
              </a:rPr>
              <a:t>l</a:t>
            </a:r>
            <a:r>
              <a:rPr sz="3250" spc="-15" dirty="0">
                <a:latin typeface="Calibri"/>
                <a:cs typeface="Calibri"/>
              </a:rPr>
              <a:t>e</a:t>
            </a:r>
            <a:r>
              <a:rPr sz="3250" spc="-30" dirty="0">
                <a:latin typeface="Calibri"/>
                <a:cs typeface="Calibri"/>
              </a:rPr>
              <a:t>v</a:t>
            </a:r>
            <a:r>
              <a:rPr sz="3250" spc="10" dirty="0">
                <a:latin typeface="Calibri"/>
                <a:cs typeface="Calibri"/>
              </a:rPr>
              <a:t>e</a:t>
            </a:r>
            <a:r>
              <a:rPr sz="3250" dirty="0">
                <a:latin typeface="Calibri"/>
                <a:cs typeface="Calibri"/>
              </a:rPr>
              <a:t>l	</a:t>
            </a:r>
            <a:r>
              <a:rPr sz="3250" spc="5" dirty="0">
                <a:latin typeface="Calibri"/>
                <a:cs typeface="Calibri"/>
              </a:rPr>
              <a:t>t</a:t>
            </a:r>
            <a:r>
              <a:rPr sz="3250" spc="-85" dirty="0">
                <a:latin typeface="Calibri"/>
                <a:cs typeface="Calibri"/>
              </a:rPr>
              <a:t>r</a:t>
            </a:r>
            <a:r>
              <a:rPr sz="3250" spc="20" dirty="0">
                <a:latin typeface="Calibri"/>
                <a:cs typeface="Calibri"/>
              </a:rPr>
              <a:t>a</a:t>
            </a:r>
            <a:r>
              <a:rPr sz="3250" spc="15" dirty="0">
                <a:latin typeface="Calibri"/>
                <a:cs typeface="Calibri"/>
              </a:rPr>
              <a:t>n</a:t>
            </a:r>
            <a:r>
              <a:rPr sz="3250" dirty="0">
                <a:latin typeface="Calibri"/>
                <a:cs typeface="Calibri"/>
              </a:rPr>
              <a:t>s</a:t>
            </a:r>
            <a:r>
              <a:rPr sz="3250" spc="-5" dirty="0">
                <a:latin typeface="Calibri"/>
                <a:cs typeface="Calibri"/>
              </a:rPr>
              <a:t>l</a:t>
            </a:r>
            <a:r>
              <a:rPr sz="3250" spc="-25" dirty="0">
                <a:latin typeface="Calibri"/>
                <a:cs typeface="Calibri"/>
              </a:rPr>
              <a:t>a</a:t>
            </a:r>
            <a:r>
              <a:rPr sz="3250" spc="-15" dirty="0">
                <a:latin typeface="Calibri"/>
                <a:cs typeface="Calibri"/>
              </a:rPr>
              <a:t>t</a:t>
            </a:r>
            <a:r>
              <a:rPr sz="3250" spc="10" dirty="0">
                <a:latin typeface="Calibri"/>
                <a:cs typeface="Calibri"/>
              </a:rPr>
              <a:t>o</a:t>
            </a:r>
            <a:r>
              <a:rPr sz="3250" dirty="0">
                <a:latin typeface="Calibri"/>
                <a:cs typeface="Calibri"/>
              </a:rPr>
              <a:t>r	a</a:t>
            </a:r>
            <a:r>
              <a:rPr sz="3250" spc="15" dirty="0">
                <a:latin typeface="Calibri"/>
                <a:cs typeface="Calibri"/>
              </a:rPr>
              <a:t>n</a:t>
            </a:r>
            <a:r>
              <a:rPr sz="3250" dirty="0">
                <a:latin typeface="Calibri"/>
                <a:cs typeface="Calibri"/>
              </a:rPr>
              <a:t>d  </a:t>
            </a:r>
            <a:r>
              <a:rPr sz="3250" spc="5" dirty="0">
                <a:latin typeface="Calibri"/>
                <a:cs typeface="Calibri"/>
              </a:rPr>
              <a:t>o/p</a:t>
            </a:r>
            <a:r>
              <a:rPr sz="3250" spc="20" dirty="0">
                <a:latin typeface="Calibri"/>
                <a:cs typeface="Calibri"/>
              </a:rPr>
              <a:t> </a:t>
            </a:r>
            <a:r>
              <a:rPr sz="3250" spc="-20" dirty="0">
                <a:latin typeface="Calibri"/>
                <a:cs typeface="Calibri"/>
              </a:rPr>
              <a:t>stage.</a:t>
            </a:r>
            <a:endParaRPr sz="3250">
              <a:latin typeface="Calibri"/>
              <a:cs typeface="Calibri"/>
            </a:endParaRPr>
          </a:p>
          <a:p>
            <a:pPr marL="414655" marR="7620" indent="-402590">
              <a:lnSpc>
                <a:spcPct val="100899"/>
              </a:lnSpc>
              <a:spcBef>
                <a:spcPts val="770"/>
              </a:spcBef>
              <a:buFont typeface="Arial MT"/>
              <a:buChar char="•"/>
              <a:tabLst>
                <a:tab pos="414655" algn="l"/>
                <a:tab pos="415290" algn="l"/>
                <a:tab pos="1450975" algn="l"/>
                <a:tab pos="2480945" algn="l"/>
                <a:tab pos="2971800" algn="l"/>
                <a:tab pos="4575175" algn="l"/>
                <a:tab pos="6050280" algn="l"/>
                <a:tab pos="6541134" algn="l"/>
                <a:tab pos="8531225" algn="l"/>
                <a:tab pos="10189845" algn="l"/>
              </a:tabLst>
            </a:pPr>
            <a:r>
              <a:rPr sz="3250" spc="-5" dirty="0">
                <a:latin typeface="Calibri"/>
                <a:cs typeface="Calibri"/>
              </a:rPr>
              <a:t>i</a:t>
            </a:r>
            <a:r>
              <a:rPr sz="3250" spc="15" dirty="0">
                <a:latin typeface="Calibri"/>
                <a:cs typeface="Calibri"/>
              </a:rPr>
              <a:t>np</a:t>
            </a:r>
            <a:r>
              <a:rPr sz="3250" spc="-5" dirty="0">
                <a:latin typeface="Calibri"/>
                <a:cs typeface="Calibri"/>
              </a:rPr>
              <a:t>u</a:t>
            </a:r>
            <a:r>
              <a:rPr sz="3250" dirty="0">
                <a:latin typeface="Calibri"/>
                <a:cs typeface="Calibri"/>
              </a:rPr>
              <a:t>t	</a:t>
            </a:r>
            <a:r>
              <a:rPr sz="3250" spc="-45" dirty="0">
                <a:latin typeface="Calibri"/>
                <a:cs typeface="Calibri"/>
              </a:rPr>
              <a:t>s</a:t>
            </a:r>
            <a:r>
              <a:rPr sz="3250" spc="-40" dirty="0">
                <a:latin typeface="Calibri"/>
                <a:cs typeface="Calibri"/>
              </a:rPr>
              <a:t>t</a:t>
            </a:r>
            <a:r>
              <a:rPr sz="3250" dirty="0">
                <a:latin typeface="Calibri"/>
                <a:cs typeface="Calibri"/>
              </a:rPr>
              <a:t>a</a:t>
            </a:r>
            <a:r>
              <a:rPr sz="3250" spc="-20" dirty="0">
                <a:latin typeface="Calibri"/>
                <a:cs typeface="Calibri"/>
              </a:rPr>
              <a:t>g</a:t>
            </a:r>
            <a:r>
              <a:rPr sz="3250" spc="5" dirty="0">
                <a:latin typeface="Calibri"/>
                <a:cs typeface="Calibri"/>
              </a:rPr>
              <a:t>e</a:t>
            </a:r>
            <a:r>
              <a:rPr sz="3250" dirty="0">
                <a:latin typeface="Calibri"/>
                <a:cs typeface="Calibri"/>
              </a:rPr>
              <a:t>	</a:t>
            </a:r>
            <a:r>
              <a:rPr sz="3250" spc="10" dirty="0">
                <a:latin typeface="Calibri"/>
                <a:cs typeface="Calibri"/>
              </a:rPr>
              <a:t>o</a:t>
            </a:r>
            <a:r>
              <a:rPr sz="3250" dirty="0">
                <a:latin typeface="Calibri"/>
                <a:cs typeface="Calibri"/>
              </a:rPr>
              <a:t>f	</a:t>
            </a:r>
            <a:r>
              <a:rPr sz="3250" spc="10" dirty="0">
                <a:latin typeface="Calibri"/>
                <a:cs typeface="Calibri"/>
              </a:rPr>
              <a:t>o</a:t>
            </a:r>
            <a:r>
              <a:rPr sz="3250" spc="20" dirty="0">
                <a:latin typeface="Calibri"/>
                <a:cs typeface="Calibri"/>
              </a:rPr>
              <a:t>p</a:t>
            </a:r>
            <a:r>
              <a:rPr sz="3250" spc="5" dirty="0">
                <a:latin typeface="Calibri"/>
                <a:cs typeface="Calibri"/>
              </a:rPr>
              <a:t>-</a:t>
            </a:r>
            <a:r>
              <a:rPr sz="3250" dirty="0">
                <a:latin typeface="Calibri"/>
                <a:cs typeface="Calibri"/>
              </a:rPr>
              <a:t>a</a:t>
            </a:r>
            <a:r>
              <a:rPr sz="3250" spc="15" dirty="0">
                <a:latin typeface="Calibri"/>
                <a:cs typeface="Calibri"/>
              </a:rPr>
              <a:t>m</a:t>
            </a:r>
            <a:r>
              <a:rPr sz="3250" spc="5" dirty="0">
                <a:latin typeface="Calibri"/>
                <a:cs typeface="Calibri"/>
              </a:rPr>
              <a:t>p</a:t>
            </a:r>
            <a:r>
              <a:rPr sz="3250" dirty="0">
                <a:latin typeface="Calibri"/>
                <a:cs typeface="Calibri"/>
              </a:rPr>
              <a:t>	</a:t>
            </a:r>
            <a:r>
              <a:rPr sz="3250" spc="-5" dirty="0">
                <a:latin typeface="Calibri"/>
                <a:cs typeface="Calibri"/>
              </a:rPr>
              <a:t>c</a:t>
            </a:r>
            <a:r>
              <a:rPr sz="3250" spc="10" dirty="0">
                <a:latin typeface="Calibri"/>
                <a:cs typeface="Calibri"/>
              </a:rPr>
              <a:t>o</a:t>
            </a:r>
            <a:r>
              <a:rPr sz="3250" spc="15" dirty="0">
                <a:latin typeface="Calibri"/>
                <a:cs typeface="Calibri"/>
              </a:rPr>
              <a:t>n</a:t>
            </a:r>
            <a:r>
              <a:rPr sz="3250" dirty="0">
                <a:latin typeface="Calibri"/>
                <a:cs typeface="Calibri"/>
              </a:rPr>
              <a:t>s</a:t>
            </a:r>
            <a:r>
              <a:rPr sz="3250" spc="15" dirty="0">
                <a:latin typeface="Calibri"/>
                <a:cs typeface="Calibri"/>
              </a:rPr>
              <a:t>i</a:t>
            </a:r>
            <a:r>
              <a:rPr sz="3250" spc="-45" dirty="0">
                <a:latin typeface="Calibri"/>
                <a:cs typeface="Calibri"/>
              </a:rPr>
              <a:t>s</a:t>
            </a:r>
            <a:r>
              <a:rPr sz="3250" spc="5" dirty="0">
                <a:latin typeface="Calibri"/>
                <a:cs typeface="Calibri"/>
              </a:rPr>
              <a:t>ts</a:t>
            </a:r>
            <a:r>
              <a:rPr sz="3250" dirty="0">
                <a:latin typeface="Calibri"/>
                <a:cs typeface="Calibri"/>
              </a:rPr>
              <a:t>	</a:t>
            </a:r>
            <a:r>
              <a:rPr sz="3250" spc="10" dirty="0">
                <a:latin typeface="Calibri"/>
                <a:cs typeface="Calibri"/>
              </a:rPr>
              <a:t>o</a:t>
            </a:r>
            <a:r>
              <a:rPr sz="3250" dirty="0">
                <a:latin typeface="Calibri"/>
                <a:cs typeface="Calibri"/>
              </a:rPr>
              <a:t>f	</a:t>
            </a:r>
            <a:r>
              <a:rPr sz="3250" spc="-5" dirty="0">
                <a:latin typeface="Calibri"/>
                <a:cs typeface="Calibri"/>
              </a:rPr>
              <a:t>di</a:t>
            </a:r>
            <a:r>
              <a:rPr sz="3250" spc="-10" dirty="0">
                <a:latin typeface="Calibri"/>
                <a:cs typeface="Calibri"/>
              </a:rPr>
              <a:t>f</a:t>
            </a:r>
            <a:r>
              <a:rPr sz="3250" spc="-60" dirty="0">
                <a:latin typeface="Calibri"/>
                <a:cs typeface="Calibri"/>
              </a:rPr>
              <a:t>f</a:t>
            </a:r>
            <a:r>
              <a:rPr sz="3250" spc="10" dirty="0">
                <a:latin typeface="Calibri"/>
                <a:cs typeface="Calibri"/>
              </a:rPr>
              <a:t>e</a:t>
            </a:r>
            <a:r>
              <a:rPr sz="3250" spc="-60" dirty="0">
                <a:latin typeface="Calibri"/>
                <a:cs typeface="Calibri"/>
              </a:rPr>
              <a:t>r</a:t>
            </a:r>
            <a:r>
              <a:rPr sz="3250" spc="5" dirty="0">
                <a:latin typeface="Calibri"/>
                <a:cs typeface="Calibri"/>
              </a:rPr>
              <a:t>e</a:t>
            </a:r>
            <a:r>
              <a:rPr sz="3250" spc="-30" dirty="0">
                <a:latin typeface="Calibri"/>
                <a:cs typeface="Calibri"/>
              </a:rPr>
              <a:t>n</a:t>
            </a:r>
            <a:r>
              <a:rPr sz="3250" spc="5" dirty="0">
                <a:latin typeface="Calibri"/>
                <a:cs typeface="Calibri"/>
              </a:rPr>
              <a:t>t</a:t>
            </a:r>
            <a:r>
              <a:rPr sz="3250" spc="-5" dirty="0">
                <a:latin typeface="Calibri"/>
                <a:cs typeface="Calibri"/>
              </a:rPr>
              <a:t>i</a:t>
            </a:r>
            <a:r>
              <a:rPr sz="3250" dirty="0">
                <a:latin typeface="Calibri"/>
                <a:cs typeface="Calibri"/>
              </a:rPr>
              <a:t>al	a</a:t>
            </a:r>
            <a:r>
              <a:rPr sz="3250" spc="35" dirty="0">
                <a:latin typeface="Calibri"/>
                <a:cs typeface="Calibri"/>
              </a:rPr>
              <a:t>m</a:t>
            </a:r>
            <a:r>
              <a:rPr sz="3250" spc="-5" dirty="0">
                <a:latin typeface="Calibri"/>
                <a:cs typeface="Calibri"/>
              </a:rPr>
              <a:t>pl</a:t>
            </a:r>
            <a:r>
              <a:rPr sz="3250" spc="15" dirty="0">
                <a:latin typeface="Calibri"/>
                <a:cs typeface="Calibri"/>
              </a:rPr>
              <a:t>i</a:t>
            </a:r>
            <a:r>
              <a:rPr sz="3250" spc="5" dirty="0">
                <a:latin typeface="Calibri"/>
                <a:cs typeface="Calibri"/>
              </a:rPr>
              <a:t>f</a:t>
            </a:r>
            <a:r>
              <a:rPr sz="3250" spc="-5" dirty="0">
                <a:latin typeface="Calibri"/>
                <a:cs typeface="Calibri"/>
              </a:rPr>
              <a:t>i</a:t>
            </a:r>
            <a:r>
              <a:rPr sz="3250" spc="5" dirty="0">
                <a:latin typeface="Calibri"/>
                <a:cs typeface="Calibri"/>
              </a:rPr>
              <a:t>er</a:t>
            </a:r>
            <a:r>
              <a:rPr sz="3250" dirty="0">
                <a:latin typeface="Calibri"/>
                <a:cs typeface="Calibri"/>
              </a:rPr>
              <a:t>	-  </a:t>
            </a:r>
            <a:r>
              <a:rPr sz="3250" spc="5" dirty="0">
                <a:latin typeface="Calibri"/>
                <a:cs typeface="Calibri"/>
              </a:rPr>
              <a:t>hence</a:t>
            </a:r>
            <a:r>
              <a:rPr sz="3250" spc="3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two-input</a:t>
            </a:r>
            <a:r>
              <a:rPr sz="3250" spc="8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terminals.</a:t>
            </a:r>
            <a:endParaRPr sz="3250">
              <a:latin typeface="Calibri"/>
              <a:cs typeface="Calibri"/>
            </a:endParaRPr>
          </a:p>
          <a:p>
            <a:pPr marL="414655" indent="-402590">
              <a:lnSpc>
                <a:spcPct val="100000"/>
              </a:lnSpc>
              <a:spcBef>
                <a:spcPts val="805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z="3250" b="1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input</a:t>
            </a:r>
            <a:r>
              <a:rPr sz="3250" b="1" u="heavy" spc="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3250" b="1" u="heavy" spc="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1</a:t>
            </a:r>
            <a:r>
              <a:rPr sz="3250" b="1" spc="2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called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as</a:t>
            </a:r>
            <a:r>
              <a:rPr sz="3250" spc="20" dirty="0">
                <a:latin typeface="Calibri"/>
                <a:cs typeface="Calibri"/>
              </a:rPr>
              <a:t> </a:t>
            </a:r>
            <a:r>
              <a:rPr sz="3250" b="1" spc="-10" dirty="0">
                <a:latin typeface="Calibri"/>
                <a:cs typeface="Calibri"/>
              </a:rPr>
              <a:t>Inverting</a:t>
            </a:r>
            <a:r>
              <a:rPr sz="3250" b="1" spc="8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terminal</a:t>
            </a:r>
            <a:endParaRPr sz="3250">
              <a:latin typeface="Calibri"/>
              <a:cs typeface="Calibri"/>
            </a:endParaRPr>
          </a:p>
          <a:p>
            <a:pPr marL="414655" indent="-402590">
              <a:lnSpc>
                <a:spcPct val="100000"/>
              </a:lnSpc>
              <a:spcBef>
                <a:spcPts val="830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z="3250" b="1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input</a:t>
            </a:r>
            <a:r>
              <a:rPr sz="3250" b="1" u="heavy" spc="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3250" b="1" u="heavy" spc="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2</a:t>
            </a:r>
            <a:r>
              <a:rPr sz="3250" b="1" spc="2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called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as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N</a:t>
            </a:r>
            <a:r>
              <a:rPr sz="3250" b="1" spc="-5" dirty="0">
                <a:latin typeface="Calibri"/>
                <a:cs typeface="Calibri"/>
              </a:rPr>
              <a:t>on-inverting</a:t>
            </a:r>
            <a:r>
              <a:rPr sz="3250" b="1" spc="10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terminal</a:t>
            </a:r>
            <a:endParaRPr sz="3250">
              <a:latin typeface="Calibri"/>
              <a:cs typeface="Calibri"/>
            </a:endParaRPr>
          </a:p>
          <a:p>
            <a:pPr marL="414655" marR="5080" indent="-402590">
              <a:lnSpc>
                <a:spcPct val="100299"/>
              </a:lnSpc>
              <a:spcBef>
                <a:spcPts val="815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z="3250" b="1" spc="5" dirty="0">
                <a:latin typeface="Calibri"/>
                <a:cs typeface="Calibri"/>
              </a:rPr>
              <a:t>Naming</a:t>
            </a:r>
            <a:r>
              <a:rPr sz="3250" b="1" spc="125" dirty="0">
                <a:latin typeface="Calibri"/>
                <a:cs typeface="Calibri"/>
              </a:rPr>
              <a:t> </a:t>
            </a:r>
            <a:r>
              <a:rPr sz="3250" b="1" spc="-5" dirty="0">
                <a:latin typeface="Calibri"/>
                <a:cs typeface="Calibri"/>
              </a:rPr>
              <a:t>convention:</a:t>
            </a:r>
            <a:r>
              <a:rPr sz="3250" b="1" spc="15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the</a:t>
            </a:r>
            <a:r>
              <a:rPr sz="3250" spc="14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phase</a:t>
            </a:r>
            <a:r>
              <a:rPr sz="3250" spc="14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relationship</a:t>
            </a:r>
            <a:r>
              <a:rPr sz="3250" spc="15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between</a:t>
            </a:r>
            <a:r>
              <a:rPr sz="3250" spc="15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their </a:t>
            </a:r>
            <a:r>
              <a:rPr sz="3250" spc="-72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i/p's</a:t>
            </a:r>
            <a:r>
              <a:rPr sz="3250" spc="45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&amp;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o/p's</a:t>
            </a:r>
            <a:endParaRPr sz="3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9834371" y="6384875"/>
            <a:ext cx="257810" cy="24447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z="1400" spc="-5" dirty="0">
                <a:solidFill>
                  <a:srgbClr val="888888"/>
                </a:solidFill>
                <a:latin typeface="Calibri"/>
                <a:cs typeface="Calibri"/>
              </a:rPr>
              <a:t>5</a:t>
            </a:fld>
            <a:endParaRPr sz="14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73801" y="679703"/>
            <a:ext cx="702754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5" dirty="0"/>
              <a:t>Characteristics</a:t>
            </a:r>
            <a:r>
              <a:rPr spc="-5" dirty="0"/>
              <a:t> </a:t>
            </a:r>
            <a:r>
              <a:rPr spc="-85" dirty="0"/>
              <a:t>of</a:t>
            </a:r>
            <a:r>
              <a:rPr spc="-45" dirty="0"/>
              <a:t> </a:t>
            </a:r>
            <a:r>
              <a:rPr spc="70" dirty="0"/>
              <a:t>Op</a:t>
            </a:r>
            <a:r>
              <a:rPr spc="15" dirty="0"/>
              <a:t> </a:t>
            </a:r>
            <a:r>
              <a:rPr spc="35" dirty="0"/>
              <a:t>-Amp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371" y="1378305"/>
            <a:ext cx="5718810" cy="241808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423545" indent="-411480">
              <a:lnSpc>
                <a:spcPct val="100000"/>
              </a:lnSpc>
              <a:spcBef>
                <a:spcPts val="900"/>
              </a:spcBef>
              <a:buAutoNum type="arabicPeriod"/>
              <a:tabLst>
                <a:tab pos="424180" algn="l"/>
              </a:tabLst>
            </a:pPr>
            <a:r>
              <a:rPr sz="3250" dirty="0">
                <a:latin typeface="Calibri"/>
                <a:cs typeface="Calibri"/>
              </a:rPr>
              <a:t>Open</a:t>
            </a:r>
            <a:r>
              <a:rPr sz="3250" spc="4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Loop</a:t>
            </a:r>
            <a:r>
              <a:rPr sz="3250" spc="20" dirty="0">
                <a:latin typeface="Calibri"/>
                <a:cs typeface="Calibri"/>
              </a:rPr>
              <a:t> </a:t>
            </a:r>
            <a:r>
              <a:rPr sz="3250" spc="-30" dirty="0">
                <a:latin typeface="Calibri"/>
                <a:cs typeface="Calibri"/>
              </a:rPr>
              <a:t>Voltage</a:t>
            </a:r>
            <a:r>
              <a:rPr sz="3250" spc="3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Gain</a:t>
            </a:r>
            <a:endParaRPr sz="3250">
              <a:latin typeface="Calibri"/>
              <a:cs typeface="Calibri"/>
            </a:endParaRPr>
          </a:p>
          <a:p>
            <a:pPr marL="423545" indent="-411480">
              <a:lnSpc>
                <a:spcPct val="100000"/>
              </a:lnSpc>
              <a:spcBef>
                <a:spcPts val="805"/>
              </a:spcBef>
              <a:buAutoNum type="arabicPeriod"/>
              <a:tabLst>
                <a:tab pos="424180" algn="l"/>
              </a:tabLst>
            </a:pPr>
            <a:r>
              <a:rPr sz="3250" dirty="0">
                <a:latin typeface="Calibri"/>
                <a:cs typeface="Calibri"/>
              </a:rPr>
              <a:t>Output</a:t>
            </a:r>
            <a:r>
              <a:rPr sz="3250" spc="75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offset</a:t>
            </a:r>
            <a:r>
              <a:rPr sz="3250" spc="-15" dirty="0">
                <a:latin typeface="Calibri"/>
                <a:cs typeface="Calibri"/>
              </a:rPr>
              <a:t> </a:t>
            </a:r>
            <a:r>
              <a:rPr sz="3250" spc="-30" dirty="0">
                <a:latin typeface="Calibri"/>
                <a:cs typeface="Calibri"/>
              </a:rPr>
              <a:t>Voltage</a:t>
            </a:r>
            <a:endParaRPr sz="3250">
              <a:latin typeface="Calibri"/>
              <a:cs typeface="Calibri"/>
            </a:endParaRPr>
          </a:p>
          <a:p>
            <a:pPr marL="423545" indent="-411480">
              <a:lnSpc>
                <a:spcPct val="100000"/>
              </a:lnSpc>
              <a:spcBef>
                <a:spcPts val="825"/>
              </a:spcBef>
              <a:buAutoNum type="arabicPeriod"/>
              <a:tabLst>
                <a:tab pos="424180" algn="l"/>
              </a:tabLst>
            </a:pPr>
            <a:r>
              <a:rPr sz="3250" spc="10" dirty="0">
                <a:latin typeface="Calibri"/>
                <a:cs typeface="Calibri"/>
              </a:rPr>
              <a:t>Common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Mode</a:t>
            </a:r>
            <a:r>
              <a:rPr sz="3250" spc="2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Rejection</a:t>
            </a:r>
            <a:r>
              <a:rPr sz="3250" spc="-1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Ratio</a:t>
            </a:r>
            <a:endParaRPr sz="3250">
              <a:latin typeface="Calibri"/>
              <a:cs typeface="Calibri"/>
            </a:endParaRPr>
          </a:p>
          <a:p>
            <a:pPr marL="423545" indent="-411480">
              <a:lnSpc>
                <a:spcPct val="100000"/>
              </a:lnSpc>
              <a:spcBef>
                <a:spcPts val="805"/>
              </a:spcBef>
              <a:buAutoNum type="arabicPeriod"/>
              <a:tabLst>
                <a:tab pos="424180" algn="l"/>
              </a:tabLst>
            </a:pPr>
            <a:r>
              <a:rPr sz="3250" spc="-5" dirty="0">
                <a:latin typeface="Calibri"/>
                <a:cs typeface="Calibri"/>
              </a:rPr>
              <a:t>Slew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Rate</a:t>
            </a:r>
            <a:endParaRPr sz="3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9834371" y="6384875"/>
            <a:ext cx="257810" cy="24447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z="1400" spc="-5" dirty="0">
                <a:solidFill>
                  <a:srgbClr val="888888"/>
                </a:solidFill>
                <a:latin typeface="Calibri"/>
                <a:cs typeface="Calibri"/>
              </a:rPr>
              <a:t>6</a:t>
            </a:fld>
            <a:endParaRPr sz="14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7143" y="740664"/>
            <a:ext cx="5504180" cy="596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750" spc="130" dirty="0"/>
              <a:t>O</a:t>
            </a:r>
            <a:r>
              <a:rPr sz="3750" spc="30" dirty="0"/>
              <a:t>p</a:t>
            </a:r>
            <a:r>
              <a:rPr sz="3750" spc="15" dirty="0"/>
              <a:t>e</a:t>
            </a:r>
            <a:r>
              <a:rPr sz="3750" spc="-5" dirty="0"/>
              <a:t>n</a:t>
            </a:r>
            <a:r>
              <a:rPr sz="3750" spc="-70" dirty="0"/>
              <a:t> </a:t>
            </a:r>
            <a:r>
              <a:rPr sz="3750" spc="60" dirty="0"/>
              <a:t>L</a:t>
            </a:r>
            <a:r>
              <a:rPr sz="3750" spc="-160" dirty="0"/>
              <a:t>oo</a:t>
            </a:r>
            <a:r>
              <a:rPr sz="3750" spc="-5" dirty="0"/>
              <a:t>p</a:t>
            </a:r>
            <a:r>
              <a:rPr sz="3750" spc="-430" dirty="0"/>
              <a:t> </a:t>
            </a:r>
            <a:r>
              <a:rPr sz="3750" spc="-330" dirty="0"/>
              <a:t>V</a:t>
            </a:r>
            <a:r>
              <a:rPr sz="3750" spc="-155" dirty="0"/>
              <a:t>o</a:t>
            </a:r>
            <a:r>
              <a:rPr sz="3750" spc="130" dirty="0"/>
              <a:t>l</a:t>
            </a:r>
            <a:r>
              <a:rPr sz="3750" spc="20" dirty="0"/>
              <a:t>t</a:t>
            </a:r>
            <a:r>
              <a:rPr sz="3750" spc="45" dirty="0"/>
              <a:t>a</a:t>
            </a:r>
            <a:r>
              <a:rPr sz="3750" spc="-20" dirty="0"/>
              <a:t>g</a:t>
            </a:r>
            <a:r>
              <a:rPr sz="3750" spc="-5" dirty="0"/>
              <a:t>e</a:t>
            </a:r>
            <a:r>
              <a:rPr sz="3750" spc="-80" dirty="0"/>
              <a:t> </a:t>
            </a:r>
            <a:r>
              <a:rPr sz="3750" spc="120" dirty="0"/>
              <a:t>G</a:t>
            </a:r>
            <a:r>
              <a:rPr sz="3750" spc="45" dirty="0"/>
              <a:t>a</a:t>
            </a:r>
            <a:r>
              <a:rPr sz="3750" spc="130" dirty="0"/>
              <a:t>i</a:t>
            </a:r>
            <a:r>
              <a:rPr sz="3750" spc="-5" dirty="0"/>
              <a:t>n</a:t>
            </a:r>
            <a:endParaRPr sz="3750"/>
          </a:p>
        </p:txBody>
      </p:sp>
      <p:sp>
        <p:nvSpPr>
          <p:cNvPr id="3" name="object 3"/>
          <p:cNvSpPr txBox="1"/>
          <p:nvPr/>
        </p:nvSpPr>
        <p:spPr>
          <a:xfrm>
            <a:off x="169671" y="1478280"/>
            <a:ext cx="10154920" cy="162052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427355" marR="17780" indent="-402590">
              <a:lnSpc>
                <a:spcPct val="100899"/>
              </a:lnSpc>
              <a:spcBef>
                <a:spcPts val="75"/>
              </a:spcBef>
              <a:buFont typeface="Arial MT"/>
              <a:buChar char="•"/>
              <a:tabLst>
                <a:tab pos="427355" algn="l"/>
                <a:tab pos="427990" algn="l"/>
              </a:tabLst>
            </a:pPr>
            <a:r>
              <a:rPr sz="3250" dirty="0">
                <a:latin typeface="Calibri"/>
                <a:cs typeface="Calibri"/>
              </a:rPr>
              <a:t>The</a:t>
            </a:r>
            <a:r>
              <a:rPr sz="3250" spc="35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open</a:t>
            </a:r>
            <a:r>
              <a:rPr sz="3250" spc="25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loop</a:t>
            </a:r>
            <a:r>
              <a:rPr sz="3250" spc="25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voltage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spc="-20" dirty="0">
                <a:latin typeface="Calibri"/>
                <a:cs typeface="Calibri"/>
              </a:rPr>
              <a:t>gain</a:t>
            </a:r>
            <a:r>
              <a:rPr sz="3250" spc="45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of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an</a:t>
            </a:r>
            <a:r>
              <a:rPr sz="3250" spc="3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op-amp</a:t>
            </a:r>
            <a:r>
              <a:rPr sz="3250" spc="4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is</a:t>
            </a:r>
            <a:r>
              <a:rPr sz="3250" spc="2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its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spc="-15" dirty="0">
                <a:latin typeface="Calibri"/>
                <a:cs typeface="Calibri"/>
              </a:rPr>
              <a:t>differential </a:t>
            </a:r>
            <a:r>
              <a:rPr sz="3250" spc="-720" dirty="0">
                <a:latin typeface="Calibri"/>
                <a:cs typeface="Calibri"/>
              </a:rPr>
              <a:t> </a:t>
            </a:r>
            <a:r>
              <a:rPr sz="3250" spc="-20" dirty="0">
                <a:latin typeface="Calibri"/>
                <a:cs typeface="Calibri"/>
              </a:rPr>
              <a:t>gain</a:t>
            </a:r>
            <a:r>
              <a:rPr sz="3250" spc="4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without</a:t>
            </a:r>
            <a:r>
              <a:rPr sz="3250" spc="40" dirty="0">
                <a:latin typeface="Calibri"/>
                <a:cs typeface="Calibri"/>
              </a:rPr>
              <a:t> </a:t>
            </a:r>
            <a:r>
              <a:rPr sz="3250" spc="-25" dirty="0">
                <a:latin typeface="Calibri"/>
                <a:cs typeface="Calibri"/>
              </a:rPr>
              <a:t>any</a:t>
            </a:r>
            <a:r>
              <a:rPr sz="3250" spc="6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feedback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path.</a:t>
            </a:r>
            <a:endParaRPr sz="3250">
              <a:latin typeface="Calibri"/>
              <a:cs typeface="Calibri"/>
            </a:endParaRPr>
          </a:p>
          <a:p>
            <a:pPr marL="427355" indent="-402590">
              <a:lnSpc>
                <a:spcPct val="100000"/>
              </a:lnSpc>
              <a:spcBef>
                <a:spcPts val="805"/>
              </a:spcBef>
              <a:buFont typeface="Arial MT"/>
              <a:buChar char="•"/>
              <a:tabLst>
                <a:tab pos="427355" algn="l"/>
                <a:tab pos="427990" algn="l"/>
              </a:tabLst>
            </a:pPr>
            <a:r>
              <a:rPr sz="3250" i="1" spc="-105" dirty="0">
                <a:latin typeface="Calibri"/>
                <a:cs typeface="Calibri"/>
              </a:rPr>
              <a:t>A</a:t>
            </a:r>
            <a:r>
              <a:rPr sz="3225" i="1" spc="-157" baseline="-20671" dirty="0">
                <a:latin typeface="Calibri"/>
                <a:cs typeface="Calibri"/>
              </a:rPr>
              <a:t>V</a:t>
            </a:r>
            <a:r>
              <a:rPr sz="3225" i="1" spc="382" baseline="-20671" dirty="0">
                <a:latin typeface="Calibri"/>
                <a:cs typeface="Calibri"/>
              </a:rPr>
              <a:t> </a:t>
            </a:r>
            <a:r>
              <a:rPr sz="3250" i="1" spc="5" dirty="0">
                <a:latin typeface="Calibri"/>
                <a:cs typeface="Calibri"/>
              </a:rPr>
              <a:t>=</a:t>
            </a:r>
            <a:r>
              <a:rPr sz="3250" i="1" spc="20" dirty="0">
                <a:latin typeface="Calibri"/>
                <a:cs typeface="Calibri"/>
              </a:rPr>
              <a:t> </a:t>
            </a:r>
            <a:r>
              <a:rPr sz="3250" i="1" spc="5" dirty="0">
                <a:latin typeface="Calibri"/>
                <a:cs typeface="Calibri"/>
              </a:rPr>
              <a:t>V</a:t>
            </a:r>
            <a:r>
              <a:rPr sz="3225" i="1" spc="7" baseline="-20671" dirty="0">
                <a:latin typeface="Calibri"/>
                <a:cs typeface="Calibri"/>
              </a:rPr>
              <a:t>0</a:t>
            </a:r>
            <a:r>
              <a:rPr sz="3225" i="1" spc="367" baseline="-20671" dirty="0">
                <a:latin typeface="Calibri"/>
                <a:cs typeface="Calibri"/>
              </a:rPr>
              <a:t> </a:t>
            </a:r>
            <a:r>
              <a:rPr sz="3250" i="1" spc="5" dirty="0">
                <a:latin typeface="Calibri"/>
                <a:cs typeface="Calibri"/>
              </a:rPr>
              <a:t>/</a:t>
            </a:r>
            <a:r>
              <a:rPr sz="3250" i="1" spc="20" dirty="0">
                <a:latin typeface="Calibri"/>
                <a:cs typeface="Calibri"/>
              </a:rPr>
              <a:t> </a:t>
            </a:r>
            <a:r>
              <a:rPr sz="3250" i="1" spc="5" dirty="0">
                <a:latin typeface="Calibri"/>
                <a:cs typeface="Calibri"/>
              </a:rPr>
              <a:t>(V</a:t>
            </a:r>
            <a:r>
              <a:rPr sz="3225" i="1" spc="7" baseline="-20671" dirty="0">
                <a:latin typeface="Calibri"/>
                <a:cs typeface="Calibri"/>
              </a:rPr>
              <a:t>1</a:t>
            </a:r>
            <a:r>
              <a:rPr sz="3225" i="1" spc="405" baseline="-20671" dirty="0">
                <a:latin typeface="Calibri"/>
                <a:cs typeface="Calibri"/>
              </a:rPr>
              <a:t> </a:t>
            </a:r>
            <a:r>
              <a:rPr sz="3250" i="1" dirty="0">
                <a:latin typeface="Calibri"/>
                <a:cs typeface="Calibri"/>
              </a:rPr>
              <a:t>- </a:t>
            </a:r>
            <a:r>
              <a:rPr sz="3250" i="1" spc="5" dirty="0">
                <a:latin typeface="Calibri"/>
                <a:cs typeface="Calibri"/>
              </a:rPr>
              <a:t>V</a:t>
            </a:r>
            <a:r>
              <a:rPr sz="3225" i="1" spc="7" baseline="-20671" dirty="0">
                <a:latin typeface="Calibri"/>
                <a:cs typeface="Calibri"/>
              </a:rPr>
              <a:t>2</a:t>
            </a:r>
            <a:r>
              <a:rPr sz="3250" i="1" spc="5" dirty="0">
                <a:latin typeface="Calibri"/>
                <a:cs typeface="Calibri"/>
              </a:rPr>
              <a:t>)</a:t>
            </a:r>
            <a:endParaRPr sz="3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9834371" y="6384875"/>
            <a:ext cx="257810" cy="24447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z="1400" spc="-5" dirty="0">
                <a:solidFill>
                  <a:srgbClr val="888888"/>
                </a:solidFill>
                <a:latin typeface="Calibri"/>
                <a:cs typeface="Calibri"/>
              </a:rPr>
              <a:t>7</a:t>
            </a:fld>
            <a:endParaRPr sz="14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07183" y="780288"/>
            <a:ext cx="4881880" cy="596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750" spc="130" dirty="0"/>
              <a:t>O</a:t>
            </a:r>
            <a:r>
              <a:rPr sz="3750" spc="30" dirty="0"/>
              <a:t>u</a:t>
            </a:r>
            <a:r>
              <a:rPr sz="3750" spc="20" dirty="0"/>
              <a:t>t</a:t>
            </a:r>
            <a:r>
              <a:rPr sz="3750" spc="30" dirty="0"/>
              <a:t>pu</a:t>
            </a:r>
            <a:r>
              <a:rPr sz="3750" spc="-5" dirty="0"/>
              <a:t>t</a:t>
            </a:r>
            <a:r>
              <a:rPr sz="3750" spc="-120" dirty="0"/>
              <a:t> </a:t>
            </a:r>
            <a:r>
              <a:rPr sz="3750" spc="130" dirty="0"/>
              <a:t>O</a:t>
            </a:r>
            <a:r>
              <a:rPr sz="3750" spc="30" dirty="0"/>
              <a:t>f</a:t>
            </a:r>
            <a:r>
              <a:rPr sz="3750" spc="25" dirty="0"/>
              <a:t>f</a:t>
            </a:r>
            <a:r>
              <a:rPr sz="3750" spc="-175" dirty="0"/>
              <a:t>s</a:t>
            </a:r>
            <a:r>
              <a:rPr sz="3750" spc="15" dirty="0"/>
              <a:t>e</a:t>
            </a:r>
            <a:r>
              <a:rPr sz="3750" spc="-5" dirty="0"/>
              <a:t>t</a:t>
            </a:r>
            <a:r>
              <a:rPr sz="3750" spc="-409" dirty="0"/>
              <a:t> </a:t>
            </a:r>
            <a:r>
              <a:rPr sz="3750" spc="-330" dirty="0"/>
              <a:t>V</a:t>
            </a:r>
            <a:r>
              <a:rPr sz="3750" spc="-155" dirty="0"/>
              <a:t>o</a:t>
            </a:r>
            <a:r>
              <a:rPr sz="3750" spc="130" dirty="0"/>
              <a:t>l</a:t>
            </a:r>
            <a:r>
              <a:rPr sz="3750" spc="20" dirty="0"/>
              <a:t>t</a:t>
            </a:r>
            <a:r>
              <a:rPr sz="3750" spc="45" dirty="0"/>
              <a:t>a</a:t>
            </a:r>
            <a:r>
              <a:rPr sz="3750" spc="-20" dirty="0"/>
              <a:t>g</a:t>
            </a:r>
            <a:r>
              <a:rPr sz="3750" spc="-5" dirty="0"/>
              <a:t>e</a:t>
            </a:r>
            <a:endParaRPr sz="3750"/>
          </a:p>
        </p:txBody>
      </p:sp>
      <p:sp>
        <p:nvSpPr>
          <p:cNvPr id="3" name="object 3"/>
          <p:cNvSpPr txBox="1"/>
          <p:nvPr/>
        </p:nvSpPr>
        <p:spPr>
          <a:xfrm>
            <a:off x="182371" y="1530095"/>
            <a:ext cx="10328910" cy="15195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14655" marR="5080" indent="-402590" algn="just">
              <a:lnSpc>
                <a:spcPct val="100600"/>
              </a:lnSpc>
              <a:spcBef>
                <a:spcPts val="90"/>
              </a:spcBef>
              <a:buFont typeface="Arial MT"/>
              <a:buChar char="•"/>
              <a:tabLst>
                <a:tab pos="415290" algn="l"/>
              </a:tabLst>
            </a:pPr>
            <a:r>
              <a:rPr sz="3250" dirty="0">
                <a:latin typeface="Calibri"/>
                <a:cs typeface="Calibri"/>
              </a:rPr>
              <a:t>The </a:t>
            </a:r>
            <a:r>
              <a:rPr sz="3250" spc="-10" dirty="0">
                <a:latin typeface="Calibri"/>
                <a:cs typeface="Calibri"/>
              </a:rPr>
              <a:t>voltage </a:t>
            </a:r>
            <a:r>
              <a:rPr sz="3250" spc="-5" dirty="0">
                <a:latin typeface="Calibri"/>
                <a:cs typeface="Calibri"/>
              </a:rPr>
              <a:t>present </a:t>
            </a:r>
            <a:r>
              <a:rPr sz="3250" spc="-10" dirty="0">
                <a:latin typeface="Calibri"/>
                <a:cs typeface="Calibri"/>
              </a:rPr>
              <a:t>at </a:t>
            </a:r>
            <a:r>
              <a:rPr sz="3250" dirty="0">
                <a:latin typeface="Calibri"/>
                <a:cs typeface="Calibri"/>
              </a:rPr>
              <a:t>the </a:t>
            </a:r>
            <a:r>
              <a:rPr sz="3250" spc="5" dirty="0">
                <a:latin typeface="Calibri"/>
                <a:cs typeface="Calibri"/>
              </a:rPr>
              <a:t>output of </a:t>
            </a:r>
            <a:r>
              <a:rPr sz="3250" dirty="0">
                <a:latin typeface="Calibri"/>
                <a:cs typeface="Calibri"/>
              </a:rPr>
              <a:t>an </a:t>
            </a:r>
            <a:r>
              <a:rPr sz="3250" spc="10" dirty="0">
                <a:latin typeface="Calibri"/>
                <a:cs typeface="Calibri"/>
              </a:rPr>
              <a:t>op-amp </a:t>
            </a:r>
            <a:r>
              <a:rPr sz="3250" spc="5" dirty="0">
                <a:latin typeface="Calibri"/>
                <a:cs typeface="Calibri"/>
              </a:rPr>
              <a:t>when </a:t>
            </a:r>
            <a:r>
              <a:rPr sz="3250" dirty="0">
                <a:latin typeface="Calibri"/>
                <a:cs typeface="Calibri"/>
              </a:rPr>
              <a:t>its 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spc="-15" dirty="0">
                <a:latin typeface="Calibri"/>
                <a:cs typeface="Calibri"/>
              </a:rPr>
              <a:t>differential </a:t>
            </a:r>
            <a:r>
              <a:rPr sz="3250" dirty="0">
                <a:latin typeface="Calibri"/>
                <a:cs typeface="Calibri"/>
              </a:rPr>
              <a:t>input </a:t>
            </a:r>
            <a:r>
              <a:rPr sz="3250" spc="-10" dirty="0">
                <a:latin typeface="Calibri"/>
                <a:cs typeface="Calibri"/>
              </a:rPr>
              <a:t>voltage </a:t>
            </a:r>
            <a:r>
              <a:rPr sz="3250" dirty="0">
                <a:latin typeface="Calibri"/>
                <a:cs typeface="Calibri"/>
              </a:rPr>
              <a:t>is </a:t>
            </a:r>
            <a:r>
              <a:rPr sz="3250" spc="-30" dirty="0">
                <a:latin typeface="Calibri"/>
                <a:cs typeface="Calibri"/>
              </a:rPr>
              <a:t>zero </a:t>
            </a:r>
            <a:r>
              <a:rPr sz="3250" dirty="0">
                <a:latin typeface="Calibri"/>
                <a:cs typeface="Calibri"/>
              </a:rPr>
              <a:t>is called as </a:t>
            </a:r>
            <a:r>
              <a:rPr sz="3250" b="1" spc="10" dirty="0">
                <a:latin typeface="Calibri"/>
                <a:cs typeface="Calibri"/>
              </a:rPr>
              <a:t>output </a:t>
            </a:r>
            <a:r>
              <a:rPr sz="3250" b="1" spc="-5" dirty="0">
                <a:latin typeface="Calibri"/>
                <a:cs typeface="Calibri"/>
              </a:rPr>
              <a:t>offset </a:t>
            </a:r>
            <a:r>
              <a:rPr sz="3250" b="1" dirty="0">
                <a:latin typeface="Calibri"/>
                <a:cs typeface="Calibri"/>
              </a:rPr>
              <a:t> </a:t>
            </a:r>
            <a:r>
              <a:rPr sz="3250" b="1" spc="-15" dirty="0">
                <a:latin typeface="Calibri"/>
                <a:cs typeface="Calibri"/>
              </a:rPr>
              <a:t>voltage.</a:t>
            </a:r>
            <a:endParaRPr sz="3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9834371" y="6384875"/>
            <a:ext cx="257810" cy="24447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z="1400" spc="-5" dirty="0">
                <a:solidFill>
                  <a:srgbClr val="888888"/>
                </a:solidFill>
                <a:latin typeface="Calibri"/>
                <a:cs typeface="Calibri"/>
              </a:rPr>
              <a:t>8</a:t>
            </a:fld>
            <a:endParaRPr sz="14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33593" y="697991"/>
            <a:ext cx="7141209" cy="596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750" spc="20" dirty="0"/>
              <a:t>Common</a:t>
            </a:r>
            <a:r>
              <a:rPr sz="3750" spc="-35" dirty="0"/>
              <a:t> </a:t>
            </a:r>
            <a:r>
              <a:rPr sz="3750" spc="60" dirty="0"/>
              <a:t>Mode</a:t>
            </a:r>
            <a:r>
              <a:rPr sz="3750" spc="-95" dirty="0"/>
              <a:t> </a:t>
            </a:r>
            <a:r>
              <a:rPr sz="3750" spc="20" dirty="0"/>
              <a:t>Rejection</a:t>
            </a:r>
            <a:r>
              <a:rPr sz="3750" spc="-40" dirty="0"/>
              <a:t> </a:t>
            </a:r>
            <a:r>
              <a:rPr sz="3750" spc="20" dirty="0"/>
              <a:t>Ratio</a:t>
            </a:r>
            <a:endParaRPr sz="3750"/>
          </a:p>
        </p:txBody>
      </p:sp>
      <p:sp>
        <p:nvSpPr>
          <p:cNvPr id="3" name="object 3"/>
          <p:cNvSpPr txBox="1"/>
          <p:nvPr/>
        </p:nvSpPr>
        <p:spPr>
          <a:xfrm>
            <a:off x="169671" y="1478280"/>
            <a:ext cx="10355580" cy="3717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27355" marR="18415" indent="-402590" algn="just">
              <a:lnSpc>
                <a:spcPct val="100600"/>
              </a:lnSpc>
              <a:spcBef>
                <a:spcPts val="90"/>
              </a:spcBef>
              <a:buFont typeface="Arial MT"/>
              <a:buChar char="•"/>
              <a:tabLst>
                <a:tab pos="427990" algn="l"/>
              </a:tabLst>
            </a:pPr>
            <a:r>
              <a:rPr sz="3250" spc="10" dirty="0">
                <a:latin typeface="Calibri"/>
                <a:cs typeface="Calibri"/>
              </a:rPr>
              <a:t>Common </a:t>
            </a:r>
            <a:r>
              <a:rPr sz="3250" spc="5" dirty="0">
                <a:latin typeface="Calibri"/>
                <a:cs typeface="Calibri"/>
              </a:rPr>
              <a:t>Mode Rejection </a:t>
            </a:r>
            <a:r>
              <a:rPr sz="3250" spc="-5" dirty="0">
                <a:latin typeface="Calibri"/>
                <a:cs typeface="Calibri"/>
              </a:rPr>
              <a:t>Ratio </a:t>
            </a:r>
            <a:r>
              <a:rPr sz="3250" spc="10" dirty="0">
                <a:latin typeface="Calibri"/>
                <a:cs typeface="Calibri"/>
              </a:rPr>
              <a:t>(CMRR) </a:t>
            </a:r>
            <a:r>
              <a:rPr sz="3250" spc="5" dirty="0">
                <a:latin typeface="Calibri"/>
                <a:cs typeface="Calibri"/>
              </a:rPr>
              <a:t>of </a:t>
            </a:r>
            <a:r>
              <a:rPr sz="3250" spc="10" dirty="0">
                <a:latin typeface="Calibri"/>
                <a:cs typeface="Calibri"/>
              </a:rPr>
              <a:t>an op-amp </a:t>
            </a:r>
            <a:r>
              <a:rPr sz="3250" dirty="0">
                <a:latin typeface="Calibri"/>
                <a:cs typeface="Calibri"/>
              </a:rPr>
              <a:t>is 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defined </a:t>
            </a:r>
            <a:r>
              <a:rPr sz="3250" spc="10" dirty="0">
                <a:latin typeface="Calibri"/>
                <a:cs typeface="Calibri"/>
              </a:rPr>
              <a:t>as the </a:t>
            </a:r>
            <a:r>
              <a:rPr sz="3250" spc="-20" dirty="0">
                <a:latin typeface="Calibri"/>
                <a:cs typeface="Calibri"/>
              </a:rPr>
              <a:t>ratio </a:t>
            </a:r>
            <a:r>
              <a:rPr sz="3250" spc="5" dirty="0">
                <a:latin typeface="Calibri"/>
                <a:cs typeface="Calibri"/>
              </a:rPr>
              <a:t>of </a:t>
            </a:r>
            <a:r>
              <a:rPr sz="3250" dirty="0">
                <a:latin typeface="Calibri"/>
                <a:cs typeface="Calibri"/>
              </a:rPr>
              <a:t>the </a:t>
            </a:r>
            <a:r>
              <a:rPr sz="3250" spc="5" dirty="0">
                <a:latin typeface="Calibri"/>
                <a:cs typeface="Calibri"/>
              </a:rPr>
              <a:t>closed </a:t>
            </a:r>
            <a:r>
              <a:rPr sz="3250" spc="10" dirty="0">
                <a:latin typeface="Calibri"/>
                <a:cs typeface="Calibri"/>
              </a:rPr>
              <a:t>loop </a:t>
            </a:r>
            <a:r>
              <a:rPr sz="3250" spc="-10" dirty="0">
                <a:latin typeface="Calibri"/>
                <a:cs typeface="Calibri"/>
              </a:rPr>
              <a:t>differential </a:t>
            </a:r>
            <a:r>
              <a:rPr sz="3250" spc="-15" dirty="0">
                <a:latin typeface="Calibri"/>
                <a:cs typeface="Calibri"/>
              </a:rPr>
              <a:t>gain, </a:t>
            </a:r>
            <a:r>
              <a:rPr sz="3250" spc="20" dirty="0">
                <a:latin typeface="Calibri"/>
                <a:cs typeface="Calibri"/>
              </a:rPr>
              <a:t>Ad </a:t>
            </a:r>
            <a:r>
              <a:rPr sz="3250" spc="2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and</a:t>
            </a:r>
            <a:r>
              <a:rPr sz="3250" spc="3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the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common</a:t>
            </a:r>
            <a:r>
              <a:rPr sz="3250" spc="25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mode</a:t>
            </a:r>
            <a:r>
              <a:rPr sz="3250" spc="40" dirty="0">
                <a:latin typeface="Calibri"/>
                <a:cs typeface="Calibri"/>
              </a:rPr>
              <a:t> </a:t>
            </a:r>
            <a:r>
              <a:rPr sz="3250" spc="-15" dirty="0">
                <a:latin typeface="Calibri"/>
                <a:cs typeface="Calibri"/>
              </a:rPr>
              <a:t>gain,</a:t>
            </a:r>
            <a:r>
              <a:rPr sz="3250" spc="5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Ac</a:t>
            </a:r>
            <a:endParaRPr sz="3250">
              <a:latin typeface="Calibri"/>
              <a:cs typeface="Calibri"/>
            </a:endParaRPr>
          </a:p>
          <a:p>
            <a:pPr marL="427355" indent="-402590">
              <a:lnSpc>
                <a:spcPct val="100000"/>
              </a:lnSpc>
              <a:spcBef>
                <a:spcPts val="825"/>
              </a:spcBef>
              <a:buFont typeface="Arial MT"/>
              <a:buChar char="•"/>
              <a:tabLst>
                <a:tab pos="427355" algn="l"/>
                <a:tab pos="427990" algn="l"/>
              </a:tabLst>
            </a:pPr>
            <a:r>
              <a:rPr sz="3250" spc="5" dirty="0">
                <a:latin typeface="Calibri"/>
                <a:cs typeface="Calibri"/>
              </a:rPr>
              <a:t>CMRR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=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A</a:t>
            </a:r>
            <a:r>
              <a:rPr sz="3225" spc="-15" baseline="-20671" dirty="0">
                <a:latin typeface="Calibri"/>
                <a:cs typeface="Calibri"/>
              </a:rPr>
              <a:t>d</a:t>
            </a:r>
            <a:r>
              <a:rPr sz="3250" spc="-10" dirty="0">
                <a:latin typeface="Calibri"/>
                <a:cs typeface="Calibri"/>
              </a:rPr>
              <a:t>/A</a:t>
            </a:r>
            <a:r>
              <a:rPr sz="3225" spc="-15" baseline="-20671" dirty="0">
                <a:latin typeface="Calibri"/>
                <a:cs typeface="Calibri"/>
              </a:rPr>
              <a:t>c</a:t>
            </a:r>
            <a:endParaRPr sz="3225" baseline="-20671">
              <a:latin typeface="Calibri"/>
              <a:cs typeface="Calibri"/>
            </a:endParaRPr>
          </a:p>
          <a:p>
            <a:pPr marL="427355" marR="17780" indent="-402590" algn="just">
              <a:lnSpc>
                <a:spcPct val="100899"/>
              </a:lnSpc>
              <a:spcBef>
                <a:spcPts val="770"/>
              </a:spcBef>
              <a:buFont typeface="Arial MT"/>
              <a:buChar char="•"/>
              <a:tabLst>
                <a:tab pos="427990" algn="l"/>
              </a:tabLst>
            </a:pPr>
            <a:r>
              <a:rPr sz="3250" dirty="0">
                <a:latin typeface="Calibri"/>
                <a:cs typeface="Calibri"/>
              </a:rPr>
              <a:t>Note </a:t>
            </a:r>
            <a:r>
              <a:rPr sz="3250" spc="-5" dirty="0">
                <a:latin typeface="Calibri"/>
                <a:cs typeface="Calibri"/>
              </a:rPr>
              <a:t>that </a:t>
            </a:r>
            <a:r>
              <a:rPr sz="3250" dirty="0">
                <a:latin typeface="Calibri"/>
                <a:cs typeface="Calibri"/>
              </a:rPr>
              <a:t>the </a:t>
            </a:r>
            <a:r>
              <a:rPr sz="3250" spc="5" dirty="0">
                <a:latin typeface="Calibri"/>
                <a:cs typeface="Calibri"/>
              </a:rPr>
              <a:t>common </a:t>
            </a:r>
            <a:r>
              <a:rPr sz="3250" spc="10" dirty="0">
                <a:latin typeface="Calibri"/>
                <a:cs typeface="Calibri"/>
              </a:rPr>
              <a:t>mode </a:t>
            </a:r>
            <a:r>
              <a:rPr sz="3250" spc="-15" dirty="0">
                <a:latin typeface="Calibri"/>
                <a:cs typeface="Calibri"/>
              </a:rPr>
              <a:t>gain, </a:t>
            </a:r>
            <a:r>
              <a:rPr sz="3250" spc="5" dirty="0">
                <a:latin typeface="Calibri"/>
                <a:cs typeface="Calibri"/>
              </a:rPr>
              <a:t>Ac of </a:t>
            </a:r>
            <a:r>
              <a:rPr sz="3250" spc="10" dirty="0">
                <a:latin typeface="Calibri"/>
                <a:cs typeface="Calibri"/>
              </a:rPr>
              <a:t>an op-amp </a:t>
            </a:r>
            <a:r>
              <a:rPr sz="3250" dirty="0">
                <a:latin typeface="Calibri"/>
                <a:cs typeface="Calibri"/>
              </a:rPr>
              <a:t>is </a:t>
            </a:r>
            <a:r>
              <a:rPr sz="3250" spc="10" dirty="0">
                <a:latin typeface="Calibri"/>
                <a:cs typeface="Calibri"/>
              </a:rPr>
              <a:t>the 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spc="-20" dirty="0">
                <a:latin typeface="Calibri"/>
                <a:cs typeface="Calibri"/>
              </a:rPr>
              <a:t>ratio</a:t>
            </a:r>
            <a:r>
              <a:rPr sz="3250" spc="-15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of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the</a:t>
            </a:r>
            <a:r>
              <a:rPr sz="3250" spc="5" dirty="0">
                <a:latin typeface="Calibri"/>
                <a:cs typeface="Calibri"/>
              </a:rPr>
              <a:t> common</a:t>
            </a:r>
            <a:r>
              <a:rPr sz="3250" spc="10" dirty="0">
                <a:latin typeface="Calibri"/>
                <a:cs typeface="Calibri"/>
              </a:rPr>
              <a:t> mode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spc="10" dirty="0">
                <a:latin typeface="Calibri"/>
                <a:cs typeface="Calibri"/>
              </a:rPr>
              <a:t>output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voltage</a:t>
            </a:r>
            <a:r>
              <a:rPr sz="3250" spc="-5" dirty="0">
                <a:latin typeface="Calibri"/>
                <a:cs typeface="Calibri"/>
              </a:rPr>
              <a:t> </a:t>
            </a:r>
            <a:r>
              <a:rPr sz="3250" spc="10" dirty="0">
                <a:latin typeface="Calibri"/>
                <a:cs typeface="Calibri"/>
              </a:rPr>
              <a:t>and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spc="10" dirty="0">
                <a:latin typeface="Calibri"/>
                <a:cs typeface="Calibri"/>
              </a:rPr>
              <a:t>the 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common</a:t>
            </a:r>
            <a:r>
              <a:rPr sz="3250" spc="2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mode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input</a:t>
            </a:r>
            <a:r>
              <a:rPr sz="3250" spc="80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voltage.</a:t>
            </a:r>
            <a:endParaRPr sz="3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9834371" y="6384875"/>
            <a:ext cx="257810" cy="24447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z="1400" spc="-5" dirty="0">
                <a:solidFill>
                  <a:srgbClr val="888888"/>
                </a:solidFill>
                <a:latin typeface="Calibri"/>
                <a:cs typeface="Calibri"/>
              </a:rPr>
              <a:t>9</a:t>
            </a:fld>
            <a:endParaRPr sz="14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5900" y="768096"/>
            <a:ext cx="250571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14" dirty="0"/>
              <a:t>Slew</a:t>
            </a:r>
            <a:r>
              <a:rPr spc="-80" dirty="0"/>
              <a:t> </a:t>
            </a:r>
            <a:r>
              <a:rPr spc="30" dirty="0"/>
              <a:t>Rate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9671" y="1478280"/>
            <a:ext cx="10357485" cy="271780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427355" marR="17780" indent="-402590">
              <a:lnSpc>
                <a:spcPct val="100899"/>
              </a:lnSpc>
              <a:spcBef>
                <a:spcPts val="75"/>
              </a:spcBef>
              <a:buFont typeface="Arial MT"/>
              <a:buChar char="•"/>
              <a:tabLst>
                <a:tab pos="427355" algn="l"/>
                <a:tab pos="427990" algn="l"/>
              </a:tabLst>
            </a:pPr>
            <a:r>
              <a:rPr sz="3250" spc="-5" dirty="0">
                <a:latin typeface="Calibri"/>
                <a:cs typeface="Calibri"/>
              </a:rPr>
              <a:t>Slew</a:t>
            </a:r>
            <a:r>
              <a:rPr sz="3250" spc="120" dirty="0">
                <a:latin typeface="Calibri"/>
                <a:cs typeface="Calibri"/>
              </a:rPr>
              <a:t> </a:t>
            </a:r>
            <a:r>
              <a:rPr sz="3250" spc="-30" dirty="0">
                <a:latin typeface="Calibri"/>
                <a:cs typeface="Calibri"/>
              </a:rPr>
              <a:t>rate</a:t>
            </a:r>
            <a:r>
              <a:rPr sz="3250" spc="114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of</a:t>
            </a:r>
            <a:r>
              <a:rPr sz="3250" spc="114" dirty="0">
                <a:latin typeface="Calibri"/>
                <a:cs typeface="Calibri"/>
              </a:rPr>
              <a:t> </a:t>
            </a:r>
            <a:r>
              <a:rPr sz="3250" spc="10" dirty="0">
                <a:latin typeface="Calibri"/>
                <a:cs typeface="Calibri"/>
              </a:rPr>
              <a:t>an</a:t>
            </a:r>
            <a:r>
              <a:rPr sz="3250" spc="100" dirty="0">
                <a:latin typeface="Calibri"/>
                <a:cs typeface="Calibri"/>
              </a:rPr>
              <a:t> </a:t>
            </a:r>
            <a:r>
              <a:rPr sz="3250" spc="10" dirty="0">
                <a:latin typeface="Calibri"/>
                <a:cs typeface="Calibri"/>
              </a:rPr>
              <a:t>op-amp</a:t>
            </a:r>
            <a:r>
              <a:rPr sz="3250" spc="12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is</a:t>
            </a:r>
            <a:r>
              <a:rPr sz="3250" spc="14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defined</a:t>
            </a:r>
            <a:r>
              <a:rPr sz="3250" spc="12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as</a:t>
            </a:r>
            <a:r>
              <a:rPr sz="3250" spc="12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the</a:t>
            </a:r>
            <a:r>
              <a:rPr sz="3250" spc="11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maximum</a:t>
            </a:r>
            <a:r>
              <a:rPr sz="3250" spc="145" dirty="0">
                <a:latin typeface="Calibri"/>
                <a:cs typeface="Calibri"/>
              </a:rPr>
              <a:t> </a:t>
            </a:r>
            <a:r>
              <a:rPr sz="3250" spc="-25" dirty="0">
                <a:latin typeface="Calibri"/>
                <a:cs typeface="Calibri"/>
              </a:rPr>
              <a:t>rate</a:t>
            </a:r>
            <a:r>
              <a:rPr sz="3250" spc="11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of </a:t>
            </a:r>
            <a:r>
              <a:rPr sz="3250" spc="-72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change</a:t>
            </a:r>
            <a:r>
              <a:rPr sz="3250" spc="3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of</a:t>
            </a:r>
            <a:r>
              <a:rPr sz="3250" spc="2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the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output</a:t>
            </a:r>
            <a:r>
              <a:rPr sz="3250" spc="65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voltage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due</a:t>
            </a:r>
            <a:r>
              <a:rPr sz="3250" spc="5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to </a:t>
            </a:r>
            <a:r>
              <a:rPr sz="3250" spc="5" dirty="0">
                <a:latin typeface="Calibri"/>
                <a:cs typeface="Calibri"/>
              </a:rPr>
              <a:t>a</a:t>
            </a:r>
            <a:r>
              <a:rPr sz="3250" spc="25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step</a:t>
            </a:r>
            <a:r>
              <a:rPr sz="3250" spc="2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input</a:t>
            </a:r>
            <a:r>
              <a:rPr sz="3250" spc="55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voltage.</a:t>
            </a:r>
            <a:endParaRPr sz="3250">
              <a:latin typeface="Calibri"/>
              <a:cs typeface="Calibri"/>
            </a:endParaRPr>
          </a:p>
          <a:p>
            <a:pPr marL="427355" indent="-402590">
              <a:lnSpc>
                <a:spcPct val="100000"/>
              </a:lnSpc>
              <a:spcBef>
                <a:spcPts val="805"/>
              </a:spcBef>
              <a:buFont typeface="Arial MT"/>
              <a:buChar char="•"/>
              <a:tabLst>
                <a:tab pos="427355" algn="l"/>
                <a:tab pos="427990" algn="l"/>
              </a:tabLst>
            </a:pPr>
            <a:r>
              <a:rPr sz="3250" dirty="0">
                <a:latin typeface="Calibri"/>
                <a:cs typeface="Calibri"/>
              </a:rPr>
              <a:t>SR</a:t>
            </a:r>
            <a:r>
              <a:rPr sz="3250" spc="2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=</a:t>
            </a:r>
            <a:r>
              <a:rPr sz="3250" spc="2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Maximum</a:t>
            </a:r>
            <a:r>
              <a:rPr sz="3250" spc="55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of</a:t>
            </a:r>
            <a:r>
              <a:rPr sz="3250" spc="-2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dV</a:t>
            </a:r>
            <a:r>
              <a:rPr sz="3225" baseline="-20671" dirty="0">
                <a:latin typeface="Calibri"/>
                <a:cs typeface="Calibri"/>
              </a:rPr>
              <a:t>0</a:t>
            </a:r>
            <a:r>
              <a:rPr sz="3250" dirty="0">
                <a:latin typeface="Calibri"/>
                <a:cs typeface="Calibri"/>
              </a:rPr>
              <a:t>/dt</a:t>
            </a:r>
            <a:endParaRPr sz="3250">
              <a:latin typeface="Calibri"/>
              <a:cs typeface="Calibri"/>
            </a:endParaRPr>
          </a:p>
          <a:p>
            <a:pPr marL="427355" marR="18415" indent="-402590">
              <a:lnSpc>
                <a:spcPct val="100299"/>
              </a:lnSpc>
              <a:spcBef>
                <a:spcPts val="820"/>
              </a:spcBef>
              <a:buFont typeface="Arial MT"/>
              <a:buChar char="•"/>
              <a:tabLst>
                <a:tab pos="427355" algn="l"/>
                <a:tab pos="427990" algn="l"/>
                <a:tab pos="1829435" algn="l"/>
                <a:tab pos="2366010" algn="l"/>
                <a:tab pos="2783205" algn="l"/>
                <a:tab pos="3512185" algn="l"/>
                <a:tab pos="4825365" algn="l"/>
                <a:tab pos="6318885" algn="l"/>
                <a:tab pos="6800850" algn="l"/>
                <a:tab pos="8321675" algn="l"/>
                <a:tab pos="9239250" algn="l"/>
                <a:tab pos="10074275" algn="l"/>
              </a:tabLst>
            </a:pPr>
            <a:r>
              <a:rPr sz="3250" spc="10" dirty="0">
                <a:latin typeface="Calibri"/>
                <a:cs typeface="Calibri"/>
              </a:rPr>
              <a:t>W</a:t>
            </a:r>
            <a:r>
              <a:rPr sz="3250" spc="-5" dirty="0">
                <a:latin typeface="Calibri"/>
                <a:cs typeface="Calibri"/>
              </a:rPr>
              <a:t>h</a:t>
            </a:r>
            <a:r>
              <a:rPr sz="3250" spc="35" dirty="0">
                <a:latin typeface="Calibri"/>
                <a:cs typeface="Calibri"/>
              </a:rPr>
              <a:t>e</a:t>
            </a:r>
            <a:r>
              <a:rPr sz="3250" spc="-60" dirty="0">
                <a:latin typeface="Calibri"/>
                <a:cs typeface="Calibri"/>
              </a:rPr>
              <a:t>r</a:t>
            </a:r>
            <a:r>
              <a:rPr sz="3250" spc="10" dirty="0">
                <a:latin typeface="Calibri"/>
                <a:cs typeface="Calibri"/>
              </a:rPr>
              <a:t>e</a:t>
            </a:r>
            <a:r>
              <a:rPr sz="3250" dirty="0">
                <a:latin typeface="Calibri"/>
                <a:cs typeface="Calibri"/>
              </a:rPr>
              <a:t>,	V</a:t>
            </a:r>
            <a:r>
              <a:rPr sz="3225" spc="22" baseline="-20671" dirty="0">
                <a:latin typeface="Calibri"/>
                <a:cs typeface="Calibri"/>
              </a:rPr>
              <a:t>0</a:t>
            </a:r>
            <a:r>
              <a:rPr sz="3225" baseline="-20671" dirty="0">
                <a:latin typeface="Calibri"/>
                <a:cs typeface="Calibri"/>
              </a:rPr>
              <a:t>	</a:t>
            </a:r>
            <a:r>
              <a:rPr sz="3250" spc="15" dirty="0">
                <a:latin typeface="Calibri"/>
                <a:cs typeface="Calibri"/>
              </a:rPr>
              <a:t>i</a:t>
            </a:r>
            <a:r>
              <a:rPr sz="3250" spc="5" dirty="0">
                <a:latin typeface="Calibri"/>
                <a:cs typeface="Calibri"/>
              </a:rPr>
              <a:t>s</a:t>
            </a:r>
            <a:r>
              <a:rPr sz="3250" dirty="0">
                <a:latin typeface="Calibri"/>
                <a:cs typeface="Calibri"/>
              </a:rPr>
              <a:t>	</a:t>
            </a:r>
            <a:r>
              <a:rPr sz="3250" spc="30" dirty="0">
                <a:latin typeface="Calibri"/>
                <a:cs typeface="Calibri"/>
              </a:rPr>
              <a:t>t</a:t>
            </a:r>
            <a:r>
              <a:rPr sz="3250" spc="-5" dirty="0">
                <a:latin typeface="Calibri"/>
                <a:cs typeface="Calibri"/>
              </a:rPr>
              <a:t>h</a:t>
            </a:r>
            <a:r>
              <a:rPr sz="3250" spc="5" dirty="0">
                <a:latin typeface="Calibri"/>
                <a:cs typeface="Calibri"/>
              </a:rPr>
              <a:t>e</a:t>
            </a:r>
            <a:r>
              <a:rPr sz="3250" dirty="0">
                <a:latin typeface="Calibri"/>
                <a:cs typeface="Calibri"/>
              </a:rPr>
              <a:t>	</a:t>
            </a:r>
            <a:r>
              <a:rPr sz="3250" spc="10" dirty="0">
                <a:latin typeface="Calibri"/>
                <a:cs typeface="Calibri"/>
              </a:rPr>
              <a:t>o</a:t>
            </a:r>
            <a:r>
              <a:rPr sz="3250" spc="-5" dirty="0">
                <a:latin typeface="Calibri"/>
                <a:cs typeface="Calibri"/>
              </a:rPr>
              <a:t>u</a:t>
            </a:r>
            <a:r>
              <a:rPr sz="3250" spc="5" dirty="0">
                <a:latin typeface="Calibri"/>
                <a:cs typeface="Calibri"/>
              </a:rPr>
              <a:t>t</a:t>
            </a:r>
            <a:r>
              <a:rPr sz="3250" spc="15" dirty="0">
                <a:latin typeface="Calibri"/>
                <a:cs typeface="Calibri"/>
              </a:rPr>
              <a:t>p</a:t>
            </a:r>
            <a:r>
              <a:rPr sz="3250" spc="-5" dirty="0">
                <a:latin typeface="Calibri"/>
                <a:cs typeface="Calibri"/>
              </a:rPr>
              <a:t>u</a:t>
            </a:r>
            <a:r>
              <a:rPr sz="3250" dirty="0">
                <a:latin typeface="Calibri"/>
                <a:cs typeface="Calibri"/>
              </a:rPr>
              <a:t>t	</a:t>
            </a:r>
            <a:r>
              <a:rPr sz="3250" spc="-30" dirty="0">
                <a:latin typeface="Calibri"/>
                <a:cs typeface="Calibri"/>
              </a:rPr>
              <a:t>v</a:t>
            </a:r>
            <a:r>
              <a:rPr sz="3250" spc="10" dirty="0">
                <a:latin typeface="Calibri"/>
                <a:cs typeface="Calibri"/>
              </a:rPr>
              <a:t>o</a:t>
            </a:r>
            <a:r>
              <a:rPr sz="3250" spc="-5" dirty="0">
                <a:latin typeface="Calibri"/>
                <a:cs typeface="Calibri"/>
              </a:rPr>
              <a:t>l</a:t>
            </a:r>
            <a:r>
              <a:rPr sz="3250" spc="-40" dirty="0">
                <a:latin typeface="Calibri"/>
                <a:cs typeface="Calibri"/>
              </a:rPr>
              <a:t>t</a:t>
            </a:r>
            <a:r>
              <a:rPr sz="3250" dirty="0">
                <a:latin typeface="Calibri"/>
                <a:cs typeface="Calibri"/>
              </a:rPr>
              <a:t>a</a:t>
            </a:r>
            <a:r>
              <a:rPr sz="3250" spc="-20" dirty="0">
                <a:latin typeface="Calibri"/>
                <a:cs typeface="Calibri"/>
              </a:rPr>
              <a:t>g</a:t>
            </a:r>
            <a:r>
              <a:rPr sz="3250" spc="5" dirty="0">
                <a:latin typeface="Calibri"/>
                <a:cs typeface="Calibri"/>
              </a:rPr>
              <a:t>e</a:t>
            </a:r>
            <a:r>
              <a:rPr sz="3250" dirty="0">
                <a:latin typeface="Calibri"/>
                <a:cs typeface="Calibri"/>
              </a:rPr>
              <a:t>.	</a:t>
            </a:r>
            <a:r>
              <a:rPr sz="3250" spc="15" dirty="0">
                <a:latin typeface="Calibri"/>
                <a:cs typeface="Calibri"/>
              </a:rPr>
              <a:t>I</a:t>
            </a:r>
            <a:r>
              <a:rPr sz="3250" spc="5" dirty="0">
                <a:latin typeface="Calibri"/>
                <a:cs typeface="Calibri"/>
              </a:rPr>
              <a:t>n</a:t>
            </a:r>
            <a:r>
              <a:rPr sz="3250" dirty="0">
                <a:latin typeface="Calibri"/>
                <a:cs typeface="Calibri"/>
              </a:rPr>
              <a:t>	</a:t>
            </a:r>
            <a:r>
              <a:rPr sz="3250" spc="-20" dirty="0">
                <a:latin typeface="Calibri"/>
                <a:cs typeface="Calibri"/>
              </a:rPr>
              <a:t>g</a:t>
            </a:r>
            <a:r>
              <a:rPr sz="3250" spc="35" dirty="0">
                <a:latin typeface="Calibri"/>
                <a:cs typeface="Calibri"/>
              </a:rPr>
              <a:t>e</a:t>
            </a:r>
            <a:r>
              <a:rPr sz="3250" spc="-5" dirty="0">
                <a:latin typeface="Calibri"/>
                <a:cs typeface="Calibri"/>
              </a:rPr>
              <a:t>n</a:t>
            </a:r>
            <a:r>
              <a:rPr sz="3250" spc="5" dirty="0">
                <a:latin typeface="Calibri"/>
                <a:cs typeface="Calibri"/>
              </a:rPr>
              <a:t>e</a:t>
            </a:r>
            <a:r>
              <a:rPr sz="3250" spc="-85" dirty="0">
                <a:latin typeface="Calibri"/>
                <a:cs typeface="Calibri"/>
              </a:rPr>
              <a:t>r</a:t>
            </a:r>
            <a:r>
              <a:rPr sz="3250" dirty="0">
                <a:latin typeface="Calibri"/>
                <a:cs typeface="Calibri"/>
              </a:rPr>
              <a:t>a</a:t>
            </a:r>
            <a:r>
              <a:rPr sz="3250" spc="15" dirty="0">
                <a:latin typeface="Calibri"/>
                <a:cs typeface="Calibri"/>
              </a:rPr>
              <a:t>l</a:t>
            </a:r>
            <a:r>
              <a:rPr sz="3250" dirty="0">
                <a:latin typeface="Calibri"/>
                <a:cs typeface="Calibri"/>
              </a:rPr>
              <a:t>,	s</a:t>
            </a:r>
            <a:r>
              <a:rPr sz="3250" spc="-5" dirty="0">
                <a:latin typeface="Calibri"/>
                <a:cs typeface="Calibri"/>
              </a:rPr>
              <a:t>l</a:t>
            </a:r>
            <a:r>
              <a:rPr sz="3250" spc="-15" dirty="0">
                <a:latin typeface="Calibri"/>
                <a:cs typeface="Calibri"/>
              </a:rPr>
              <a:t>e</a:t>
            </a:r>
            <a:r>
              <a:rPr sz="3250" spc="10" dirty="0">
                <a:latin typeface="Calibri"/>
                <a:cs typeface="Calibri"/>
              </a:rPr>
              <a:t>w</a:t>
            </a:r>
            <a:r>
              <a:rPr sz="3250" dirty="0">
                <a:latin typeface="Calibri"/>
                <a:cs typeface="Calibri"/>
              </a:rPr>
              <a:t>	</a:t>
            </a:r>
            <a:r>
              <a:rPr sz="3250" spc="-60" dirty="0">
                <a:latin typeface="Calibri"/>
                <a:cs typeface="Calibri"/>
              </a:rPr>
              <a:t>r</a:t>
            </a:r>
            <a:r>
              <a:rPr sz="3250" spc="-25" dirty="0">
                <a:latin typeface="Calibri"/>
                <a:cs typeface="Calibri"/>
              </a:rPr>
              <a:t>a</a:t>
            </a:r>
            <a:r>
              <a:rPr sz="3250" spc="-15" dirty="0">
                <a:latin typeface="Calibri"/>
                <a:cs typeface="Calibri"/>
              </a:rPr>
              <a:t>t</a:t>
            </a:r>
            <a:r>
              <a:rPr sz="3250" spc="5" dirty="0">
                <a:latin typeface="Calibri"/>
                <a:cs typeface="Calibri"/>
              </a:rPr>
              <a:t>e</a:t>
            </a:r>
            <a:r>
              <a:rPr sz="3250" dirty="0">
                <a:latin typeface="Calibri"/>
                <a:cs typeface="Calibri"/>
              </a:rPr>
              <a:t>	</a:t>
            </a:r>
            <a:r>
              <a:rPr sz="3250" spc="-5" dirty="0">
                <a:latin typeface="Calibri"/>
                <a:cs typeface="Calibri"/>
              </a:rPr>
              <a:t>i</a:t>
            </a:r>
            <a:r>
              <a:rPr sz="3250" dirty="0">
                <a:latin typeface="Calibri"/>
                <a:cs typeface="Calibri"/>
              </a:rPr>
              <a:t>s  </a:t>
            </a:r>
            <a:r>
              <a:rPr sz="3250" spc="-5" dirty="0">
                <a:latin typeface="Calibri"/>
                <a:cs typeface="Calibri"/>
              </a:rPr>
              <a:t>measured</a:t>
            </a:r>
            <a:r>
              <a:rPr sz="3250" spc="7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in</a:t>
            </a:r>
            <a:r>
              <a:rPr sz="3250" spc="2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either </a:t>
            </a:r>
            <a:r>
              <a:rPr sz="3250" spc="-25" dirty="0">
                <a:latin typeface="Calibri"/>
                <a:cs typeface="Calibri"/>
              </a:rPr>
              <a:t>V/μSec</a:t>
            </a:r>
            <a:r>
              <a:rPr sz="3250" spc="45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or</a:t>
            </a:r>
            <a:r>
              <a:rPr sz="3250" spc="20" dirty="0">
                <a:latin typeface="Calibri"/>
                <a:cs typeface="Calibri"/>
              </a:rPr>
              <a:t> </a:t>
            </a:r>
            <a:r>
              <a:rPr sz="3250" spc="-20" dirty="0">
                <a:latin typeface="Calibri"/>
                <a:cs typeface="Calibri"/>
              </a:rPr>
              <a:t>V/mSec.</a:t>
            </a:r>
            <a:endParaRPr sz="3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9834371" y="6384875"/>
            <a:ext cx="257810" cy="24447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z="1400" spc="-5" dirty="0">
                <a:solidFill>
                  <a:srgbClr val="888888"/>
                </a:solidFill>
                <a:latin typeface="Calibri"/>
                <a:cs typeface="Calibri"/>
              </a:rPr>
              <a:t>10</a:t>
            </a:fld>
            <a:endParaRPr sz="14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45" dirty="0"/>
              <a:t>O</a:t>
            </a:r>
            <a:r>
              <a:rPr spc="204" dirty="0"/>
              <a:t>p</a:t>
            </a:r>
            <a:r>
              <a:rPr spc="40" dirty="0"/>
              <a:t>-</a:t>
            </a:r>
            <a:r>
              <a:rPr spc="-100" dirty="0"/>
              <a:t>A</a:t>
            </a:r>
            <a:r>
              <a:rPr spc="200" dirty="0"/>
              <a:t>m</a:t>
            </a:r>
            <a:r>
              <a:rPr dirty="0"/>
              <a:t>p</a:t>
            </a:r>
            <a:r>
              <a:rPr spc="-325" dirty="0"/>
              <a:t> </a:t>
            </a:r>
            <a:r>
              <a:rPr spc="125" dirty="0"/>
              <a:t>T</a:t>
            </a:r>
            <a:r>
              <a:rPr spc="75" dirty="0"/>
              <a:t>y</a:t>
            </a:r>
            <a:r>
              <a:rPr spc="20" dirty="0"/>
              <a:t>p</a:t>
            </a:r>
            <a:r>
              <a:rPr spc="30" dirty="0"/>
              <a:t>e</a:t>
            </a:r>
            <a:r>
              <a:rPr spc="-195"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371" y="1378305"/>
            <a:ext cx="3357879" cy="122047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z="3250" dirty="0">
                <a:latin typeface="Calibri"/>
                <a:cs typeface="Calibri"/>
              </a:rPr>
              <a:t>Ideal</a:t>
            </a:r>
            <a:r>
              <a:rPr sz="3250" spc="-15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Op-Amp</a:t>
            </a:r>
            <a:endParaRPr sz="3250">
              <a:latin typeface="Calibri"/>
              <a:cs typeface="Calibri"/>
            </a:endParaRPr>
          </a:p>
          <a:p>
            <a:pPr marL="414655" indent="-402590">
              <a:lnSpc>
                <a:spcPct val="100000"/>
              </a:lnSpc>
              <a:spcBef>
                <a:spcPts val="805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z="3250" spc="-10" dirty="0">
                <a:latin typeface="Calibri"/>
                <a:cs typeface="Calibri"/>
              </a:rPr>
              <a:t>Practical</a:t>
            </a:r>
            <a:r>
              <a:rPr sz="3250" spc="-3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Op-Amp</a:t>
            </a:r>
            <a:endParaRPr sz="3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38583" y="679703"/>
            <a:ext cx="369824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10" dirty="0"/>
              <a:t>I</a:t>
            </a:r>
            <a:r>
              <a:rPr spc="20" dirty="0"/>
              <a:t>d</a:t>
            </a:r>
            <a:r>
              <a:rPr spc="30" dirty="0"/>
              <a:t>e</a:t>
            </a:r>
            <a:r>
              <a:rPr spc="60" dirty="0"/>
              <a:t>a</a:t>
            </a:r>
            <a:r>
              <a:rPr dirty="0"/>
              <a:t>l</a:t>
            </a:r>
            <a:r>
              <a:rPr spc="95" dirty="0"/>
              <a:t> </a:t>
            </a:r>
            <a:r>
              <a:rPr spc="145" dirty="0"/>
              <a:t>O</a:t>
            </a:r>
            <a:r>
              <a:rPr dirty="0"/>
              <a:t>p</a:t>
            </a:r>
            <a:r>
              <a:rPr spc="-370" dirty="0"/>
              <a:t> </a:t>
            </a:r>
            <a:r>
              <a:rPr spc="40" dirty="0"/>
              <a:t>-</a:t>
            </a:r>
            <a:r>
              <a:rPr spc="-100" dirty="0"/>
              <a:t>A</a:t>
            </a:r>
            <a:r>
              <a:rPr spc="200" dirty="0"/>
              <a:t>m</a:t>
            </a:r>
            <a:r>
              <a:rPr dirty="0"/>
              <a:t>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2956" y="1356969"/>
            <a:ext cx="6776720" cy="1397000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z="3750" spc="-15" dirty="0">
                <a:latin typeface="Calibri"/>
                <a:cs typeface="Calibri"/>
              </a:rPr>
              <a:t>Theoretical,</a:t>
            </a:r>
            <a:r>
              <a:rPr sz="3750" spc="-10" dirty="0">
                <a:latin typeface="Calibri"/>
                <a:cs typeface="Calibri"/>
              </a:rPr>
              <a:t> non</a:t>
            </a:r>
            <a:r>
              <a:rPr sz="3750" spc="10" dirty="0">
                <a:latin typeface="Calibri"/>
                <a:cs typeface="Calibri"/>
              </a:rPr>
              <a:t> </a:t>
            </a:r>
            <a:r>
              <a:rPr sz="3750" spc="-20" dirty="0">
                <a:latin typeface="Calibri"/>
                <a:cs typeface="Calibri"/>
              </a:rPr>
              <a:t>exist</a:t>
            </a:r>
            <a:r>
              <a:rPr sz="3750" spc="-10" dirty="0">
                <a:latin typeface="Calibri"/>
                <a:cs typeface="Calibri"/>
              </a:rPr>
              <a:t> </a:t>
            </a:r>
            <a:r>
              <a:rPr sz="3750" spc="-5" dirty="0">
                <a:latin typeface="Calibri"/>
                <a:cs typeface="Calibri"/>
              </a:rPr>
              <a:t>in</a:t>
            </a:r>
            <a:r>
              <a:rPr sz="3750" spc="-10" dirty="0">
                <a:latin typeface="Calibri"/>
                <a:cs typeface="Calibri"/>
              </a:rPr>
              <a:t> </a:t>
            </a:r>
            <a:r>
              <a:rPr sz="3750" spc="-20" dirty="0">
                <a:latin typeface="Calibri"/>
                <a:cs typeface="Calibri"/>
              </a:rPr>
              <a:t>practical</a:t>
            </a:r>
            <a:endParaRPr sz="3750">
              <a:latin typeface="Calibri"/>
              <a:cs typeface="Calibri"/>
            </a:endParaRPr>
          </a:p>
          <a:p>
            <a:pPr marL="414655" indent="-402590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z="3750" spc="-20" dirty="0">
                <a:latin typeface="Calibri"/>
                <a:cs typeface="Calibri"/>
              </a:rPr>
              <a:t>Equivalent</a:t>
            </a:r>
            <a:r>
              <a:rPr sz="3750" spc="-10" dirty="0">
                <a:latin typeface="Calibri"/>
                <a:cs typeface="Calibri"/>
              </a:rPr>
              <a:t> </a:t>
            </a:r>
            <a:r>
              <a:rPr sz="3750" spc="-15" dirty="0">
                <a:latin typeface="Calibri"/>
                <a:cs typeface="Calibri"/>
              </a:rPr>
              <a:t>Circuit</a:t>
            </a:r>
            <a:endParaRPr sz="375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83079" y="2798572"/>
            <a:ext cx="6681216" cy="382219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834371" y="6384875"/>
            <a:ext cx="257810" cy="24447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z="1400" spc="-5" dirty="0">
                <a:solidFill>
                  <a:srgbClr val="888888"/>
                </a:solidFill>
                <a:latin typeface="Calibri"/>
                <a:cs typeface="Calibri"/>
              </a:rPr>
              <a:t>11</a:t>
            </a:fld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9834371" y="6384875"/>
            <a:ext cx="257810" cy="24447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z="1400" spc="-5" dirty="0">
                <a:solidFill>
                  <a:srgbClr val="888888"/>
                </a:solidFill>
                <a:latin typeface="Calibri"/>
                <a:cs typeface="Calibri"/>
              </a:rPr>
              <a:t>12</a:t>
            </a:fld>
            <a:endParaRPr sz="14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465" y="679703"/>
            <a:ext cx="935609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991984" algn="l"/>
              </a:tabLst>
            </a:pPr>
            <a:r>
              <a:rPr spc="120" dirty="0"/>
              <a:t>C</a:t>
            </a:r>
            <a:r>
              <a:rPr spc="20" dirty="0"/>
              <a:t>h</a:t>
            </a:r>
            <a:r>
              <a:rPr spc="55" dirty="0"/>
              <a:t>a</a:t>
            </a:r>
            <a:r>
              <a:rPr spc="110" dirty="0"/>
              <a:t>r</a:t>
            </a:r>
            <a:r>
              <a:rPr spc="55" dirty="0"/>
              <a:t>a</a:t>
            </a:r>
            <a:r>
              <a:rPr spc="20" dirty="0"/>
              <a:t>c</a:t>
            </a:r>
            <a:r>
              <a:rPr spc="15" dirty="0"/>
              <a:t>t</a:t>
            </a:r>
            <a:r>
              <a:rPr spc="30" dirty="0"/>
              <a:t>e</a:t>
            </a:r>
            <a:r>
              <a:rPr spc="204" dirty="0"/>
              <a:t>r</a:t>
            </a:r>
            <a:r>
              <a:rPr spc="160" dirty="0"/>
              <a:t>i</a:t>
            </a:r>
            <a:r>
              <a:rPr spc="-200" dirty="0"/>
              <a:t>s</a:t>
            </a:r>
            <a:r>
              <a:rPr spc="20" dirty="0"/>
              <a:t>t</a:t>
            </a:r>
            <a:r>
              <a:rPr spc="160" dirty="0"/>
              <a:t>i</a:t>
            </a:r>
            <a:r>
              <a:rPr spc="20" dirty="0"/>
              <a:t>c</a:t>
            </a:r>
            <a:r>
              <a:rPr spc="-195" dirty="0"/>
              <a:t>s</a:t>
            </a:r>
            <a:r>
              <a:rPr dirty="0"/>
              <a:t> </a:t>
            </a:r>
            <a:r>
              <a:rPr spc="-165" dirty="0"/>
              <a:t>o</a:t>
            </a:r>
            <a:r>
              <a:rPr dirty="0"/>
              <a:t>f</a:t>
            </a:r>
            <a:r>
              <a:rPr spc="-45" dirty="0"/>
              <a:t> </a:t>
            </a:r>
            <a:r>
              <a:rPr spc="55" dirty="0"/>
              <a:t>a</a:t>
            </a:r>
            <a:r>
              <a:rPr dirty="0"/>
              <a:t>n</a:t>
            </a:r>
            <a:r>
              <a:rPr spc="-35" dirty="0"/>
              <a:t> </a:t>
            </a:r>
            <a:r>
              <a:rPr spc="310" dirty="0"/>
              <a:t>I</a:t>
            </a:r>
            <a:r>
              <a:rPr spc="20" dirty="0"/>
              <a:t>d</a:t>
            </a:r>
            <a:r>
              <a:rPr spc="30" dirty="0"/>
              <a:t>e</a:t>
            </a:r>
            <a:r>
              <a:rPr spc="60" dirty="0"/>
              <a:t>a</a:t>
            </a:r>
            <a:r>
              <a:rPr dirty="0"/>
              <a:t>l	</a:t>
            </a:r>
            <a:r>
              <a:rPr spc="45" dirty="0"/>
              <a:t>-</a:t>
            </a:r>
            <a:r>
              <a:rPr spc="145" dirty="0"/>
              <a:t>O</a:t>
            </a:r>
            <a:r>
              <a:rPr spc="204" dirty="0"/>
              <a:t>p</a:t>
            </a:r>
            <a:r>
              <a:rPr spc="40" dirty="0"/>
              <a:t>-</a:t>
            </a:r>
            <a:r>
              <a:rPr spc="-100" dirty="0"/>
              <a:t>A</a:t>
            </a:r>
            <a:r>
              <a:rPr spc="200" dirty="0"/>
              <a:t>m</a:t>
            </a:r>
            <a:r>
              <a:rPr dirty="0"/>
              <a:t>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571" y="1392936"/>
            <a:ext cx="10449560" cy="4757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5455" indent="-402590">
              <a:lnSpc>
                <a:spcPts val="3654"/>
              </a:lnSpc>
              <a:spcBef>
                <a:spcPts val="95"/>
              </a:spcBef>
              <a:buFont typeface="Arial MT"/>
              <a:buChar char="•"/>
              <a:tabLst>
                <a:tab pos="465455" algn="l"/>
                <a:tab pos="466090" algn="l"/>
              </a:tabLst>
            </a:pPr>
            <a:r>
              <a:rPr sz="3050" dirty="0">
                <a:latin typeface="Calibri"/>
                <a:cs typeface="Calibri"/>
              </a:rPr>
              <a:t>Input</a:t>
            </a:r>
            <a:r>
              <a:rPr sz="3050" spc="-70" dirty="0">
                <a:latin typeface="Calibri"/>
                <a:cs typeface="Calibri"/>
              </a:rPr>
              <a:t> </a:t>
            </a:r>
            <a:r>
              <a:rPr sz="3050" spc="-5" dirty="0">
                <a:latin typeface="Calibri"/>
                <a:cs typeface="Calibri"/>
              </a:rPr>
              <a:t>impedance</a:t>
            </a:r>
            <a:r>
              <a:rPr sz="3050" spc="-60" dirty="0">
                <a:latin typeface="Calibri"/>
                <a:cs typeface="Calibri"/>
              </a:rPr>
              <a:t> </a:t>
            </a:r>
            <a:r>
              <a:rPr sz="3050" spc="-10" dirty="0">
                <a:latin typeface="Calibri"/>
                <a:cs typeface="Calibri"/>
              </a:rPr>
              <a:t>Z</a:t>
            </a:r>
            <a:r>
              <a:rPr sz="3000" spc="-15" baseline="-20833" dirty="0">
                <a:latin typeface="Calibri"/>
                <a:cs typeface="Calibri"/>
              </a:rPr>
              <a:t>i</a:t>
            </a:r>
            <a:r>
              <a:rPr sz="3050" spc="-10" dirty="0">
                <a:latin typeface="Calibri"/>
                <a:cs typeface="Calibri"/>
              </a:rPr>
              <a:t>=∞Ω</a:t>
            </a:r>
            <a:endParaRPr sz="3050" dirty="0">
              <a:latin typeface="Calibri"/>
              <a:cs typeface="Calibri"/>
            </a:endParaRPr>
          </a:p>
          <a:p>
            <a:pPr marL="465455" indent="-402590">
              <a:lnSpc>
                <a:spcPts val="3650"/>
              </a:lnSpc>
              <a:buFont typeface="Arial MT"/>
              <a:buChar char="•"/>
              <a:tabLst>
                <a:tab pos="465455" algn="l"/>
                <a:tab pos="466090" algn="l"/>
              </a:tabLst>
            </a:pPr>
            <a:r>
              <a:rPr sz="3050" dirty="0">
                <a:latin typeface="Calibri"/>
                <a:cs typeface="Calibri"/>
              </a:rPr>
              <a:t>Output</a:t>
            </a:r>
            <a:r>
              <a:rPr sz="3050" spc="-65" dirty="0">
                <a:latin typeface="Calibri"/>
                <a:cs typeface="Calibri"/>
              </a:rPr>
              <a:t> </a:t>
            </a:r>
            <a:r>
              <a:rPr sz="3050" spc="-5" dirty="0">
                <a:latin typeface="Calibri"/>
                <a:cs typeface="Calibri"/>
              </a:rPr>
              <a:t>impedance</a:t>
            </a:r>
            <a:r>
              <a:rPr sz="3050" spc="-60" dirty="0">
                <a:latin typeface="Calibri"/>
                <a:cs typeface="Calibri"/>
              </a:rPr>
              <a:t> </a:t>
            </a:r>
            <a:r>
              <a:rPr sz="3050" spc="-5" dirty="0">
                <a:latin typeface="Calibri"/>
                <a:cs typeface="Calibri"/>
              </a:rPr>
              <a:t>Z</a:t>
            </a:r>
            <a:r>
              <a:rPr sz="3000" spc="-7" baseline="-20833" dirty="0">
                <a:latin typeface="Calibri"/>
                <a:cs typeface="Calibri"/>
              </a:rPr>
              <a:t>0</a:t>
            </a:r>
            <a:r>
              <a:rPr sz="3050" spc="-5" dirty="0">
                <a:latin typeface="Calibri"/>
                <a:cs typeface="Calibri"/>
              </a:rPr>
              <a:t>=0Ω</a:t>
            </a:r>
            <a:endParaRPr sz="3050" dirty="0">
              <a:latin typeface="Calibri"/>
              <a:cs typeface="Calibri"/>
            </a:endParaRPr>
          </a:p>
          <a:p>
            <a:pPr marL="465455" indent="-402590">
              <a:lnSpc>
                <a:spcPts val="3654"/>
              </a:lnSpc>
              <a:buFont typeface="Arial MT"/>
              <a:buChar char="•"/>
              <a:tabLst>
                <a:tab pos="465455" algn="l"/>
                <a:tab pos="466090" algn="l"/>
              </a:tabLst>
            </a:pPr>
            <a:r>
              <a:rPr sz="3050" spc="-5" dirty="0">
                <a:latin typeface="Calibri"/>
                <a:cs typeface="Calibri"/>
              </a:rPr>
              <a:t>Open</a:t>
            </a:r>
            <a:r>
              <a:rPr sz="3050" spc="-55" dirty="0">
                <a:latin typeface="Calibri"/>
                <a:cs typeface="Calibri"/>
              </a:rPr>
              <a:t> </a:t>
            </a:r>
            <a:r>
              <a:rPr sz="3050" spc="-5" dirty="0">
                <a:latin typeface="Calibri"/>
                <a:cs typeface="Calibri"/>
              </a:rPr>
              <a:t>loop</a:t>
            </a:r>
            <a:r>
              <a:rPr sz="3050" spc="5" dirty="0">
                <a:latin typeface="Calibri"/>
                <a:cs typeface="Calibri"/>
              </a:rPr>
              <a:t> </a:t>
            </a:r>
            <a:r>
              <a:rPr sz="3050" spc="-15" dirty="0">
                <a:latin typeface="Calibri"/>
                <a:cs typeface="Calibri"/>
              </a:rPr>
              <a:t>voltage</a:t>
            </a:r>
            <a:r>
              <a:rPr sz="3050" spc="-40" dirty="0">
                <a:latin typeface="Calibri"/>
                <a:cs typeface="Calibri"/>
              </a:rPr>
              <a:t> </a:t>
            </a:r>
            <a:r>
              <a:rPr sz="3050" spc="-15" dirty="0">
                <a:latin typeface="Calibri"/>
                <a:cs typeface="Calibri"/>
              </a:rPr>
              <a:t>gain</a:t>
            </a:r>
            <a:r>
              <a:rPr sz="3050" spc="-25" dirty="0">
                <a:latin typeface="Calibri"/>
                <a:cs typeface="Calibri"/>
              </a:rPr>
              <a:t> </a:t>
            </a:r>
            <a:r>
              <a:rPr sz="3050" spc="-20" dirty="0">
                <a:latin typeface="Calibri"/>
                <a:cs typeface="Calibri"/>
              </a:rPr>
              <a:t>Av=∞</a:t>
            </a:r>
            <a:endParaRPr sz="3050" dirty="0">
              <a:latin typeface="Calibri"/>
              <a:cs typeface="Calibri"/>
            </a:endParaRPr>
          </a:p>
          <a:p>
            <a:pPr marL="465455" marR="69215" indent="-402590" algn="just">
              <a:lnSpc>
                <a:spcPct val="79300"/>
              </a:lnSpc>
              <a:spcBef>
                <a:spcPts val="770"/>
              </a:spcBef>
              <a:buFont typeface="Arial MT"/>
              <a:buChar char="•"/>
              <a:tabLst>
                <a:tab pos="466090" algn="l"/>
              </a:tabLst>
            </a:pPr>
            <a:r>
              <a:rPr sz="3050" spc="-5" dirty="0">
                <a:latin typeface="Calibri"/>
                <a:cs typeface="Calibri"/>
              </a:rPr>
              <a:t>If (the </a:t>
            </a:r>
            <a:r>
              <a:rPr sz="3050" spc="-20" dirty="0">
                <a:latin typeface="Calibri"/>
                <a:cs typeface="Calibri"/>
              </a:rPr>
              <a:t>differential) </a:t>
            </a:r>
            <a:r>
              <a:rPr sz="3050" spc="-5" dirty="0">
                <a:latin typeface="Calibri"/>
                <a:cs typeface="Calibri"/>
              </a:rPr>
              <a:t>input </a:t>
            </a:r>
            <a:r>
              <a:rPr sz="3050" spc="-15" dirty="0">
                <a:latin typeface="Calibri"/>
                <a:cs typeface="Calibri"/>
              </a:rPr>
              <a:t>voltage </a:t>
            </a:r>
            <a:r>
              <a:rPr sz="3050" spc="-50" dirty="0">
                <a:latin typeface="Calibri"/>
                <a:cs typeface="Calibri"/>
              </a:rPr>
              <a:t>V</a:t>
            </a:r>
            <a:r>
              <a:rPr sz="3000" spc="-75" baseline="-20833" dirty="0">
                <a:latin typeface="Calibri"/>
                <a:cs typeface="Calibri"/>
              </a:rPr>
              <a:t>i</a:t>
            </a:r>
            <a:r>
              <a:rPr sz="3050" spc="-50" dirty="0">
                <a:latin typeface="Calibri"/>
                <a:cs typeface="Calibri"/>
              </a:rPr>
              <a:t>=0V, </a:t>
            </a:r>
            <a:r>
              <a:rPr sz="3050" spc="-10" dirty="0">
                <a:latin typeface="Calibri"/>
                <a:cs typeface="Calibri"/>
              </a:rPr>
              <a:t>then </a:t>
            </a:r>
            <a:r>
              <a:rPr sz="3050" spc="-5" dirty="0">
                <a:latin typeface="Calibri"/>
                <a:cs typeface="Calibri"/>
              </a:rPr>
              <a:t>the </a:t>
            </a:r>
            <a:r>
              <a:rPr sz="3050" spc="-10" dirty="0">
                <a:latin typeface="Calibri"/>
                <a:cs typeface="Calibri"/>
              </a:rPr>
              <a:t>output </a:t>
            </a:r>
            <a:r>
              <a:rPr sz="3050" spc="-20" dirty="0">
                <a:latin typeface="Calibri"/>
                <a:cs typeface="Calibri"/>
              </a:rPr>
              <a:t>voltage </a:t>
            </a:r>
            <a:r>
              <a:rPr sz="3050" spc="-675" dirty="0">
                <a:latin typeface="Calibri"/>
                <a:cs typeface="Calibri"/>
              </a:rPr>
              <a:t> </a:t>
            </a:r>
            <a:r>
              <a:rPr sz="3050" spc="-5" dirty="0">
                <a:latin typeface="Calibri"/>
                <a:cs typeface="Calibri"/>
              </a:rPr>
              <a:t>will </a:t>
            </a:r>
            <a:r>
              <a:rPr sz="3050" dirty="0">
                <a:latin typeface="Calibri"/>
                <a:cs typeface="Calibri"/>
              </a:rPr>
              <a:t>be</a:t>
            </a:r>
            <a:r>
              <a:rPr sz="3050" spc="-25" dirty="0">
                <a:latin typeface="Calibri"/>
                <a:cs typeface="Calibri"/>
              </a:rPr>
              <a:t> </a:t>
            </a:r>
            <a:r>
              <a:rPr sz="3050" spc="-5" dirty="0">
                <a:latin typeface="Calibri"/>
                <a:cs typeface="Calibri"/>
              </a:rPr>
              <a:t>V</a:t>
            </a:r>
            <a:r>
              <a:rPr sz="3000" spc="-7" baseline="-20833" dirty="0">
                <a:latin typeface="Calibri"/>
                <a:cs typeface="Calibri"/>
              </a:rPr>
              <a:t>0</a:t>
            </a:r>
            <a:r>
              <a:rPr sz="3050" spc="-5" dirty="0">
                <a:latin typeface="Calibri"/>
                <a:cs typeface="Calibri"/>
              </a:rPr>
              <a:t>=0V</a:t>
            </a:r>
            <a:endParaRPr sz="3050" dirty="0">
              <a:latin typeface="Calibri"/>
              <a:cs typeface="Calibri"/>
            </a:endParaRPr>
          </a:p>
          <a:p>
            <a:pPr marL="465455" marR="68580" indent="-402590" algn="just">
              <a:lnSpc>
                <a:spcPts val="2930"/>
              </a:lnSpc>
              <a:spcBef>
                <a:spcPts val="695"/>
              </a:spcBef>
              <a:buFont typeface="Arial MT"/>
              <a:buChar char="•"/>
              <a:tabLst>
                <a:tab pos="466090" algn="l"/>
              </a:tabLst>
            </a:pPr>
            <a:r>
              <a:rPr sz="3050" spc="-5" dirty="0">
                <a:latin typeface="Calibri"/>
                <a:cs typeface="Calibri"/>
              </a:rPr>
              <a:t>Bandwidth</a:t>
            </a:r>
            <a:r>
              <a:rPr sz="3050" dirty="0">
                <a:latin typeface="Calibri"/>
                <a:cs typeface="Calibri"/>
              </a:rPr>
              <a:t> </a:t>
            </a:r>
            <a:r>
              <a:rPr sz="3050" spc="-5" dirty="0">
                <a:latin typeface="Calibri"/>
                <a:cs typeface="Calibri"/>
              </a:rPr>
              <a:t>is </a:t>
            </a:r>
            <a:r>
              <a:rPr sz="3050" b="1" spc="-10" dirty="0">
                <a:latin typeface="Calibri"/>
                <a:cs typeface="Calibri"/>
              </a:rPr>
              <a:t>infinity</a:t>
            </a:r>
            <a:r>
              <a:rPr sz="3050" spc="-10" dirty="0">
                <a:latin typeface="Calibri"/>
                <a:cs typeface="Calibri"/>
              </a:rPr>
              <a:t>.</a:t>
            </a:r>
            <a:r>
              <a:rPr sz="3050" spc="-5" dirty="0">
                <a:latin typeface="Calibri"/>
                <a:cs typeface="Calibri"/>
              </a:rPr>
              <a:t> It</a:t>
            </a:r>
            <a:r>
              <a:rPr sz="3050" dirty="0">
                <a:latin typeface="Calibri"/>
                <a:cs typeface="Calibri"/>
              </a:rPr>
              <a:t> </a:t>
            </a:r>
            <a:r>
              <a:rPr sz="3050" spc="-10" dirty="0">
                <a:latin typeface="Calibri"/>
                <a:cs typeface="Calibri"/>
              </a:rPr>
              <a:t>means,</a:t>
            </a:r>
            <a:r>
              <a:rPr sz="3050" spc="-5" dirty="0">
                <a:latin typeface="Calibri"/>
                <a:cs typeface="Calibri"/>
              </a:rPr>
              <a:t> </a:t>
            </a:r>
            <a:r>
              <a:rPr sz="3050" spc="-15" dirty="0">
                <a:latin typeface="Calibri"/>
                <a:cs typeface="Calibri"/>
              </a:rPr>
              <a:t>an</a:t>
            </a:r>
            <a:r>
              <a:rPr sz="3050" spc="-10" dirty="0">
                <a:latin typeface="Calibri"/>
                <a:cs typeface="Calibri"/>
              </a:rPr>
              <a:t> </a:t>
            </a:r>
            <a:r>
              <a:rPr sz="3050" spc="-15" dirty="0">
                <a:latin typeface="Calibri"/>
                <a:cs typeface="Calibri"/>
              </a:rPr>
              <a:t>ideal</a:t>
            </a:r>
            <a:r>
              <a:rPr sz="3050" spc="655" dirty="0">
                <a:latin typeface="Calibri"/>
                <a:cs typeface="Calibri"/>
              </a:rPr>
              <a:t> </a:t>
            </a:r>
            <a:r>
              <a:rPr sz="3050" spc="-5" dirty="0">
                <a:latin typeface="Calibri"/>
                <a:cs typeface="Calibri"/>
              </a:rPr>
              <a:t>op-amp will </a:t>
            </a:r>
            <a:r>
              <a:rPr sz="3050" dirty="0">
                <a:latin typeface="Calibri"/>
                <a:cs typeface="Calibri"/>
              </a:rPr>
              <a:t>amplify </a:t>
            </a:r>
            <a:r>
              <a:rPr sz="3050" spc="-675" dirty="0">
                <a:latin typeface="Calibri"/>
                <a:cs typeface="Calibri"/>
              </a:rPr>
              <a:t> </a:t>
            </a:r>
            <a:r>
              <a:rPr sz="3050" dirty="0">
                <a:latin typeface="Calibri"/>
                <a:cs typeface="Calibri"/>
              </a:rPr>
              <a:t>the</a:t>
            </a:r>
            <a:r>
              <a:rPr sz="3050" spc="-45" dirty="0">
                <a:latin typeface="Calibri"/>
                <a:cs typeface="Calibri"/>
              </a:rPr>
              <a:t> </a:t>
            </a:r>
            <a:r>
              <a:rPr sz="3050" dirty="0">
                <a:latin typeface="Calibri"/>
                <a:cs typeface="Calibri"/>
              </a:rPr>
              <a:t>signals</a:t>
            </a:r>
            <a:r>
              <a:rPr sz="3050" spc="-35" dirty="0">
                <a:latin typeface="Calibri"/>
                <a:cs typeface="Calibri"/>
              </a:rPr>
              <a:t> </a:t>
            </a:r>
            <a:r>
              <a:rPr sz="3050" spc="-5" dirty="0">
                <a:latin typeface="Calibri"/>
                <a:cs typeface="Calibri"/>
              </a:rPr>
              <a:t>of</a:t>
            </a:r>
            <a:r>
              <a:rPr sz="3050" spc="-10" dirty="0">
                <a:latin typeface="Calibri"/>
                <a:cs typeface="Calibri"/>
              </a:rPr>
              <a:t> </a:t>
            </a:r>
            <a:r>
              <a:rPr sz="3050" spc="-15" dirty="0">
                <a:latin typeface="Calibri"/>
                <a:cs typeface="Calibri"/>
              </a:rPr>
              <a:t>any</a:t>
            </a:r>
            <a:r>
              <a:rPr sz="3050" spc="-30" dirty="0">
                <a:latin typeface="Calibri"/>
                <a:cs typeface="Calibri"/>
              </a:rPr>
              <a:t> </a:t>
            </a:r>
            <a:r>
              <a:rPr sz="3050" spc="-10" dirty="0">
                <a:latin typeface="Calibri"/>
                <a:cs typeface="Calibri"/>
              </a:rPr>
              <a:t>frequency</a:t>
            </a:r>
            <a:r>
              <a:rPr sz="3050" spc="-55" dirty="0">
                <a:latin typeface="Calibri"/>
                <a:cs typeface="Calibri"/>
              </a:rPr>
              <a:t> </a:t>
            </a:r>
            <a:r>
              <a:rPr sz="3050" dirty="0">
                <a:latin typeface="Calibri"/>
                <a:cs typeface="Calibri"/>
              </a:rPr>
              <a:t>without</a:t>
            </a:r>
            <a:r>
              <a:rPr sz="3050" spc="-25" dirty="0">
                <a:latin typeface="Calibri"/>
                <a:cs typeface="Calibri"/>
              </a:rPr>
              <a:t> </a:t>
            </a:r>
            <a:r>
              <a:rPr sz="3050" spc="-15" dirty="0">
                <a:latin typeface="Calibri"/>
                <a:cs typeface="Calibri"/>
              </a:rPr>
              <a:t>any</a:t>
            </a:r>
            <a:r>
              <a:rPr sz="3050" spc="-30" dirty="0">
                <a:latin typeface="Calibri"/>
                <a:cs typeface="Calibri"/>
              </a:rPr>
              <a:t> </a:t>
            </a:r>
            <a:r>
              <a:rPr sz="3050" spc="-15" dirty="0">
                <a:latin typeface="Calibri"/>
                <a:cs typeface="Calibri"/>
              </a:rPr>
              <a:t>attenuation.</a:t>
            </a:r>
            <a:endParaRPr sz="3050" dirty="0">
              <a:latin typeface="Calibri"/>
              <a:cs typeface="Calibri"/>
            </a:endParaRPr>
          </a:p>
          <a:p>
            <a:pPr marL="465455" indent="-402590" algn="just">
              <a:lnSpc>
                <a:spcPts val="3654"/>
              </a:lnSpc>
              <a:spcBef>
                <a:spcPts val="10"/>
              </a:spcBef>
              <a:buFont typeface="Arial MT"/>
              <a:buChar char="•"/>
              <a:tabLst>
                <a:tab pos="466090" algn="l"/>
              </a:tabLst>
            </a:pPr>
            <a:r>
              <a:rPr sz="3050" spc="-5" dirty="0">
                <a:latin typeface="Calibri"/>
                <a:cs typeface="Calibri"/>
              </a:rPr>
              <a:t>Common</a:t>
            </a:r>
            <a:r>
              <a:rPr sz="3050" spc="-20" dirty="0">
                <a:latin typeface="Calibri"/>
                <a:cs typeface="Calibri"/>
              </a:rPr>
              <a:t> </a:t>
            </a:r>
            <a:r>
              <a:rPr sz="3050" dirty="0">
                <a:latin typeface="Calibri"/>
                <a:cs typeface="Calibri"/>
              </a:rPr>
              <a:t>Mode</a:t>
            </a:r>
            <a:r>
              <a:rPr sz="3050" spc="-50" dirty="0">
                <a:latin typeface="Calibri"/>
                <a:cs typeface="Calibri"/>
              </a:rPr>
              <a:t> </a:t>
            </a:r>
            <a:r>
              <a:rPr sz="3050" spc="-10" dirty="0">
                <a:latin typeface="Calibri"/>
                <a:cs typeface="Calibri"/>
              </a:rPr>
              <a:t>Rejection</a:t>
            </a:r>
            <a:r>
              <a:rPr sz="3050" spc="-30" dirty="0">
                <a:latin typeface="Calibri"/>
                <a:cs typeface="Calibri"/>
              </a:rPr>
              <a:t> </a:t>
            </a:r>
            <a:r>
              <a:rPr sz="3050" spc="-5" dirty="0">
                <a:latin typeface="Calibri"/>
                <a:cs typeface="Calibri"/>
              </a:rPr>
              <a:t>Ratio</a:t>
            </a:r>
            <a:r>
              <a:rPr sz="3050" spc="-25" dirty="0">
                <a:latin typeface="Calibri"/>
                <a:cs typeface="Calibri"/>
              </a:rPr>
              <a:t> </a:t>
            </a:r>
            <a:r>
              <a:rPr sz="3050" b="1" dirty="0">
                <a:latin typeface="Calibri"/>
                <a:cs typeface="Calibri"/>
              </a:rPr>
              <a:t>(CMRR)</a:t>
            </a:r>
            <a:r>
              <a:rPr sz="3050" b="1" spc="-55" dirty="0">
                <a:latin typeface="Calibri"/>
                <a:cs typeface="Calibri"/>
              </a:rPr>
              <a:t> </a:t>
            </a:r>
            <a:r>
              <a:rPr sz="3050" spc="-5" dirty="0">
                <a:latin typeface="Calibri"/>
                <a:cs typeface="Calibri"/>
              </a:rPr>
              <a:t>is</a:t>
            </a:r>
            <a:r>
              <a:rPr sz="3050" dirty="0">
                <a:latin typeface="Calibri"/>
                <a:cs typeface="Calibri"/>
              </a:rPr>
              <a:t> </a:t>
            </a:r>
            <a:r>
              <a:rPr sz="3050" b="1" spc="-10" dirty="0">
                <a:latin typeface="Calibri"/>
                <a:cs typeface="Calibri"/>
              </a:rPr>
              <a:t>infinity</a:t>
            </a:r>
            <a:r>
              <a:rPr sz="3050" spc="-10" dirty="0">
                <a:latin typeface="Calibri"/>
                <a:cs typeface="Calibri"/>
              </a:rPr>
              <a:t>.</a:t>
            </a:r>
            <a:endParaRPr sz="3050" dirty="0">
              <a:latin typeface="Calibri"/>
              <a:cs typeface="Calibri"/>
            </a:endParaRPr>
          </a:p>
          <a:p>
            <a:pPr marL="465455" marR="71120" indent="-402590" algn="just">
              <a:lnSpc>
                <a:spcPct val="80000"/>
              </a:lnSpc>
              <a:spcBef>
                <a:spcPts val="725"/>
              </a:spcBef>
              <a:buFont typeface="Arial MT"/>
              <a:buChar char="•"/>
              <a:tabLst>
                <a:tab pos="466090" algn="l"/>
              </a:tabLst>
            </a:pPr>
            <a:r>
              <a:rPr sz="3050" spc="-15" dirty="0">
                <a:latin typeface="Calibri"/>
                <a:cs typeface="Calibri"/>
              </a:rPr>
              <a:t>Slew</a:t>
            </a:r>
            <a:r>
              <a:rPr sz="3050" spc="-10" dirty="0">
                <a:latin typeface="Calibri"/>
                <a:cs typeface="Calibri"/>
              </a:rPr>
              <a:t> Rate</a:t>
            </a:r>
            <a:r>
              <a:rPr sz="3050" spc="-5" dirty="0">
                <a:latin typeface="Calibri"/>
                <a:cs typeface="Calibri"/>
              </a:rPr>
              <a:t> </a:t>
            </a:r>
            <a:r>
              <a:rPr sz="3050" b="1" spc="-5" dirty="0">
                <a:latin typeface="Calibri"/>
                <a:cs typeface="Calibri"/>
              </a:rPr>
              <a:t>(SR)</a:t>
            </a:r>
            <a:r>
              <a:rPr sz="3050" b="1" dirty="0">
                <a:latin typeface="Calibri"/>
                <a:cs typeface="Calibri"/>
              </a:rPr>
              <a:t> </a:t>
            </a:r>
            <a:r>
              <a:rPr sz="3050" spc="-5" dirty="0">
                <a:latin typeface="Calibri"/>
                <a:cs typeface="Calibri"/>
              </a:rPr>
              <a:t>is</a:t>
            </a:r>
            <a:r>
              <a:rPr sz="3050" dirty="0">
                <a:latin typeface="Calibri"/>
                <a:cs typeface="Calibri"/>
              </a:rPr>
              <a:t> </a:t>
            </a:r>
            <a:r>
              <a:rPr sz="3050" b="1" spc="-10" dirty="0">
                <a:latin typeface="Calibri"/>
                <a:cs typeface="Calibri"/>
              </a:rPr>
              <a:t>infinity</a:t>
            </a:r>
            <a:r>
              <a:rPr sz="3050" spc="-10" dirty="0">
                <a:latin typeface="Calibri"/>
                <a:cs typeface="Calibri"/>
              </a:rPr>
              <a:t>.</a:t>
            </a:r>
            <a:r>
              <a:rPr sz="3050" spc="-5" dirty="0">
                <a:latin typeface="Calibri"/>
                <a:cs typeface="Calibri"/>
              </a:rPr>
              <a:t> It</a:t>
            </a:r>
            <a:r>
              <a:rPr sz="3050" dirty="0">
                <a:latin typeface="Calibri"/>
                <a:cs typeface="Calibri"/>
              </a:rPr>
              <a:t> </a:t>
            </a:r>
            <a:r>
              <a:rPr sz="3050" spc="-10" dirty="0">
                <a:latin typeface="Calibri"/>
                <a:cs typeface="Calibri"/>
              </a:rPr>
              <a:t>means,</a:t>
            </a:r>
            <a:r>
              <a:rPr sz="3050" spc="-5" dirty="0">
                <a:latin typeface="Calibri"/>
                <a:cs typeface="Calibri"/>
              </a:rPr>
              <a:t> </a:t>
            </a:r>
            <a:r>
              <a:rPr sz="3050" spc="-10" dirty="0">
                <a:latin typeface="Calibri"/>
                <a:cs typeface="Calibri"/>
              </a:rPr>
              <a:t>the</a:t>
            </a:r>
            <a:r>
              <a:rPr sz="3050" spc="-5" dirty="0">
                <a:latin typeface="Calibri"/>
                <a:cs typeface="Calibri"/>
              </a:rPr>
              <a:t> </a:t>
            </a:r>
            <a:r>
              <a:rPr sz="3050" spc="-10" dirty="0">
                <a:latin typeface="Calibri"/>
                <a:cs typeface="Calibri"/>
              </a:rPr>
              <a:t>ideal</a:t>
            </a:r>
            <a:r>
              <a:rPr sz="3050" spc="-5" dirty="0">
                <a:latin typeface="Calibri"/>
                <a:cs typeface="Calibri"/>
              </a:rPr>
              <a:t> </a:t>
            </a:r>
            <a:r>
              <a:rPr sz="3050" spc="-10" dirty="0">
                <a:latin typeface="Calibri"/>
                <a:cs typeface="Calibri"/>
              </a:rPr>
              <a:t>op-amp</a:t>
            </a:r>
            <a:r>
              <a:rPr sz="3050" spc="-5" dirty="0">
                <a:latin typeface="Calibri"/>
                <a:cs typeface="Calibri"/>
              </a:rPr>
              <a:t> will </a:t>
            </a:r>
            <a:r>
              <a:rPr sz="3050" dirty="0">
                <a:latin typeface="Calibri"/>
                <a:cs typeface="Calibri"/>
              </a:rPr>
              <a:t> </a:t>
            </a:r>
            <a:r>
              <a:rPr sz="3050" spc="-15" dirty="0">
                <a:latin typeface="Calibri"/>
                <a:cs typeface="Calibri"/>
              </a:rPr>
              <a:t>produce </a:t>
            </a:r>
            <a:r>
              <a:rPr sz="3050" spc="-5" dirty="0">
                <a:latin typeface="Calibri"/>
                <a:cs typeface="Calibri"/>
              </a:rPr>
              <a:t>a </a:t>
            </a:r>
            <a:r>
              <a:rPr sz="3050" spc="-10" dirty="0">
                <a:latin typeface="Calibri"/>
                <a:cs typeface="Calibri"/>
              </a:rPr>
              <a:t>change </a:t>
            </a:r>
            <a:r>
              <a:rPr sz="3050" spc="-5" dirty="0">
                <a:latin typeface="Calibri"/>
                <a:cs typeface="Calibri"/>
              </a:rPr>
              <a:t>in the </a:t>
            </a:r>
            <a:r>
              <a:rPr sz="3050" spc="-10" dirty="0">
                <a:latin typeface="Calibri"/>
                <a:cs typeface="Calibri"/>
              </a:rPr>
              <a:t>output </a:t>
            </a:r>
            <a:r>
              <a:rPr sz="3050" spc="-15" dirty="0">
                <a:latin typeface="Calibri"/>
                <a:cs typeface="Calibri"/>
              </a:rPr>
              <a:t>instantly </a:t>
            </a:r>
            <a:r>
              <a:rPr sz="3050" spc="-5" dirty="0">
                <a:latin typeface="Calibri"/>
                <a:cs typeface="Calibri"/>
              </a:rPr>
              <a:t>in </a:t>
            </a:r>
            <a:r>
              <a:rPr sz="3050" spc="-15" dirty="0">
                <a:latin typeface="Calibri"/>
                <a:cs typeface="Calibri"/>
              </a:rPr>
              <a:t>response </a:t>
            </a:r>
            <a:r>
              <a:rPr sz="3050" spc="-25" dirty="0">
                <a:latin typeface="Calibri"/>
                <a:cs typeface="Calibri"/>
              </a:rPr>
              <a:t>to</a:t>
            </a:r>
            <a:r>
              <a:rPr sz="3050" spc="-20" dirty="0">
                <a:latin typeface="Calibri"/>
                <a:cs typeface="Calibri"/>
              </a:rPr>
              <a:t> </a:t>
            </a:r>
            <a:r>
              <a:rPr sz="3050" spc="-5" dirty="0">
                <a:latin typeface="Calibri"/>
                <a:cs typeface="Calibri"/>
              </a:rPr>
              <a:t>an </a:t>
            </a:r>
            <a:r>
              <a:rPr sz="3050" dirty="0">
                <a:latin typeface="Calibri"/>
                <a:cs typeface="Calibri"/>
              </a:rPr>
              <a:t> input</a:t>
            </a:r>
            <a:r>
              <a:rPr sz="3050" spc="-35" dirty="0">
                <a:latin typeface="Calibri"/>
                <a:cs typeface="Calibri"/>
              </a:rPr>
              <a:t> </a:t>
            </a:r>
            <a:r>
              <a:rPr sz="3050" spc="-15" dirty="0">
                <a:latin typeface="Calibri"/>
                <a:cs typeface="Calibri"/>
              </a:rPr>
              <a:t>step</a:t>
            </a:r>
            <a:r>
              <a:rPr sz="3050" spc="-65" dirty="0">
                <a:latin typeface="Calibri"/>
                <a:cs typeface="Calibri"/>
              </a:rPr>
              <a:t> </a:t>
            </a:r>
            <a:r>
              <a:rPr sz="3050" spc="-15" dirty="0">
                <a:latin typeface="Calibri"/>
                <a:cs typeface="Calibri"/>
              </a:rPr>
              <a:t>voltage.</a:t>
            </a:r>
            <a:endParaRPr sz="305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31667" y="679703"/>
            <a:ext cx="471170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" dirty="0"/>
              <a:t>P</a:t>
            </a:r>
            <a:r>
              <a:rPr spc="110" dirty="0"/>
              <a:t>r</a:t>
            </a:r>
            <a:r>
              <a:rPr spc="55" dirty="0"/>
              <a:t>a</a:t>
            </a:r>
            <a:r>
              <a:rPr spc="20" dirty="0"/>
              <a:t>ct</a:t>
            </a:r>
            <a:r>
              <a:rPr spc="160" dirty="0"/>
              <a:t>i</a:t>
            </a:r>
            <a:r>
              <a:rPr spc="20" dirty="0"/>
              <a:t>c</a:t>
            </a:r>
            <a:r>
              <a:rPr spc="60" dirty="0"/>
              <a:t>a</a:t>
            </a:r>
            <a:r>
              <a:rPr dirty="0"/>
              <a:t>l</a:t>
            </a:r>
            <a:r>
              <a:rPr spc="75" dirty="0"/>
              <a:t> </a:t>
            </a:r>
            <a:r>
              <a:rPr spc="145" dirty="0"/>
              <a:t>O</a:t>
            </a:r>
            <a:r>
              <a:rPr dirty="0"/>
              <a:t>p</a:t>
            </a:r>
            <a:r>
              <a:rPr spc="-355" dirty="0"/>
              <a:t> </a:t>
            </a:r>
            <a:r>
              <a:rPr spc="40" dirty="0"/>
              <a:t>-</a:t>
            </a:r>
            <a:r>
              <a:rPr spc="-100" dirty="0"/>
              <a:t>A</a:t>
            </a:r>
            <a:r>
              <a:rPr spc="200" dirty="0"/>
              <a:t>m</a:t>
            </a:r>
            <a:r>
              <a:rPr dirty="0"/>
              <a:t>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8572" y="1378305"/>
            <a:ext cx="9515475" cy="122047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z="3250" spc="5" dirty="0">
                <a:latin typeface="Calibri"/>
                <a:cs typeface="Calibri"/>
              </a:rPr>
              <a:t>Non</a:t>
            </a:r>
            <a:r>
              <a:rPr sz="3250" spc="3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–</a:t>
            </a:r>
            <a:r>
              <a:rPr sz="3250" spc="4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Ideal</a:t>
            </a:r>
            <a:r>
              <a:rPr sz="3250" spc="3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Case,</a:t>
            </a:r>
            <a:r>
              <a:rPr sz="3250" spc="2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imperfections</a:t>
            </a:r>
            <a:r>
              <a:rPr sz="3250" spc="4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during</a:t>
            </a:r>
            <a:r>
              <a:rPr sz="3250" spc="7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manufacturing</a:t>
            </a:r>
            <a:endParaRPr sz="3250">
              <a:latin typeface="Calibri"/>
              <a:cs typeface="Calibri"/>
            </a:endParaRPr>
          </a:p>
          <a:p>
            <a:pPr marL="414655" indent="-402590">
              <a:lnSpc>
                <a:spcPct val="100000"/>
              </a:lnSpc>
              <a:spcBef>
                <a:spcPts val="805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z="3250" spc="-15" dirty="0">
                <a:latin typeface="Calibri"/>
                <a:cs typeface="Calibri"/>
              </a:rPr>
              <a:t>Equivalent</a:t>
            </a:r>
            <a:r>
              <a:rPr sz="3250" spc="5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Circuit.</a:t>
            </a:r>
            <a:endParaRPr sz="325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81783" y="2877820"/>
            <a:ext cx="6681216" cy="384352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834371" y="6384875"/>
            <a:ext cx="257810" cy="24447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z="1400" spc="-5" dirty="0">
                <a:solidFill>
                  <a:srgbClr val="888888"/>
                </a:solidFill>
                <a:latin typeface="Calibri"/>
                <a:cs typeface="Calibri"/>
              </a:rPr>
              <a:t>13</a:t>
            </a:fld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9834371" y="6384875"/>
            <a:ext cx="257810" cy="24447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z="1400" spc="-5" dirty="0">
                <a:solidFill>
                  <a:srgbClr val="888888"/>
                </a:solidFill>
                <a:latin typeface="Calibri"/>
                <a:cs typeface="Calibri"/>
              </a:rPr>
              <a:t>14</a:t>
            </a:fld>
            <a:endParaRPr sz="14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4977" y="679703"/>
            <a:ext cx="954532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50225" algn="l"/>
              </a:tabLst>
            </a:pPr>
            <a:r>
              <a:rPr spc="120" dirty="0"/>
              <a:t>C</a:t>
            </a:r>
            <a:r>
              <a:rPr spc="20" dirty="0"/>
              <a:t>h</a:t>
            </a:r>
            <a:r>
              <a:rPr spc="55" dirty="0"/>
              <a:t>a</a:t>
            </a:r>
            <a:r>
              <a:rPr spc="110" dirty="0"/>
              <a:t>r</a:t>
            </a:r>
            <a:r>
              <a:rPr spc="55" dirty="0"/>
              <a:t>a</a:t>
            </a:r>
            <a:r>
              <a:rPr spc="20" dirty="0"/>
              <a:t>c</a:t>
            </a:r>
            <a:r>
              <a:rPr spc="15" dirty="0"/>
              <a:t>t</a:t>
            </a:r>
            <a:r>
              <a:rPr spc="30" dirty="0"/>
              <a:t>e</a:t>
            </a:r>
            <a:r>
              <a:rPr spc="204" dirty="0"/>
              <a:t>r</a:t>
            </a:r>
            <a:r>
              <a:rPr spc="160" dirty="0"/>
              <a:t>i</a:t>
            </a:r>
            <a:r>
              <a:rPr spc="-200" dirty="0"/>
              <a:t>s</a:t>
            </a:r>
            <a:r>
              <a:rPr spc="20" dirty="0"/>
              <a:t>t</a:t>
            </a:r>
            <a:r>
              <a:rPr spc="160" dirty="0"/>
              <a:t>i</a:t>
            </a:r>
            <a:r>
              <a:rPr spc="20" dirty="0"/>
              <a:t>c</a:t>
            </a:r>
            <a:r>
              <a:rPr spc="-195" dirty="0"/>
              <a:t>s</a:t>
            </a:r>
            <a:r>
              <a:rPr dirty="0"/>
              <a:t> </a:t>
            </a:r>
            <a:r>
              <a:rPr spc="-165" dirty="0"/>
              <a:t>o</a:t>
            </a:r>
            <a:r>
              <a:rPr dirty="0"/>
              <a:t>f</a:t>
            </a:r>
            <a:r>
              <a:rPr spc="-45" dirty="0"/>
              <a:t> </a:t>
            </a:r>
            <a:r>
              <a:rPr spc="5" dirty="0"/>
              <a:t>P</a:t>
            </a:r>
            <a:r>
              <a:rPr spc="110" dirty="0"/>
              <a:t>r</a:t>
            </a:r>
            <a:r>
              <a:rPr spc="55" dirty="0"/>
              <a:t>a</a:t>
            </a:r>
            <a:r>
              <a:rPr spc="20" dirty="0"/>
              <a:t>ct</a:t>
            </a:r>
            <a:r>
              <a:rPr spc="160" dirty="0"/>
              <a:t>i</a:t>
            </a:r>
            <a:r>
              <a:rPr spc="20" dirty="0"/>
              <a:t>c</a:t>
            </a:r>
            <a:r>
              <a:rPr spc="60" dirty="0"/>
              <a:t>a</a:t>
            </a:r>
            <a:r>
              <a:rPr dirty="0"/>
              <a:t>l</a:t>
            </a:r>
            <a:r>
              <a:rPr spc="75" dirty="0"/>
              <a:t> </a:t>
            </a:r>
            <a:r>
              <a:rPr spc="145" dirty="0"/>
              <a:t>O</a:t>
            </a:r>
            <a:r>
              <a:rPr dirty="0"/>
              <a:t>p	</a:t>
            </a:r>
            <a:r>
              <a:rPr spc="40" dirty="0"/>
              <a:t>-</a:t>
            </a:r>
            <a:r>
              <a:rPr spc="-100" dirty="0"/>
              <a:t>A</a:t>
            </a:r>
            <a:r>
              <a:rPr spc="200" dirty="0"/>
              <a:t>m</a:t>
            </a:r>
            <a:r>
              <a:rPr dirty="0"/>
              <a:t>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9671" y="1378305"/>
            <a:ext cx="10355580" cy="471678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427355" indent="-402590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427355" algn="l"/>
                <a:tab pos="427990" algn="l"/>
              </a:tabLst>
            </a:pPr>
            <a:r>
              <a:rPr sz="3250" spc="-5" dirty="0">
                <a:latin typeface="Calibri"/>
                <a:cs typeface="Calibri"/>
              </a:rPr>
              <a:t>Input</a:t>
            </a:r>
            <a:r>
              <a:rPr sz="3250" spc="7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impedance,</a:t>
            </a:r>
            <a:r>
              <a:rPr sz="3250" spc="6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Z</a:t>
            </a:r>
            <a:r>
              <a:rPr sz="3225" spc="7" baseline="-20671" dirty="0">
                <a:latin typeface="Calibri"/>
                <a:cs typeface="Calibri"/>
              </a:rPr>
              <a:t>i</a:t>
            </a:r>
            <a:r>
              <a:rPr sz="3225" spc="397" baseline="-20671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in</a:t>
            </a:r>
            <a:r>
              <a:rPr sz="3250" spc="2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the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order</a:t>
            </a:r>
            <a:r>
              <a:rPr sz="3250" spc="45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of</a:t>
            </a:r>
            <a:r>
              <a:rPr sz="3250" spc="-5" dirty="0">
                <a:latin typeface="Calibri"/>
                <a:cs typeface="Calibri"/>
              </a:rPr>
              <a:t> </a:t>
            </a:r>
            <a:r>
              <a:rPr sz="3250" b="1" u="heavy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Mega</a:t>
            </a:r>
            <a:r>
              <a:rPr sz="3250" b="1" u="heavy" spc="7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3250" b="1" u="heavy" spc="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ohms</a:t>
            </a:r>
            <a:r>
              <a:rPr sz="3250" spc="5" dirty="0">
                <a:latin typeface="Calibri"/>
                <a:cs typeface="Calibri"/>
              </a:rPr>
              <a:t>.</a:t>
            </a:r>
            <a:endParaRPr sz="3250">
              <a:latin typeface="Calibri"/>
              <a:cs typeface="Calibri"/>
            </a:endParaRPr>
          </a:p>
          <a:p>
            <a:pPr marL="427355" indent="-402590">
              <a:lnSpc>
                <a:spcPct val="100000"/>
              </a:lnSpc>
              <a:spcBef>
                <a:spcPts val="805"/>
              </a:spcBef>
              <a:buFont typeface="Arial MT"/>
              <a:buChar char="•"/>
              <a:tabLst>
                <a:tab pos="427355" algn="l"/>
                <a:tab pos="427990" algn="l"/>
              </a:tabLst>
            </a:pPr>
            <a:r>
              <a:rPr sz="3250" dirty="0">
                <a:latin typeface="Calibri"/>
                <a:cs typeface="Calibri"/>
              </a:rPr>
              <a:t>Output</a:t>
            </a:r>
            <a:r>
              <a:rPr sz="3250" spc="5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impedance,</a:t>
            </a:r>
            <a:r>
              <a:rPr sz="3250" spc="80" dirty="0">
                <a:latin typeface="Calibri"/>
                <a:cs typeface="Calibri"/>
              </a:rPr>
              <a:t> </a:t>
            </a:r>
            <a:r>
              <a:rPr sz="3250" spc="10" dirty="0">
                <a:latin typeface="Calibri"/>
                <a:cs typeface="Calibri"/>
              </a:rPr>
              <a:t>Z</a:t>
            </a:r>
            <a:r>
              <a:rPr sz="3225" spc="15" baseline="-20671" dirty="0">
                <a:latin typeface="Calibri"/>
                <a:cs typeface="Calibri"/>
              </a:rPr>
              <a:t>0</a:t>
            </a:r>
            <a:r>
              <a:rPr sz="3225" spc="382" baseline="-20671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in</a:t>
            </a:r>
            <a:r>
              <a:rPr sz="3250" spc="2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the</a:t>
            </a:r>
            <a:r>
              <a:rPr sz="3250" spc="40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order</a:t>
            </a:r>
            <a:r>
              <a:rPr sz="3250" spc="25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of</a:t>
            </a:r>
            <a:r>
              <a:rPr sz="3250" spc="20" dirty="0">
                <a:latin typeface="Calibri"/>
                <a:cs typeface="Calibri"/>
              </a:rPr>
              <a:t> </a:t>
            </a:r>
            <a:r>
              <a:rPr sz="3250" b="1" u="heavy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few</a:t>
            </a:r>
            <a:r>
              <a:rPr sz="3250" b="1" u="heavy" spc="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3250" b="1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ohms</a:t>
            </a:r>
            <a:r>
              <a:rPr sz="3250" dirty="0">
                <a:latin typeface="Calibri"/>
                <a:cs typeface="Calibri"/>
              </a:rPr>
              <a:t>..</a:t>
            </a:r>
            <a:endParaRPr sz="3250">
              <a:latin typeface="Calibri"/>
              <a:cs typeface="Calibri"/>
            </a:endParaRPr>
          </a:p>
          <a:p>
            <a:pPr marL="427355" indent="-402590">
              <a:lnSpc>
                <a:spcPct val="100000"/>
              </a:lnSpc>
              <a:spcBef>
                <a:spcPts val="825"/>
              </a:spcBef>
              <a:buFont typeface="Arial MT"/>
              <a:buChar char="•"/>
              <a:tabLst>
                <a:tab pos="427355" algn="l"/>
                <a:tab pos="427990" algn="l"/>
              </a:tabLst>
            </a:pPr>
            <a:r>
              <a:rPr sz="3250" dirty="0">
                <a:latin typeface="Calibri"/>
                <a:cs typeface="Calibri"/>
              </a:rPr>
              <a:t>Open</a:t>
            </a:r>
            <a:r>
              <a:rPr sz="3250" spc="35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loop</a:t>
            </a:r>
            <a:r>
              <a:rPr sz="3250" spc="20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voltage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spc="-15" dirty="0">
                <a:latin typeface="Calibri"/>
                <a:cs typeface="Calibri"/>
              </a:rPr>
              <a:t>gain,</a:t>
            </a:r>
            <a:r>
              <a:rPr sz="3250" spc="40" dirty="0">
                <a:latin typeface="Calibri"/>
                <a:cs typeface="Calibri"/>
              </a:rPr>
              <a:t> </a:t>
            </a:r>
            <a:r>
              <a:rPr sz="3250" spc="-25" dirty="0">
                <a:latin typeface="Calibri"/>
                <a:cs typeface="Calibri"/>
              </a:rPr>
              <a:t>A</a:t>
            </a:r>
            <a:r>
              <a:rPr sz="3225" spc="-37" baseline="-20671" dirty="0">
                <a:latin typeface="Calibri"/>
                <a:cs typeface="Calibri"/>
              </a:rPr>
              <a:t>v</a:t>
            </a:r>
            <a:r>
              <a:rPr sz="3225" spc="367" baseline="-20671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will</a:t>
            </a:r>
            <a:r>
              <a:rPr sz="3250" spc="2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be</a:t>
            </a:r>
            <a:r>
              <a:rPr sz="3250" spc="30" dirty="0">
                <a:latin typeface="Calibri"/>
                <a:cs typeface="Calibri"/>
              </a:rPr>
              <a:t> </a:t>
            </a:r>
            <a:r>
              <a:rPr sz="3250" b="1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high</a:t>
            </a:r>
            <a:r>
              <a:rPr sz="3250" dirty="0">
                <a:latin typeface="Calibri"/>
                <a:cs typeface="Calibri"/>
              </a:rPr>
              <a:t>.</a:t>
            </a:r>
            <a:endParaRPr sz="3250">
              <a:latin typeface="Calibri"/>
              <a:cs typeface="Calibri"/>
            </a:endParaRPr>
          </a:p>
          <a:p>
            <a:pPr marL="427355" marR="17780" indent="-402590">
              <a:lnSpc>
                <a:spcPct val="100899"/>
              </a:lnSpc>
              <a:spcBef>
                <a:spcPts val="770"/>
              </a:spcBef>
              <a:buFont typeface="Arial MT"/>
              <a:buChar char="•"/>
              <a:tabLst>
                <a:tab pos="427355" algn="l"/>
                <a:tab pos="427990" algn="l"/>
                <a:tab pos="1600835" algn="l"/>
                <a:tab pos="2381250" algn="l"/>
                <a:tab pos="3752850" algn="l"/>
                <a:tab pos="4112260" algn="l"/>
                <a:tab pos="5703570" algn="l"/>
                <a:tab pos="7282180" algn="l"/>
                <a:tab pos="8065770" algn="l"/>
                <a:tab pos="9361170" algn="l"/>
              </a:tabLst>
            </a:pPr>
            <a:r>
              <a:rPr sz="3250" spc="10" dirty="0">
                <a:latin typeface="Calibri"/>
                <a:cs typeface="Calibri"/>
              </a:rPr>
              <a:t>W</a:t>
            </a:r>
            <a:r>
              <a:rPr sz="3250" spc="-5" dirty="0">
                <a:latin typeface="Calibri"/>
                <a:cs typeface="Calibri"/>
              </a:rPr>
              <a:t>h</a:t>
            </a:r>
            <a:r>
              <a:rPr sz="3250" spc="35" dirty="0">
                <a:latin typeface="Calibri"/>
                <a:cs typeface="Calibri"/>
              </a:rPr>
              <a:t>e</a:t>
            </a:r>
            <a:r>
              <a:rPr sz="3250" spc="5" dirty="0">
                <a:latin typeface="Calibri"/>
                <a:cs typeface="Calibri"/>
              </a:rPr>
              <a:t>n</a:t>
            </a:r>
            <a:r>
              <a:rPr sz="3250" dirty="0">
                <a:latin typeface="Calibri"/>
                <a:cs typeface="Calibri"/>
              </a:rPr>
              <a:t>	</a:t>
            </a:r>
            <a:r>
              <a:rPr sz="3250" spc="-35" dirty="0">
                <a:latin typeface="Calibri"/>
                <a:cs typeface="Calibri"/>
              </a:rPr>
              <a:t>y</a:t>
            </a:r>
            <a:r>
              <a:rPr sz="3250" spc="10" dirty="0">
                <a:latin typeface="Calibri"/>
                <a:cs typeface="Calibri"/>
              </a:rPr>
              <a:t>o</a:t>
            </a:r>
            <a:r>
              <a:rPr sz="3250" spc="5" dirty="0">
                <a:latin typeface="Calibri"/>
                <a:cs typeface="Calibri"/>
              </a:rPr>
              <a:t>u</a:t>
            </a:r>
            <a:r>
              <a:rPr sz="3250" dirty="0">
                <a:latin typeface="Calibri"/>
                <a:cs typeface="Calibri"/>
              </a:rPr>
              <a:t>	</a:t>
            </a:r>
            <a:r>
              <a:rPr sz="3250" spc="35" dirty="0">
                <a:latin typeface="Calibri"/>
                <a:cs typeface="Calibri"/>
              </a:rPr>
              <a:t>c</a:t>
            </a:r>
            <a:r>
              <a:rPr sz="3250" spc="-5" dirty="0">
                <a:latin typeface="Calibri"/>
                <a:cs typeface="Calibri"/>
              </a:rPr>
              <a:t>h</a:t>
            </a:r>
            <a:r>
              <a:rPr sz="3250" spc="10" dirty="0">
                <a:latin typeface="Calibri"/>
                <a:cs typeface="Calibri"/>
              </a:rPr>
              <a:t>o</a:t>
            </a:r>
            <a:r>
              <a:rPr sz="3250" spc="30" dirty="0">
                <a:latin typeface="Calibri"/>
                <a:cs typeface="Calibri"/>
              </a:rPr>
              <a:t>o</a:t>
            </a:r>
            <a:r>
              <a:rPr sz="3250" spc="20" dirty="0">
                <a:latin typeface="Calibri"/>
                <a:cs typeface="Calibri"/>
              </a:rPr>
              <a:t>s</a:t>
            </a:r>
            <a:r>
              <a:rPr sz="3250" spc="5" dirty="0">
                <a:latin typeface="Calibri"/>
                <a:cs typeface="Calibri"/>
              </a:rPr>
              <a:t>e</a:t>
            </a:r>
            <a:r>
              <a:rPr sz="3250" dirty="0">
                <a:latin typeface="Calibri"/>
                <a:cs typeface="Calibri"/>
              </a:rPr>
              <a:t>	</a:t>
            </a:r>
            <a:r>
              <a:rPr sz="3250" spc="5" dirty="0">
                <a:latin typeface="Calibri"/>
                <a:cs typeface="Calibri"/>
              </a:rPr>
              <a:t>a</a:t>
            </a:r>
            <a:r>
              <a:rPr sz="3250" dirty="0">
                <a:latin typeface="Calibri"/>
                <a:cs typeface="Calibri"/>
              </a:rPr>
              <a:t>	</a:t>
            </a:r>
            <a:r>
              <a:rPr sz="3250" spc="-5" dirty="0">
                <a:latin typeface="Calibri"/>
                <a:cs typeface="Calibri"/>
              </a:rPr>
              <a:t>p</a:t>
            </a:r>
            <a:r>
              <a:rPr sz="3250" spc="-60" dirty="0">
                <a:latin typeface="Calibri"/>
                <a:cs typeface="Calibri"/>
              </a:rPr>
              <a:t>r</a:t>
            </a:r>
            <a:r>
              <a:rPr sz="3250" dirty="0">
                <a:latin typeface="Calibri"/>
                <a:cs typeface="Calibri"/>
              </a:rPr>
              <a:t>a</a:t>
            </a:r>
            <a:r>
              <a:rPr sz="3250" spc="15" dirty="0">
                <a:latin typeface="Calibri"/>
                <a:cs typeface="Calibri"/>
              </a:rPr>
              <a:t>c</a:t>
            </a:r>
            <a:r>
              <a:rPr sz="3250" spc="5" dirty="0">
                <a:latin typeface="Calibri"/>
                <a:cs typeface="Calibri"/>
              </a:rPr>
              <a:t>t</a:t>
            </a:r>
            <a:r>
              <a:rPr sz="3250" spc="-5" dirty="0">
                <a:latin typeface="Calibri"/>
                <a:cs typeface="Calibri"/>
              </a:rPr>
              <a:t>ic</a:t>
            </a:r>
            <a:r>
              <a:rPr sz="3250" dirty="0">
                <a:latin typeface="Calibri"/>
                <a:cs typeface="Calibri"/>
              </a:rPr>
              <a:t>al	</a:t>
            </a:r>
            <a:r>
              <a:rPr sz="3250" spc="10" dirty="0">
                <a:latin typeface="Calibri"/>
                <a:cs typeface="Calibri"/>
              </a:rPr>
              <a:t>o</a:t>
            </a:r>
            <a:r>
              <a:rPr sz="3250" spc="-5" dirty="0">
                <a:latin typeface="Calibri"/>
                <a:cs typeface="Calibri"/>
              </a:rPr>
              <a:t>p</a:t>
            </a:r>
            <a:r>
              <a:rPr sz="3250" spc="5" dirty="0">
                <a:latin typeface="Calibri"/>
                <a:cs typeface="Calibri"/>
              </a:rPr>
              <a:t>-</a:t>
            </a:r>
            <a:r>
              <a:rPr sz="3250" spc="20" dirty="0">
                <a:latin typeface="Calibri"/>
                <a:cs typeface="Calibri"/>
              </a:rPr>
              <a:t>a</a:t>
            </a:r>
            <a:r>
              <a:rPr sz="3250" spc="15" dirty="0">
                <a:latin typeface="Calibri"/>
                <a:cs typeface="Calibri"/>
              </a:rPr>
              <a:t>m</a:t>
            </a:r>
            <a:r>
              <a:rPr sz="3250" spc="-5" dirty="0">
                <a:latin typeface="Calibri"/>
                <a:cs typeface="Calibri"/>
              </a:rPr>
              <a:t>p</a:t>
            </a:r>
            <a:r>
              <a:rPr sz="3250" dirty="0">
                <a:latin typeface="Calibri"/>
                <a:cs typeface="Calibri"/>
              </a:rPr>
              <a:t>,	</a:t>
            </a:r>
            <a:r>
              <a:rPr sz="3250" spc="-35" dirty="0">
                <a:latin typeface="Calibri"/>
                <a:cs typeface="Calibri"/>
              </a:rPr>
              <a:t>y</a:t>
            </a:r>
            <a:r>
              <a:rPr sz="3250" spc="30" dirty="0">
                <a:latin typeface="Calibri"/>
                <a:cs typeface="Calibri"/>
              </a:rPr>
              <a:t>o</a:t>
            </a:r>
            <a:r>
              <a:rPr sz="3250" spc="5" dirty="0">
                <a:latin typeface="Calibri"/>
                <a:cs typeface="Calibri"/>
              </a:rPr>
              <a:t>u</a:t>
            </a:r>
            <a:r>
              <a:rPr sz="3250" dirty="0">
                <a:latin typeface="Calibri"/>
                <a:cs typeface="Calibri"/>
              </a:rPr>
              <a:t>	</a:t>
            </a:r>
            <a:r>
              <a:rPr sz="3250" spc="20" dirty="0">
                <a:latin typeface="Calibri"/>
                <a:cs typeface="Calibri"/>
              </a:rPr>
              <a:t>s</a:t>
            </a:r>
            <a:r>
              <a:rPr sz="3250" spc="-5" dirty="0">
                <a:latin typeface="Calibri"/>
                <a:cs typeface="Calibri"/>
              </a:rPr>
              <a:t>h</a:t>
            </a:r>
            <a:r>
              <a:rPr sz="3250" spc="30" dirty="0">
                <a:latin typeface="Calibri"/>
                <a:cs typeface="Calibri"/>
              </a:rPr>
              <a:t>o</a:t>
            </a:r>
            <a:r>
              <a:rPr sz="3250" spc="-5" dirty="0">
                <a:latin typeface="Calibri"/>
                <a:cs typeface="Calibri"/>
              </a:rPr>
              <a:t>u</a:t>
            </a:r>
            <a:r>
              <a:rPr sz="3250" spc="15" dirty="0">
                <a:latin typeface="Calibri"/>
                <a:cs typeface="Calibri"/>
              </a:rPr>
              <a:t>l</a:t>
            </a:r>
            <a:r>
              <a:rPr sz="3250" spc="5" dirty="0">
                <a:latin typeface="Calibri"/>
                <a:cs typeface="Calibri"/>
              </a:rPr>
              <a:t>d</a:t>
            </a:r>
            <a:r>
              <a:rPr sz="3250" dirty="0">
                <a:latin typeface="Calibri"/>
                <a:cs typeface="Calibri"/>
              </a:rPr>
              <a:t>	</a:t>
            </a:r>
            <a:r>
              <a:rPr sz="3250" spc="35" dirty="0">
                <a:latin typeface="Calibri"/>
                <a:cs typeface="Calibri"/>
              </a:rPr>
              <a:t>c</a:t>
            </a:r>
            <a:r>
              <a:rPr sz="3250" spc="-5" dirty="0">
                <a:latin typeface="Calibri"/>
                <a:cs typeface="Calibri"/>
              </a:rPr>
              <a:t>h</a:t>
            </a:r>
            <a:r>
              <a:rPr sz="3250" spc="10" dirty="0">
                <a:latin typeface="Calibri"/>
                <a:cs typeface="Calibri"/>
              </a:rPr>
              <a:t>e</a:t>
            </a:r>
            <a:r>
              <a:rPr sz="3250" spc="15" dirty="0">
                <a:latin typeface="Calibri"/>
                <a:cs typeface="Calibri"/>
              </a:rPr>
              <a:t>c</a:t>
            </a:r>
            <a:r>
              <a:rPr sz="3250" dirty="0">
                <a:latin typeface="Calibri"/>
                <a:cs typeface="Calibri"/>
              </a:rPr>
              <a:t>k  whether</a:t>
            </a:r>
            <a:r>
              <a:rPr sz="3250" spc="3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it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satisfies</a:t>
            </a:r>
            <a:r>
              <a:rPr sz="3250" spc="3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the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following</a:t>
            </a:r>
            <a:r>
              <a:rPr sz="3250" spc="2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conditions</a:t>
            </a:r>
            <a:r>
              <a:rPr sz="3250" spc="65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−</a:t>
            </a:r>
            <a:endParaRPr sz="3250">
              <a:latin typeface="Calibri"/>
              <a:cs typeface="Calibri"/>
            </a:endParaRPr>
          </a:p>
          <a:p>
            <a:pPr marL="427355" indent="-402590">
              <a:lnSpc>
                <a:spcPct val="100000"/>
              </a:lnSpc>
              <a:spcBef>
                <a:spcPts val="830"/>
              </a:spcBef>
              <a:buFont typeface="Arial MT"/>
              <a:buChar char="•"/>
              <a:tabLst>
                <a:tab pos="427355" algn="l"/>
                <a:tab pos="427990" algn="l"/>
              </a:tabLst>
            </a:pPr>
            <a:r>
              <a:rPr sz="3250" spc="-5" dirty="0">
                <a:latin typeface="Calibri"/>
                <a:cs typeface="Calibri"/>
              </a:rPr>
              <a:t>Input</a:t>
            </a:r>
            <a:r>
              <a:rPr sz="3250" spc="7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impedance,</a:t>
            </a:r>
            <a:r>
              <a:rPr sz="3250" spc="6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Zi </a:t>
            </a:r>
            <a:r>
              <a:rPr sz="3250" dirty="0">
                <a:latin typeface="Calibri"/>
                <a:cs typeface="Calibri"/>
              </a:rPr>
              <a:t>should</a:t>
            </a:r>
            <a:r>
              <a:rPr sz="3250" spc="8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be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as</a:t>
            </a:r>
            <a:r>
              <a:rPr sz="3250" spc="2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high</a:t>
            </a:r>
            <a:r>
              <a:rPr sz="3250" spc="4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as</a:t>
            </a:r>
            <a:r>
              <a:rPr sz="3250" spc="2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possible.</a:t>
            </a:r>
            <a:endParaRPr sz="3250">
              <a:latin typeface="Calibri"/>
              <a:cs typeface="Calibri"/>
            </a:endParaRPr>
          </a:p>
          <a:p>
            <a:pPr marL="427355" indent="-402590">
              <a:lnSpc>
                <a:spcPct val="100000"/>
              </a:lnSpc>
              <a:spcBef>
                <a:spcPts val="805"/>
              </a:spcBef>
              <a:buFont typeface="Arial MT"/>
              <a:buChar char="•"/>
              <a:tabLst>
                <a:tab pos="427355" algn="l"/>
                <a:tab pos="427990" algn="l"/>
              </a:tabLst>
            </a:pPr>
            <a:r>
              <a:rPr sz="3250" dirty="0">
                <a:latin typeface="Calibri"/>
                <a:cs typeface="Calibri"/>
              </a:rPr>
              <a:t>Output</a:t>
            </a:r>
            <a:r>
              <a:rPr sz="3250" spc="5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impedance,</a:t>
            </a:r>
            <a:r>
              <a:rPr sz="3250" spc="80" dirty="0">
                <a:latin typeface="Calibri"/>
                <a:cs typeface="Calibri"/>
              </a:rPr>
              <a:t> </a:t>
            </a:r>
            <a:r>
              <a:rPr sz="3250" spc="10" dirty="0">
                <a:latin typeface="Calibri"/>
                <a:cs typeface="Calibri"/>
              </a:rPr>
              <a:t>Z</a:t>
            </a:r>
            <a:r>
              <a:rPr sz="3225" spc="15" baseline="-20671" dirty="0">
                <a:latin typeface="Calibri"/>
                <a:cs typeface="Calibri"/>
              </a:rPr>
              <a:t>0</a:t>
            </a:r>
            <a:r>
              <a:rPr sz="3225" spc="382" baseline="-20671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should</a:t>
            </a:r>
            <a:r>
              <a:rPr sz="3250" spc="8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be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as</a:t>
            </a:r>
            <a:r>
              <a:rPr sz="3250" spc="2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low</a:t>
            </a:r>
            <a:r>
              <a:rPr sz="3250" spc="2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as</a:t>
            </a:r>
            <a:r>
              <a:rPr sz="3250" spc="2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possible.</a:t>
            </a:r>
            <a:endParaRPr sz="3250">
              <a:latin typeface="Calibri"/>
              <a:cs typeface="Calibri"/>
            </a:endParaRPr>
          </a:p>
          <a:p>
            <a:pPr marL="427355" indent="-402590">
              <a:lnSpc>
                <a:spcPct val="100000"/>
              </a:lnSpc>
              <a:spcBef>
                <a:spcPts val="825"/>
              </a:spcBef>
              <a:buFont typeface="Arial MT"/>
              <a:buChar char="•"/>
              <a:tabLst>
                <a:tab pos="427355" algn="l"/>
                <a:tab pos="427990" algn="l"/>
              </a:tabLst>
            </a:pPr>
            <a:r>
              <a:rPr sz="3250" dirty="0">
                <a:latin typeface="Calibri"/>
                <a:cs typeface="Calibri"/>
              </a:rPr>
              <a:t>Open</a:t>
            </a:r>
            <a:r>
              <a:rPr sz="3250" spc="4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loop</a:t>
            </a:r>
            <a:r>
              <a:rPr sz="3250" spc="25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voltage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spc="-15" dirty="0">
                <a:latin typeface="Calibri"/>
                <a:cs typeface="Calibri"/>
              </a:rPr>
              <a:t>gain,</a:t>
            </a:r>
            <a:r>
              <a:rPr sz="3250" spc="50" dirty="0">
                <a:latin typeface="Calibri"/>
                <a:cs typeface="Calibri"/>
              </a:rPr>
              <a:t> </a:t>
            </a:r>
            <a:r>
              <a:rPr sz="3250" spc="-30" dirty="0">
                <a:latin typeface="Calibri"/>
                <a:cs typeface="Calibri"/>
              </a:rPr>
              <a:t>Av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should</a:t>
            </a:r>
            <a:r>
              <a:rPr sz="3250" spc="6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be</a:t>
            </a:r>
            <a:r>
              <a:rPr sz="3250" spc="3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as</a:t>
            </a:r>
            <a:r>
              <a:rPr sz="3250" spc="2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high</a:t>
            </a:r>
            <a:r>
              <a:rPr sz="3250" spc="4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as</a:t>
            </a:r>
            <a:r>
              <a:rPr sz="3250" spc="2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possible.</a:t>
            </a:r>
            <a:endParaRPr sz="3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9834371" y="6384875"/>
            <a:ext cx="257810" cy="24447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z="1400" spc="-5" dirty="0">
                <a:solidFill>
                  <a:srgbClr val="888888"/>
                </a:solidFill>
                <a:latin typeface="Calibri"/>
                <a:cs typeface="Calibri"/>
              </a:rPr>
              <a:t>15</a:t>
            </a:fld>
            <a:endParaRPr sz="14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225" y="679703"/>
            <a:ext cx="177355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20" dirty="0"/>
              <a:t>C</a:t>
            </a:r>
            <a:r>
              <a:rPr spc="-165" dirty="0"/>
              <a:t>o</a:t>
            </a:r>
            <a:r>
              <a:rPr spc="20" dirty="0"/>
              <a:t>n</a:t>
            </a:r>
            <a:r>
              <a:rPr spc="15" dirty="0"/>
              <a:t>t</a:t>
            </a:r>
            <a:r>
              <a:rPr dirty="0"/>
              <a:t>…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371" y="1378305"/>
            <a:ext cx="9758680" cy="241808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z="3250" dirty="0">
                <a:latin typeface="Calibri"/>
                <a:cs typeface="Calibri"/>
              </a:rPr>
              <a:t>Output</a:t>
            </a:r>
            <a:r>
              <a:rPr sz="3250" spc="50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offset voltage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should</a:t>
            </a:r>
            <a:r>
              <a:rPr sz="3250" spc="8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be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as</a:t>
            </a:r>
            <a:r>
              <a:rPr sz="3250" spc="2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low</a:t>
            </a:r>
            <a:r>
              <a:rPr sz="3250" spc="2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as</a:t>
            </a:r>
            <a:r>
              <a:rPr sz="3250" spc="2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possible.</a:t>
            </a:r>
            <a:endParaRPr sz="3250">
              <a:latin typeface="Calibri"/>
              <a:cs typeface="Calibri"/>
            </a:endParaRPr>
          </a:p>
          <a:p>
            <a:pPr marL="414655" indent="-402590">
              <a:lnSpc>
                <a:spcPct val="100000"/>
              </a:lnSpc>
              <a:spcBef>
                <a:spcPts val="805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z="3250" dirty="0">
                <a:latin typeface="Calibri"/>
                <a:cs typeface="Calibri"/>
              </a:rPr>
              <a:t>The</a:t>
            </a:r>
            <a:r>
              <a:rPr sz="3250" spc="30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operating</a:t>
            </a:r>
            <a:r>
              <a:rPr sz="3250" spc="4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Bandwidth</a:t>
            </a:r>
            <a:r>
              <a:rPr sz="3250" spc="8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should</a:t>
            </a:r>
            <a:r>
              <a:rPr sz="3250" spc="8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be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as</a:t>
            </a:r>
            <a:r>
              <a:rPr sz="3250" spc="2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high</a:t>
            </a:r>
            <a:r>
              <a:rPr sz="3250" spc="3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as</a:t>
            </a:r>
            <a:r>
              <a:rPr sz="3250" spc="2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possible.</a:t>
            </a:r>
            <a:endParaRPr sz="3250">
              <a:latin typeface="Calibri"/>
              <a:cs typeface="Calibri"/>
            </a:endParaRPr>
          </a:p>
          <a:p>
            <a:pPr marL="414655" indent="-402590">
              <a:lnSpc>
                <a:spcPct val="100000"/>
              </a:lnSpc>
              <a:spcBef>
                <a:spcPts val="825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z="3250" spc="5" dirty="0">
                <a:latin typeface="Calibri"/>
                <a:cs typeface="Calibri"/>
              </a:rPr>
              <a:t>CMRR</a:t>
            </a:r>
            <a:r>
              <a:rPr sz="3250" spc="2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should</a:t>
            </a:r>
            <a:r>
              <a:rPr sz="3250" spc="7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be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as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high</a:t>
            </a:r>
            <a:r>
              <a:rPr sz="3250" spc="3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as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possible.</a:t>
            </a:r>
            <a:endParaRPr sz="3250">
              <a:latin typeface="Calibri"/>
              <a:cs typeface="Calibri"/>
            </a:endParaRPr>
          </a:p>
          <a:p>
            <a:pPr marL="414655" indent="-402590">
              <a:lnSpc>
                <a:spcPct val="100000"/>
              </a:lnSpc>
              <a:spcBef>
                <a:spcPts val="805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z="3250" spc="-5" dirty="0">
                <a:latin typeface="Calibri"/>
                <a:cs typeface="Calibri"/>
              </a:rPr>
              <a:t>Slew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spc="-30" dirty="0">
                <a:latin typeface="Calibri"/>
                <a:cs typeface="Calibri"/>
              </a:rPr>
              <a:t>rate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should</a:t>
            </a:r>
            <a:r>
              <a:rPr sz="3250" spc="6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be</a:t>
            </a:r>
            <a:r>
              <a:rPr sz="3250" spc="3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as</a:t>
            </a:r>
            <a:r>
              <a:rPr sz="3250" spc="2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high</a:t>
            </a:r>
            <a:r>
              <a:rPr sz="3250" spc="3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as</a:t>
            </a:r>
            <a:r>
              <a:rPr sz="3250" spc="2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possible.</a:t>
            </a:r>
            <a:endParaRPr sz="3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" dirty="0"/>
              <a:t>16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6903" y="716279"/>
            <a:ext cx="9269730" cy="596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750" spc="75" dirty="0"/>
              <a:t>Op-Amp</a:t>
            </a:r>
            <a:r>
              <a:rPr sz="3750" spc="-70" dirty="0"/>
              <a:t> </a:t>
            </a:r>
            <a:r>
              <a:rPr sz="3750" spc="40" dirty="0"/>
              <a:t>Other</a:t>
            </a:r>
            <a:r>
              <a:rPr sz="3750" spc="5" dirty="0"/>
              <a:t> </a:t>
            </a:r>
            <a:r>
              <a:rPr sz="3750" spc="-5" dirty="0"/>
              <a:t>Functions</a:t>
            </a:r>
            <a:r>
              <a:rPr sz="3750" spc="-145" dirty="0"/>
              <a:t> </a:t>
            </a:r>
            <a:r>
              <a:rPr sz="3750" spc="-5" dirty="0"/>
              <a:t>&amp;</a:t>
            </a:r>
            <a:r>
              <a:rPr sz="3750" spc="40" dirty="0"/>
              <a:t> </a:t>
            </a:r>
            <a:r>
              <a:rPr sz="3750" spc="10" dirty="0"/>
              <a:t>Applications</a:t>
            </a:r>
            <a:endParaRPr sz="3750"/>
          </a:p>
        </p:txBody>
      </p:sp>
      <p:sp>
        <p:nvSpPr>
          <p:cNvPr id="3" name="object 3"/>
          <p:cNvSpPr txBox="1"/>
          <p:nvPr/>
        </p:nvSpPr>
        <p:spPr>
          <a:xfrm>
            <a:off x="182371" y="1399032"/>
            <a:ext cx="7121525" cy="49282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z="2900" spc="5" dirty="0">
                <a:latin typeface="Calibri"/>
                <a:cs typeface="Calibri"/>
              </a:rPr>
              <a:t>Arithmetic</a:t>
            </a:r>
            <a:r>
              <a:rPr sz="2900" spc="-15" dirty="0">
                <a:latin typeface="Calibri"/>
                <a:cs typeface="Calibri"/>
              </a:rPr>
              <a:t> </a:t>
            </a:r>
            <a:r>
              <a:rPr sz="2900" spc="5" dirty="0">
                <a:latin typeface="Calibri"/>
                <a:cs typeface="Calibri"/>
              </a:rPr>
              <a:t>Circuits</a:t>
            </a:r>
            <a:endParaRPr sz="2900">
              <a:latin typeface="Calibri"/>
              <a:cs typeface="Calibri"/>
            </a:endParaRPr>
          </a:p>
          <a:p>
            <a:pPr marL="414655" indent="-402590">
              <a:lnSpc>
                <a:spcPct val="100000"/>
              </a:lnSpc>
              <a:spcBef>
                <a:spcPts val="25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z="2900" spc="-10" dirty="0">
                <a:latin typeface="Calibri"/>
                <a:cs typeface="Calibri"/>
              </a:rPr>
              <a:t>Differentiator </a:t>
            </a:r>
            <a:r>
              <a:rPr sz="2900" spc="15" dirty="0">
                <a:latin typeface="Calibri"/>
                <a:cs typeface="Calibri"/>
              </a:rPr>
              <a:t>&amp;</a:t>
            </a:r>
            <a:r>
              <a:rPr sz="2900" spc="-20" dirty="0">
                <a:latin typeface="Calibri"/>
                <a:cs typeface="Calibri"/>
              </a:rPr>
              <a:t> </a:t>
            </a:r>
            <a:r>
              <a:rPr sz="2900" spc="-10" dirty="0">
                <a:latin typeface="Calibri"/>
                <a:cs typeface="Calibri"/>
              </a:rPr>
              <a:t>Integrator</a:t>
            </a:r>
            <a:endParaRPr sz="2900">
              <a:latin typeface="Calibri"/>
              <a:cs typeface="Calibri"/>
            </a:endParaRPr>
          </a:p>
          <a:p>
            <a:pPr marL="414655" indent="-402590">
              <a:lnSpc>
                <a:spcPct val="100000"/>
              </a:lnSpc>
              <a:spcBef>
                <a:spcPts val="25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z="2900" spc="5" dirty="0">
                <a:latin typeface="Calibri"/>
                <a:cs typeface="Calibri"/>
              </a:rPr>
              <a:t>Electrical</a:t>
            </a:r>
            <a:r>
              <a:rPr sz="2900" spc="-5" dirty="0">
                <a:latin typeface="Calibri"/>
                <a:cs typeface="Calibri"/>
              </a:rPr>
              <a:t> </a:t>
            </a:r>
            <a:r>
              <a:rPr sz="2900" spc="5" dirty="0">
                <a:latin typeface="Calibri"/>
                <a:cs typeface="Calibri"/>
              </a:rPr>
              <a:t>quantity </a:t>
            </a:r>
            <a:r>
              <a:rPr sz="2900" spc="-5" dirty="0">
                <a:latin typeface="Calibri"/>
                <a:cs typeface="Calibri"/>
              </a:rPr>
              <a:t>converters</a:t>
            </a:r>
            <a:r>
              <a:rPr sz="2900" spc="-50" dirty="0">
                <a:latin typeface="Calibri"/>
                <a:cs typeface="Calibri"/>
              </a:rPr>
              <a:t> </a:t>
            </a:r>
            <a:r>
              <a:rPr sz="2900" spc="10" dirty="0">
                <a:latin typeface="Calibri"/>
                <a:cs typeface="Calibri"/>
              </a:rPr>
              <a:t>(V</a:t>
            </a:r>
            <a:r>
              <a:rPr sz="2900" spc="-15" dirty="0">
                <a:latin typeface="Calibri"/>
                <a:cs typeface="Calibri"/>
              </a:rPr>
              <a:t> </a:t>
            </a:r>
            <a:r>
              <a:rPr sz="2900" spc="-5" dirty="0">
                <a:latin typeface="Calibri"/>
                <a:cs typeface="Calibri"/>
              </a:rPr>
              <a:t>to</a:t>
            </a:r>
            <a:r>
              <a:rPr sz="2900" spc="-15" dirty="0">
                <a:latin typeface="Calibri"/>
                <a:cs typeface="Calibri"/>
              </a:rPr>
              <a:t> </a:t>
            </a:r>
            <a:r>
              <a:rPr sz="2900" spc="5" dirty="0">
                <a:latin typeface="Calibri"/>
                <a:cs typeface="Calibri"/>
              </a:rPr>
              <a:t>I</a:t>
            </a:r>
            <a:r>
              <a:rPr sz="2900" spc="-5" dirty="0">
                <a:latin typeface="Calibri"/>
                <a:cs typeface="Calibri"/>
              </a:rPr>
              <a:t> </a:t>
            </a:r>
            <a:r>
              <a:rPr sz="2900" spc="15" dirty="0">
                <a:latin typeface="Calibri"/>
                <a:cs typeface="Calibri"/>
              </a:rPr>
              <a:t>&amp;</a:t>
            </a:r>
            <a:r>
              <a:rPr sz="2900" spc="-15" dirty="0">
                <a:latin typeface="Calibri"/>
                <a:cs typeface="Calibri"/>
              </a:rPr>
              <a:t> </a:t>
            </a:r>
            <a:r>
              <a:rPr sz="2900" spc="5" dirty="0">
                <a:latin typeface="Calibri"/>
                <a:cs typeface="Calibri"/>
              </a:rPr>
              <a:t>I</a:t>
            </a:r>
            <a:r>
              <a:rPr sz="2900" spc="-5" dirty="0">
                <a:latin typeface="Calibri"/>
                <a:cs typeface="Calibri"/>
              </a:rPr>
              <a:t> to</a:t>
            </a:r>
            <a:r>
              <a:rPr sz="2900" spc="-15" dirty="0">
                <a:latin typeface="Calibri"/>
                <a:cs typeface="Calibri"/>
              </a:rPr>
              <a:t> </a:t>
            </a:r>
            <a:r>
              <a:rPr sz="2900" spc="5" dirty="0">
                <a:latin typeface="Calibri"/>
                <a:cs typeface="Calibri"/>
              </a:rPr>
              <a:t>V)</a:t>
            </a:r>
            <a:endParaRPr sz="2900">
              <a:latin typeface="Calibri"/>
              <a:cs typeface="Calibri"/>
            </a:endParaRPr>
          </a:p>
          <a:p>
            <a:pPr marL="414655" indent="-402590">
              <a:lnSpc>
                <a:spcPct val="100000"/>
              </a:lnSpc>
              <a:spcBef>
                <a:spcPts val="45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z="2900" spc="-10" dirty="0">
                <a:latin typeface="Calibri"/>
                <a:cs typeface="Calibri"/>
              </a:rPr>
              <a:t>Comparators</a:t>
            </a:r>
            <a:endParaRPr sz="2900">
              <a:latin typeface="Calibri"/>
              <a:cs typeface="Calibri"/>
            </a:endParaRPr>
          </a:p>
          <a:p>
            <a:pPr marL="414655" indent="-402590">
              <a:lnSpc>
                <a:spcPct val="100000"/>
              </a:lnSpc>
              <a:spcBef>
                <a:spcPts val="25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z="2900" spc="5" dirty="0">
                <a:latin typeface="Calibri"/>
                <a:cs typeface="Calibri"/>
              </a:rPr>
              <a:t>Log</a:t>
            </a:r>
            <a:r>
              <a:rPr sz="2900" spc="-20" dirty="0">
                <a:latin typeface="Calibri"/>
                <a:cs typeface="Calibri"/>
              </a:rPr>
              <a:t> </a:t>
            </a:r>
            <a:r>
              <a:rPr sz="2900" spc="15" dirty="0">
                <a:latin typeface="Calibri"/>
                <a:cs typeface="Calibri"/>
              </a:rPr>
              <a:t>&amp;</a:t>
            </a:r>
            <a:r>
              <a:rPr sz="2900" spc="-30" dirty="0">
                <a:latin typeface="Calibri"/>
                <a:cs typeface="Calibri"/>
              </a:rPr>
              <a:t> </a:t>
            </a:r>
            <a:r>
              <a:rPr sz="2900" spc="5" dirty="0">
                <a:latin typeface="Calibri"/>
                <a:cs typeface="Calibri"/>
              </a:rPr>
              <a:t>Anti-Log</a:t>
            </a:r>
            <a:r>
              <a:rPr sz="2900" spc="-15" dirty="0">
                <a:latin typeface="Calibri"/>
                <a:cs typeface="Calibri"/>
              </a:rPr>
              <a:t> </a:t>
            </a:r>
            <a:r>
              <a:rPr sz="2900" spc="5" dirty="0">
                <a:latin typeface="Calibri"/>
                <a:cs typeface="Calibri"/>
              </a:rPr>
              <a:t>Amplifiers</a:t>
            </a:r>
            <a:endParaRPr sz="2900">
              <a:latin typeface="Calibri"/>
              <a:cs typeface="Calibri"/>
            </a:endParaRPr>
          </a:p>
          <a:p>
            <a:pPr marL="414655" indent="-402590">
              <a:lnSpc>
                <a:spcPct val="100000"/>
              </a:lnSpc>
              <a:spcBef>
                <a:spcPts val="25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z="2900" dirty="0">
                <a:latin typeface="Calibri"/>
                <a:cs typeface="Calibri"/>
              </a:rPr>
              <a:t>Rectifiers</a:t>
            </a:r>
            <a:endParaRPr sz="2900">
              <a:latin typeface="Calibri"/>
              <a:cs typeface="Calibri"/>
            </a:endParaRPr>
          </a:p>
          <a:p>
            <a:pPr marL="414655" indent="-402590">
              <a:lnSpc>
                <a:spcPct val="100000"/>
              </a:lnSpc>
              <a:spcBef>
                <a:spcPts val="25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z="2900" spc="5" dirty="0">
                <a:latin typeface="Calibri"/>
                <a:cs typeface="Calibri"/>
              </a:rPr>
              <a:t>Clippers</a:t>
            </a:r>
            <a:endParaRPr sz="2900">
              <a:latin typeface="Calibri"/>
              <a:cs typeface="Calibri"/>
            </a:endParaRPr>
          </a:p>
          <a:p>
            <a:pPr marL="414655" indent="-402590">
              <a:lnSpc>
                <a:spcPct val="100000"/>
              </a:lnSpc>
              <a:spcBef>
                <a:spcPts val="45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z="2900" spc="5" dirty="0">
                <a:latin typeface="Calibri"/>
                <a:cs typeface="Calibri"/>
              </a:rPr>
              <a:t>Clampers</a:t>
            </a:r>
            <a:endParaRPr sz="2900">
              <a:latin typeface="Calibri"/>
              <a:cs typeface="Calibri"/>
            </a:endParaRPr>
          </a:p>
          <a:p>
            <a:pPr marL="414655" indent="-402590">
              <a:lnSpc>
                <a:spcPct val="100000"/>
              </a:lnSpc>
              <a:spcBef>
                <a:spcPts val="25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z="2900" spc="5" dirty="0">
                <a:latin typeface="Calibri"/>
                <a:cs typeface="Calibri"/>
              </a:rPr>
              <a:t>Active</a:t>
            </a:r>
            <a:r>
              <a:rPr sz="2900" spc="-5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Filters</a:t>
            </a:r>
            <a:endParaRPr sz="2900">
              <a:latin typeface="Calibri"/>
              <a:cs typeface="Calibri"/>
            </a:endParaRPr>
          </a:p>
          <a:p>
            <a:pPr marL="414655" indent="-402590">
              <a:lnSpc>
                <a:spcPct val="100000"/>
              </a:lnSpc>
              <a:spcBef>
                <a:spcPts val="25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z="2900" spc="5" dirty="0">
                <a:latin typeface="Calibri"/>
                <a:cs typeface="Calibri"/>
              </a:rPr>
              <a:t>Sinusoidal</a:t>
            </a:r>
            <a:r>
              <a:rPr sz="2900" spc="-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Oscillators</a:t>
            </a:r>
            <a:endParaRPr sz="2900">
              <a:latin typeface="Calibri"/>
              <a:cs typeface="Calibri"/>
            </a:endParaRPr>
          </a:p>
          <a:p>
            <a:pPr marL="414655" indent="-402590">
              <a:lnSpc>
                <a:spcPct val="100000"/>
              </a:lnSpc>
              <a:spcBef>
                <a:spcPts val="25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z="2900" spc="-25" dirty="0">
                <a:latin typeface="Calibri"/>
                <a:cs typeface="Calibri"/>
              </a:rPr>
              <a:t>Waveform</a:t>
            </a:r>
            <a:r>
              <a:rPr sz="2900" spc="-50" dirty="0">
                <a:latin typeface="Calibri"/>
                <a:cs typeface="Calibri"/>
              </a:rPr>
              <a:t> </a:t>
            </a:r>
            <a:r>
              <a:rPr sz="2900" spc="-5" dirty="0">
                <a:latin typeface="Calibri"/>
                <a:cs typeface="Calibri"/>
              </a:rPr>
              <a:t>Generators</a:t>
            </a:r>
            <a:endParaRPr sz="2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" dirty="0"/>
              <a:t>17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89963" y="679703"/>
            <a:ext cx="749236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Advantages </a:t>
            </a:r>
            <a:r>
              <a:rPr dirty="0"/>
              <a:t>&amp;</a:t>
            </a:r>
            <a:r>
              <a:rPr spc="45" dirty="0"/>
              <a:t> </a:t>
            </a:r>
            <a:r>
              <a:rPr spc="5" dirty="0"/>
              <a:t>Disadvantages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371" y="1378305"/>
            <a:ext cx="8943340" cy="421640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z="3250" spc="-15" dirty="0">
                <a:latin typeface="Calibri"/>
                <a:cs typeface="Calibri"/>
              </a:rPr>
              <a:t>Advantages</a:t>
            </a:r>
            <a:endParaRPr sz="3250">
              <a:latin typeface="Calibri"/>
              <a:cs typeface="Calibri"/>
            </a:endParaRPr>
          </a:p>
          <a:p>
            <a:pPr marL="881380" lvl="1" indent="-332740">
              <a:lnSpc>
                <a:spcPct val="100000"/>
              </a:lnSpc>
              <a:spcBef>
                <a:spcPts val="805"/>
              </a:spcBef>
              <a:buFont typeface="Arial MT"/>
              <a:buChar char="–"/>
              <a:tabLst>
                <a:tab pos="881380" algn="l"/>
              </a:tabLst>
            </a:pPr>
            <a:r>
              <a:rPr sz="3250" dirty="0">
                <a:latin typeface="Calibri"/>
                <a:cs typeface="Calibri"/>
              </a:rPr>
              <a:t>Smaller</a:t>
            </a:r>
            <a:r>
              <a:rPr sz="3250" spc="-10" dirty="0">
                <a:latin typeface="Calibri"/>
                <a:cs typeface="Calibri"/>
              </a:rPr>
              <a:t> </a:t>
            </a:r>
            <a:r>
              <a:rPr sz="3250" spc="-20" dirty="0">
                <a:latin typeface="Calibri"/>
                <a:cs typeface="Calibri"/>
              </a:rPr>
              <a:t>Size</a:t>
            </a:r>
            <a:endParaRPr sz="3250">
              <a:latin typeface="Calibri"/>
              <a:cs typeface="Calibri"/>
            </a:endParaRPr>
          </a:p>
          <a:p>
            <a:pPr marL="881380" lvl="1" indent="-332740">
              <a:lnSpc>
                <a:spcPct val="100000"/>
              </a:lnSpc>
              <a:spcBef>
                <a:spcPts val="825"/>
              </a:spcBef>
              <a:buFont typeface="Arial MT"/>
              <a:buChar char="–"/>
              <a:tabLst>
                <a:tab pos="881380" algn="l"/>
              </a:tabLst>
            </a:pPr>
            <a:r>
              <a:rPr sz="3250" spc="-5" dirty="0">
                <a:latin typeface="Calibri"/>
                <a:cs typeface="Calibri"/>
              </a:rPr>
              <a:t>Reduced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Cost</a:t>
            </a:r>
            <a:endParaRPr sz="3250">
              <a:latin typeface="Calibri"/>
              <a:cs typeface="Calibri"/>
            </a:endParaRPr>
          </a:p>
          <a:p>
            <a:pPr marL="881380" lvl="1" indent="-332740">
              <a:lnSpc>
                <a:spcPct val="100000"/>
              </a:lnSpc>
              <a:spcBef>
                <a:spcPts val="805"/>
              </a:spcBef>
              <a:buFont typeface="Arial MT"/>
              <a:buChar char="–"/>
              <a:tabLst>
                <a:tab pos="881380" algn="l"/>
              </a:tabLst>
            </a:pPr>
            <a:r>
              <a:rPr sz="3250" dirty="0">
                <a:latin typeface="Calibri"/>
                <a:cs typeface="Calibri"/>
              </a:rPr>
              <a:t>Simple</a:t>
            </a:r>
            <a:r>
              <a:rPr sz="3250" spc="5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designs</a:t>
            </a:r>
            <a:r>
              <a:rPr sz="3250" spc="4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without</a:t>
            </a:r>
            <a:r>
              <a:rPr sz="3250" spc="65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much</a:t>
            </a:r>
            <a:r>
              <a:rPr sz="3250" spc="40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discrete</a:t>
            </a:r>
            <a:r>
              <a:rPr sz="3250" spc="3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elements</a:t>
            </a:r>
            <a:endParaRPr sz="3250">
              <a:latin typeface="Calibri"/>
              <a:cs typeface="Calibri"/>
            </a:endParaRPr>
          </a:p>
          <a:p>
            <a:pPr marL="414655" indent="-402590">
              <a:lnSpc>
                <a:spcPct val="100000"/>
              </a:lnSpc>
              <a:spcBef>
                <a:spcPts val="830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z="3250" spc="-10" dirty="0">
                <a:latin typeface="Calibri"/>
                <a:cs typeface="Calibri"/>
              </a:rPr>
              <a:t>Disadvantages</a:t>
            </a:r>
            <a:endParaRPr sz="3250">
              <a:latin typeface="Calibri"/>
              <a:cs typeface="Calibri"/>
            </a:endParaRPr>
          </a:p>
          <a:p>
            <a:pPr marL="881380" lvl="1" indent="-332740">
              <a:lnSpc>
                <a:spcPct val="100000"/>
              </a:lnSpc>
              <a:spcBef>
                <a:spcPts val="825"/>
              </a:spcBef>
              <a:buFont typeface="Arial MT"/>
              <a:buChar char="–"/>
              <a:tabLst>
                <a:tab pos="881380" algn="l"/>
              </a:tabLst>
            </a:pPr>
            <a:r>
              <a:rPr sz="3250" spc="-15" dirty="0">
                <a:latin typeface="Calibri"/>
                <a:cs typeface="Calibri"/>
              </a:rPr>
              <a:t>Requires</a:t>
            </a:r>
            <a:r>
              <a:rPr sz="3250" spc="6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dual</a:t>
            </a:r>
            <a:r>
              <a:rPr sz="3250" spc="4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power</a:t>
            </a:r>
            <a:r>
              <a:rPr sz="3250" spc="4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supply</a:t>
            </a:r>
            <a:endParaRPr sz="3250">
              <a:latin typeface="Calibri"/>
              <a:cs typeface="Calibri"/>
            </a:endParaRPr>
          </a:p>
          <a:p>
            <a:pPr marL="881380" lvl="1" indent="-332740">
              <a:lnSpc>
                <a:spcPct val="100000"/>
              </a:lnSpc>
              <a:spcBef>
                <a:spcPts val="805"/>
              </a:spcBef>
              <a:buFont typeface="Arial MT"/>
              <a:buChar char="–"/>
              <a:tabLst>
                <a:tab pos="881380" algn="l"/>
              </a:tabLst>
            </a:pPr>
            <a:r>
              <a:rPr sz="3250" dirty="0">
                <a:latin typeface="Calibri"/>
                <a:cs typeface="Calibri"/>
              </a:rPr>
              <a:t>Suits</a:t>
            </a:r>
            <a:r>
              <a:rPr sz="3250" spc="45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much</a:t>
            </a:r>
            <a:r>
              <a:rPr sz="3250" spc="4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in</a:t>
            </a:r>
            <a:r>
              <a:rPr sz="3250" spc="2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low</a:t>
            </a:r>
            <a:r>
              <a:rPr sz="3250" spc="2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power</a:t>
            </a:r>
            <a:r>
              <a:rPr sz="3250" spc="4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applications</a:t>
            </a:r>
            <a:r>
              <a:rPr sz="3250" spc="6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only</a:t>
            </a:r>
            <a:endParaRPr sz="3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529</Words>
  <Application>Microsoft Office PowerPoint</Application>
  <PresentationFormat>Custom</PresentationFormat>
  <Paragraphs>110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Arial MT</vt:lpstr>
      <vt:lpstr>Calibri</vt:lpstr>
      <vt:lpstr>Office Theme</vt:lpstr>
      <vt:lpstr>Outline</vt:lpstr>
      <vt:lpstr>Basics</vt:lpstr>
      <vt:lpstr>Op-Amp Circuit Symbol</vt:lpstr>
      <vt:lpstr>Op-Amp Construction</vt:lpstr>
      <vt:lpstr>Characteristics of Op -Amp</vt:lpstr>
      <vt:lpstr>Open Loop Voltage Gain</vt:lpstr>
      <vt:lpstr>Output Offset Voltage</vt:lpstr>
      <vt:lpstr>Common Mode Rejection Ratio</vt:lpstr>
      <vt:lpstr>Slew Rate</vt:lpstr>
      <vt:lpstr>Op-Amp Types</vt:lpstr>
      <vt:lpstr>Ideal Op -Amp</vt:lpstr>
      <vt:lpstr>Characteristics of an Ideal -Op-Amp</vt:lpstr>
      <vt:lpstr>Practical Op -Amp</vt:lpstr>
      <vt:lpstr>Characteristics of Practical Op -Amp</vt:lpstr>
      <vt:lpstr>Cont…</vt:lpstr>
      <vt:lpstr>Op-Amp Other Functions &amp; Applications</vt:lpstr>
      <vt:lpstr>Advantages &amp; Disadvantages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Course: ECE249</dc:title>
  <cp:lastModifiedBy>Swapnil Bagwari</cp:lastModifiedBy>
  <cp:revision>3</cp:revision>
  <dcterms:created xsi:type="dcterms:W3CDTF">2023-01-03T03:37:02Z</dcterms:created>
  <dcterms:modified xsi:type="dcterms:W3CDTF">2023-01-07T15:21:15Z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2022-11-28T00:00:00Z</vt:filetime>
  </property>
  <property fmtid="{D5CDD505-2E9C-101B-9397-08002B2CF9AE}" pid="3" name="LastSaved">
    <vt:filetime>2022-11-28T00:00:00Z</vt:filetime>
  </property>
</Properties>
</file>