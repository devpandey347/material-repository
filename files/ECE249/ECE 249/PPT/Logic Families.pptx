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77" r:id="rId9"/>
    <p:sldId id="278" r:id="rId10"/>
    <p:sldId id="263" r:id="rId11"/>
    <p:sldId id="264" r:id="rId12"/>
    <p:sldId id="273" r:id="rId13"/>
    <p:sldId id="274" r:id="rId14"/>
    <p:sldId id="275" r:id="rId15"/>
    <p:sldId id="276" r:id="rId16"/>
    <p:sldId id="268" r:id="rId17"/>
    <p:sldId id="269" r:id="rId1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1258" y="192150"/>
            <a:ext cx="7701483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hlink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540" y="1525041"/>
            <a:ext cx="8068919" cy="429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6945" y="2481833"/>
            <a:ext cx="31476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4400" b="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15" dirty="0">
                <a:solidFill>
                  <a:srgbClr val="000000"/>
                </a:solidFill>
                <a:latin typeface="Calibri"/>
                <a:cs typeface="Calibri"/>
              </a:rPr>
              <a:t>Families</a:t>
            </a:r>
            <a:endParaRPr sz="4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607946"/>
            <a:ext cx="807339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"logic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family"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also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refer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techniques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implement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logic</a:t>
            </a:r>
            <a:r>
              <a:rPr sz="3200" spc="7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within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VLSI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Integrated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Circuits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(IC)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870" y="461899"/>
            <a:ext cx="1316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204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ypes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54775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2022475" algn="l"/>
                <a:tab pos="2856865" algn="l"/>
              </a:tabLst>
            </a:pPr>
            <a:r>
              <a:rPr sz="3200" b="1" spc="-5" dirty="0">
                <a:latin typeface="Calibri"/>
                <a:cs typeface="Calibri"/>
              </a:rPr>
              <a:t>CMOS	</a:t>
            </a:r>
            <a:r>
              <a:rPr sz="3200" dirty="0">
                <a:latin typeface="Calibri"/>
                <a:cs typeface="Calibri"/>
              </a:rPr>
              <a:t>–	</a:t>
            </a:r>
            <a:r>
              <a:rPr sz="3200" spc="-10" dirty="0">
                <a:latin typeface="Calibri"/>
                <a:cs typeface="Calibri"/>
              </a:rPr>
              <a:t>complementary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95669" y="1559178"/>
            <a:ext cx="2112010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123189" algn="r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latin typeface="Calibri"/>
                <a:cs typeface="Calibri"/>
              </a:rPr>
              <a:t>m</a:t>
            </a:r>
            <a:r>
              <a:rPr sz="3200" spc="-15" dirty="0">
                <a:latin typeface="Calibri"/>
                <a:cs typeface="Calibri"/>
              </a:rPr>
              <a:t>e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6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xide  </a:t>
            </a:r>
            <a:r>
              <a:rPr sz="3200" dirty="0">
                <a:latin typeface="Calibri"/>
                <a:cs typeface="Calibri"/>
              </a:rPr>
              <a:t>m</a:t>
            </a:r>
            <a:r>
              <a:rPr sz="3200" spc="-20" dirty="0">
                <a:latin typeface="Calibri"/>
                <a:cs typeface="Calibri"/>
              </a:rPr>
              <a:t>e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al-</a:t>
            </a:r>
            <a:r>
              <a:rPr sz="3200" spc="-60" dirty="0">
                <a:latin typeface="Calibri"/>
                <a:cs typeface="Calibri"/>
              </a:rPr>
              <a:t>o</a:t>
            </a:r>
            <a:r>
              <a:rPr sz="3200" spc="-5" dirty="0">
                <a:latin typeface="Calibri"/>
                <a:cs typeface="Calibri"/>
              </a:rPr>
              <a:t>x</a:t>
            </a:r>
            <a:r>
              <a:rPr sz="3200" spc="-15" dirty="0">
                <a:latin typeface="Calibri"/>
                <a:cs typeface="Calibri"/>
              </a:rPr>
              <a:t>i</a:t>
            </a:r>
            <a:r>
              <a:rPr sz="3200" spc="-5" dirty="0">
                <a:latin typeface="Calibri"/>
                <a:cs typeface="Calibri"/>
              </a:rPr>
              <a:t>d</a:t>
            </a:r>
            <a:r>
              <a:rPr sz="3200" dirty="0">
                <a:latin typeface="Calibri"/>
                <a:cs typeface="Calibri"/>
              </a:rPr>
              <a:t>e-  </a:t>
            </a:r>
            <a:r>
              <a:rPr sz="3200" spc="-20" dirty="0">
                <a:latin typeface="Calibri"/>
                <a:cs typeface="Calibri"/>
              </a:rPr>
              <a:t>transistors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9" y="1998091"/>
            <a:ext cx="53981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20975" algn="l"/>
                <a:tab pos="3728720" algn="l"/>
                <a:tab pos="4955540" algn="l"/>
              </a:tabLst>
            </a:pPr>
            <a:r>
              <a:rPr sz="3200" spc="-5" dirty="0">
                <a:latin typeface="Calibri"/>
                <a:cs typeface="Calibri"/>
              </a:rPr>
              <a:t>semi</a:t>
            </a:r>
            <a:r>
              <a:rPr sz="3200" spc="-30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ondu</a:t>
            </a:r>
            <a:r>
              <a:rPr sz="3200" spc="15" dirty="0">
                <a:latin typeface="Calibri"/>
                <a:cs typeface="Calibri"/>
              </a:rPr>
              <a:t>c</a:t>
            </a:r>
            <a:r>
              <a:rPr sz="3200" spc="-40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r	logic	</a:t>
            </a:r>
            <a:r>
              <a:rPr sz="3200" spc="-5" dirty="0">
                <a:latin typeface="Calibri"/>
                <a:cs typeface="Calibri"/>
              </a:rPr>
              <a:t>base</a:t>
            </a:r>
            <a:r>
              <a:rPr sz="3200" dirty="0">
                <a:latin typeface="Calibri"/>
                <a:cs typeface="Calibri"/>
              </a:rPr>
              <a:t>d	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9" y="2436698"/>
            <a:ext cx="5389245" cy="953769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  <a:tabLst>
                <a:tab pos="3091180" algn="l"/>
                <a:tab pos="4432935" algn="l"/>
              </a:tabLst>
            </a:pPr>
            <a:r>
              <a:rPr sz="3200" spc="-5" dirty="0">
                <a:latin typeface="Calibri"/>
                <a:cs typeface="Calibri"/>
              </a:rPr>
              <a:t>sem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25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ondu</a:t>
            </a:r>
            <a:r>
              <a:rPr sz="3200" spc="10" dirty="0">
                <a:latin typeface="Calibri"/>
                <a:cs typeface="Calibri"/>
              </a:rPr>
              <a:t>c</a:t>
            </a:r>
            <a:r>
              <a:rPr sz="3200" spc="-40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r	</a:t>
            </a:r>
            <a:r>
              <a:rPr sz="3200" spc="-5" dirty="0">
                <a:latin typeface="Calibri"/>
                <a:cs typeface="Calibri"/>
              </a:rPr>
              <a:t>f</a:t>
            </a:r>
            <a:r>
              <a:rPr sz="3200" spc="-15" dirty="0">
                <a:latin typeface="Calibri"/>
                <a:cs typeface="Calibri"/>
              </a:rPr>
              <a:t>i</a:t>
            </a:r>
            <a:r>
              <a:rPr sz="3200" dirty="0">
                <a:latin typeface="Calibri"/>
                <a:cs typeface="Calibri"/>
              </a:rPr>
              <a:t>eld	</a:t>
            </a:r>
            <a:r>
              <a:rPr sz="3200" spc="-25" dirty="0">
                <a:latin typeface="Calibri"/>
                <a:cs typeface="Calibri"/>
              </a:rPr>
              <a:t>e</a:t>
            </a:r>
            <a:r>
              <a:rPr sz="3200" spc="-45" dirty="0">
                <a:latin typeface="Calibri"/>
                <a:cs typeface="Calibri"/>
              </a:rPr>
              <a:t>f</a:t>
            </a:r>
            <a:r>
              <a:rPr sz="3200" spc="-95" dirty="0">
                <a:latin typeface="Calibri"/>
                <a:cs typeface="Calibri"/>
              </a:rPr>
              <a:t>f</a:t>
            </a:r>
            <a:r>
              <a:rPr sz="3200" dirty="0">
                <a:latin typeface="Calibri"/>
                <a:cs typeface="Calibri"/>
              </a:rPr>
              <a:t>ect  </a:t>
            </a:r>
            <a:r>
              <a:rPr sz="3200" spc="-30" dirty="0">
                <a:latin typeface="Calibri"/>
                <a:cs typeface="Calibri"/>
              </a:rPr>
              <a:t>(MOSFETs).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3949446"/>
            <a:ext cx="8074025" cy="24650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985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  <a:tab pos="1228725" algn="l"/>
                <a:tab pos="1725295" algn="l"/>
                <a:tab pos="5292090" algn="l"/>
                <a:tab pos="6351905" algn="l"/>
                <a:tab pos="7628890" algn="l"/>
              </a:tabLst>
            </a:pPr>
            <a:r>
              <a:rPr sz="3200" b="1" spc="30" dirty="0">
                <a:latin typeface="Calibri"/>
                <a:cs typeface="Calibri"/>
              </a:rPr>
              <a:t>T</a:t>
            </a:r>
            <a:r>
              <a:rPr sz="3200" b="1" spc="-5" dirty="0">
                <a:latin typeface="Calibri"/>
                <a:cs typeface="Calibri"/>
              </a:rPr>
              <a:t>T</a:t>
            </a:r>
            <a:r>
              <a:rPr sz="3200" b="1" dirty="0">
                <a:latin typeface="Calibri"/>
                <a:cs typeface="Calibri"/>
              </a:rPr>
              <a:t>L	</a:t>
            </a:r>
            <a:r>
              <a:rPr sz="3200" dirty="0">
                <a:latin typeface="Calibri"/>
                <a:cs typeface="Calibri"/>
              </a:rPr>
              <a:t>–	t</a:t>
            </a:r>
            <a:r>
              <a:rPr sz="3200" spc="-5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ans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30" dirty="0">
                <a:latin typeface="Calibri"/>
                <a:cs typeface="Calibri"/>
              </a:rPr>
              <a:t>s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spc="5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-t</a:t>
            </a:r>
            <a:r>
              <a:rPr sz="3200" spc="-7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ans</a:t>
            </a:r>
            <a:r>
              <a:rPr sz="3200" spc="-10" dirty="0">
                <a:latin typeface="Calibri"/>
                <a:cs typeface="Calibri"/>
              </a:rPr>
              <a:t>i</a:t>
            </a:r>
            <a:r>
              <a:rPr sz="3200" spc="-30" dirty="0">
                <a:latin typeface="Calibri"/>
                <a:cs typeface="Calibri"/>
              </a:rPr>
              <a:t>s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spc="-5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r	logic	</a:t>
            </a:r>
            <a:r>
              <a:rPr sz="3200" spc="-5" dirty="0">
                <a:latin typeface="Calibri"/>
                <a:cs typeface="Calibri"/>
              </a:rPr>
              <a:t>base</a:t>
            </a:r>
            <a:r>
              <a:rPr sz="3200" dirty="0">
                <a:latin typeface="Calibri"/>
                <a:cs typeface="Calibri"/>
              </a:rPr>
              <a:t>d	on  </a:t>
            </a:r>
            <a:r>
              <a:rPr sz="3200" spc="-5" dirty="0">
                <a:latin typeface="Calibri"/>
                <a:cs typeface="Calibri"/>
              </a:rPr>
              <a:t>bipolar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transistors.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05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buFont typeface="Arial MT"/>
              <a:buChar char="•"/>
              <a:tabLst>
                <a:tab pos="354965" algn="l"/>
                <a:tab pos="355600" algn="l"/>
                <a:tab pos="1080770" algn="l"/>
                <a:tab pos="1430020" algn="l"/>
                <a:tab pos="2804795" algn="l"/>
                <a:tab pos="4272280" algn="l"/>
                <a:tab pos="5185410" algn="l"/>
                <a:tab pos="6316980" algn="l"/>
                <a:tab pos="6892925" algn="l"/>
              </a:tabLst>
            </a:pPr>
            <a:r>
              <a:rPr sz="3200" b="1" spc="-50" dirty="0">
                <a:latin typeface="Calibri"/>
                <a:cs typeface="Calibri"/>
              </a:rPr>
              <a:t>E</a:t>
            </a:r>
            <a:r>
              <a:rPr sz="3200" b="1" spc="-5" dirty="0">
                <a:latin typeface="Calibri"/>
                <a:cs typeface="Calibri"/>
              </a:rPr>
              <a:t>C</a:t>
            </a:r>
            <a:r>
              <a:rPr sz="3200" b="1" dirty="0">
                <a:latin typeface="Calibri"/>
                <a:cs typeface="Calibri"/>
              </a:rPr>
              <a:t>L	</a:t>
            </a:r>
            <a:r>
              <a:rPr sz="3200" dirty="0">
                <a:latin typeface="Calibri"/>
                <a:cs typeface="Calibri"/>
              </a:rPr>
              <a:t>–	</a:t>
            </a:r>
            <a:r>
              <a:rPr sz="3200" spc="10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mi</a:t>
            </a:r>
            <a:r>
              <a:rPr sz="3200" spc="-55" dirty="0">
                <a:latin typeface="Calibri"/>
                <a:cs typeface="Calibri"/>
              </a:rPr>
              <a:t>t</a:t>
            </a:r>
            <a:r>
              <a:rPr sz="3200" spc="-45" dirty="0">
                <a:latin typeface="Calibri"/>
                <a:cs typeface="Calibri"/>
              </a:rPr>
              <a:t>t</a:t>
            </a:r>
            <a:r>
              <a:rPr sz="3200" dirty="0">
                <a:latin typeface="Calibri"/>
                <a:cs typeface="Calibri"/>
              </a:rPr>
              <a:t>er	</a:t>
            </a:r>
            <a:r>
              <a:rPr sz="3200" spc="-25" dirty="0">
                <a:latin typeface="Calibri"/>
                <a:cs typeface="Calibri"/>
              </a:rPr>
              <a:t>c</a:t>
            </a:r>
            <a:r>
              <a:rPr sz="3200" spc="-5" dirty="0">
                <a:latin typeface="Calibri"/>
                <a:cs typeface="Calibri"/>
              </a:rPr>
              <a:t>ou</a:t>
            </a:r>
            <a:r>
              <a:rPr sz="3200" spc="5" dirty="0">
                <a:latin typeface="Calibri"/>
                <a:cs typeface="Calibri"/>
              </a:rPr>
              <a:t>p</a:t>
            </a:r>
            <a:r>
              <a:rPr sz="3200" dirty="0">
                <a:latin typeface="Calibri"/>
                <a:cs typeface="Calibri"/>
              </a:rPr>
              <a:t>led	l</a:t>
            </a:r>
            <a:r>
              <a:rPr sz="3200" spc="10" dirty="0">
                <a:latin typeface="Calibri"/>
                <a:cs typeface="Calibri"/>
              </a:rPr>
              <a:t>o</a:t>
            </a:r>
            <a:r>
              <a:rPr sz="3200" dirty="0">
                <a:latin typeface="Calibri"/>
                <a:cs typeface="Calibri"/>
              </a:rPr>
              <a:t>gic	</a:t>
            </a:r>
            <a:r>
              <a:rPr sz="3200" spc="-5" dirty="0">
                <a:latin typeface="Calibri"/>
                <a:cs typeface="Calibri"/>
              </a:rPr>
              <a:t>base</a:t>
            </a:r>
            <a:r>
              <a:rPr sz="3200" dirty="0">
                <a:latin typeface="Calibri"/>
                <a:cs typeface="Calibri"/>
              </a:rPr>
              <a:t>d	on	</a:t>
            </a:r>
            <a:r>
              <a:rPr sz="3200" spc="5" dirty="0">
                <a:latin typeface="Calibri"/>
                <a:cs typeface="Calibri"/>
              </a:rPr>
              <a:t>b</a:t>
            </a:r>
            <a:r>
              <a:rPr sz="3200" dirty="0">
                <a:latin typeface="Calibri"/>
                <a:cs typeface="Calibri"/>
              </a:rPr>
              <a:t>ipolar  </a:t>
            </a:r>
            <a:r>
              <a:rPr sz="3200" spc="-20" dirty="0">
                <a:latin typeface="Calibri"/>
                <a:cs typeface="Calibri"/>
              </a:rPr>
              <a:t>transistors.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8106" y="192150"/>
            <a:ext cx="78498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0000"/>
                </a:solidFill>
              </a:rPr>
              <a:t>Basic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Characteristics</a:t>
            </a:r>
            <a:r>
              <a:rPr spc="6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of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spc="-5" dirty="0">
                <a:solidFill>
                  <a:srgbClr val="000000"/>
                </a:solidFill>
              </a:rPr>
              <a:t>Logic</a:t>
            </a:r>
            <a:r>
              <a:rPr spc="10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Families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7099300" cy="35642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main </a:t>
            </a:r>
            <a:r>
              <a:rPr sz="3200" spc="-10" dirty="0">
                <a:latin typeface="Calibri"/>
                <a:cs typeface="Calibri"/>
              </a:rPr>
              <a:t>characteristics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Logic </a:t>
            </a:r>
            <a:r>
              <a:rPr sz="3200" spc="-10" dirty="0">
                <a:latin typeface="Calibri"/>
                <a:cs typeface="Calibri"/>
              </a:rPr>
              <a:t>families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include: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Speed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Fan-in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Fan-out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Noise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Immunity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Power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Dissipation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61899"/>
            <a:ext cx="166623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Co</a:t>
            </a:r>
            <a:r>
              <a:rPr sz="4400" b="0" spc="-25" dirty="0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sz="4400" b="0" spc="-50" dirty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d..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7842"/>
            <a:ext cx="8303259" cy="47999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74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Speed: Speed </a:t>
            </a:r>
            <a:r>
              <a:rPr sz="2700" dirty="0">
                <a:latin typeface="Calibri"/>
                <a:cs typeface="Calibri"/>
              </a:rPr>
              <a:t>of a </a:t>
            </a:r>
            <a:r>
              <a:rPr sz="2700" spc="-5" dirty="0">
                <a:latin typeface="Calibri"/>
                <a:cs typeface="Calibri"/>
              </a:rPr>
              <a:t>logic </a:t>
            </a:r>
            <a:r>
              <a:rPr sz="2700" spc="-10" dirty="0">
                <a:latin typeface="Calibri"/>
                <a:cs typeface="Calibri"/>
              </a:rPr>
              <a:t>circuit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determined by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time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between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application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input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and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change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output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circuit.</a:t>
            </a:r>
            <a:endParaRPr sz="2700">
              <a:latin typeface="Calibri"/>
              <a:cs typeface="Calibri"/>
            </a:endParaRPr>
          </a:p>
          <a:p>
            <a:pPr marL="355600" marR="6985" indent="-342900" algn="just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Fan-in: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 </a:t>
            </a:r>
            <a:r>
              <a:rPr sz="2700" spc="-10" dirty="0">
                <a:latin typeface="Calibri"/>
                <a:cs typeface="Calibri"/>
              </a:rPr>
              <a:t>determines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number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5" dirty="0">
                <a:latin typeface="Calibri"/>
                <a:cs typeface="Calibri"/>
              </a:rPr>
              <a:t>inputs </a:t>
            </a:r>
            <a:r>
              <a:rPr sz="2700" dirty="0">
                <a:latin typeface="Calibri"/>
                <a:cs typeface="Calibri"/>
              </a:rPr>
              <a:t>the logic </a:t>
            </a:r>
            <a:r>
              <a:rPr sz="2700" spc="-35" dirty="0">
                <a:latin typeface="Calibri"/>
                <a:cs typeface="Calibri"/>
              </a:rPr>
              <a:t>gate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can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handle.</a:t>
            </a:r>
            <a:endParaRPr sz="2700">
              <a:latin typeface="Calibri"/>
              <a:cs typeface="Calibri"/>
            </a:endParaRPr>
          </a:p>
          <a:p>
            <a:pPr marL="355600" marR="7620" indent="-342900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Fan-out: </a:t>
            </a:r>
            <a:r>
              <a:rPr sz="2700" spc="-10" dirty="0">
                <a:latin typeface="Calibri"/>
                <a:cs typeface="Calibri"/>
              </a:rPr>
              <a:t>Determines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number </a:t>
            </a:r>
            <a:r>
              <a:rPr sz="2700" dirty="0">
                <a:latin typeface="Calibri"/>
                <a:cs typeface="Calibri"/>
              </a:rPr>
              <a:t>of </a:t>
            </a:r>
            <a:r>
              <a:rPr sz="2700" spc="-10" dirty="0">
                <a:latin typeface="Calibri"/>
                <a:cs typeface="Calibri"/>
              </a:rPr>
              <a:t>circuits </a:t>
            </a:r>
            <a:r>
              <a:rPr sz="2700" spc="-15" dirty="0">
                <a:latin typeface="Calibri"/>
                <a:cs typeface="Calibri"/>
              </a:rPr>
              <a:t>that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30" dirty="0">
                <a:latin typeface="Calibri"/>
                <a:cs typeface="Calibri"/>
              </a:rPr>
              <a:t>gate 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can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drive.</a:t>
            </a:r>
            <a:endParaRPr sz="270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80000"/>
              </a:lnSpc>
              <a:spcBef>
                <a:spcPts val="65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Noise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Immunity: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circuit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ability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tolerate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noise 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voltages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at </a:t>
            </a:r>
            <a:r>
              <a:rPr sz="2700" dirty="0">
                <a:latin typeface="Calibri"/>
                <a:cs typeface="Calibri"/>
              </a:rPr>
              <a:t>its</a:t>
            </a:r>
            <a:r>
              <a:rPr sz="2700" spc="-5" dirty="0">
                <a:latin typeface="Calibri"/>
                <a:cs typeface="Calibri"/>
              </a:rPr>
              <a:t> inputs.</a:t>
            </a:r>
            <a:endParaRPr sz="2700">
              <a:latin typeface="Calibri"/>
              <a:cs typeface="Calibri"/>
            </a:endParaRPr>
          </a:p>
          <a:p>
            <a:pPr marL="355600" marR="6350" indent="-342900" algn="just">
              <a:lnSpc>
                <a:spcPts val="2590"/>
              </a:lnSpc>
              <a:spcBef>
                <a:spcPts val="63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Noise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margin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quantitative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measure</a:t>
            </a:r>
            <a:r>
              <a:rPr sz="2700" spc="5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noise 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immunity.</a:t>
            </a:r>
            <a:endParaRPr sz="27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spcBef>
                <a:spcPts val="67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Power: </a:t>
            </a:r>
            <a:r>
              <a:rPr sz="2700" spc="-10" dirty="0">
                <a:latin typeface="Calibri"/>
                <a:cs typeface="Calibri"/>
              </a:rPr>
              <a:t>When </a:t>
            </a:r>
            <a:r>
              <a:rPr sz="2700" dirty="0">
                <a:latin typeface="Calibri"/>
                <a:cs typeface="Calibri"/>
              </a:rPr>
              <a:t>a </a:t>
            </a:r>
            <a:r>
              <a:rPr sz="2700" spc="-15" dirty="0">
                <a:latin typeface="Calibri"/>
                <a:cs typeface="Calibri"/>
              </a:rPr>
              <a:t>circuit </a:t>
            </a:r>
            <a:r>
              <a:rPr sz="2700" spc="-10" dirty="0">
                <a:latin typeface="Calibri"/>
                <a:cs typeface="Calibri"/>
              </a:rPr>
              <a:t>switches </a:t>
            </a:r>
            <a:r>
              <a:rPr sz="2700" spc="-15" dirty="0">
                <a:latin typeface="Calibri"/>
                <a:cs typeface="Calibri"/>
              </a:rPr>
              <a:t>from </a:t>
            </a:r>
            <a:r>
              <a:rPr sz="2700" spc="-5" dirty="0">
                <a:latin typeface="Calibri"/>
                <a:cs typeface="Calibri"/>
              </a:rPr>
              <a:t>one </a:t>
            </a:r>
            <a:r>
              <a:rPr sz="2700" spc="-35" dirty="0">
                <a:latin typeface="Calibri"/>
                <a:cs typeface="Calibri"/>
              </a:rPr>
              <a:t>state </a:t>
            </a:r>
            <a:r>
              <a:rPr sz="2700" spc="-25" dirty="0">
                <a:latin typeface="Calibri"/>
                <a:cs typeface="Calibri"/>
              </a:rPr>
              <a:t>to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45" dirty="0">
                <a:latin typeface="Calibri"/>
                <a:cs typeface="Calibri"/>
              </a:rPr>
              <a:t>other,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power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dissipates.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16250" marR="5080" indent="-296926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solidFill>
                  <a:srgbClr val="000000"/>
                </a:solidFill>
                <a:latin typeface="Calibri"/>
                <a:cs typeface="Calibri"/>
              </a:rPr>
              <a:t>General Characteristics </a:t>
            </a:r>
            <a:r>
              <a:rPr b="0" spc="-5" dirty="0">
                <a:solidFill>
                  <a:srgbClr val="000000"/>
                </a:solidFill>
                <a:latin typeface="Calibri"/>
                <a:cs typeface="Calibri"/>
              </a:rPr>
              <a:t>of Basic </a:t>
            </a:r>
            <a:r>
              <a:rPr b="0" spc="-10" dirty="0">
                <a:solidFill>
                  <a:srgbClr val="000000"/>
                </a:solidFill>
                <a:latin typeface="Calibri"/>
                <a:cs typeface="Calibri"/>
              </a:rPr>
              <a:t>Logic </a:t>
            </a:r>
            <a:r>
              <a:rPr b="0" spc="-8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spc="-20" dirty="0">
                <a:solidFill>
                  <a:srgbClr val="000000"/>
                </a:solidFill>
                <a:latin typeface="Calibri"/>
                <a:cs typeface="Calibri"/>
              </a:rPr>
              <a:t>Families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9178"/>
            <a:ext cx="8073390" cy="33432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6985" indent="-34290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CMOS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consumes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very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little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5" dirty="0">
                <a:latin typeface="Calibri"/>
                <a:cs typeface="Calibri"/>
              </a:rPr>
              <a:t>power,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excellent </a:t>
            </a:r>
            <a:r>
              <a:rPr sz="3200" spc="-5" dirty="0">
                <a:latin typeface="Calibri"/>
                <a:cs typeface="Calibri"/>
              </a:rPr>
              <a:t>noise </a:t>
            </a:r>
            <a:r>
              <a:rPr sz="3200" spc="-25" dirty="0">
                <a:latin typeface="Calibri"/>
                <a:cs typeface="Calibri"/>
              </a:rPr>
              <a:t>immunity,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is used </a:t>
            </a:r>
            <a:r>
              <a:rPr sz="3200" dirty="0">
                <a:latin typeface="Calibri"/>
                <a:cs typeface="Calibri"/>
              </a:rPr>
              <a:t>with a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wide</a:t>
            </a:r>
            <a:r>
              <a:rPr sz="3200" spc="-20" dirty="0">
                <a:latin typeface="Calibri"/>
                <a:cs typeface="Calibri"/>
              </a:rPr>
              <a:t> range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voltages.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15" dirty="0">
                <a:latin typeface="Calibri"/>
                <a:cs typeface="Calibri"/>
              </a:rPr>
              <a:t>TTL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drive</a:t>
            </a:r>
            <a:r>
              <a:rPr sz="3200" spc="-10" dirty="0">
                <a:latin typeface="Calibri"/>
                <a:cs typeface="Calibri"/>
              </a:rPr>
              <a:t> more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current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power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CMOS.</a:t>
            </a:r>
            <a:endParaRPr sz="3200">
              <a:latin typeface="Calibri"/>
              <a:cs typeface="Calibri"/>
            </a:endParaRPr>
          </a:p>
          <a:p>
            <a:pPr marL="355600" marR="7620" indent="-342900" algn="just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ECL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spc="-20" dirty="0">
                <a:latin typeface="Calibri"/>
                <a:cs typeface="Calibri"/>
              </a:rPr>
              <a:t>fast, </a:t>
            </a:r>
            <a:r>
              <a:rPr sz="3200" dirty="0">
                <a:latin typeface="Calibri"/>
                <a:cs typeface="Calibri"/>
              </a:rPr>
              <a:t>with poor </a:t>
            </a:r>
            <a:r>
              <a:rPr sz="3200" spc="-5" dirty="0">
                <a:latin typeface="Calibri"/>
                <a:cs typeface="Calibri"/>
              </a:rPr>
              <a:t>noise </a:t>
            </a:r>
            <a:r>
              <a:rPr sz="3200" dirty="0">
                <a:latin typeface="Calibri"/>
                <a:cs typeface="Calibri"/>
              </a:rPr>
              <a:t>immunity and high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power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consumption.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5496" y="0"/>
            <a:ext cx="60325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1025" marR="5080" indent="-568960">
              <a:lnSpc>
                <a:spcPct val="100000"/>
              </a:lnSpc>
              <a:spcBef>
                <a:spcPts val="95"/>
              </a:spcBef>
            </a:pP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mp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le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y</a:t>
            </a:r>
            <a:r>
              <a:rPr sz="4000" b="1" spc="-40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met</a:t>
            </a:r>
            <a:r>
              <a:rPr sz="4000" b="1" spc="-22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6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50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x</a:t>
            </a:r>
            <a:r>
              <a:rPr sz="4000" b="1" spc="-250" dirty="0">
                <a:solidFill>
                  <a:srgbClr val="0000FF"/>
                </a:solidFill>
                <a:latin typeface="Trebuchet MS"/>
                <a:cs typeface="Trebuchet MS"/>
              </a:rPr>
              <a:t>id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e  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semi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54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sz="4000" b="1" spc="-24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23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49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110" dirty="0">
                <a:solidFill>
                  <a:srgbClr val="0000FF"/>
                </a:solidFill>
                <a:latin typeface="Trebuchet MS"/>
                <a:cs typeface="Trebuchet MS"/>
              </a:rPr>
              <a:t>(</a:t>
            </a:r>
            <a:r>
              <a:rPr sz="4000" b="1" spc="-10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110" dirty="0">
                <a:solidFill>
                  <a:srgbClr val="0000FF"/>
                </a:solidFill>
                <a:latin typeface="Trebuchet MS"/>
                <a:cs typeface="Trebuchet MS"/>
              </a:rPr>
              <a:t>MOS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232" y="1105979"/>
            <a:ext cx="7675880" cy="414020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1005"/>
              </a:spcBef>
              <a:buChar char="–"/>
              <a:tabLst>
                <a:tab pos="319405" algn="l"/>
              </a:tabLst>
            </a:pPr>
            <a:r>
              <a:rPr sz="2800" spc="-65" dirty="0">
                <a:latin typeface="Arial MT"/>
                <a:cs typeface="Arial MT"/>
              </a:rPr>
              <a:t>most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widely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used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spc="-55" dirty="0">
                <a:latin typeface="Arial MT"/>
                <a:cs typeface="Arial MT"/>
              </a:rPr>
              <a:t>family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large-scaledevices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900"/>
              </a:spcBef>
              <a:buChar char="–"/>
              <a:tabLst>
                <a:tab pos="319405" algn="l"/>
              </a:tabLst>
            </a:pPr>
            <a:r>
              <a:rPr sz="2800" spc="-120" dirty="0">
                <a:latin typeface="Arial MT"/>
                <a:cs typeface="Arial MT"/>
              </a:rPr>
              <a:t>combines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high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speed</a:t>
            </a:r>
            <a:r>
              <a:rPr sz="2800" spc="-3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low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60" dirty="0">
                <a:latin typeface="Arial MT"/>
                <a:cs typeface="Arial MT"/>
              </a:rPr>
              <a:t>powerconsumption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900"/>
              </a:spcBef>
              <a:buChar char="–"/>
              <a:tabLst>
                <a:tab pos="319405" algn="l"/>
              </a:tabLst>
            </a:pPr>
            <a:r>
              <a:rPr sz="2800" spc="-120" dirty="0">
                <a:latin typeface="Arial MT"/>
                <a:cs typeface="Arial MT"/>
              </a:rPr>
              <a:t>usua</a:t>
            </a:r>
            <a:r>
              <a:rPr sz="2800" b="1" spc="-160" dirty="0">
                <a:latin typeface="Arial"/>
                <a:cs typeface="Arial"/>
              </a:rPr>
              <a:t>l</a:t>
            </a:r>
            <a:r>
              <a:rPr sz="2800" b="1" spc="-395" dirty="0">
                <a:latin typeface="Arial"/>
                <a:cs typeface="Arial"/>
              </a:rPr>
              <a:t> 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opera</a:t>
            </a:r>
            <a:r>
              <a:rPr sz="2800" spc="-114" dirty="0">
                <a:latin typeface="Arial MT"/>
                <a:cs typeface="Arial MT"/>
              </a:rPr>
              <a:t>t</a:t>
            </a:r>
            <a:r>
              <a:rPr sz="2800" spc="-11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singl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5</a:t>
            </a:r>
            <a:r>
              <a:rPr sz="2800" spc="-2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1</a:t>
            </a:r>
            <a:r>
              <a:rPr sz="2800" spc="165" dirty="0">
                <a:latin typeface="Arial MT"/>
                <a:cs typeface="Arial MT"/>
              </a:rPr>
              <a:t>5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333375" indent="-306705">
              <a:lnSpc>
                <a:spcPct val="111100"/>
              </a:lnSpc>
              <a:spcBef>
                <a:spcPts val="300"/>
              </a:spcBef>
              <a:buChar char="–"/>
              <a:tabLst>
                <a:tab pos="319405" algn="l"/>
              </a:tabLst>
            </a:pPr>
            <a:r>
              <a:rPr sz="2800" spc="-95" dirty="0">
                <a:latin typeface="Arial MT"/>
                <a:cs typeface="Arial MT"/>
              </a:rPr>
              <a:t>exce</a:t>
            </a:r>
            <a:r>
              <a:rPr sz="2800" spc="-100" dirty="0">
                <a:latin typeface="Arial MT"/>
                <a:cs typeface="Arial MT"/>
              </a:rPr>
              <a:t>ll</a:t>
            </a:r>
            <a:r>
              <a:rPr sz="2800" spc="-95" dirty="0">
                <a:latin typeface="Arial MT"/>
                <a:cs typeface="Arial MT"/>
              </a:rPr>
              <a:t>en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9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265" dirty="0">
                <a:latin typeface="Arial MT"/>
                <a:cs typeface="Arial MT"/>
              </a:rPr>
              <a:t>30</a:t>
            </a:r>
            <a:r>
              <a:rPr sz="2800" spc="-5" dirty="0">
                <a:latin typeface="Arial MT"/>
                <a:cs typeface="Arial MT"/>
              </a:rPr>
              <a:t>%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f</a:t>
            </a:r>
            <a:r>
              <a:rPr sz="2800" spc="-45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  </a:t>
            </a:r>
            <a:r>
              <a:rPr sz="2800" spc="-85" dirty="0">
                <a:latin typeface="Arial MT"/>
                <a:cs typeface="Arial MT"/>
              </a:rPr>
              <a:t>voltage</a:t>
            </a:r>
            <a:endParaRPr sz="2800">
              <a:latin typeface="Arial MT"/>
              <a:cs typeface="Arial MT"/>
            </a:endParaRPr>
          </a:p>
          <a:p>
            <a:pPr marL="318770" marR="900430" indent="-306705">
              <a:lnSpc>
                <a:spcPct val="111200"/>
              </a:lnSpc>
              <a:spcBef>
                <a:spcPts val="490"/>
              </a:spcBef>
              <a:buChar char="–"/>
              <a:tabLst>
                <a:tab pos="319405" algn="l"/>
              </a:tabLst>
            </a:pPr>
            <a:r>
              <a:rPr sz="2800" spc="-180" dirty="0">
                <a:latin typeface="Arial MT"/>
                <a:cs typeface="Arial MT"/>
              </a:rPr>
              <a:t>ca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connec</a:t>
            </a:r>
            <a:r>
              <a:rPr sz="2800" spc="-114" dirty="0">
                <a:latin typeface="Arial MT"/>
                <a:cs typeface="Arial MT"/>
              </a:rPr>
              <a:t>t</a:t>
            </a:r>
            <a:r>
              <a:rPr sz="2800" spc="-11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7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larg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nu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be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f</a:t>
            </a:r>
            <a:r>
              <a:rPr sz="2800" spc="-440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gate</a:t>
            </a:r>
            <a:r>
              <a:rPr sz="2800" spc="-5" dirty="0">
                <a:latin typeface="Arial MT"/>
                <a:cs typeface="Arial MT"/>
              </a:rPr>
              <a:t>s  </a:t>
            </a:r>
            <a:r>
              <a:rPr sz="2800" spc="-75" dirty="0">
                <a:latin typeface="Arial MT"/>
                <a:cs typeface="Arial MT"/>
              </a:rPr>
              <a:t>(abou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50)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530"/>
              </a:spcBef>
              <a:buChar char="–"/>
              <a:tabLst>
                <a:tab pos="319405" algn="l"/>
                <a:tab pos="4493260" algn="l"/>
              </a:tabLst>
            </a:pPr>
            <a:r>
              <a:rPr sz="2800" spc="-155" dirty="0">
                <a:latin typeface="Arial MT"/>
                <a:cs typeface="Arial MT"/>
              </a:rPr>
              <a:t>m</a:t>
            </a:r>
            <a:r>
              <a:rPr sz="2800" spc="-145" dirty="0">
                <a:latin typeface="Arial MT"/>
                <a:cs typeface="Arial MT"/>
              </a:rPr>
              <a:t>an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f</a:t>
            </a:r>
            <a:r>
              <a:rPr sz="2800" spc="-85" dirty="0">
                <a:latin typeface="Arial MT"/>
                <a:cs typeface="Arial MT"/>
              </a:rPr>
              <a:t>or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so</a:t>
            </a:r>
            <a:r>
              <a:rPr sz="2800" spc="-17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</a:t>
            </a:r>
            <a:r>
              <a:rPr sz="2800" spc="5" dirty="0">
                <a:latin typeface="Arial MT"/>
                <a:cs typeface="Arial MT"/>
              </a:rPr>
              <a:t>it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i="1" spc="-5" dirty="0">
                <a:latin typeface="Trebuchet MS"/>
                <a:cs typeface="Trebuchet MS"/>
              </a:rPr>
              <a:t>t</a:t>
            </a:r>
            <a:r>
              <a:rPr sz="2800" i="1" dirty="0">
                <a:latin typeface="Trebuchet MS"/>
                <a:cs typeface="Trebuchet MS"/>
              </a:rPr>
              <a:t>	</a:t>
            </a:r>
            <a:r>
              <a:rPr sz="2800" spc="-75" dirty="0">
                <a:latin typeface="Arial MT"/>
                <a:cs typeface="Arial MT"/>
              </a:rPr>
              <a:t>do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215" dirty="0">
                <a:latin typeface="Arial MT"/>
                <a:cs typeface="Arial MT"/>
              </a:rPr>
              <a:t>1</a:t>
            </a:r>
            <a:r>
              <a:rPr sz="2800" spc="-204" dirty="0">
                <a:latin typeface="Arial MT"/>
                <a:cs typeface="Arial MT"/>
              </a:rPr>
              <a:t>ns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7615" y="5140578"/>
            <a:ext cx="29210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i="1" spc="-30" dirty="0">
                <a:latin typeface="Trebuchet MS"/>
                <a:cs typeface="Trebuchet MS"/>
              </a:rPr>
              <a:t>PD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232" y="5374047"/>
            <a:ext cx="7579359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770" marR="5080" indent="-306705">
              <a:lnSpc>
                <a:spcPct val="111900"/>
              </a:lnSpc>
              <a:spcBef>
                <a:spcPts val="10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7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po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7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consu</a:t>
            </a:r>
            <a:r>
              <a:rPr sz="2800" spc="-105" dirty="0">
                <a:latin typeface="Arial MT"/>
                <a:cs typeface="Arial MT"/>
              </a:rPr>
              <a:t>m</a:t>
            </a:r>
            <a:r>
              <a:rPr sz="2800" spc="-100" dirty="0">
                <a:latin typeface="Arial MT"/>
                <a:cs typeface="Arial MT"/>
              </a:rPr>
              <a:t>ptio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depend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8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spee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4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(perhap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4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1  </a:t>
            </a:r>
            <a:r>
              <a:rPr sz="2800" spc="-140" dirty="0">
                <a:latin typeface="Arial MT"/>
                <a:cs typeface="Arial MT"/>
              </a:rPr>
              <a:t>mW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969" y="161290"/>
            <a:ext cx="6592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20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ra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sis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to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-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ra</a:t>
            </a:r>
            <a:r>
              <a:rPr sz="4000" b="1" spc="-204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4000" b="1" spc="-229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2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36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21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4000" b="1" spc="-21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65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395" dirty="0">
                <a:solidFill>
                  <a:srgbClr val="0000FF"/>
                </a:solidFill>
                <a:latin typeface="Trebuchet MS"/>
                <a:cs typeface="Trebuchet MS"/>
              </a:rPr>
              <a:t>(</a:t>
            </a:r>
            <a:r>
              <a:rPr sz="4000" b="1" spc="-385" dirty="0">
                <a:solidFill>
                  <a:srgbClr val="0000FF"/>
                </a:solidFill>
                <a:latin typeface="Trebuchet MS"/>
                <a:cs typeface="Trebuchet MS"/>
              </a:rPr>
              <a:t>TT</a:t>
            </a:r>
            <a:r>
              <a:rPr sz="4000" b="1" spc="-395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7232" y="1571650"/>
            <a:ext cx="7287259" cy="43421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18770" indent="-306705">
              <a:lnSpc>
                <a:spcPct val="100000"/>
              </a:lnSpc>
              <a:spcBef>
                <a:spcPts val="340"/>
              </a:spcBef>
              <a:buChar char="–"/>
              <a:tabLst>
                <a:tab pos="319405" algn="l"/>
              </a:tabLst>
            </a:pPr>
            <a:r>
              <a:rPr sz="2800" spc="-180" dirty="0">
                <a:latin typeface="Arial MT"/>
                <a:cs typeface="Arial MT"/>
              </a:rPr>
              <a:t>base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bipola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rans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85" dirty="0">
                <a:latin typeface="Arial MT"/>
                <a:cs typeface="Arial MT"/>
              </a:rPr>
              <a:t>s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or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  <a:p>
            <a:pPr marL="318770" marR="5080" indent="-306705">
              <a:lnSpc>
                <a:spcPts val="3000"/>
              </a:lnSpc>
              <a:spcBef>
                <a:spcPts val="640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on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os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idel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use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15" dirty="0">
                <a:latin typeface="Arial MT"/>
                <a:cs typeface="Arial MT"/>
              </a:rPr>
              <a:t> </a:t>
            </a:r>
            <a:r>
              <a:rPr sz="2800" spc="-90" dirty="0">
                <a:latin typeface="Arial MT"/>
                <a:cs typeface="Arial MT"/>
              </a:rPr>
              <a:t>f</a:t>
            </a:r>
            <a:r>
              <a:rPr sz="2800" spc="-85" dirty="0">
                <a:latin typeface="Arial MT"/>
                <a:cs typeface="Arial MT"/>
              </a:rPr>
              <a:t>a</a:t>
            </a:r>
            <a:r>
              <a:rPr sz="2800" spc="-90" dirty="0">
                <a:latin typeface="Arial MT"/>
                <a:cs typeface="Arial MT"/>
              </a:rPr>
              <a:t>mili</a:t>
            </a:r>
            <a:r>
              <a:rPr sz="2800" spc="-8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3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s</a:t>
            </a:r>
            <a:r>
              <a:rPr sz="2800" spc="-114" dirty="0">
                <a:latin typeface="Arial MT"/>
                <a:cs typeface="Arial MT"/>
              </a:rPr>
              <a:t>m</a:t>
            </a:r>
            <a:r>
              <a:rPr sz="2800" spc="-110" dirty="0">
                <a:latin typeface="Arial MT"/>
                <a:cs typeface="Arial MT"/>
              </a:rPr>
              <a:t>all</a:t>
            </a:r>
            <a:r>
              <a:rPr sz="2800" spc="-5" dirty="0">
                <a:latin typeface="Arial MT"/>
                <a:cs typeface="Arial MT"/>
              </a:rPr>
              <a:t>-  </a:t>
            </a:r>
            <a:r>
              <a:rPr sz="2800" spc="-90" dirty="0">
                <a:latin typeface="Arial MT"/>
                <a:cs typeface="Arial MT"/>
              </a:rPr>
              <a:t>and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125" dirty="0">
                <a:latin typeface="Arial MT"/>
                <a:cs typeface="Arial MT"/>
              </a:rPr>
              <a:t>medium-scale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devices</a:t>
            </a:r>
            <a:r>
              <a:rPr sz="2800" spc="-3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rarely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used</a:t>
            </a:r>
            <a:r>
              <a:rPr sz="2800" spc="-30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260" dirty="0">
                <a:latin typeface="Arial MT"/>
                <a:cs typeface="Arial MT"/>
              </a:rPr>
              <a:t>VLSI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65"/>
              </a:spcBef>
              <a:buChar char="–"/>
              <a:tabLst>
                <a:tab pos="319405" algn="l"/>
              </a:tabLst>
            </a:pPr>
            <a:r>
              <a:rPr sz="2800" spc="-75" dirty="0">
                <a:latin typeface="Arial MT"/>
                <a:cs typeface="Arial MT"/>
              </a:rPr>
              <a:t>typicall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opera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220" dirty="0">
                <a:latin typeface="Arial MT"/>
                <a:cs typeface="Arial MT"/>
              </a:rPr>
              <a:t>5</a:t>
            </a:r>
            <a:r>
              <a:rPr sz="2800" spc="120" dirty="0">
                <a:latin typeface="Arial MT"/>
                <a:cs typeface="Arial MT"/>
              </a:rPr>
              <a:t>V</a:t>
            </a:r>
            <a:r>
              <a:rPr sz="2800" spc="-120" dirty="0">
                <a:latin typeface="Arial MT"/>
                <a:cs typeface="Arial MT"/>
              </a:rPr>
              <a:t>supp</a:t>
            </a:r>
            <a:r>
              <a:rPr sz="2800" spc="-125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90"/>
              </a:spcBef>
              <a:buChar char="–"/>
              <a:tabLst>
                <a:tab pos="319405" algn="l"/>
              </a:tabLst>
            </a:pPr>
            <a:r>
              <a:rPr sz="2800" spc="-75" dirty="0">
                <a:latin typeface="Arial MT"/>
                <a:cs typeface="Arial MT"/>
              </a:rPr>
              <a:t>typica</a:t>
            </a:r>
            <a:r>
              <a:rPr sz="2800" spc="-5" dirty="0">
                <a:latin typeface="Arial MT"/>
                <a:cs typeface="Arial MT"/>
              </a:rPr>
              <a:t>l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5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1</a:t>
            </a:r>
            <a:r>
              <a:rPr sz="2800" spc="-28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320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1</a:t>
            </a:r>
            <a:r>
              <a:rPr sz="2800" spc="-125" dirty="0">
                <a:latin typeface="Arial MT"/>
                <a:cs typeface="Arial MT"/>
              </a:rPr>
              <a:t>.</a:t>
            </a:r>
            <a:r>
              <a:rPr sz="2800" spc="200" dirty="0">
                <a:latin typeface="Arial MT"/>
                <a:cs typeface="Arial MT"/>
              </a:rPr>
              <a:t>6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156210" indent="-306705">
              <a:lnSpc>
                <a:spcPts val="3000"/>
              </a:lnSpc>
              <a:spcBef>
                <a:spcPts val="640"/>
              </a:spcBef>
              <a:buChar char="–"/>
              <a:tabLst>
                <a:tab pos="319405" algn="l"/>
              </a:tabLst>
            </a:pPr>
            <a:r>
              <a:rPr sz="2800" spc="-114" dirty="0">
                <a:latin typeface="Arial MT"/>
                <a:cs typeface="Arial MT"/>
              </a:rPr>
              <a:t>many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forms,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spc="-130" dirty="0">
                <a:latin typeface="Arial MT"/>
                <a:cs typeface="Arial MT"/>
              </a:rPr>
              <a:t>some</a:t>
            </a:r>
            <a:r>
              <a:rPr sz="2800" spc="-33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optimised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for</a:t>
            </a:r>
            <a:r>
              <a:rPr sz="2800" spc="25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speed,power,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  <a:p>
            <a:pPr marL="318770" marR="61594" indent="-306705">
              <a:lnSpc>
                <a:spcPts val="3000"/>
              </a:lnSpc>
              <a:spcBef>
                <a:spcPts val="509"/>
              </a:spcBef>
              <a:buChar char="–"/>
              <a:tabLst>
                <a:tab pos="319405" algn="l"/>
              </a:tabLst>
            </a:pPr>
            <a:r>
              <a:rPr sz="2800" spc="-85" dirty="0">
                <a:latin typeface="Arial MT"/>
                <a:cs typeface="Arial MT"/>
              </a:rPr>
              <a:t>high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speed</a:t>
            </a:r>
            <a:r>
              <a:rPr sz="2800" spc="-34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versions</a:t>
            </a:r>
            <a:r>
              <a:rPr sz="2800" spc="-295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comparable</a:t>
            </a:r>
            <a:r>
              <a:rPr sz="2800" spc="-254" dirty="0">
                <a:latin typeface="Arial MT"/>
                <a:cs typeface="Arial MT"/>
              </a:rPr>
              <a:t> </a:t>
            </a:r>
            <a:r>
              <a:rPr sz="2800" spc="10" dirty="0">
                <a:latin typeface="Arial MT"/>
                <a:cs typeface="Arial MT"/>
              </a:rPr>
              <a:t>to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-195" dirty="0">
                <a:latin typeface="Arial MT"/>
                <a:cs typeface="Arial MT"/>
              </a:rPr>
              <a:t>CMOS(~</a:t>
            </a:r>
            <a:r>
              <a:rPr sz="2800" spc="-32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1.5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ns)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165"/>
              </a:spcBef>
              <a:buChar char="–"/>
              <a:tabLst>
                <a:tab pos="319405" algn="l"/>
              </a:tabLst>
            </a:pPr>
            <a:r>
              <a:rPr sz="2800" spc="-65" dirty="0">
                <a:latin typeface="Arial MT"/>
                <a:cs typeface="Arial MT"/>
              </a:rPr>
              <a:t>lo</a:t>
            </a:r>
            <a:r>
              <a:rPr sz="2800" spc="-75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-po</a:t>
            </a:r>
            <a:r>
              <a:rPr sz="2800" spc="-70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version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90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do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2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o</a:t>
            </a:r>
            <a:r>
              <a:rPr sz="2800" spc="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45" dirty="0">
                <a:latin typeface="Arial MT"/>
                <a:cs typeface="Arial MT"/>
              </a:rPr>
              <a:t>1</a:t>
            </a:r>
            <a:r>
              <a:rPr sz="2800" spc="-70" dirty="0">
                <a:latin typeface="Arial MT"/>
                <a:cs typeface="Arial MT"/>
              </a:rPr>
              <a:t>mW</a:t>
            </a:r>
            <a:r>
              <a:rPr sz="2800" spc="-60" dirty="0">
                <a:latin typeface="Arial MT"/>
                <a:cs typeface="Arial MT"/>
              </a:rPr>
              <a:t>/</a:t>
            </a:r>
            <a:r>
              <a:rPr sz="2800" spc="-65" dirty="0">
                <a:latin typeface="Arial MT"/>
                <a:cs typeface="Arial MT"/>
              </a:rPr>
              <a:t>ga</a:t>
            </a:r>
            <a:r>
              <a:rPr sz="2800" spc="-60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2466" y="461263"/>
            <a:ext cx="62699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60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mi</a:t>
            </a:r>
            <a:r>
              <a:rPr b="1" spc="-260" dirty="0">
                <a:solidFill>
                  <a:srgbClr val="0000FF"/>
                </a:solidFill>
                <a:latin typeface="Trebuchet MS"/>
                <a:cs typeface="Trebuchet MS"/>
              </a:rPr>
              <a:t>tt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er-c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u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p</a:t>
            </a:r>
            <a:r>
              <a:rPr b="1" spc="-27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spc="-26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b="1" spc="-5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29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spc="-2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spc="-229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35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71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360" dirty="0">
                <a:solidFill>
                  <a:srgbClr val="0000FF"/>
                </a:solidFill>
                <a:latin typeface="Trebuchet MS"/>
                <a:cs typeface="Trebuchet MS"/>
              </a:rPr>
              <a:t>(EC</a:t>
            </a:r>
            <a:r>
              <a:rPr b="1" spc="-370" dirty="0">
                <a:solidFill>
                  <a:srgbClr val="0000FF"/>
                </a:solidFill>
                <a:latin typeface="Trebuchet MS"/>
                <a:cs typeface="Trebuchet MS"/>
              </a:rPr>
              <a:t>L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7232" y="1600276"/>
            <a:ext cx="7440930" cy="4140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770" marR="846455" indent="-306705">
              <a:lnSpc>
                <a:spcPct val="100000"/>
              </a:lnSpc>
              <a:spcBef>
                <a:spcPts val="95"/>
              </a:spcBef>
              <a:buChar char="–"/>
              <a:tabLst>
                <a:tab pos="319405" algn="l"/>
              </a:tabLst>
            </a:pPr>
            <a:r>
              <a:rPr sz="2800" spc="-150" dirty="0">
                <a:latin typeface="Arial MT"/>
                <a:cs typeface="Arial MT"/>
              </a:rPr>
              <a:t>based </a:t>
            </a:r>
            <a:r>
              <a:rPr sz="2800" spc="-45" dirty="0">
                <a:latin typeface="Arial MT"/>
                <a:cs typeface="Arial MT"/>
              </a:rPr>
              <a:t>on </a:t>
            </a:r>
            <a:r>
              <a:rPr sz="2800" spc="-55" dirty="0">
                <a:latin typeface="Arial MT"/>
                <a:cs typeface="Arial MT"/>
              </a:rPr>
              <a:t>bipolar </a:t>
            </a:r>
            <a:r>
              <a:rPr sz="2800" spc="-85" dirty="0">
                <a:latin typeface="Arial MT"/>
                <a:cs typeface="Arial MT"/>
              </a:rPr>
              <a:t>transistors, </a:t>
            </a:r>
            <a:r>
              <a:rPr sz="2800" spc="-10" dirty="0">
                <a:latin typeface="Arial MT"/>
                <a:cs typeface="Arial MT"/>
              </a:rPr>
              <a:t>but </a:t>
            </a:r>
            <a:r>
              <a:rPr sz="2800" spc="-114" dirty="0">
                <a:latin typeface="Arial MT"/>
                <a:cs typeface="Arial MT"/>
              </a:rPr>
              <a:t>removes 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95" dirty="0">
                <a:latin typeface="Arial MT"/>
                <a:cs typeface="Arial MT"/>
              </a:rPr>
              <a:t>p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ob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95" dirty="0">
                <a:latin typeface="Arial MT"/>
                <a:cs typeface="Arial MT"/>
              </a:rPr>
              <a:t>e</a:t>
            </a:r>
            <a:r>
              <a:rPr sz="2800" spc="-10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spc="-120" dirty="0">
                <a:latin typeface="Arial MT"/>
                <a:cs typeface="Arial MT"/>
              </a:rPr>
              <a:t>s</a:t>
            </a:r>
            <a:r>
              <a:rPr sz="2800" spc="-125" dirty="0">
                <a:latin typeface="Arial MT"/>
                <a:cs typeface="Arial MT"/>
              </a:rPr>
              <a:t>t</a:t>
            </a:r>
            <a:r>
              <a:rPr sz="2800" spc="-120" dirty="0">
                <a:latin typeface="Arial MT"/>
                <a:cs typeface="Arial MT"/>
              </a:rPr>
              <a:t>orag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t</a:t>
            </a:r>
            <a:r>
              <a:rPr sz="2800" spc="-25" dirty="0">
                <a:latin typeface="Arial MT"/>
                <a:cs typeface="Arial MT"/>
              </a:rPr>
              <a:t>i</a:t>
            </a:r>
            <a:r>
              <a:rPr sz="2800" spc="-3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3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preven</a:t>
            </a:r>
            <a:r>
              <a:rPr sz="2800" spc="-90" dirty="0">
                <a:latin typeface="Arial MT"/>
                <a:cs typeface="Arial MT"/>
              </a:rPr>
              <a:t>ti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165" dirty="0">
                <a:latin typeface="Arial MT"/>
                <a:cs typeface="Arial MT"/>
              </a:rPr>
              <a:t>g</a:t>
            </a:r>
            <a:r>
              <a:rPr sz="2800" spc="-50" dirty="0">
                <a:latin typeface="Arial MT"/>
                <a:cs typeface="Arial MT"/>
              </a:rPr>
              <a:t>th</a:t>
            </a:r>
            <a:r>
              <a:rPr sz="2800" spc="-5" dirty="0">
                <a:latin typeface="Arial MT"/>
                <a:cs typeface="Arial MT"/>
              </a:rPr>
              <a:t>e  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rans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s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o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10" dirty="0">
                <a:latin typeface="Arial MT"/>
                <a:cs typeface="Arial MT"/>
              </a:rPr>
              <a:t> </a:t>
            </a:r>
            <a:r>
              <a:rPr sz="2800" spc="-30" dirty="0">
                <a:latin typeface="Arial MT"/>
                <a:cs typeface="Arial MT"/>
              </a:rPr>
              <a:t>f</a:t>
            </a:r>
            <a:r>
              <a:rPr sz="2800" spc="-25" dirty="0">
                <a:latin typeface="Arial MT"/>
                <a:cs typeface="Arial MT"/>
              </a:rPr>
              <a:t>ro</a:t>
            </a:r>
            <a:r>
              <a:rPr sz="2800" spc="-5" dirty="0">
                <a:latin typeface="Arial MT"/>
                <a:cs typeface="Arial MT"/>
              </a:rPr>
              <a:t>m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sa</a:t>
            </a:r>
            <a:r>
              <a:rPr sz="2800" spc="-90" dirty="0">
                <a:latin typeface="Arial MT"/>
                <a:cs typeface="Arial MT"/>
              </a:rPr>
              <a:t>t</a:t>
            </a:r>
            <a:r>
              <a:rPr sz="2800" spc="-85" dirty="0">
                <a:latin typeface="Arial MT"/>
                <a:cs typeface="Arial MT"/>
              </a:rPr>
              <a:t>ura</a:t>
            </a:r>
            <a:r>
              <a:rPr sz="2800" spc="-90" dirty="0">
                <a:latin typeface="Arial MT"/>
                <a:cs typeface="Arial MT"/>
              </a:rPr>
              <a:t>ti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g</a:t>
            </a:r>
            <a:endParaRPr sz="2800">
              <a:latin typeface="Arial MT"/>
              <a:cs typeface="Arial MT"/>
            </a:endParaRPr>
          </a:p>
          <a:p>
            <a:pPr marL="318770" marR="5080" indent="-306705">
              <a:lnSpc>
                <a:spcPts val="3300"/>
              </a:lnSpc>
              <a:spcBef>
                <a:spcPts val="800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ver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15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f</a:t>
            </a:r>
            <a:r>
              <a:rPr sz="2800" spc="-75" dirty="0">
                <a:latin typeface="Arial MT"/>
                <a:cs typeface="Arial MT"/>
              </a:rPr>
              <a:t>as</a:t>
            </a:r>
            <a:r>
              <a:rPr sz="2800" dirty="0">
                <a:latin typeface="Arial MT"/>
                <a:cs typeface="Arial MT"/>
              </a:rPr>
              <a:t>t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opera</a:t>
            </a:r>
            <a:r>
              <a:rPr sz="2800" spc="-60" dirty="0">
                <a:latin typeface="Arial MT"/>
                <a:cs typeface="Arial MT"/>
              </a:rPr>
              <a:t>t</a:t>
            </a:r>
            <a:r>
              <a:rPr sz="2800" spc="-65" dirty="0">
                <a:latin typeface="Arial MT"/>
                <a:cs typeface="Arial MT"/>
              </a:rPr>
              <a:t>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-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propagatio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165" dirty="0">
                <a:latin typeface="Arial MT"/>
                <a:cs typeface="Arial MT"/>
              </a:rPr>
              <a:t> </a:t>
            </a:r>
            <a:r>
              <a:rPr sz="2800" spc="-160" dirty="0">
                <a:latin typeface="Arial MT"/>
                <a:cs typeface="Arial MT"/>
              </a:rPr>
              <a:t>delay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3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500" dirty="0">
                <a:latin typeface="Arial MT"/>
                <a:cs typeface="Arial MT"/>
              </a:rPr>
              <a:t> </a:t>
            </a:r>
            <a:r>
              <a:rPr sz="2800" spc="-185" dirty="0">
                <a:latin typeface="Arial MT"/>
                <a:cs typeface="Arial MT"/>
              </a:rPr>
              <a:t>1n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3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r  </a:t>
            </a:r>
            <a:r>
              <a:rPr sz="2800" spc="-145" dirty="0">
                <a:latin typeface="Arial MT"/>
                <a:cs typeface="Arial MT"/>
              </a:rPr>
              <a:t>less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405"/>
              </a:spcBef>
              <a:buChar char="–"/>
              <a:tabLst>
                <a:tab pos="319405" algn="l"/>
              </a:tabLst>
            </a:pP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po</a:t>
            </a:r>
            <a:r>
              <a:rPr sz="2800" spc="-85" dirty="0">
                <a:latin typeface="Arial MT"/>
                <a:cs typeface="Arial MT"/>
              </a:rPr>
              <a:t>w</a:t>
            </a:r>
            <a:r>
              <a:rPr sz="2800" spc="-75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r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consu</a:t>
            </a:r>
            <a:r>
              <a:rPr sz="2800" spc="-90" dirty="0">
                <a:latin typeface="Arial MT"/>
                <a:cs typeface="Arial MT"/>
              </a:rPr>
              <a:t>m</a:t>
            </a:r>
            <a:r>
              <a:rPr sz="2800" spc="-85" dirty="0">
                <a:latin typeface="Arial MT"/>
                <a:cs typeface="Arial MT"/>
              </a:rPr>
              <a:t>p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o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5" dirty="0">
                <a:latin typeface="Arial MT"/>
                <a:cs typeface="Arial MT"/>
              </a:rPr>
              <a:t>,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perhap</a:t>
            </a:r>
            <a:r>
              <a:rPr sz="2800" spc="-5" dirty="0">
                <a:latin typeface="Arial MT"/>
                <a:cs typeface="Arial MT"/>
              </a:rPr>
              <a:t>s</a:t>
            </a:r>
            <a:r>
              <a:rPr sz="2800" spc="-265" dirty="0">
                <a:latin typeface="Arial MT"/>
                <a:cs typeface="Arial MT"/>
              </a:rPr>
              <a:t> </a:t>
            </a:r>
            <a:r>
              <a:rPr sz="2800" spc="-145" dirty="0">
                <a:latin typeface="Arial MT"/>
                <a:cs typeface="Arial MT"/>
              </a:rPr>
              <a:t>6</a:t>
            </a:r>
            <a:r>
              <a:rPr sz="2800" spc="-5" dirty="0">
                <a:latin typeface="Arial MT"/>
                <a:cs typeface="Arial MT"/>
              </a:rPr>
              <a:t>0</a:t>
            </a:r>
            <a:r>
              <a:rPr sz="2800" spc="-509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m</a:t>
            </a:r>
            <a:r>
              <a:rPr sz="2800" spc="-65" dirty="0">
                <a:latin typeface="Arial MT"/>
                <a:cs typeface="Arial MT"/>
              </a:rPr>
              <a:t>W/gat</a:t>
            </a:r>
            <a:r>
              <a:rPr sz="2800" spc="-5" dirty="0">
                <a:latin typeface="Arial MT"/>
                <a:cs typeface="Arial MT"/>
              </a:rPr>
              <a:t>e</a:t>
            </a:r>
            <a:endParaRPr sz="2800">
              <a:latin typeface="Arial MT"/>
              <a:cs typeface="Arial MT"/>
            </a:endParaRPr>
          </a:p>
          <a:p>
            <a:pPr marL="318770" indent="-306705">
              <a:lnSpc>
                <a:spcPct val="100000"/>
              </a:lnSpc>
              <a:spcBef>
                <a:spcPts val="505"/>
              </a:spcBef>
              <a:buChar char="–"/>
              <a:tabLst>
                <a:tab pos="319405" algn="l"/>
              </a:tabLst>
            </a:pPr>
            <a:r>
              <a:rPr sz="2800" spc="-40" dirty="0">
                <a:latin typeface="Arial MT"/>
                <a:cs typeface="Arial MT"/>
              </a:rPr>
              <a:t>lo</a:t>
            </a:r>
            <a:r>
              <a:rPr sz="2800" spc="-5" dirty="0">
                <a:latin typeface="Arial MT"/>
                <a:cs typeface="Arial MT"/>
              </a:rPr>
              <a:t>w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35" dirty="0">
                <a:latin typeface="Arial MT"/>
                <a:cs typeface="Arial MT"/>
              </a:rPr>
              <a:t>nois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24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i</a:t>
            </a:r>
            <a:r>
              <a:rPr sz="2800" spc="-60" dirty="0">
                <a:latin typeface="Arial MT"/>
                <a:cs typeface="Arial MT"/>
              </a:rPr>
              <a:t>mm</a:t>
            </a:r>
            <a:r>
              <a:rPr sz="2800" spc="-50" dirty="0">
                <a:latin typeface="Arial MT"/>
                <a:cs typeface="Arial MT"/>
              </a:rPr>
              <a:t>uni</a:t>
            </a:r>
            <a:r>
              <a:rPr sz="2800" spc="-45" dirty="0">
                <a:latin typeface="Arial MT"/>
                <a:cs typeface="Arial MT"/>
              </a:rPr>
              <a:t>t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of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65" dirty="0">
                <a:latin typeface="Arial MT"/>
                <a:cs typeface="Arial MT"/>
              </a:rPr>
              <a:t>abou</a:t>
            </a:r>
            <a:r>
              <a:rPr sz="2800" spc="125" dirty="0">
                <a:latin typeface="Arial MT"/>
                <a:cs typeface="Arial MT"/>
              </a:rPr>
              <a:t>t</a:t>
            </a:r>
            <a:r>
              <a:rPr sz="2800" spc="-120" dirty="0">
                <a:latin typeface="Arial MT"/>
                <a:cs typeface="Arial MT"/>
              </a:rPr>
              <a:t>0.</a:t>
            </a:r>
            <a:r>
              <a:rPr sz="2800" spc="-125" dirty="0">
                <a:latin typeface="Arial MT"/>
                <a:cs typeface="Arial MT"/>
              </a:rPr>
              <a:t>2-</a:t>
            </a:r>
            <a:r>
              <a:rPr sz="2800" spc="-120" dirty="0">
                <a:latin typeface="Arial MT"/>
                <a:cs typeface="Arial MT"/>
              </a:rPr>
              <a:t>0.2</a:t>
            </a:r>
            <a:r>
              <a:rPr sz="2800" spc="-5" dirty="0">
                <a:latin typeface="Arial MT"/>
                <a:cs typeface="Arial MT"/>
              </a:rPr>
              <a:t>5</a:t>
            </a:r>
            <a:r>
              <a:rPr sz="2800" spc="-24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V</a:t>
            </a:r>
            <a:endParaRPr sz="2800">
              <a:latin typeface="Arial MT"/>
              <a:cs typeface="Arial MT"/>
            </a:endParaRPr>
          </a:p>
          <a:p>
            <a:pPr marL="318770" marR="222885" indent="-306705">
              <a:lnSpc>
                <a:spcPts val="3300"/>
              </a:lnSpc>
              <a:spcBef>
                <a:spcPts val="800"/>
              </a:spcBef>
              <a:buChar char="–"/>
              <a:tabLst>
                <a:tab pos="319405" algn="l"/>
              </a:tabLst>
            </a:pPr>
            <a:r>
              <a:rPr sz="2800" spc="-170" dirty="0">
                <a:latin typeface="Arial MT"/>
                <a:cs typeface="Arial MT"/>
              </a:rPr>
              <a:t>use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1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i</a:t>
            </a:r>
            <a:r>
              <a:rPr sz="2800" spc="-5" dirty="0">
                <a:latin typeface="Arial MT"/>
                <a:cs typeface="Arial MT"/>
              </a:rPr>
              <a:t>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so</a:t>
            </a:r>
            <a:r>
              <a:rPr sz="2800" spc="-175" dirty="0">
                <a:latin typeface="Arial MT"/>
                <a:cs typeface="Arial MT"/>
              </a:rPr>
              <a:t>m</a:t>
            </a:r>
            <a:r>
              <a:rPr sz="2800" spc="-5" dirty="0">
                <a:latin typeface="Arial MT"/>
                <a:cs typeface="Arial MT"/>
              </a:rPr>
              <a:t>e</a:t>
            </a:r>
            <a:r>
              <a:rPr sz="2800" spc="-33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200" dirty="0">
                <a:latin typeface="Arial MT"/>
                <a:cs typeface="Arial MT"/>
              </a:rPr>
              <a:t> </a:t>
            </a:r>
            <a:r>
              <a:rPr sz="2800" spc="-165" dirty="0">
                <a:latin typeface="Arial MT"/>
                <a:cs typeface="Arial MT"/>
              </a:rPr>
              <a:t>spee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35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special</a:t>
            </a:r>
            <a:r>
              <a:rPr sz="2800" spc="-125" dirty="0">
                <a:latin typeface="Arial MT"/>
                <a:cs typeface="Arial MT"/>
              </a:rPr>
              <a:t>i</a:t>
            </a:r>
            <a:r>
              <a:rPr sz="2800" spc="-11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75" dirty="0">
                <a:latin typeface="Arial MT"/>
                <a:cs typeface="Arial MT"/>
              </a:rPr>
              <a:t> </a:t>
            </a:r>
            <a:r>
              <a:rPr sz="2800" spc="-85" dirty="0">
                <a:latin typeface="Arial MT"/>
                <a:cs typeface="Arial MT"/>
              </a:rPr>
              <a:t>app</a:t>
            </a:r>
            <a:r>
              <a:rPr sz="2800" spc="-90" dirty="0">
                <a:latin typeface="Arial MT"/>
                <a:cs typeface="Arial MT"/>
              </a:rPr>
              <a:t>li</a:t>
            </a:r>
            <a:r>
              <a:rPr sz="2800" spc="-85" dirty="0">
                <a:latin typeface="Arial MT"/>
                <a:cs typeface="Arial MT"/>
              </a:rPr>
              <a:t>ca</a:t>
            </a:r>
            <a:r>
              <a:rPr sz="2800" spc="-100" dirty="0">
                <a:latin typeface="Arial MT"/>
                <a:cs typeface="Arial MT"/>
              </a:rPr>
              <a:t>t</a:t>
            </a:r>
            <a:r>
              <a:rPr sz="2800" spc="-90" dirty="0">
                <a:latin typeface="Arial MT"/>
                <a:cs typeface="Arial MT"/>
              </a:rPr>
              <a:t>i</a:t>
            </a:r>
            <a:r>
              <a:rPr sz="2800" spc="-95" dirty="0">
                <a:latin typeface="Arial MT"/>
                <a:cs typeface="Arial MT"/>
              </a:rPr>
              <a:t>o</a:t>
            </a:r>
            <a:r>
              <a:rPr sz="2800" spc="-85" dirty="0">
                <a:latin typeface="Arial MT"/>
                <a:cs typeface="Arial MT"/>
              </a:rPr>
              <a:t>n</a:t>
            </a:r>
            <a:r>
              <a:rPr sz="2800" spc="-95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,  b</a:t>
            </a:r>
            <a:r>
              <a:rPr sz="2800" spc="-20" dirty="0">
                <a:latin typeface="Arial MT"/>
                <a:cs typeface="Arial MT"/>
              </a:rPr>
              <a:t>u</a:t>
            </a:r>
            <a:r>
              <a:rPr sz="2800" spc="-5" dirty="0">
                <a:latin typeface="Arial MT"/>
                <a:cs typeface="Arial MT"/>
              </a:rPr>
              <a:t>t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spc="-75" dirty="0">
                <a:latin typeface="Arial MT"/>
                <a:cs typeface="Arial MT"/>
              </a:rPr>
              <a:t>no</a:t>
            </a:r>
            <a:r>
              <a:rPr sz="2800" spc="-5" dirty="0">
                <a:latin typeface="Arial MT"/>
                <a:cs typeface="Arial MT"/>
              </a:rPr>
              <a:t>w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95" dirty="0">
                <a:latin typeface="Arial MT"/>
                <a:cs typeface="Arial MT"/>
              </a:rPr>
              <a:t>a</a:t>
            </a:r>
            <a:r>
              <a:rPr sz="2800" spc="-100" dirty="0">
                <a:latin typeface="Arial MT"/>
                <a:cs typeface="Arial MT"/>
              </a:rPr>
              <a:t>r</a:t>
            </a:r>
            <a:r>
              <a:rPr sz="2800" spc="-95" dirty="0">
                <a:latin typeface="Arial MT"/>
                <a:cs typeface="Arial MT"/>
              </a:rPr>
              <a:t>ge</a:t>
            </a:r>
            <a:r>
              <a:rPr sz="2800" spc="-100" dirty="0">
                <a:latin typeface="Arial MT"/>
                <a:cs typeface="Arial MT"/>
              </a:rPr>
              <a:t>l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5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replace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spc="-260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b</a:t>
            </a:r>
            <a:r>
              <a:rPr sz="2800" spc="-5" dirty="0">
                <a:latin typeface="Arial MT"/>
                <a:cs typeface="Arial MT"/>
              </a:rPr>
              <a:t>y</a:t>
            </a:r>
            <a:r>
              <a:rPr sz="2800" spc="-229" dirty="0">
                <a:latin typeface="Arial MT"/>
                <a:cs typeface="Arial MT"/>
              </a:rPr>
              <a:t> </a:t>
            </a:r>
            <a:r>
              <a:rPr sz="2800" spc="-110" dirty="0">
                <a:latin typeface="Arial MT"/>
                <a:cs typeface="Arial MT"/>
              </a:rPr>
              <a:t>hig</a:t>
            </a:r>
            <a:r>
              <a:rPr sz="2800" spc="-5" dirty="0">
                <a:latin typeface="Arial MT"/>
                <a:cs typeface="Arial MT"/>
              </a:rPr>
              <a:t>h</a:t>
            </a:r>
            <a:r>
              <a:rPr sz="2800" spc="-185" dirty="0">
                <a:latin typeface="Arial MT"/>
                <a:cs typeface="Arial MT"/>
              </a:rPr>
              <a:t> </a:t>
            </a:r>
            <a:r>
              <a:rPr sz="2800" spc="-170" dirty="0">
                <a:latin typeface="Arial MT"/>
                <a:cs typeface="Arial MT"/>
              </a:rPr>
              <a:t>spee</a:t>
            </a:r>
            <a:r>
              <a:rPr sz="2800" spc="55" dirty="0">
                <a:latin typeface="Arial MT"/>
                <a:cs typeface="Arial MT"/>
              </a:rPr>
              <a:t>d</a:t>
            </a:r>
            <a:r>
              <a:rPr sz="2800" spc="-355" dirty="0">
                <a:latin typeface="Arial MT"/>
                <a:cs typeface="Arial MT"/>
              </a:rPr>
              <a:t>CM</a:t>
            </a:r>
            <a:r>
              <a:rPr sz="2800" spc="-360" dirty="0">
                <a:latin typeface="Arial MT"/>
                <a:cs typeface="Arial MT"/>
              </a:rPr>
              <a:t>O</a:t>
            </a:r>
            <a:r>
              <a:rPr sz="2800" spc="-5" dirty="0">
                <a:latin typeface="Arial MT"/>
                <a:cs typeface="Arial MT"/>
              </a:rPr>
              <a:t>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346" y="461899"/>
            <a:ext cx="70497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A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Comparison </a:t>
            </a: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44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4400" b="0" spc="-15" dirty="0">
                <a:solidFill>
                  <a:srgbClr val="000000"/>
                </a:solidFill>
                <a:latin typeface="Calibri"/>
                <a:cs typeface="Calibri"/>
              </a:rPr>
              <a:t> Families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16607"/>
            <a:ext cx="8229600" cy="409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6197" y="126619"/>
            <a:ext cx="5990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" dirty="0">
                <a:solidFill>
                  <a:srgbClr val="000000"/>
                </a:solidFill>
                <a:latin typeface="Calibri"/>
                <a:cs typeface="Calibri"/>
              </a:rPr>
              <a:t>Logic</a:t>
            </a:r>
            <a:r>
              <a:rPr sz="44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dirty="0">
                <a:solidFill>
                  <a:srgbClr val="000000"/>
                </a:solidFill>
                <a:latin typeface="Calibri"/>
                <a:cs typeface="Calibri"/>
              </a:rPr>
              <a:t>Signal</a:t>
            </a:r>
            <a:r>
              <a:rPr sz="44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b="0" spc="-40" dirty="0">
                <a:solidFill>
                  <a:srgbClr val="000000"/>
                </a:solidFill>
                <a:latin typeface="Calibri"/>
                <a:cs typeface="Calibri"/>
              </a:rPr>
              <a:t>Voltage</a:t>
            </a:r>
            <a:r>
              <a:rPr sz="4400" b="0" spc="-15" dirty="0">
                <a:solidFill>
                  <a:srgbClr val="000000"/>
                </a:solidFill>
                <a:latin typeface="Calibri"/>
                <a:cs typeface="Calibri"/>
              </a:rPr>
              <a:t> Levels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905" y="1123170"/>
            <a:ext cx="6084329" cy="26091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7682" y="4240164"/>
            <a:ext cx="5663469" cy="2333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3185" y="461263"/>
            <a:ext cx="3920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6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i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nve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b="1" spc="-270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00200"/>
            <a:ext cx="6793992" cy="44119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6975" y="2533015"/>
            <a:ext cx="593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P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3175" y="4209669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5143246"/>
            <a:ext cx="16592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Nmos </a:t>
            </a:r>
            <a:r>
              <a:rPr sz="1800" spc="-5" dirty="0">
                <a:latin typeface="Calibri"/>
                <a:cs typeface="Calibri"/>
              </a:rPr>
              <a:t>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off </a:t>
            </a:r>
            <a:r>
              <a:rPr sz="1800" dirty="0">
                <a:latin typeface="Calibri"/>
                <a:cs typeface="Calibri"/>
              </a:rPr>
              <a:t> 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 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3951" y="461263"/>
            <a:ext cx="28257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459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1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0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04" dirty="0">
                <a:solidFill>
                  <a:srgbClr val="0000FF"/>
                </a:solidFill>
                <a:latin typeface="Trebuchet MS"/>
                <a:cs typeface="Trebuchet MS"/>
              </a:rPr>
              <a:t>te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986" y="2409820"/>
            <a:ext cx="4411175" cy="36381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3097" y="2419355"/>
            <a:ext cx="4031559" cy="37627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4540" y="1618234"/>
            <a:ext cx="5044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40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parallel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series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-5" dirty="0">
                <a:latin typeface="Calibri"/>
                <a:cs typeface="Calibri"/>
              </a:rPr>
              <a:t> vice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versa.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5609" y="856234"/>
            <a:ext cx="16586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Nmos </a:t>
            </a:r>
            <a:r>
              <a:rPr sz="1800" spc="-5" dirty="0">
                <a:latin typeface="Calibri"/>
                <a:cs typeface="Calibri"/>
              </a:rPr>
              <a:t>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off </a:t>
            </a:r>
            <a:r>
              <a:rPr sz="1800" dirty="0">
                <a:latin typeface="Calibri"/>
                <a:cs typeface="Calibri"/>
              </a:rPr>
              <a:t> Nmos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38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 if </a:t>
            </a:r>
            <a:r>
              <a:rPr sz="1800" dirty="0">
                <a:latin typeface="Calibri"/>
                <a:cs typeface="Calibri"/>
              </a:rPr>
              <a:t>0 </a:t>
            </a:r>
            <a:r>
              <a:rPr sz="1800" spc="-5" dirty="0">
                <a:latin typeface="Calibri"/>
                <a:cs typeface="Calibri"/>
              </a:rPr>
              <a:t>it is on 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Pmos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</a:t>
            </a:r>
            <a:r>
              <a:rPr sz="1800" spc="-5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Off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0594" y="2960080"/>
            <a:ext cx="2367280" cy="63500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841500">
              <a:lnSpc>
                <a:spcPct val="100000"/>
              </a:lnSpc>
              <a:spcBef>
                <a:spcPts val="335"/>
              </a:spcBef>
            </a:pPr>
            <a:r>
              <a:rPr sz="1800" spc="-5" dirty="0">
                <a:latin typeface="Calibri"/>
                <a:cs typeface="Calibri"/>
              </a:rPr>
              <a:t>pmos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spc="-5" dirty="0">
                <a:latin typeface="Calibri"/>
                <a:cs typeface="Calibri"/>
              </a:rPr>
              <a:t>pmos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0175" y="4285869"/>
            <a:ext cx="537845" cy="1138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nmos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nmos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5445" y="131826"/>
            <a:ext cx="42532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54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0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b="1" spc="-35" dirty="0">
                <a:solidFill>
                  <a:srgbClr val="0000FF"/>
                </a:solidFill>
                <a:latin typeface="Trebuchet MS"/>
                <a:cs typeface="Trebuchet MS"/>
              </a:rPr>
              <a:t>M</a:t>
            </a:r>
            <a:r>
              <a:rPr b="1" spc="-2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b="1" spc="-66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5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N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D</a:t>
            </a:r>
            <a:r>
              <a:rPr b="1" spc="-58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b="1" spc="-280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b="1" spc="-275" dirty="0">
                <a:solidFill>
                  <a:srgbClr val="0000FF"/>
                </a:solidFill>
                <a:latin typeface="Trebuchet MS"/>
                <a:cs typeface="Trebuchet MS"/>
              </a:rPr>
              <a:t>at</a:t>
            </a:r>
            <a:r>
              <a:rPr b="1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791" y="984653"/>
            <a:ext cx="8215546" cy="583118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0454" y="272542"/>
            <a:ext cx="3547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4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5" dirty="0">
                <a:solidFill>
                  <a:srgbClr val="0000FF"/>
                </a:solidFill>
                <a:latin typeface="Trebuchet MS"/>
                <a:cs typeface="Trebuchet MS"/>
              </a:rPr>
              <a:t>C</a:t>
            </a:r>
            <a:r>
              <a:rPr sz="4000" b="1" spc="-30" dirty="0">
                <a:solidFill>
                  <a:srgbClr val="0000FF"/>
                </a:solidFill>
                <a:latin typeface="Trebuchet MS"/>
                <a:cs typeface="Trebuchet MS"/>
              </a:rPr>
              <a:t>MO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S</a:t>
            </a:r>
            <a:r>
              <a:rPr sz="4000" b="1" spc="-650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85" dirty="0">
                <a:solidFill>
                  <a:srgbClr val="0000FF"/>
                </a:solidFill>
                <a:latin typeface="Trebuchet MS"/>
                <a:cs typeface="Trebuchet MS"/>
              </a:rPr>
              <a:t>O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R</a:t>
            </a:r>
            <a:r>
              <a:rPr sz="4000" b="1" spc="-57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4000" b="1" spc="-275" dirty="0">
                <a:solidFill>
                  <a:srgbClr val="0000FF"/>
                </a:solidFill>
                <a:latin typeface="Trebuchet MS"/>
                <a:cs typeface="Trebuchet MS"/>
              </a:rPr>
              <a:t>G</a:t>
            </a:r>
            <a:r>
              <a:rPr sz="4000" b="1" spc="-290" dirty="0">
                <a:solidFill>
                  <a:srgbClr val="0000FF"/>
                </a:solidFill>
                <a:latin typeface="Trebuchet MS"/>
                <a:cs typeface="Trebuchet MS"/>
              </a:rPr>
              <a:t>a</a:t>
            </a:r>
            <a:r>
              <a:rPr sz="4000" b="1" spc="-285" dirty="0">
                <a:solidFill>
                  <a:srgbClr val="0000FF"/>
                </a:solidFill>
                <a:latin typeface="Trebuchet MS"/>
                <a:cs typeface="Trebuchet MS"/>
              </a:rPr>
              <a:t>t</a:t>
            </a:r>
            <a:r>
              <a:rPr sz="4000" b="1" spc="-5" dirty="0">
                <a:solidFill>
                  <a:srgbClr val="0000FF"/>
                </a:solidFill>
                <a:latin typeface="Trebuchet MS"/>
                <a:cs typeface="Trebuchet MS"/>
              </a:rPr>
              <a:t>e</a:t>
            </a:r>
            <a:endParaRPr sz="4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316" y="1268738"/>
            <a:ext cx="8047397" cy="53749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9577" y="461899"/>
            <a:ext cx="37084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Noise</a:t>
            </a:r>
            <a:r>
              <a:rPr sz="4400" spc="-85" dirty="0"/>
              <a:t> </a:t>
            </a:r>
            <a:r>
              <a:rPr sz="4400" dirty="0"/>
              <a:t>immunity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754380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5650" algn="l"/>
              </a:tabLst>
            </a:pPr>
            <a:r>
              <a:rPr spc="-10" dirty="0"/>
              <a:t>noise</a:t>
            </a:r>
            <a:r>
              <a:rPr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15" dirty="0"/>
              <a:t>present</a:t>
            </a:r>
            <a:r>
              <a:rPr spc="15" dirty="0"/>
              <a:t> </a:t>
            </a:r>
            <a:r>
              <a:rPr spc="-5" dirty="0"/>
              <a:t>in</a:t>
            </a:r>
            <a:r>
              <a:rPr dirty="0"/>
              <a:t> </a:t>
            </a:r>
            <a:r>
              <a:rPr spc="-5" dirty="0"/>
              <a:t>all</a:t>
            </a:r>
            <a:r>
              <a:rPr spc="-10" dirty="0"/>
              <a:t> </a:t>
            </a:r>
            <a:r>
              <a:rPr spc="-15" dirty="0"/>
              <a:t>real</a:t>
            </a:r>
            <a:r>
              <a:rPr spc="-5" dirty="0"/>
              <a:t> </a:t>
            </a:r>
            <a:r>
              <a:rPr spc="-25" dirty="0"/>
              <a:t>systems</a:t>
            </a:r>
          </a:p>
          <a:p>
            <a:pPr marL="754380" marR="1350645" indent="-287020">
              <a:lnSpc>
                <a:spcPts val="3020"/>
              </a:lnSpc>
              <a:spcBef>
                <a:spcPts val="720"/>
              </a:spcBef>
              <a:buFont typeface="Arial MT"/>
              <a:buChar char="–"/>
              <a:tabLst>
                <a:tab pos="755650" algn="l"/>
              </a:tabLst>
            </a:pPr>
            <a:r>
              <a:rPr spc="-10" dirty="0"/>
              <a:t>this</a:t>
            </a:r>
            <a:r>
              <a:rPr spc="20" dirty="0"/>
              <a:t> </a:t>
            </a:r>
            <a:r>
              <a:rPr spc="-5" dirty="0"/>
              <a:t>adds</a:t>
            </a:r>
            <a:r>
              <a:rPr spc="20" dirty="0"/>
              <a:t> </a:t>
            </a:r>
            <a:r>
              <a:rPr spc="-15" dirty="0"/>
              <a:t>random</a:t>
            </a:r>
            <a:r>
              <a:rPr spc="20" dirty="0"/>
              <a:t> </a:t>
            </a:r>
            <a:r>
              <a:rPr spc="-10" dirty="0"/>
              <a:t>fluctuations</a:t>
            </a:r>
            <a:r>
              <a:rPr spc="30" dirty="0"/>
              <a:t> </a:t>
            </a:r>
            <a:r>
              <a:rPr spc="-20" dirty="0"/>
              <a:t>to</a:t>
            </a:r>
            <a:r>
              <a:rPr spc="-5" dirty="0"/>
              <a:t> </a:t>
            </a:r>
            <a:r>
              <a:rPr spc="-15" dirty="0"/>
              <a:t>voltages </a:t>
            </a:r>
            <a:r>
              <a:rPr spc="-620" dirty="0"/>
              <a:t> </a:t>
            </a:r>
            <a:r>
              <a:rPr spc="-15" dirty="0"/>
              <a:t>representing</a:t>
            </a:r>
            <a:r>
              <a:rPr spc="10" dirty="0"/>
              <a:t> </a:t>
            </a:r>
            <a:r>
              <a:rPr spc="-5" dirty="0"/>
              <a:t>logic</a:t>
            </a:r>
            <a:r>
              <a:rPr dirty="0"/>
              <a:t> </a:t>
            </a:r>
            <a:r>
              <a:rPr spc="-10" dirty="0"/>
              <a:t>levels</a:t>
            </a:r>
          </a:p>
          <a:p>
            <a:pPr marL="754380" marR="17780" indent="-28702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5650" algn="l"/>
              </a:tabLst>
            </a:pPr>
            <a:r>
              <a:rPr spc="-20" dirty="0"/>
              <a:t>to</a:t>
            </a:r>
            <a:r>
              <a:rPr spc="-5" dirty="0"/>
              <a:t> </a:t>
            </a:r>
            <a:r>
              <a:rPr spc="-10" dirty="0"/>
              <a:t>cope</a:t>
            </a:r>
            <a:r>
              <a:rPr dirty="0"/>
              <a:t> </a:t>
            </a:r>
            <a:r>
              <a:rPr spc="-5" dirty="0"/>
              <a:t>with</a:t>
            </a:r>
            <a:r>
              <a:rPr spc="10" dirty="0"/>
              <a:t> </a:t>
            </a:r>
            <a:r>
              <a:rPr spc="-10" dirty="0"/>
              <a:t>noise,</a:t>
            </a:r>
            <a:r>
              <a:rPr spc="20" dirty="0"/>
              <a:t> </a:t>
            </a:r>
            <a:r>
              <a:rPr spc="-5" dirty="0"/>
              <a:t>the</a:t>
            </a:r>
            <a:r>
              <a:rPr spc="10" dirty="0"/>
              <a:t> </a:t>
            </a:r>
            <a:r>
              <a:rPr spc="-20" dirty="0"/>
              <a:t>voltage</a:t>
            </a:r>
            <a:r>
              <a:rPr spc="5" dirty="0"/>
              <a:t> </a:t>
            </a:r>
            <a:r>
              <a:rPr spc="-20" dirty="0"/>
              <a:t>ranges</a:t>
            </a:r>
            <a:r>
              <a:rPr spc="15" dirty="0"/>
              <a:t> </a:t>
            </a:r>
            <a:r>
              <a:rPr spc="-15" dirty="0"/>
              <a:t>defining</a:t>
            </a:r>
            <a:r>
              <a:rPr spc="30" dirty="0"/>
              <a:t> </a:t>
            </a:r>
            <a:r>
              <a:rPr spc="-5" dirty="0"/>
              <a:t>the </a:t>
            </a:r>
            <a:r>
              <a:rPr spc="-615" dirty="0"/>
              <a:t> </a:t>
            </a:r>
            <a:r>
              <a:rPr spc="-5" dirty="0"/>
              <a:t>logic</a:t>
            </a:r>
            <a:r>
              <a:rPr dirty="0"/>
              <a:t> </a:t>
            </a:r>
            <a:r>
              <a:rPr spc="-10" dirty="0"/>
              <a:t>levels </a:t>
            </a:r>
            <a:r>
              <a:rPr spc="-15" dirty="0"/>
              <a:t>are</a:t>
            </a:r>
            <a:r>
              <a:rPr dirty="0"/>
              <a:t> </a:t>
            </a:r>
            <a:r>
              <a:rPr spc="-20" dirty="0"/>
              <a:t>more</a:t>
            </a:r>
            <a:r>
              <a:rPr spc="-5" dirty="0"/>
              <a:t> </a:t>
            </a:r>
            <a:r>
              <a:rPr spc="-10" dirty="0"/>
              <a:t>tightly</a:t>
            </a:r>
            <a:r>
              <a:rPr spc="-5" dirty="0"/>
              <a:t> </a:t>
            </a:r>
            <a:r>
              <a:rPr spc="-15" dirty="0"/>
              <a:t>constrained</a:t>
            </a:r>
            <a:r>
              <a:rPr spc="35" dirty="0"/>
              <a:t> </a:t>
            </a:r>
            <a:r>
              <a:rPr spc="-15" dirty="0"/>
              <a:t>at</a:t>
            </a:r>
            <a:r>
              <a:rPr spc="-10" dirty="0"/>
              <a:t> </a:t>
            </a:r>
            <a:r>
              <a:rPr spc="-5" dirty="0"/>
              <a:t>the </a:t>
            </a:r>
            <a:r>
              <a:rPr dirty="0"/>
              <a:t> </a:t>
            </a:r>
            <a:r>
              <a:rPr spc="-10" dirty="0"/>
              <a:t>output</a:t>
            </a:r>
            <a:r>
              <a:rPr spc="20" dirty="0"/>
              <a:t> </a:t>
            </a:r>
            <a:r>
              <a:rPr spc="-5" dirty="0"/>
              <a:t>of a</a:t>
            </a:r>
            <a:r>
              <a:rPr spc="5" dirty="0"/>
              <a:t> </a:t>
            </a:r>
            <a:r>
              <a:rPr spc="-25" dirty="0"/>
              <a:t>gate</a:t>
            </a:r>
            <a:r>
              <a:rPr spc="-35" dirty="0"/>
              <a:t> </a:t>
            </a:r>
            <a:r>
              <a:rPr spc="-5" dirty="0"/>
              <a:t>than</a:t>
            </a:r>
            <a:r>
              <a:rPr spc="15" dirty="0"/>
              <a:t> </a:t>
            </a:r>
            <a:r>
              <a:rPr spc="-15" dirty="0"/>
              <a:t>at </a:t>
            </a:r>
            <a:r>
              <a:rPr spc="-5" dirty="0"/>
              <a:t>the</a:t>
            </a:r>
            <a:r>
              <a:rPr spc="-10" dirty="0"/>
              <a:t> </a:t>
            </a:r>
            <a:r>
              <a:rPr spc="-5" dirty="0"/>
              <a:t>input</a:t>
            </a:r>
          </a:p>
          <a:p>
            <a:pPr marL="754380" marR="644525" indent="-287020">
              <a:lnSpc>
                <a:spcPts val="3020"/>
              </a:lnSpc>
              <a:spcBef>
                <a:spcPts val="690"/>
              </a:spcBef>
              <a:buFont typeface="Arial MT"/>
              <a:buChar char="–"/>
              <a:tabLst>
                <a:tab pos="755650" algn="l"/>
              </a:tabLst>
            </a:pPr>
            <a:r>
              <a:rPr spc="-5" dirty="0"/>
              <a:t>thus</a:t>
            </a:r>
            <a:r>
              <a:rPr spc="30" dirty="0"/>
              <a:t> </a:t>
            </a:r>
            <a:r>
              <a:rPr spc="-10" dirty="0"/>
              <a:t>small</a:t>
            </a:r>
            <a:r>
              <a:rPr spc="-5" dirty="0"/>
              <a:t> </a:t>
            </a:r>
            <a:r>
              <a:rPr spc="-10" dirty="0"/>
              <a:t>amounts</a:t>
            </a:r>
            <a:r>
              <a:rPr spc="20" dirty="0"/>
              <a:t> </a:t>
            </a:r>
            <a:r>
              <a:rPr spc="-5" dirty="0"/>
              <a:t>of </a:t>
            </a:r>
            <a:r>
              <a:rPr spc="-10" dirty="0"/>
              <a:t>noise</a:t>
            </a:r>
            <a:r>
              <a:rPr spc="5" dirty="0"/>
              <a:t> </a:t>
            </a:r>
            <a:r>
              <a:rPr spc="-5" dirty="0"/>
              <a:t>will</a:t>
            </a:r>
            <a:r>
              <a:rPr spc="5" dirty="0"/>
              <a:t> </a:t>
            </a:r>
            <a:r>
              <a:rPr spc="-10" dirty="0"/>
              <a:t>not</a:t>
            </a:r>
            <a:r>
              <a:rPr spc="5" dirty="0"/>
              <a:t> </a:t>
            </a:r>
            <a:r>
              <a:rPr spc="-20" dirty="0"/>
              <a:t>affect </a:t>
            </a:r>
            <a:r>
              <a:rPr spc="-5" dirty="0"/>
              <a:t>the </a:t>
            </a:r>
            <a:r>
              <a:rPr spc="-620" dirty="0"/>
              <a:t> </a:t>
            </a:r>
            <a:r>
              <a:rPr spc="-10" dirty="0"/>
              <a:t>circuit</a:t>
            </a:r>
          </a:p>
          <a:p>
            <a:pPr marL="754380" marR="212725" indent="-287020">
              <a:lnSpc>
                <a:spcPts val="3030"/>
              </a:lnSpc>
              <a:spcBef>
                <a:spcPts val="670"/>
              </a:spcBef>
              <a:buFont typeface="Arial MT"/>
              <a:buChar char="–"/>
              <a:tabLst>
                <a:tab pos="755650" algn="l"/>
              </a:tabLst>
            </a:pPr>
            <a:r>
              <a:rPr spc="-5" dirty="0"/>
              <a:t>the</a:t>
            </a:r>
            <a:r>
              <a:rPr spc="-10" dirty="0"/>
              <a:t> maximum</a:t>
            </a:r>
            <a:r>
              <a:rPr spc="15" dirty="0"/>
              <a:t> </a:t>
            </a:r>
            <a:r>
              <a:rPr spc="-10" dirty="0"/>
              <a:t>noise</a:t>
            </a:r>
            <a:r>
              <a:rPr spc="5" dirty="0"/>
              <a:t> </a:t>
            </a:r>
            <a:r>
              <a:rPr spc="-20" dirty="0"/>
              <a:t>voltage</a:t>
            </a:r>
            <a:r>
              <a:rPr spc="-15" dirty="0"/>
              <a:t> </a:t>
            </a:r>
            <a:r>
              <a:rPr spc="-10" dirty="0"/>
              <a:t>that</a:t>
            </a:r>
            <a:r>
              <a:rPr spc="10" dirty="0"/>
              <a:t> </a:t>
            </a:r>
            <a:r>
              <a:rPr spc="-10" dirty="0"/>
              <a:t>can</a:t>
            </a:r>
            <a:r>
              <a:rPr spc="-5" dirty="0"/>
              <a:t> be</a:t>
            </a:r>
            <a:r>
              <a:rPr spc="5" dirty="0"/>
              <a:t> </a:t>
            </a:r>
            <a:r>
              <a:rPr spc="-20" dirty="0"/>
              <a:t>tolerated </a:t>
            </a:r>
            <a:r>
              <a:rPr spc="-620" dirty="0"/>
              <a:t> </a:t>
            </a:r>
            <a:r>
              <a:rPr spc="-15" dirty="0"/>
              <a:t>by</a:t>
            </a:r>
            <a:r>
              <a:rPr spc="5" dirty="0"/>
              <a:t> </a:t>
            </a:r>
            <a:r>
              <a:rPr spc="-5" dirty="0"/>
              <a:t>a</a:t>
            </a:r>
            <a:r>
              <a:rPr dirty="0"/>
              <a:t> </a:t>
            </a:r>
            <a:r>
              <a:rPr spc="-10" dirty="0"/>
              <a:t>circuit</a:t>
            </a:r>
            <a:r>
              <a:rPr spc="5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10" dirty="0"/>
              <a:t>termed</a:t>
            </a:r>
            <a:r>
              <a:rPr spc="-15" dirty="0"/>
              <a:t> </a:t>
            </a:r>
            <a:r>
              <a:rPr spc="-5" dirty="0"/>
              <a:t>its</a:t>
            </a:r>
            <a:r>
              <a:rPr spc="10" dirty="0"/>
              <a:t>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noise</a:t>
            </a:r>
            <a:r>
              <a:rPr b="1" spc="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0000FF"/>
                </a:solidFill>
                <a:latin typeface="Calibri"/>
                <a:cs typeface="Calibri"/>
              </a:rPr>
              <a:t>immunity</a:t>
            </a:r>
            <a:r>
              <a:rPr spc="-5" dirty="0"/>
              <a:t>,</a:t>
            </a:r>
            <a:r>
              <a:rPr spc="10" dirty="0"/>
              <a:t> </a:t>
            </a:r>
            <a:r>
              <a:rPr b="1" i="1" dirty="0">
                <a:solidFill>
                  <a:srgbClr val="0000FF"/>
                </a:solidFill>
                <a:latin typeface="Calibri"/>
                <a:cs typeface="Calibri"/>
              </a:rPr>
              <a:t>V</a:t>
            </a:r>
            <a:r>
              <a:rPr sz="2775" b="1" i="1" baseline="-21021" dirty="0">
                <a:solidFill>
                  <a:srgbClr val="0000FF"/>
                </a:solidFill>
                <a:latin typeface="Calibri"/>
                <a:cs typeface="Calibri"/>
              </a:rPr>
              <a:t>NI</a:t>
            </a:r>
            <a:endParaRPr sz="2775" baseline="-21021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52" y="1205811"/>
            <a:ext cx="6856566" cy="45709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559</Words>
  <Application>Microsoft Office PowerPoint</Application>
  <PresentationFormat>On-screen Show (4:3)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MT</vt:lpstr>
      <vt:lpstr>Calibri</vt:lpstr>
      <vt:lpstr>Trebuchet MS</vt:lpstr>
      <vt:lpstr>Office Theme</vt:lpstr>
      <vt:lpstr>Logic Families</vt:lpstr>
      <vt:lpstr>PowerPoint Presentation</vt:lpstr>
      <vt:lpstr>Types</vt:lpstr>
      <vt:lpstr>Basic Characteristics of Logic Families</vt:lpstr>
      <vt:lpstr>Contd..</vt:lpstr>
      <vt:lpstr>General Characteristics of Basic Logic  Families</vt:lpstr>
      <vt:lpstr>Complementary metal oxide  semiconductor (CMOS)</vt:lpstr>
      <vt:lpstr>Transistor-transistor logic (TTL)</vt:lpstr>
      <vt:lpstr>Emitter-coupled logic (ECL)</vt:lpstr>
      <vt:lpstr>A Comparison of Logic Families</vt:lpstr>
      <vt:lpstr>Logic Signal Voltage Levels</vt:lpstr>
      <vt:lpstr>A CMOS inverter</vt:lpstr>
      <vt:lpstr>CMOS gates</vt:lpstr>
      <vt:lpstr>A CMOS AND Gate</vt:lpstr>
      <vt:lpstr>A CMOS OR Gate</vt:lpstr>
      <vt:lpstr>Noise immunity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 Families</dc:title>
  <dc:creator>raj_4_u</dc:creator>
  <cp:lastModifiedBy>Swapnil Bagwari</cp:lastModifiedBy>
  <cp:revision>4</cp:revision>
  <dcterms:created xsi:type="dcterms:W3CDTF">2023-01-03T03:49:57Z</dcterms:created>
  <dcterms:modified xsi:type="dcterms:W3CDTF">2023-01-07T15:01:54Z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2023-01-03T00:00:00Z</vt:filetime>
  </property>
</Properties>
</file>