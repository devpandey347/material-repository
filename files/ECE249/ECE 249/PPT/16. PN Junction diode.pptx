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10693400" cy="7556500"/>
  <p:notesSz cx="10693400" cy="7556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07273" y="679703"/>
            <a:ext cx="1773554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2371" y="1289913"/>
            <a:ext cx="9949815" cy="4817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834371" y="6384875"/>
            <a:ext cx="25780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0388" y="1078992"/>
            <a:ext cx="4799965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89860" algn="l"/>
              </a:tabLst>
            </a:pPr>
            <a:r>
              <a:rPr sz="4650" b="0" spc="170" dirty="0">
                <a:solidFill>
                  <a:srgbClr val="000000"/>
                </a:solidFill>
                <a:latin typeface="Lucida Sans Unicode"/>
                <a:cs typeface="Lucida Sans Unicode"/>
              </a:rPr>
              <a:t>C</a:t>
            </a:r>
            <a:r>
              <a:rPr sz="4650" b="0" spc="-175" dirty="0">
                <a:solidFill>
                  <a:srgbClr val="000000"/>
                </a:solidFill>
                <a:latin typeface="Lucida Sans Unicode"/>
                <a:cs typeface="Lucida Sans Unicode"/>
              </a:rPr>
              <a:t>o</a:t>
            </a:r>
            <a:r>
              <a:rPr sz="4650" b="0" spc="-254" dirty="0">
                <a:solidFill>
                  <a:srgbClr val="000000"/>
                </a:solidFill>
                <a:latin typeface="Lucida Sans Unicode"/>
                <a:cs typeface="Lucida Sans Unicode"/>
              </a:rPr>
              <a:t>u</a:t>
            </a:r>
            <a:r>
              <a:rPr sz="4650" b="0" spc="20" dirty="0">
                <a:solidFill>
                  <a:srgbClr val="000000"/>
                </a:solidFill>
                <a:latin typeface="Lucida Sans Unicode"/>
                <a:cs typeface="Lucida Sans Unicode"/>
              </a:rPr>
              <a:t>r</a:t>
            </a:r>
            <a:r>
              <a:rPr sz="4650" b="0" spc="-235" dirty="0">
                <a:solidFill>
                  <a:srgbClr val="000000"/>
                </a:solidFill>
                <a:latin typeface="Lucida Sans Unicode"/>
                <a:cs typeface="Lucida Sans Unicode"/>
              </a:rPr>
              <a:t>s</a:t>
            </a:r>
            <a:r>
              <a:rPr sz="4650" b="0" spc="55" dirty="0">
                <a:solidFill>
                  <a:srgbClr val="000000"/>
                </a:solidFill>
                <a:latin typeface="Lucida Sans Unicode"/>
                <a:cs typeface="Lucida Sans Unicode"/>
              </a:rPr>
              <a:t>e</a:t>
            </a:r>
            <a:r>
              <a:rPr sz="4650" b="0" spc="-105" dirty="0">
                <a:solidFill>
                  <a:srgbClr val="000000"/>
                </a:solidFill>
                <a:latin typeface="Lucida Sans Unicode"/>
                <a:cs typeface="Lucida Sans Unicode"/>
              </a:rPr>
              <a:t>:</a:t>
            </a:r>
            <a:r>
              <a:rPr sz="4650" b="0" dirty="0">
                <a:solidFill>
                  <a:srgbClr val="000000"/>
                </a:solidFill>
                <a:latin typeface="Lucida Sans Unicode"/>
                <a:cs typeface="Lucida Sans Unicode"/>
              </a:rPr>
              <a:t>	</a:t>
            </a:r>
            <a:r>
              <a:rPr sz="4650" b="0" spc="204" dirty="0">
                <a:solidFill>
                  <a:srgbClr val="000000"/>
                </a:solidFill>
                <a:latin typeface="Lucida Sans Unicode"/>
                <a:cs typeface="Lucida Sans Unicode"/>
              </a:rPr>
              <a:t>ECE</a:t>
            </a:r>
            <a:r>
              <a:rPr sz="4650" b="0" spc="-405" dirty="0">
                <a:solidFill>
                  <a:srgbClr val="000000"/>
                </a:solidFill>
                <a:latin typeface="Lucida Sans Unicode"/>
                <a:cs typeface="Lucida Sans Unicode"/>
              </a:rPr>
              <a:t>249</a:t>
            </a:r>
            <a:endParaRPr sz="465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1972" y="1798320"/>
            <a:ext cx="910844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55" dirty="0">
                <a:latin typeface="Lucida Sans Unicode"/>
                <a:cs typeface="Lucida Sans Unicode"/>
              </a:rPr>
              <a:t>Basic</a:t>
            </a:r>
            <a:r>
              <a:rPr sz="3750" spc="-235" dirty="0">
                <a:latin typeface="Lucida Sans Unicode"/>
                <a:cs typeface="Lucida Sans Unicode"/>
              </a:rPr>
              <a:t> </a:t>
            </a:r>
            <a:r>
              <a:rPr sz="3750" spc="-10" dirty="0">
                <a:latin typeface="Lucida Sans Unicode"/>
                <a:cs typeface="Lucida Sans Unicode"/>
              </a:rPr>
              <a:t>Electrical</a:t>
            </a:r>
            <a:r>
              <a:rPr sz="3750" spc="-254" dirty="0">
                <a:latin typeface="Lucida Sans Unicode"/>
                <a:cs typeface="Lucida Sans Unicode"/>
              </a:rPr>
              <a:t> </a:t>
            </a:r>
            <a:r>
              <a:rPr sz="3750" spc="-85" dirty="0">
                <a:latin typeface="Lucida Sans Unicode"/>
                <a:cs typeface="Lucida Sans Unicode"/>
              </a:rPr>
              <a:t>&amp;</a:t>
            </a:r>
            <a:r>
              <a:rPr sz="3750" spc="-235" dirty="0">
                <a:latin typeface="Lucida Sans Unicode"/>
                <a:cs typeface="Lucida Sans Unicode"/>
              </a:rPr>
              <a:t> </a:t>
            </a:r>
            <a:r>
              <a:rPr sz="3750" spc="-75" dirty="0">
                <a:latin typeface="Lucida Sans Unicode"/>
                <a:cs typeface="Lucida Sans Unicode"/>
              </a:rPr>
              <a:t>Electronics</a:t>
            </a:r>
            <a:r>
              <a:rPr sz="3750" spc="-250" dirty="0">
                <a:latin typeface="Lucida Sans Unicode"/>
                <a:cs typeface="Lucida Sans Unicode"/>
              </a:rPr>
              <a:t> </a:t>
            </a:r>
            <a:r>
              <a:rPr sz="3750" spc="-30" dirty="0">
                <a:latin typeface="Lucida Sans Unicode"/>
                <a:cs typeface="Lucida Sans Unicode"/>
              </a:rPr>
              <a:t>Engineering</a:t>
            </a:r>
            <a:endParaRPr sz="375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6023" y="893573"/>
            <a:ext cx="24384" cy="7010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0669524" y="774700"/>
            <a:ext cx="22860" cy="6010910"/>
          </a:xfrm>
          <a:custGeom>
            <a:avLst/>
            <a:gdLst/>
            <a:ahLst/>
            <a:cxnLst/>
            <a:rect l="l" t="t" r="r" b="b"/>
            <a:pathLst>
              <a:path w="22859" h="6010909">
                <a:moveTo>
                  <a:pt x="22859" y="0"/>
                </a:moveTo>
                <a:lnTo>
                  <a:pt x="0" y="0"/>
                </a:lnTo>
                <a:lnTo>
                  <a:pt x="0" y="6010656"/>
                </a:lnTo>
                <a:lnTo>
                  <a:pt x="22859" y="6010656"/>
                </a:lnTo>
                <a:lnTo>
                  <a:pt x="2285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771651"/>
            <a:ext cx="3175" cy="5992495"/>
          </a:xfrm>
          <a:custGeom>
            <a:avLst/>
            <a:gdLst/>
            <a:ahLst/>
            <a:cxnLst/>
            <a:rect l="l" t="t" r="r" b="b"/>
            <a:pathLst>
              <a:path w="3175" h="5992495">
                <a:moveTo>
                  <a:pt x="3037" y="0"/>
                </a:moveTo>
                <a:lnTo>
                  <a:pt x="0" y="5992368"/>
                </a:lnTo>
              </a:path>
            </a:pathLst>
          </a:custGeom>
          <a:ln w="4571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05020" y="2612136"/>
            <a:ext cx="1901189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650" spc="-220" dirty="0">
                <a:latin typeface="Lucida Sans Unicode"/>
                <a:cs typeface="Lucida Sans Unicode"/>
              </a:rPr>
              <a:t>Unit-IV</a:t>
            </a:r>
            <a:endParaRPr sz="46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  <p:sp>
        <p:nvSpPr>
          <p:cNvPr id="8" name="object 8"/>
          <p:cNvSpPr txBox="1"/>
          <p:nvPr/>
        </p:nvSpPr>
        <p:spPr>
          <a:xfrm>
            <a:off x="3102484" y="2789681"/>
            <a:ext cx="4921885" cy="1128514"/>
          </a:xfrm>
          <a:prstGeom prst="rect">
            <a:avLst/>
          </a:prstGeom>
        </p:spPr>
        <p:txBody>
          <a:bodyPr vert="horz" wrap="square" lIns="0" tIns="408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20"/>
              </a:spcBef>
            </a:pPr>
            <a:r>
              <a:rPr sz="4650" spc="65" dirty="0">
                <a:latin typeface="Lucida Sans Unicode"/>
                <a:cs typeface="Lucida Sans Unicode"/>
              </a:rPr>
              <a:t>P</a:t>
            </a:r>
            <a:r>
              <a:rPr sz="4650" spc="-75" dirty="0">
                <a:latin typeface="Lucida Sans Unicode"/>
                <a:cs typeface="Lucida Sans Unicode"/>
              </a:rPr>
              <a:t>N</a:t>
            </a:r>
            <a:r>
              <a:rPr sz="4650" spc="-320" dirty="0">
                <a:latin typeface="Lucida Sans Unicode"/>
                <a:cs typeface="Lucida Sans Unicode"/>
              </a:rPr>
              <a:t> </a:t>
            </a:r>
            <a:r>
              <a:rPr sz="4650" spc="-65" dirty="0">
                <a:latin typeface="Lucida Sans Unicode"/>
                <a:cs typeface="Lucida Sans Unicode"/>
              </a:rPr>
              <a:t>J</a:t>
            </a:r>
            <a:r>
              <a:rPr sz="4650" spc="-254" dirty="0">
                <a:latin typeface="Lucida Sans Unicode"/>
                <a:cs typeface="Lucida Sans Unicode"/>
              </a:rPr>
              <a:t>u</a:t>
            </a:r>
            <a:r>
              <a:rPr sz="4650" spc="-204" dirty="0">
                <a:latin typeface="Lucida Sans Unicode"/>
                <a:cs typeface="Lucida Sans Unicode"/>
              </a:rPr>
              <a:t>n</a:t>
            </a:r>
            <a:r>
              <a:rPr sz="4650" spc="40" dirty="0">
                <a:latin typeface="Lucida Sans Unicode"/>
                <a:cs typeface="Lucida Sans Unicode"/>
              </a:rPr>
              <a:t>c</a:t>
            </a:r>
            <a:r>
              <a:rPr sz="4650" spc="-165" dirty="0">
                <a:latin typeface="Lucida Sans Unicode"/>
                <a:cs typeface="Lucida Sans Unicode"/>
              </a:rPr>
              <a:t>tio</a:t>
            </a:r>
            <a:r>
              <a:rPr sz="4650" spc="-204" dirty="0">
                <a:latin typeface="Lucida Sans Unicode"/>
                <a:cs typeface="Lucida Sans Unicode"/>
              </a:rPr>
              <a:t>n</a:t>
            </a:r>
            <a:r>
              <a:rPr sz="4650" spc="-335" dirty="0">
                <a:latin typeface="Lucida Sans Unicode"/>
                <a:cs typeface="Lucida Sans Unicode"/>
              </a:rPr>
              <a:t> </a:t>
            </a:r>
            <a:r>
              <a:rPr sz="4650" spc="-80" dirty="0">
                <a:latin typeface="Lucida Sans Unicode"/>
                <a:cs typeface="Lucida Sans Unicode"/>
              </a:rPr>
              <a:t>Dio</a:t>
            </a:r>
            <a:r>
              <a:rPr sz="4650" spc="5" dirty="0">
                <a:latin typeface="Lucida Sans Unicode"/>
                <a:cs typeface="Lucida Sans Unicode"/>
              </a:rPr>
              <a:t>de</a:t>
            </a:r>
            <a:endParaRPr sz="46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0703" y="679703"/>
            <a:ext cx="19304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O</a:t>
            </a:r>
            <a:r>
              <a:rPr spc="20" dirty="0"/>
              <a:t>ut</a:t>
            </a:r>
            <a:r>
              <a:rPr spc="160" dirty="0"/>
              <a:t>li</a:t>
            </a:r>
            <a:r>
              <a:rPr spc="20" dirty="0"/>
              <a:t>n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594" y="1268577"/>
            <a:ext cx="4692015" cy="507936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15" dirty="0">
                <a:latin typeface="Calibri"/>
                <a:cs typeface="Calibri"/>
              </a:rPr>
              <a:t>Electronic </a:t>
            </a:r>
            <a:r>
              <a:rPr sz="3750" spc="-10" dirty="0">
                <a:latin typeface="Calibri"/>
                <a:cs typeface="Calibri"/>
              </a:rPr>
              <a:t>Devices</a:t>
            </a:r>
            <a:endParaRPr sz="37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20" dirty="0">
                <a:latin typeface="Calibri"/>
                <a:cs typeface="Calibri"/>
              </a:rPr>
              <a:t>Active</a:t>
            </a:r>
            <a:r>
              <a:rPr sz="3750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Devices</a:t>
            </a:r>
            <a:endParaRPr sz="37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5" dirty="0">
                <a:latin typeface="Calibri"/>
                <a:cs typeface="Calibri"/>
              </a:rPr>
              <a:t>PN</a:t>
            </a:r>
            <a:r>
              <a:rPr sz="3750" spc="-50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junction</a:t>
            </a:r>
            <a:r>
              <a:rPr sz="3750" spc="20" dirty="0">
                <a:latin typeface="Calibri"/>
                <a:cs typeface="Calibri"/>
              </a:rPr>
              <a:t> </a:t>
            </a:r>
            <a:r>
              <a:rPr sz="3750" spc="-5" dirty="0">
                <a:latin typeface="Calibri"/>
                <a:cs typeface="Calibri"/>
              </a:rPr>
              <a:t>diode</a:t>
            </a:r>
            <a:endParaRPr sz="3750">
              <a:latin typeface="Calibri"/>
              <a:cs typeface="Calibri"/>
            </a:endParaRPr>
          </a:p>
          <a:p>
            <a:pPr marL="881380" lvl="1" indent="-332740">
              <a:lnSpc>
                <a:spcPct val="100000"/>
              </a:lnSpc>
              <a:spcBef>
                <a:spcPts val="850"/>
              </a:spcBef>
              <a:buFont typeface="Arial MT"/>
              <a:buChar char="–"/>
              <a:tabLst>
                <a:tab pos="881380" algn="l"/>
              </a:tabLst>
            </a:pPr>
            <a:r>
              <a:rPr sz="3250" dirty="0">
                <a:latin typeface="Calibri"/>
                <a:cs typeface="Calibri"/>
              </a:rPr>
              <a:t>Basics,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Circuit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Symbols</a:t>
            </a:r>
            <a:endParaRPr sz="3250">
              <a:latin typeface="Calibri"/>
              <a:cs typeface="Calibri"/>
            </a:endParaRPr>
          </a:p>
          <a:p>
            <a:pPr marL="881380" lvl="1" indent="-332740">
              <a:lnSpc>
                <a:spcPct val="100000"/>
              </a:lnSpc>
              <a:spcBef>
                <a:spcPts val="825"/>
              </a:spcBef>
              <a:buFont typeface="Arial MT"/>
              <a:buChar char="–"/>
              <a:tabLst>
                <a:tab pos="881380" algn="l"/>
              </a:tabLst>
            </a:pPr>
            <a:r>
              <a:rPr sz="3250" dirty="0">
                <a:latin typeface="Calibri"/>
                <a:cs typeface="Calibri"/>
              </a:rPr>
              <a:t>Construction</a:t>
            </a:r>
            <a:endParaRPr sz="3250">
              <a:latin typeface="Calibri"/>
              <a:cs typeface="Calibri"/>
            </a:endParaRPr>
          </a:p>
          <a:p>
            <a:pPr marL="881380" lvl="1" indent="-332740">
              <a:lnSpc>
                <a:spcPct val="100000"/>
              </a:lnSpc>
              <a:spcBef>
                <a:spcPts val="805"/>
              </a:spcBef>
              <a:buFont typeface="Arial MT"/>
              <a:buChar char="–"/>
              <a:tabLst>
                <a:tab pos="881380" algn="l"/>
              </a:tabLst>
            </a:pPr>
            <a:r>
              <a:rPr sz="3250" spc="-5" dirty="0">
                <a:latin typeface="Calibri"/>
                <a:cs typeface="Calibri"/>
              </a:rPr>
              <a:t>Principle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-10" dirty="0">
                <a:latin typeface="Calibri"/>
                <a:cs typeface="Calibri"/>
              </a:rPr>
              <a:t> Operation</a:t>
            </a:r>
            <a:endParaRPr sz="3250">
              <a:latin typeface="Calibri"/>
              <a:cs typeface="Calibri"/>
            </a:endParaRPr>
          </a:p>
          <a:p>
            <a:pPr marL="881380" lvl="1" indent="-332740">
              <a:lnSpc>
                <a:spcPct val="100000"/>
              </a:lnSpc>
              <a:spcBef>
                <a:spcPts val="830"/>
              </a:spcBef>
              <a:buFont typeface="Arial MT"/>
              <a:buChar char="–"/>
              <a:tabLst>
                <a:tab pos="881380" algn="l"/>
              </a:tabLst>
            </a:pPr>
            <a:r>
              <a:rPr sz="3250" dirty="0">
                <a:latin typeface="Calibri"/>
                <a:cs typeface="Calibri"/>
              </a:rPr>
              <a:t>Diode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Equation</a:t>
            </a:r>
            <a:endParaRPr sz="3250">
              <a:latin typeface="Calibri"/>
              <a:cs typeface="Calibri"/>
            </a:endParaRPr>
          </a:p>
          <a:p>
            <a:pPr marL="881380" lvl="1" indent="-332740">
              <a:lnSpc>
                <a:spcPct val="100000"/>
              </a:lnSpc>
              <a:spcBef>
                <a:spcPts val="805"/>
              </a:spcBef>
              <a:buFont typeface="Arial MT"/>
              <a:buChar char="–"/>
              <a:tabLst>
                <a:tab pos="881380" algn="l"/>
              </a:tabLst>
            </a:pPr>
            <a:r>
              <a:rPr sz="3250" dirty="0">
                <a:latin typeface="Calibri"/>
                <a:cs typeface="Calibri"/>
              </a:rPr>
              <a:t>V-I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characteristics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9996" y="679703"/>
            <a:ext cx="39808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Basics</a:t>
            </a:r>
            <a:r>
              <a:rPr spc="-114" dirty="0"/>
              <a:t> </a:t>
            </a:r>
            <a:r>
              <a:rPr spc="-85" dirty="0"/>
              <a:t>of</a:t>
            </a:r>
            <a:r>
              <a:rPr spc="-105" dirty="0"/>
              <a:t> </a:t>
            </a:r>
            <a:r>
              <a:rPr spc="35" dirty="0"/>
              <a:t>Diode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2204" y="1304544"/>
            <a:ext cx="10153650" cy="5220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4655" indent="-402590" algn="just">
              <a:lnSpc>
                <a:spcPts val="3654"/>
              </a:lnSpc>
              <a:spcBef>
                <a:spcPts val="95"/>
              </a:spcBef>
              <a:buFont typeface="Arial MT"/>
              <a:buChar char="•"/>
              <a:tabLst>
                <a:tab pos="415290" algn="l"/>
              </a:tabLst>
            </a:pPr>
            <a:r>
              <a:rPr sz="3050" b="1" spc="-10" dirty="0">
                <a:latin typeface="Calibri"/>
                <a:cs typeface="Calibri"/>
              </a:rPr>
              <a:t>What</a:t>
            </a:r>
            <a:r>
              <a:rPr sz="3050" b="1" spc="-20" dirty="0">
                <a:latin typeface="Calibri"/>
                <a:cs typeface="Calibri"/>
              </a:rPr>
              <a:t> </a:t>
            </a:r>
            <a:r>
              <a:rPr sz="3050" b="1" spc="-5" dirty="0">
                <a:latin typeface="Calibri"/>
                <a:cs typeface="Calibri"/>
              </a:rPr>
              <a:t>is</a:t>
            </a:r>
            <a:r>
              <a:rPr sz="3050" b="1" spc="-30" dirty="0">
                <a:latin typeface="Calibri"/>
                <a:cs typeface="Calibri"/>
              </a:rPr>
              <a:t> </a:t>
            </a:r>
            <a:r>
              <a:rPr sz="3050" b="1" spc="-5" dirty="0">
                <a:latin typeface="Calibri"/>
                <a:cs typeface="Calibri"/>
              </a:rPr>
              <a:t>a</a:t>
            </a:r>
            <a:r>
              <a:rPr sz="3050" b="1" spc="-35" dirty="0">
                <a:latin typeface="Calibri"/>
                <a:cs typeface="Calibri"/>
              </a:rPr>
              <a:t> </a:t>
            </a:r>
            <a:r>
              <a:rPr sz="3050" b="1" spc="-5" dirty="0">
                <a:latin typeface="Calibri"/>
                <a:cs typeface="Calibri"/>
              </a:rPr>
              <a:t>Diode?</a:t>
            </a:r>
            <a:endParaRPr sz="3050">
              <a:latin typeface="Calibri"/>
              <a:cs typeface="Calibri"/>
            </a:endParaRPr>
          </a:p>
          <a:p>
            <a:pPr marL="881380" marR="5080" lvl="1" indent="-332740" algn="just">
              <a:lnSpc>
                <a:spcPct val="80000"/>
              </a:lnSpc>
              <a:spcBef>
                <a:spcPts val="725"/>
              </a:spcBef>
              <a:buFont typeface="Arial MT"/>
              <a:buChar char="–"/>
              <a:tabLst>
                <a:tab pos="881380" algn="l"/>
              </a:tabLst>
            </a:pPr>
            <a:r>
              <a:rPr sz="3050" spc="-5" dirty="0">
                <a:latin typeface="Calibri"/>
                <a:cs typeface="Calibri"/>
              </a:rPr>
              <a:t>A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Diode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is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a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20" dirty="0">
                <a:latin typeface="Calibri"/>
                <a:cs typeface="Calibri"/>
              </a:rPr>
              <a:t>TWO</a:t>
            </a:r>
            <a:r>
              <a:rPr sz="3050" spc="-15" dirty="0">
                <a:latin typeface="Calibri"/>
                <a:cs typeface="Calibri"/>
              </a:rPr>
              <a:t> </a:t>
            </a:r>
            <a:r>
              <a:rPr sz="3050" spc="-40" dirty="0">
                <a:latin typeface="Calibri"/>
                <a:cs typeface="Calibri"/>
              </a:rPr>
              <a:t>Terminal</a:t>
            </a:r>
            <a:r>
              <a:rPr sz="3050" spc="-3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Device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that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is</a:t>
            </a:r>
            <a:r>
              <a:rPr sz="3050" spc="-10" dirty="0">
                <a:latin typeface="Calibri"/>
                <a:cs typeface="Calibri"/>
              </a:rPr>
              <a:t> capable</a:t>
            </a:r>
            <a:r>
              <a:rPr sz="3050" spc="-5" dirty="0">
                <a:latin typeface="Calibri"/>
                <a:cs typeface="Calibri"/>
              </a:rPr>
              <a:t> of 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conducting</a:t>
            </a:r>
            <a:r>
              <a:rPr sz="3050" spc="-80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the</a:t>
            </a:r>
            <a:r>
              <a:rPr sz="3050" spc="-2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current</a:t>
            </a:r>
            <a:r>
              <a:rPr sz="3050" spc="-35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in</a:t>
            </a:r>
            <a:r>
              <a:rPr sz="3050" spc="1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ONE</a:t>
            </a:r>
            <a:r>
              <a:rPr sz="3050" spc="-2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direction.</a:t>
            </a:r>
            <a:endParaRPr sz="3050">
              <a:latin typeface="Calibri"/>
              <a:cs typeface="Calibri"/>
            </a:endParaRPr>
          </a:p>
          <a:p>
            <a:pPr marL="881380" marR="8890" lvl="1" indent="-332740" algn="just">
              <a:lnSpc>
                <a:spcPts val="3140"/>
              </a:lnSpc>
              <a:spcBef>
                <a:spcPts val="770"/>
              </a:spcBef>
              <a:buFont typeface="Arial MT"/>
              <a:buChar char="–"/>
              <a:tabLst>
                <a:tab pos="881380" algn="l"/>
              </a:tabLst>
            </a:pPr>
            <a:r>
              <a:rPr sz="3250" b="1" i="1" spc="5" dirty="0">
                <a:solidFill>
                  <a:srgbClr val="2B2E33"/>
                </a:solidFill>
                <a:latin typeface="Calibri"/>
                <a:cs typeface="Calibri"/>
              </a:rPr>
              <a:t>“Di </a:t>
            </a:r>
            <a:r>
              <a:rPr sz="3250" b="1" i="1" dirty="0">
                <a:solidFill>
                  <a:srgbClr val="2B2E33"/>
                </a:solidFill>
                <a:latin typeface="Calibri"/>
                <a:cs typeface="Calibri"/>
              </a:rPr>
              <a:t>“=</a:t>
            </a:r>
            <a:r>
              <a:rPr sz="3250" b="1" i="1" spc="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b="1" i="1" spc="-15" dirty="0">
                <a:solidFill>
                  <a:srgbClr val="2B2E33"/>
                </a:solidFill>
                <a:latin typeface="Calibri"/>
                <a:cs typeface="Calibri"/>
              </a:rPr>
              <a:t>Two</a:t>
            </a:r>
            <a:r>
              <a:rPr sz="3250" i="1" spc="-15" dirty="0">
                <a:solidFill>
                  <a:srgbClr val="2B2E33"/>
                </a:solidFill>
                <a:latin typeface="Calibri"/>
                <a:cs typeface="Calibri"/>
              </a:rPr>
              <a:t>,</a:t>
            </a:r>
            <a:r>
              <a:rPr sz="3250" i="1" spc="-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i="1" spc="5" dirty="0">
                <a:solidFill>
                  <a:srgbClr val="2B2E33"/>
                </a:solidFill>
                <a:latin typeface="Calibri"/>
                <a:cs typeface="Calibri"/>
              </a:rPr>
              <a:t>and</a:t>
            </a:r>
            <a:r>
              <a:rPr sz="3250" i="1" spc="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i="1" spc="5" dirty="0">
                <a:solidFill>
                  <a:srgbClr val="2B2E33"/>
                </a:solidFill>
                <a:latin typeface="Calibri"/>
                <a:cs typeface="Calibri"/>
              </a:rPr>
              <a:t>“</a:t>
            </a:r>
            <a:r>
              <a:rPr sz="3250" b="1" i="1" spc="5" dirty="0">
                <a:solidFill>
                  <a:srgbClr val="2B2E33"/>
                </a:solidFill>
                <a:latin typeface="Calibri"/>
                <a:cs typeface="Calibri"/>
              </a:rPr>
              <a:t>Ode </a:t>
            </a:r>
            <a:r>
              <a:rPr sz="3250" b="1" i="1" spc="10" dirty="0">
                <a:solidFill>
                  <a:srgbClr val="2B2E33"/>
                </a:solidFill>
                <a:latin typeface="Calibri"/>
                <a:cs typeface="Calibri"/>
              </a:rPr>
              <a:t>“= </a:t>
            </a:r>
            <a:r>
              <a:rPr sz="3250" b="1" i="1" spc="5" dirty="0">
                <a:solidFill>
                  <a:srgbClr val="2B2E33"/>
                </a:solidFill>
                <a:latin typeface="Calibri"/>
                <a:cs typeface="Calibri"/>
              </a:rPr>
              <a:t>Electrodes </a:t>
            </a:r>
            <a:r>
              <a:rPr sz="3250" i="1" spc="-5" dirty="0">
                <a:solidFill>
                  <a:srgbClr val="2B2E33"/>
                </a:solidFill>
                <a:latin typeface="Calibri"/>
                <a:cs typeface="Calibri"/>
              </a:rPr>
              <a:t>i.e</a:t>
            </a:r>
            <a:r>
              <a:rPr sz="3250" i="1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i="1" spc="5" dirty="0">
                <a:solidFill>
                  <a:srgbClr val="2B2E33"/>
                </a:solidFill>
                <a:latin typeface="Calibri"/>
                <a:cs typeface="Calibri"/>
              </a:rPr>
              <a:t>a </a:t>
            </a:r>
            <a:r>
              <a:rPr sz="3250" i="1" spc="-5" dirty="0">
                <a:solidFill>
                  <a:srgbClr val="2B2E33"/>
                </a:solidFill>
                <a:latin typeface="Calibri"/>
                <a:cs typeface="Calibri"/>
              </a:rPr>
              <a:t>device</a:t>
            </a:r>
            <a:r>
              <a:rPr sz="3250" i="1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i="1" spc="5" dirty="0">
                <a:solidFill>
                  <a:srgbClr val="2B2E33"/>
                </a:solidFill>
                <a:latin typeface="Calibri"/>
                <a:cs typeface="Calibri"/>
              </a:rPr>
              <a:t>or </a:t>
            </a:r>
            <a:r>
              <a:rPr sz="3250" i="1" spc="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i="1" dirty="0">
                <a:solidFill>
                  <a:srgbClr val="2B2E33"/>
                </a:solidFill>
                <a:latin typeface="Calibri"/>
                <a:cs typeface="Calibri"/>
              </a:rPr>
              <a:t>component</a:t>
            </a:r>
            <a:r>
              <a:rPr sz="3250" i="1" spc="71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i="1" spc="5" dirty="0">
                <a:solidFill>
                  <a:srgbClr val="2B2E33"/>
                </a:solidFill>
                <a:latin typeface="Calibri"/>
                <a:cs typeface="Calibri"/>
              </a:rPr>
              <a:t>having</a:t>
            </a:r>
            <a:r>
              <a:rPr sz="3250" i="1" spc="71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i="1" spc="5" dirty="0">
                <a:solidFill>
                  <a:srgbClr val="2B2E33"/>
                </a:solidFill>
                <a:latin typeface="Calibri"/>
                <a:cs typeface="Calibri"/>
              </a:rPr>
              <a:t>two</a:t>
            </a:r>
            <a:r>
              <a:rPr sz="3250" i="1" spc="70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i="1" spc="5" dirty="0">
                <a:solidFill>
                  <a:srgbClr val="2B2E33"/>
                </a:solidFill>
                <a:latin typeface="Calibri"/>
                <a:cs typeface="Calibri"/>
              </a:rPr>
              <a:t>electrodes</a:t>
            </a:r>
            <a:r>
              <a:rPr sz="3250" i="1" spc="73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i="1" dirty="0">
                <a:solidFill>
                  <a:srgbClr val="2B2E33"/>
                </a:solidFill>
                <a:latin typeface="Calibri"/>
                <a:cs typeface="Calibri"/>
              </a:rPr>
              <a:t>viz</a:t>
            </a:r>
            <a:r>
              <a:rPr sz="3250" i="1" spc="7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i="1" spc="5" dirty="0">
                <a:solidFill>
                  <a:srgbClr val="2B2E33"/>
                </a:solidFill>
                <a:latin typeface="Calibri"/>
                <a:cs typeface="Calibri"/>
              </a:rPr>
              <a:t>Anode</a:t>
            </a:r>
            <a:r>
              <a:rPr sz="3250" i="1" spc="74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i="1" spc="5" dirty="0">
                <a:solidFill>
                  <a:srgbClr val="2B2E33"/>
                </a:solidFill>
                <a:latin typeface="Calibri"/>
                <a:cs typeface="Calibri"/>
              </a:rPr>
              <a:t>“+”</a:t>
            </a:r>
            <a:r>
              <a:rPr sz="3250" i="1" spc="73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i="1" spc="5" dirty="0">
                <a:solidFill>
                  <a:srgbClr val="2B2E33"/>
                </a:solidFill>
                <a:latin typeface="Calibri"/>
                <a:cs typeface="Calibri"/>
              </a:rPr>
              <a:t>(P) </a:t>
            </a:r>
            <a:r>
              <a:rPr sz="3250" i="1" spc="-72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i="1" spc="5" dirty="0">
                <a:solidFill>
                  <a:srgbClr val="2B2E33"/>
                </a:solidFill>
                <a:latin typeface="Calibri"/>
                <a:cs typeface="Calibri"/>
              </a:rPr>
              <a:t>and</a:t>
            </a:r>
            <a:r>
              <a:rPr sz="3250" i="1" spc="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i="1" spc="5" dirty="0">
                <a:solidFill>
                  <a:srgbClr val="2B2E33"/>
                </a:solidFill>
                <a:latin typeface="Calibri"/>
                <a:cs typeface="Calibri"/>
              </a:rPr>
              <a:t>Cathode</a:t>
            </a:r>
            <a:r>
              <a:rPr sz="3250" i="1" spc="4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i="1" spc="5" dirty="0">
                <a:solidFill>
                  <a:srgbClr val="2B2E33"/>
                </a:solidFill>
                <a:latin typeface="Calibri"/>
                <a:cs typeface="Calibri"/>
              </a:rPr>
              <a:t>“-”</a:t>
            </a:r>
            <a:r>
              <a:rPr sz="3250" i="1" spc="3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i="1" dirty="0">
                <a:solidFill>
                  <a:srgbClr val="2B2E33"/>
                </a:solidFill>
                <a:latin typeface="Calibri"/>
                <a:cs typeface="Calibri"/>
              </a:rPr>
              <a:t>(N).</a:t>
            </a:r>
            <a:endParaRPr sz="3250">
              <a:latin typeface="Calibri"/>
              <a:cs typeface="Calibri"/>
            </a:endParaRPr>
          </a:p>
          <a:p>
            <a:pPr marL="414655" indent="-402590" algn="just">
              <a:lnSpc>
                <a:spcPts val="3654"/>
              </a:lnSpc>
              <a:spcBef>
                <a:spcPts val="25"/>
              </a:spcBef>
              <a:buFont typeface="Arial MT"/>
              <a:buChar char="•"/>
              <a:tabLst>
                <a:tab pos="415290" algn="l"/>
              </a:tabLst>
            </a:pPr>
            <a:r>
              <a:rPr sz="3050" b="1" spc="-10" dirty="0">
                <a:latin typeface="Calibri"/>
                <a:cs typeface="Calibri"/>
              </a:rPr>
              <a:t>What</a:t>
            </a:r>
            <a:r>
              <a:rPr sz="3050" b="1" dirty="0">
                <a:latin typeface="Calibri"/>
                <a:cs typeface="Calibri"/>
              </a:rPr>
              <a:t> </a:t>
            </a:r>
            <a:r>
              <a:rPr sz="3050" b="1" spc="-15" dirty="0">
                <a:latin typeface="Calibri"/>
                <a:cs typeface="Calibri"/>
              </a:rPr>
              <a:t>material</a:t>
            </a:r>
            <a:r>
              <a:rPr sz="3050" b="1" spc="-25" dirty="0">
                <a:latin typeface="Calibri"/>
                <a:cs typeface="Calibri"/>
              </a:rPr>
              <a:t> </a:t>
            </a:r>
            <a:r>
              <a:rPr sz="3050" b="1" spc="-5" dirty="0">
                <a:latin typeface="Calibri"/>
                <a:cs typeface="Calibri"/>
              </a:rPr>
              <a:t>is</a:t>
            </a:r>
            <a:r>
              <a:rPr sz="3050" b="1" spc="-15" dirty="0">
                <a:latin typeface="Calibri"/>
                <a:cs typeface="Calibri"/>
              </a:rPr>
              <a:t> </a:t>
            </a:r>
            <a:r>
              <a:rPr sz="3050" b="1" spc="-5" dirty="0">
                <a:latin typeface="Calibri"/>
                <a:cs typeface="Calibri"/>
              </a:rPr>
              <a:t>used</a:t>
            </a:r>
            <a:r>
              <a:rPr sz="3050" b="1" spc="10" dirty="0">
                <a:latin typeface="Calibri"/>
                <a:cs typeface="Calibri"/>
              </a:rPr>
              <a:t> </a:t>
            </a:r>
            <a:r>
              <a:rPr sz="3050" b="1" spc="-15" dirty="0">
                <a:latin typeface="Calibri"/>
                <a:cs typeface="Calibri"/>
              </a:rPr>
              <a:t>to</a:t>
            </a:r>
            <a:r>
              <a:rPr sz="3050" b="1" dirty="0">
                <a:latin typeface="Calibri"/>
                <a:cs typeface="Calibri"/>
              </a:rPr>
              <a:t> </a:t>
            </a:r>
            <a:r>
              <a:rPr sz="3050" b="1" spc="-25" dirty="0">
                <a:latin typeface="Calibri"/>
                <a:cs typeface="Calibri"/>
              </a:rPr>
              <a:t>make</a:t>
            </a:r>
            <a:r>
              <a:rPr sz="3050" b="1" spc="-45" dirty="0">
                <a:latin typeface="Calibri"/>
                <a:cs typeface="Calibri"/>
              </a:rPr>
              <a:t> </a:t>
            </a:r>
            <a:r>
              <a:rPr sz="3050" b="1" spc="-5" dirty="0">
                <a:latin typeface="Calibri"/>
                <a:cs typeface="Calibri"/>
              </a:rPr>
              <a:t>the</a:t>
            </a:r>
            <a:r>
              <a:rPr sz="3050" b="1" spc="10" dirty="0">
                <a:latin typeface="Calibri"/>
                <a:cs typeface="Calibri"/>
              </a:rPr>
              <a:t> </a:t>
            </a:r>
            <a:r>
              <a:rPr sz="3050" b="1" spc="-10" dirty="0">
                <a:latin typeface="Calibri"/>
                <a:cs typeface="Calibri"/>
              </a:rPr>
              <a:t>diode?</a:t>
            </a:r>
            <a:endParaRPr sz="3050">
              <a:latin typeface="Calibri"/>
              <a:cs typeface="Calibri"/>
            </a:endParaRPr>
          </a:p>
          <a:p>
            <a:pPr marL="881380" lvl="1" indent="-332740" algn="just">
              <a:lnSpc>
                <a:spcPts val="3650"/>
              </a:lnSpc>
              <a:buFont typeface="Arial MT"/>
              <a:buChar char="–"/>
              <a:tabLst>
                <a:tab pos="881380" algn="l"/>
              </a:tabLst>
            </a:pPr>
            <a:r>
              <a:rPr sz="3050" spc="-5" dirty="0">
                <a:latin typeface="Calibri"/>
                <a:cs typeface="Calibri"/>
              </a:rPr>
              <a:t>Silicon,</a:t>
            </a:r>
            <a:r>
              <a:rPr sz="3050" spc="-2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Germanium</a:t>
            </a:r>
            <a:r>
              <a:rPr sz="3050" spc="-60" dirty="0">
                <a:latin typeface="Calibri"/>
                <a:cs typeface="Calibri"/>
              </a:rPr>
              <a:t> </a:t>
            </a:r>
            <a:r>
              <a:rPr sz="3050" spc="-20" dirty="0">
                <a:latin typeface="Calibri"/>
                <a:cs typeface="Calibri"/>
              </a:rPr>
              <a:t>etc…</a:t>
            </a:r>
            <a:endParaRPr sz="3050">
              <a:latin typeface="Calibri"/>
              <a:cs typeface="Calibri"/>
            </a:endParaRPr>
          </a:p>
          <a:p>
            <a:pPr marL="414655" indent="-402590" algn="just">
              <a:lnSpc>
                <a:spcPts val="3650"/>
              </a:lnSpc>
              <a:buFont typeface="Arial MT"/>
              <a:buChar char="•"/>
              <a:tabLst>
                <a:tab pos="415290" algn="l"/>
              </a:tabLst>
            </a:pPr>
            <a:r>
              <a:rPr sz="3050" b="1" spc="-10" dirty="0">
                <a:latin typeface="Calibri"/>
                <a:cs typeface="Calibri"/>
              </a:rPr>
              <a:t>How</a:t>
            </a:r>
            <a:r>
              <a:rPr sz="3050" b="1" spc="-20" dirty="0">
                <a:latin typeface="Calibri"/>
                <a:cs typeface="Calibri"/>
              </a:rPr>
              <a:t> </a:t>
            </a:r>
            <a:r>
              <a:rPr sz="3050" b="1" spc="-15" dirty="0">
                <a:latin typeface="Calibri"/>
                <a:cs typeface="Calibri"/>
              </a:rPr>
              <a:t>to</a:t>
            </a:r>
            <a:r>
              <a:rPr sz="3050" b="1" spc="-30" dirty="0">
                <a:latin typeface="Calibri"/>
                <a:cs typeface="Calibri"/>
              </a:rPr>
              <a:t> </a:t>
            </a:r>
            <a:r>
              <a:rPr sz="3050" b="1" spc="-20" dirty="0">
                <a:latin typeface="Calibri"/>
                <a:cs typeface="Calibri"/>
              </a:rPr>
              <a:t>get</a:t>
            </a:r>
            <a:r>
              <a:rPr sz="3050" b="1" spc="15" dirty="0">
                <a:latin typeface="Calibri"/>
                <a:cs typeface="Calibri"/>
              </a:rPr>
              <a:t> </a:t>
            </a:r>
            <a:r>
              <a:rPr sz="3050" b="1" spc="-5" dirty="0">
                <a:latin typeface="Calibri"/>
                <a:cs typeface="Calibri"/>
              </a:rPr>
              <a:t>a</a:t>
            </a:r>
            <a:r>
              <a:rPr sz="3050" b="1" spc="-20" dirty="0">
                <a:latin typeface="Calibri"/>
                <a:cs typeface="Calibri"/>
              </a:rPr>
              <a:t> </a:t>
            </a:r>
            <a:r>
              <a:rPr sz="3050" b="1" dirty="0">
                <a:latin typeface="Calibri"/>
                <a:cs typeface="Calibri"/>
              </a:rPr>
              <a:t>P-</a:t>
            </a:r>
            <a:r>
              <a:rPr sz="3050" b="1" spc="-25" dirty="0">
                <a:latin typeface="Calibri"/>
                <a:cs typeface="Calibri"/>
              </a:rPr>
              <a:t> </a:t>
            </a:r>
            <a:r>
              <a:rPr sz="3050" b="1" spc="-30" dirty="0">
                <a:latin typeface="Calibri"/>
                <a:cs typeface="Calibri"/>
              </a:rPr>
              <a:t>Type</a:t>
            </a:r>
            <a:r>
              <a:rPr sz="3050" b="1" dirty="0">
                <a:latin typeface="Calibri"/>
                <a:cs typeface="Calibri"/>
              </a:rPr>
              <a:t> </a:t>
            </a:r>
            <a:r>
              <a:rPr sz="3050" b="1" spc="-10" dirty="0">
                <a:latin typeface="Calibri"/>
                <a:cs typeface="Calibri"/>
              </a:rPr>
              <a:t>Material?</a:t>
            </a:r>
            <a:endParaRPr sz="3050">
              <a:latin typeface="Calibri"/>
              <a:cs typeface="Calibri"/>
            </a:endParaRPr>
          </a:p>
          <a:p>
            <a:pPr marL="881380" marR="5080" lvl="1" indent="-332740" algn="just">
              <a:lnSpc>
                <a:spcPts val="2930"/>
              </a:lnSpc>
              <a:spcBef>
                <a:spcPts val="700"/>
              </a:spcBef>
              <a:buFont typeface="Arial MT"/>
              <a:buChar char="–"/>
              <a:tabLst>
                <a:tab pos="881380" algn="l"/>
              </a:tabLst>
            </a:pPr>
            <a:r>
              <a:rPr sz="3050" spc="-5" dirty="0">
                <a:latin typeface="Calibri"/>
                <a:cs typeface="Calibri"/>
              </a:rPr>
              <a:t>A </a:t>
            </a:r>
            <a:r>
              <a:rPr sz="3050" spc="-10" dirty="0">
                <a:latin typeface="Calibri"/>
                <a:cs typeface="Calibri"/>
              </a:rPr>
              <a:t>semiconductor </a:t>
            </a:r>
            <a:r>
              <a:rPr sz="3050" spc="-20" dirty="0">
                <a:latin typeface="Calibri"/>
                <a:cs typeface="Calibri"/>
              </a:rPr>
              <a:t>may </a:t>
            </a:r>
            <a:r>
              <a:rPr sz="3050" dirty="0">
                <a:latin typeface="Calibri"/>
                <a:cs typeface="Calibri"/>
              </a:rPr>
              <a:t>be </a:t>
            </a:r>
            <a:r>
              <a:rPr sz="3050" spc="-10" dirty="0">
                <a:latin typeface="Calibri"/>
                <a:cs typeface="Calibri"/>
              </a:rPr>
              <a:t>doped with acceptor </a:t>
            </a:r>
            <a:r>
              <a:rPr sz="3050" spc="-5" dirty="0">
                <a:latin typeface="Calibri"/>
                <a:cs typeface="Calibri"/>
              </a:rPr>
              <a:t>impurities 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such </a:t>
            </a:r>
            <a:r>
              <a:rPr sz="3050" spc="-15" dirty="0">
                <a:latin typeface="Calibri"/>
                <a:cs typeface="Calibri"/>
              </a:rPr>
              <a:t>as Boron, </a:t>
            </a:r>
            <a:r>
              <a:rPr sz="3050" spc="-10" dirty="0">
                <a:latin typeface="Calibri"/>
                <a:cs typeface="Calibri"/>
              </a:rPr>
              <a:t>Indium, </a:t>
            </a:r>
            <a:r>
              <a:rPr sz="3050" spc="-5" dirty="0">
                <a:latin typeface="Calibri"/>
                <a:cs typeface="Calibri"/>
              </a:rPr>
              <a:t>aluminium </a:t>
            </a:r>
            <a:r>
              <a:rPr sz="3050" spc="-10" dirty="0">
                <a:latin typeface="Calibri"/>
                <a:cs typeface="Calibri"/>
              </a:rPr>
              <a:t>(P-type </a:t>
            </a:r>
            <a:r>
              <a:rPr sz="3050" spc="-5" dirty="0">
                <a:latin typeface="Calibri"/>
                <a:cs typeface="Calibri"/>
              </a:rPr>
              <a:t>doping), </a:t>
            </a:r>
            <a:r>
              <a:rPr sz="3050" dirty="0">
                <a:latin typeface="Calibri"/>
                <a:cs typeface="Calibri"/>
              </a:rPr>
              <a:t>so </a:t>
            </a:r>
            <a:r>
              <a:rPr sz="3050" spc="-15" dirty="0">
                <a:latin typeface="Calibri"/>
                <a:cs typeface="Calibri"/>
              </a:rPr>
              <a:t>that 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it</a:t>
            </a:r>
            <a:r>
              <a:rPr sz="3050" spc="15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contains</a:t>
            </a:r>
            <a:r>
              <a:rPr sz="3050" spc="-6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mobile </a:t>
            </a:r>
            <a:r>
              <a:rPr sz="3050" spc="-15" dirty="0">
                <a:latin typeface="Calibri"/>
                <a:cs typeface="Calibri"/>
              </a:rPr>
              <a:t>charges</a:t>
            </a:r>
            <a:r>
              <a:rPr sz="3050" spc="-30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which</a:t>
            </a:r>
            <a:r>
              <a:rPr sz="3050" spc="-35" dirty="0">
                <a:latin typeface="Calibri"/>
                <a:cs typeface="Calibri"/>
              </a:rPr>
              <a:t> </a:t>
            </a:r>
            <a:r>
              <a:rPr sz="3050" spc="-20" dirty="0">
                <a:latin typeface="Calibri"/>
                <a:cs typeface="Calibri"/>
              </a:rPr>
              <a:t>are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mainly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holes.</a:t>
            </a:r>
            <a:endParaRPr sz="3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980" y="1289913"/>
            <a:ext cx="10507345" cy="501523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 algn="just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b="1" spc="5" dirty="0">
                <a:latin typeface="Calibri"/>
                <a:cs typeface="Calibri"/>
              </a:rPr>
              <a:t>How</a:t>
            </a:r>
            <a:r>
              <a:rPr sz="3250" b="1" spc="15" dirty="0">
                <a:latin typeface="Calibri"/>
                <a:cs typeface="Calibri"/>
              </a:rPr>
              <a:t> </a:t>
            </a:r>
            <a:r>
              <a:rPr sz="3250" b="1" spc="-10" dirty="0">
                <a:latin typeface="Calibri"/>
                <a:cs typeface="Calibri"/>
              </a:rPr>
              <a:t>to </a:t>
            </a:r>
            <a:r>
              <a:rPr sz="3250" b="1" spc="-20" dirty="0">
                <a:latin typeface="Calibri"/>
                <a:cs typeface="Calibri"/>
              </a:rPr>
              <a:t>get</a:t>
            </a:r>
            <a:r>
              <a:rPr sz="3250" b="1" spc="40" dirty="0">
                <a:latin typeface="Calibri"/>
                <a:cs typeface="Calibri"/>
              </a:rPr>
              <a:t> </a:t>
            </a:r>
            <a:r>
              <a:rPr sz="3250" b="1" spc="5" dirty="0">
                <a:latin typeface="Calibri"/>
                <a:cs typeface="Calibri"/>
              </a:rPr>
              <a:t>a</a:t>
            </a:r>
            <a:r>
              <a:rPr sz="3250" b="1" spc="-10" dirty="0">
                <a:latin typeface="Calibri"/>
                <a:cs typeface="Calibri"/>
              </a:rPr>
              <a:t> </a:t>
            </a:r>
            <a:r>
              <a:rPr sz="3250" b="1" spc="5" dirty="0">
                <a:latin typeface="Calibri"/>
                <a:cs typeface="Calibri"/>
              </a:rPr>
              <a:t>N-type</a:t>
            </a:r>
            <a:r>
              <a:rPr sz="3250" b="1" spc="55" dirty="0">
                <a:latin typeface="Calibri"/>
                <a:cs typeface="Calibri"/>
              </a:rPr>
              <a:t> </a:t>
            </a:r>
            <a:r>
              <a:rPr sz="3250" b="1" spc="-10" dirty="0">
                <a:latin typeface="Calibri"/>
                <a:cs typeface="Calibri"/>
              </a:rPr>
              <a:t>Material?</a:t>
            </a:r>
            <a:endParaRPr sz="3250">
              <a:latin typeface="Calibri"/>
              <a:cs typeface="Calibri"/>
            </a:endParaRPr>
          </a:p>
          <a:p>
            <a:pPr marL="880744" marR="5080" lvl="1" indent="-332740" algn="just">
              <a:lnSpc>
                <a:spcPct val="100899"/>
              </a:lnSpc>
              <a:spcBef>
                <a:spcPts val="770"/>
              </a:spcBef>
              <a:buFont typeface="Arial MT"/>
              <a:buChar char="–"/>
              <a:tabLst>
                <a:tab pos="881380" algn="l"/>
              </a:tabLst>
            </a:pPr>
            <a:r>
              <a:rPr sz="3250" spc="5" dirty="0">
                <a:latin typeface="Calibri"/>
                <a:cs typeface="Calibri"/>
              </a:rPr>
              <a:t>A semiconductor </a:t>
            </a:r>
            <a:r>
              <a:rPr sz="3250" spc="-20" dirty="0">
                <a:latin typeface="Calibri"/>
                <a:cs typeface="Calibri"/>
              </a:rPr>
              <a:t>may </a:t>
            </a:r>
            <a:r>
              <a:rPr sz="3250" dirty="0">
                <a:latin typeface="Calibri"/>
                <a:cs typeface="Calibri"/>
              </a:rPr>
              <a:t>be </a:t>
            </a:r>
            <a:r>
              <a:rPr sz="3250" spc="5" dirty="0">
                <a:latin typeface="Calibri"/>
                <a:cs typeface="Calibri"/>
              </a:rPr>
              <a:t>doped with </a:t>
            </a:r>
            <a:r>
              <a:rPr sz="3250" spc="10" dirty="0">
                <a:latin typeface="Calibri"/>
                <a:cs typeface="Calibri"/>
              </a:rPr>
              <a:t>donor </a:t>
            </a:r>
            <a:r>
              <a:rPr sz="3250" spc="5" dirty="0">
                <a:latin typeface="Calibri"/>
                <a:cs typeface="Calibri"/>
              </a:rPr>
              <a:t>impurities 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such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30" dirty="0">
                <a:latin typeface="Calibri"/>
                <a:cs typeface="Calibri"/>
              </a:rPr>
              <a:t>Antimony,</a:t>
            </a:r>
            <a:r>
              <a:rPr sz="3250" spc="-2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Phosphorous,</a:t>
            </a:r>
            <a:r>
              <a:rPr sz="3250" spc="7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Arsenic</a:t>
            </a:r>
            <a:r>
              <a:rPr sz="3250" spc="73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(N-type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doping),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so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that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it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contains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mobile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charges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which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are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primarily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electrons.</a:t>
            </a:r>
            <a:endParaRPr sz="3250">
              <a:latin typeface="Calibri"/>
              <a:cs typeface="Calibri"/>
            </a:endParaRPr>
          </a:p>
          <a:p>
            <a:pPr marL="414655" indent="-402590" algn="just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b="1" spc="-5" dirty="0">
                <a:latin typeface="Calibri"/>
                <a:cs typeface="Calibri"/>
              </a:rPr>
              <a:t>What</a:t>
            </a:r>
            <a:r>
              <a:rPr sz="3250" b="1" spc="50" dirty="0">
                <a:latin typeface="Calibri"/>
                <a:cs typeface="Calibri"/>
              </a:rPr>
              <a:t> </a:t>
            </a:r>
            <a:r>
              <a:rPr sz="3250" b="1" spc="-15" dirty="0">
                <a:latin typeface="Calibri"/>
                <a:cs typeface="Calibri"/>
              </a:rPr>
              <a:t>are</a:t>
            </a:r>
            <a:r>
              <a:rPr sz="3250" b="1" spc="70" dirty="0">
                <a:latin typeface="Calibri"/>
                <a:cs typeface="Calibri"/>
              </a:rPr>
              <a:t> </a:t>
            </a:r>
            <a:r>
              <a:rPr sz="3250" b="1" dirty="0">
                <a:latin typeface="Calibri"/>
                <a:cs typeface="Calibri"/>
              </a:rPr>
              <a:t>mobile</a:t>
            </a:r>
            <a:r>
              <a:rPr sz="3250" b="1" spc="45" dirty="0">
                <a:latin typeface="Calibri"/>
                <a:cs typeface="Calibri"/>
              </a:rPr>
              <a:t> </a:t>
            </a:r>
            <a:r>
              <a:rPr sz="3250" b="1" spc="-15" dirty="0">
                <a:latin typeface="Calibri"/>
                <a:cs typeface="Calibri"/>
              </a:rPr>
              <a:t>charge</a:t>
            </a:r>
            <a:r>
              <a:rPr sz="3250" b="1" spc="75" dirty="0">
                <a:latin typeface="Calibri"/>
                <a:cs typeface="Calibri"/>
              </a:rPr>
              <a:t> </a:t>
            </a:r>
            <a:r>
              <a:rPr sz="3250" b="1" spc="-15" dirty="0">
                <a:latin typeface="Calibri"/>
                <a:cs typeface="Calibri"/>
              </a:rPr>
              <a:t>carriers</a:t>
            </a:r>
            <a:r>
              <a:rPr sz="3250" b="1" spc="125" dirty="0">
                <a:latin typeface="Calibri"/>
                <a:cs typeface="Calibri"/>
              </a:rPr>
              <a:t> </a:t>
            </a:r>
            <a:r>
              <a:rPr sz="3250" b="1" dirty="0">
                <a:latin typeface="Calibri"/>
                <a:cs typeface="Calibri"/>
              </a:rPr>
              <a:t>in</a:t>
            </a:r>
            <a:r>
              <a:rPr sz="3250" b="1" spc="30" dirty="0">
                <a:latin typeface="Calibri"/>
                <a:cs typeface="Calibri"/>
              </a:rPr>
              <a:t> </a:t>
            </a:r>
            <a:r>
              <a:rPr sz="3250" b="1" spc="-5" dirty="0">
                <a:latin typeface="Calibri"/>
                <a:cs typeface="Calibri"/>
              </a:rPr>
              <a:t>Semiconductors?</a:t>
            </a:r>
            <a:endParaRPr sz="3250">
              <a:latin typeface="Calibri"/>
              <a:cs typeface="Calibri"/>
            </a:endParaRPr>
          </a:p>
          <a:p>
            <a:pPr marL="881380" lvl="1" indent="-332740" algn="just">
              <a:lnSpc>
                <a:spcPct val="100000"/>
              </a:lnSpc>
              <a:spcBef>
                <a:spcPts val="825"/>
              </a:spcBef>
              <a:buFont typeface="Arial MT"/>
              <a:buChar char="–"/>
              <a:tabLst>
                <a:tab pos="881380" algn="l"/>
              </a:tabLst>
            </a:pPr>
            <a:r>
              <a:rPr sz="3250" spc="5" dirty="0">
                <a:latin typeface="Calibri"/>
                <a:cs typeface="Calibri"/>
              </a:rPr>
              <a:t>Holes &amp;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Electrons</a:t>
            </a:r>
            <a:endParaRPr sz="3250">
              <a:latin typeface="Calibri"/>
              <a:cs typeface="Calibri"/>
            </a:endParaRPr>
          </a:p>
          <a:p>
            <a:pPr marL="880744" marR="889635" lvl="1" indent="-332740" algn="just">
              <a:lnSpc>
                <a:spcPct val="100899"/>
              </a:lnSpc>
              <a:spcBef>
                <a:spcPts val="770"/>
              </a:spcBef>
              <a:buFont typeface="Arial MT"/>
              <a:buChar char="–"/>
              <a:tabLst>
                <a:tab pos="881380" algn="l"/>
              </a:tabLst>
            </a:pPr>
            <a:r>
              <a:rPr sz="3250" dirty="0">
                <a:latin typeface="Calibri"/>
                <a:cs typeface="Calibri"/>
              </a:rPr>
              <a:t>The holes </a:t>
            </a:r>
            <a:r>
              <a:rPr sz="3250" spc="-20" dirty="0">
                <a:latin typeface="Calibri"/>
                <a:cs typeface="Calibri"/>
              </a:rPr>
              <a:t>are </a:t>
            </a:r>
            <a:r>
              <a:rPr sz="3250" spc="-5" dirty="0">
                <a:latin typeface="Calibri"/>
                <a:cs typeface="Calibri"/>
              </a:rPr>
              <a:t>positively </a:t>
            </a:r>
            <a:r>
              <a:rPr sz="3250" spc="-10" dirty="0">
                <a:latin typeface="Calibri"/>
                <a:cs typeface="Calibri"/>
              </a:rPr>
              <a:t>charged </a:t>
            </a:r>
            <a:r>
              <a:rPr sz="3250" dirty="0">
                <a:latin typeface="Calibri"/>
                <a:cs typeface="Calibri"/>
              </a:rPr>
              <a:t>while the electrons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negatively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charged.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594" y="1289913"/>
            <a:ext cx="9796780" cy="441769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 algn="just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-5" dirty="0">
                <a:solidFill>
                  <a:srgbClr val="2B2E33"/>
                </a:solidFill>
                <a:latin typeface="Calibri"/>
                <a:cs typeface="Calibri"/>
              </a:rPr>
              <a:t>Intrinsic</a:t>
            </a:r>
            <a:r>
              <a:rPr sz="3250" spc="7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and</a:t>
            </a:r>
            <a:r>
              <a:rPr sz="3250" spc="3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Extrinsic</a:t>
            </a:r>
            <a:r>
              <a:rPr sz="3250" spc="7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-25" dirty="0">
                <a:solidFill>
                  <a:srgbClr val="2B2E33"/>
                </a:solidFill>
                <a:latin typeface="Calibri"/>
                <a:cs typeface="Calibri"/>
              </a:rPr>
              <a:t>semiconductor.</a:t>
            </a:r>
            <a:endParaRPr sz="3250">
              <a:latin typeface="Calibri"/>
              <a:cs typeface="Calibri"/>
            </a:endParaRPr>
          </a:p>
          <a:p>
            <a:pPr marL="414655" marR="6985" indent="-402590" algn="just">
              <a:lnSpc>
                <a:spcPct val="100899"/>
              </a:lnSpc>
              <a:spcBef>
                <a:spcPts val="77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An </a:t>
            </a:r>
            <a:r>
              <a:rPr sz="3250" b="1" u="heavy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intrinsic </a:t>
            </a:r>
            <a:r>
              <a:rPr sz="3250" b="1" u="heavy" spc="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semiconductor</a:t>
            </a:r>
            <a:r>
              <a:rPr sz="3250" b="1" spc="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10" dirty="0">
                <a:solidFill>
                  <a:srgbClr val="2B2E33"/>
                </a:solidFill>
                <a:latin typeface="Calibri"/>
                <a:cs typeface="Calibri"/>
              </a:rPr>
              <a:t>is </a:t>
            </a: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a </a:t>
            </a:r>
            <a:r>
              <a:rPr sz="3250" spc="-5" dirty="0">
                <a:solidFill>
                  <a:srgbClr val="2B2E33"/>
                </a:solidFill>
                <a:latin typeface="Calibri"/>
                <a:cs typeface="Calibri"/>
              </a:rPr>
              <a:t>pure </a:t>
            </a: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semiconductor </a:t>
            </a:r>
            <a:r>
              <a:rPr sz="3250" spc="10" dirty="0">
                <a:solidFill>
                  <a:srgbClr val="2B2E33"/>
                </a:solidFill>
                <a:latin typeface="Calibri"/>
                <a:cs typeface="Calibri"/>
              </a:rPr>
              <a:t>in </a:t>
            </a:r>
            <a:r>
              <a:rPr sz="3250" spc="1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which</a:t>
            </a:r>
            <a:r>
              <a:rPr sz="3250" spc="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hole</a:t>
            </a: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 and</a:t>
            </a:r>
            <a:r>
              <a:rPr sz="3250" spc="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2B2E33"/>
                </a:solidFill>
                <a:latin typeface="Calibri"/>
                <a:cs typeface="Calibri"/>
              </a:rPr>
              <a:t>electrons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-20" dirty="0">
                <a:solidFill>
                  <a:srgbClr val="2B2E33"/>
                </a:solidFill>
                <a:latin typeface="Calibri"/>
                <a:cs typeface="Calibri"/>
              </a:rPr>
              <a:t>are</a:t>
            </a:r>
            <a:r>
              <a:rPr sz="3250" spc="-1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2B2E33"/>
                </a:solidFill>
                <a:latin typeface="Calibri"/>
                <a:cs typeface="Calibri"/>
              </a:rPr>
              <a:t>available</a:t>
            </a:r>
            <a:r>
              <a:rPr sz="3250" spc="-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in</a:t>
            </a:r>
            <a:r>
              <a:rPr sz="3250" spc="73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equal </a:t>
            </a:r>
            <a:r>
              <a:rPr sz="3250" spc="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2B2E33"/>
                </a:solidFill>
                <a:latin typeface="Calibri"/>
                <a:cs typeface="Calibri"/>
              </a:rPr>
              <a:t>numbers</a:t>
            </a:r>
            <a:r>
              <a:rPr sz="3250" spc="6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2B2E33"/>
                </a:solidFill>
                <a:latin typeface="Calibri"/>
                <a:cs typeface="Calibri"/>
              </a:rPr>
              <a:t>at</a:t>
            </a:r>
            <a:r>
              <a:rPr sz="3250" spc="1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2B2E33"/>
                </a:solidFill>
                <a:latin typeface="Calibri"/>
                <a:cs typeface="Calibri"/>
              </a:rPr>
              <a:t>room</a:t>
            </a:r>
            <a:r>
              <a:rPr sz="3250" spc="2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2B2E33"/>
                </a:solidFill>
                <a:latin typeface="Calibri"/>
                <a:cs typeface="Calibri"/>
              </a:rPr>
              <a:t>temperature.</a:t>
            </a:r>
            <a:endParaRPr sz="3250">
              <a:latin typeface="Calibri"/>
              <a:cs typeface="Calibri"/>
            </a:endParaRPr>
          </a:p>
          <a:p>
            <a:pPr marL="414655" marR="5080" indent="-402590" algn="just">
              <a:lnSpc>
                <a:spcPct val="100899"/>
              </a:lnSpc>
              <a:spcBef>
                <a:spcPts val="77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-5" dirty="0">
                <a:solidFill>
                  <a:srgbClr val="2B2E33"/>
                </a:solidFill>
                <a:latin typeface="Calibri"/>
                <a:cs typeface="Calibri"/>
              </a:rPr>
              <a:t>In </a:t>
            </a:r>
            <a:r>
              <a:rPr sz="3250" spc="10" dirty="0">
                <a:solidFill>
                  <a:srgbClr val="2B2E33"/>
                </a:solidFill>
                <a:latin typeface="Calibri"/>
                <a:cs typeface="Calibri"/>
              </a:rPr>
              <a:t>an </a:t>
            </a:r>
            <a:r>
              <a:rPr sz="3250" b="1" u="heavy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extrinsic </a:t>
            </a:r>
            <a:r>
              <a:rPr sz="3250" b="1" u="heavy" spc="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semiconductor</a:t>
            </a: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, impurities </a:t>
            </a:r>
            <a:r>
              <a:rPr sz="3250" spc="-20" dirty="0">
                <a:solidFill>
                  <a:srgbClr val="2B2E33"/>
                </a:solidFill>
                <a:latin typeface="Calibri"/>
                <a:cs typeface="Calibri"/>
              </a:rPr>
              <a:t>are </a:t>
            </a:r>
            <a:r>
              <a:rPr sz="3250" spc="15" dirty="0">
                <a:solidFill>
                  <a:srgbClr val="2B2E33"/>
                </a:solidFill>
                <a:latin typeface="Calibri"/>
                <a:cs typeface="Calibri"/>
              </a:rPr>
              <a:t>added </a:t>
            </a:r>
            <a:r>
              <a:rPr sz="3250" spc="-15" dirty="0">
                <a:solidFill>
                  <a:srgbClr val="2B2E33"/>
                </a:solidFill>
                <a:latin typeface="Calibri"/>
                <a:cs typeface="Calibri"/>
              </a:rPr>
              <a:t>to </a:t>
            </a:r>
            <a:r>
              <a:rPr sz="3250" spc="-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2B2E33"/>
                </a:solidFill>
                <a:latin typeface="Calibri"/>
                <a:cs typeface="Calibri"/>
              </a:rPr>
              <a:t>increase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 the</a:t>
            </a: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 number</a:t>
            </a:r>
            <a:r>
              <a:rPr sz="3250" spc="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of</a:t>
            </a:r>
            <a:r>
              <a:rPr sz="3250" spc="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holes</a:t>
            </a:r>
            <a:r>
              <a:rPr sz="3250" spc="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or</a:t>
            </a:r>
            <a:r>
              <a:rPr sz="3250" spc="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the</a:t>
            </a: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 number</a:t>
            </a:r>
            <a:r>
              <a:rPr sz="3250" spc="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2B2E33"/>
                </a:solidFill>
                <a:latin typeface="Calibri"/>
                <a:cs typeface="Calibri"/>
              </a:rPr>
              <a:t>of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 electrons.</a:t>
            </a:r>
            <a:endParaRPr sz="3250">
              <a:latin typeface="Calibri"/>
              <a:cs typeface="Calibri"/>
            </a:endParaRPr>
          </a:p>
          <a:p>
            <a:pPr marL="414655" indent="-402590" algn="just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5" dirty="0">
                <a:latin typeface="Calibri"/>
                <a:cs typeface="Calibri"/>
              </a:rPr>
              <a:t>A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photodiode</a:t>
            </a:r>
            <a:r>
              <a:rPr sz="3250" spc="8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used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solar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cells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and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photometers.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1865" y="768096"/>
            <a:ext cx="89795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Circuit</a:t>
            </a:r>
            <a:r>
              <a:rPr spc="-60" dirty="0"/>
              <a:t> </a:t>
            </a:r>
            <a:r>
              <a:rPr spc="-75" dirty="0"/>
              <a:t>Symbol</a:t>
            </a:r>
            <a:r>
              <a:rPr spc="60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dirty="0"/>
              <a:t>PN</a:t>
            </a:r>
            <a:r>
              <a:rPr spc="25" dirty="0"/>
              <a:t> </a:t>
            </a:r>
            <a:r>
              <a:rPr spc="-85" dirty="0"/>
              <a:t>Junction</a:t>
            </a:r>
            <a:r>
              <a:rPr spc="-30" dirty="0"/>
              <a:t> </a:t>
            </a:r>
            <a:r>
              <a:rPr spc="35" dirty="0"/>
              <a:t>Diode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5815" y="2853097"/>
            <a:ext cx="5491775" cy="202006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1633" y="679703"/>
            <a:ext cx="79876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Circuit</a:t>
            </a:r>
            <a:r>
              <a:rPr spc="-65" dirty="0"/>
              <a:t> </a:t>
            </a:r>
            <a:r>
              <a:rPr spc="-75" dirty="0"/>
              <a:t>Symbol</a:t>
            </a:r>
            <a:r>
              <a:rPr spc="75" dirty="0"/>
              <a:t> </a:t>
            </a:r>
            <a:r>
              <a:rPr spc="-85" dirty="0"/>
              <a:t>of</a:t>
            </a:r>
            <a:r>
              <a:rPr spc="-50" dirty="0"/>
              <a:t> </a:t>
            </a:r>
            <a:r>
              <a:rPr spc="40" dirty="0"/>
              <a:t>Other</a:t>
            </a:r>
            <a:r>
              <a:rPr spc="55" dirty="0"/>
              <a:t> </a:t>
            </a:r>
            <a:r>
              <a:rPr dirty="0"/>
              <a:t>Diodes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2737" y="1882292"/>
            <a:ext cx="7839293" cy="42337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1265" y="679703"/>
            <a:ext cx="337185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-200" dirty="0"/>
              <a:t>s</a:t>
            </a:r>
            <a:r>
              <a:rPr spc="20" dirty="0"/>
              <a:t>t</a:t>
            </a:r>
            <a:r>
              <a:rPr spc="345" dirty="0"/>
              <a:t>r</a:t>
            </a:r>
            <a:r>
              <a:rPr spc="20" dirty="0"/>
              <a:t>uct</a:t>
            </a:r>
            <a:r>
              <a:rPr spc="160" dirty="0"/>
              <a:t>i</a:t>
            </a:r>
            <a:r>
              <a:rPr spc="-165" dirty="0"/>
              <a:t>o</a:t>
            </a:r>
            <a:r>
              <a:rPr dirty="0"/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594" y="1341119"/>
            <a:ext cx="9798685" cy="48488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414655" marR="5080" indent="-402590" algn="just">
              <a:lnSpc>
                <a:spcPts val="3290"/>
              </a:lnSpc>
              <a:spcBef>
                <a:spcPts val="515"/>
              </a:spcBef>
              <a:buFont typeface="Arial MT"/>
              <a:buChar char="•"/>
              <a:tabLst>
                <a:tab pos="415290" algn="l"/>
              </a:tabLst>
            </a:pP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If 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we 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add </a:t>
            </a:r>
            <a:r>
              <a:rPr sz="3050" b="1" u="heavy" spc="-1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trivalent </a:t>
            </a:r>
            <a:r>
              <a:rPr sz="3050" b="1" u="heavy" spc="-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impurities</a:t>
            </a:r>
            <a:r>
              <a:rPr sz="3050" b="1" spc="-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in </a:t>
            </a:r>
            <a:r>
              <a:rPr sz="3050" b="1" u="heavy" spc="-1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silicon </a:t>
            </a:r>
            <a:r>
              <a:rPr sz="3050" b="1" u="heavy" spc="-10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or germanium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,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a </a:t>
            </a:r>
            <a:r>
              <a:rPr sz="305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20" dirty="0">
                <a:solidFill>
                  <a:srgbClr val="2B2E33"/>
                </a:solidFill>
                <a:latin typeface="Calibri"/>
                <a:cs typeface="Calibri"/>
              </a:rPr>
              <a:t>greater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number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of 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holes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20" dirty="0">
                <a:solidFill>
                  <a:srgbClr val="2B2E33"/>
                </a:solidFill>
                <a:latin typeface="Calibri"/>
                <a:cs typeface="Calibri"/>
              </a:rPr>
              <a:t>are present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and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 it is</a:t>
            </a:r>
            <a:r>
              <a:rPr sz="305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a 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positive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charge.</a:t>
            </a:r>
            <a:r>
              <a:rPr sz="3050" spc="-2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Hence,</a:t>
            </a:r>
            <a:r>
              <a:rPr sz="3050" spc="-4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2B2E33"/>
                </a:solidFill>
                <a:latin typeface="Calibri"/>
                <a:cs typeface="Calibri"/>
              </a:rPr>
              <a:t>this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25" dirty="0">
                <a:solidFill>
                  <a:srgbClr val="2B2E33"/>
                </a:solidFill>
                <a:latin typeface="Calibri"/>
                <a:cs typeface="Calibri"/>
              </a:rPr>
              <a:t>layer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 is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known</a:t>
            </a:r>
            <a:r>
              <a:rPr sz="3050" spc="-3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as </a:t>
            </a:r>
            <a:r>
              <a:rPr sz="3050" dirty="0">
                <a:solidFill>
                  <a:srgbClr val="2B2E33"/>
                </a:solidFill>
                <a:latin typeface="Calibri"/>
                <a:cs typeface="Calibri"/>
              </a:rPr>
              <a:t>the</a:t>
            </a:r>
            <a:r>
              <a:rPr sz="3050" spc="-4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b="1" u="heavy" spc="-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P-type</a:t>
            </a:r>
            <a:r>
              <a:rPr sz="3050" b="1" u="heavy" spc="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 </a:t>
            </a:r>
            <a:r>
              <a:rPr sz="3050" b="1" u="heavy" spc="-1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layer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.</a:t>
            </a:r>
            <a:endParaRPr sz="3050">
              <a:latin typeface="Calibri"/>
              <a:cs typeface="Calibri"/>
            </a:endParaRPr>
          </a:p>
          <a:p>
            <a:pPr marL="414655" marR="5715" indent="-402590" algn="just">
              <a:lnSpc>
                <a:spcPct val="89600"/>
              </a:lnSpc>
              <a:spcBef>
                <a:spcPts val="700"/>
              </a:spcBef>
              <a:buFont typeface="Arial MT"/>
              <a:buChar char="•"/>
              <a:tabLst>
                <a:tab pos="415290" algn="l"/>
              </a:tabLst>
            </a:pP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If</a:t>
            </a:r>
            <a:r>
              <a:rPr sz="3050" spc="24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we</a:t>
            </a:r>
            <a:r>
              <a:rPr sz="3050" spc="24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add</a:t>
            </a:r>
            <a:r>
              <a:rPr sz="3050" spc="25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b="1" u="heavy" spc="-20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pentavalent</a:t>
            </a:r>
            <a:r>
              <a:rPr sz="3050" b="1" u="heavy" spc="26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 </a:t>
            </a:r>
            <a:r>
              <a:rPr sz="3050" b="1" u="heavy" spc="-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impurities</a:t>
            </a:r>
            <a:r>
              <a:rPr sz="3050" b="1" spc="26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in</a:t>
            </a:r>
            <a:r>
              <a:rPr sz="3050" spc="25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b="1" u="heavy" spc="-1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silicon</a:t>
            </a:r>
            <a:r>
              <a:rPr sz="3050" b="1" u="heavy" spc="254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 </a:t>
            </a:r>
            <a:r>
              <a:rPr sz="3050" b="1" u="heavy" spc="-10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or</a:t>
            </a:r>
            <a:r>
              <a:rPr sz="3050" b="1" u="heavy" spc="260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 </a:t>
            </a:r>
            <a:r>
              <a:rPr sz="3050" b="1" u="heavy" spc="-10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germanium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, </a:t>
            </a:r>
            <a:r>
              <a:rPr sz="3050" spc="-67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a</a:t>
            </a:r>
            <a:r>
              <a:rPr sz="305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20" dirty="0">
                <a:solidFill>
                  <a:srgbClr val="2B2E33"/>
                </a:solidFill>
                <a:latin typeface="Calibri"/>
                <a:cs typeface="Calibri"/>
              </a:rPr>
              <a:t>greater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number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 of</a:t>
            </a:r>
            <a:r>
              <a:rPr sz="305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electrons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20" dirty="0">
                <a:solidFill>
                  <a:srgbClr val="2B2E33"/>
                </a:solidFill>
                <a:latin typeface="Calibri"/>
                <a:cs typeface="Calibri"/>
              </a:rPr>
              <a:t>are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20" dirty="0">
                <a:solidFill>
                  <a:srgbClr val="2B2E33"/>
                </a:solidFill>
                <a:latin typeface="Calibri"/>
                <a:cs typeface="Calibri"/>
              </a:rPr>
              <a:t>present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20" dirty="0">
                <a:solidFill>
                  <a:srgbClr val="2B2E33"/>
                </a:solidFill>
                <a:latin typeface="Calibri"/>
                <a:cs typeface="Calibri"/>
              </a:rPr>
              <a:t>and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it</a:t>
            </a:r>
            <a:r>
              <a:rPr sz="305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is</a:t>
            </a:r>
            <a:r>
              <a:rPr sz="305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a </a:t>
            </a:r>
            <a:r>
              <a:rPr sz="305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20" dirty="0">
                <a:solidFill>
                  <a:srgbClr val="2B2E33"/>
                </a:solidFill>
                <a:latin typeface="Calibri"/>
                <a:cs typeface="Calibri"/>
              </a:rPr>
              <a:t>negative 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change. Hence, this </a:t>
            </a:r>
            <a:r>
              <a:rPr sz="3050" spc="-25" dirty="0">
                <a:solidFill>
                  <a:srgbClr val="2B2E33"/>
                </a:solidFill>
                <a:latin typeface="Calibri"/>
                <a:cs typeface="Calibri"/>
              </a:rPr>
              <a:t>layer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is 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known 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as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the </a:t>
            </a:r>
            <a:r>
              <a:rPr sz="3050" b="1" u="heavy" spc="-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N-type </a:t>
            </a:r>
            <a:r>
              <a:rPr sz="3050" b="1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b="1" u="heavy" spc="-1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layer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.</a:t>
            </a:r>
            <a:endParaRPr sz="3050">
              <a:latin typeface="Calibri"/>
              <a:cs typeface="Calibri"/>
            </a:endParaRPr>
          </a:p>
          <a:p>
            <a:pPr marL="414655" marR="5080" indent="-402590" algn="just">
              <a:lnSpc>
                <a:spcPct val="89600"/>
              </a:lnSpc>
              <a:spcBef>
                <a:spcPts val="755"/>
              </a:spcBef>
              <a:buFont typeface="Arial MT"/>
              <a:buChar char="•"/>
              <a:tabLst>
                <a:tab pos="415290" algn="l"/>
              </a:tabLst>
            </a:pPr>
            <a:r>
              <a:rPr sz="3050" dirty="0">
                <a:solidFill>
                  <a:srgbClr val="2B2E33"/>
                </a:solidFill>
                <a:latin typeface="Calibri"/>
                <a:cs typeface="Calibri"/>
              </a:rPr>
              <a:t>The</a:t>
            </a:r>
            <a:r>
              <a:rPr sz="3050" spc="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diode</a:t>
            </a:r>
            <a:r>
              <a:rPr sz="305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is</a:t>
            </a:r>
            <a:r>
              <a:rPr sz="305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20" dirty="0">
                <a:solidFill>
                  <a:srgbClr val="2B2E33"/>
                </a:solidFill>
                <a:latin typeface="Calibri"/>
                <a:cs typeface="Calibri"/>
              </a:rPr>
              <a:t>formed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 by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joining</a:t>
            </a:r>
            <a:r>
              <a:rPr sz="305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both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 N-type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and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P-type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semiconductors </a:t>
            </a:r>
            <a:r>
              <a:rPr sz="3050" spc="-50" dirty="0">
                <a:solidFill>
                  <a:srgbClr val="2B2E33"/>
                </a:solidFill>
                <a:latin typeface="Calibri"/>
                <a:cs typeface="Calibri"/>
              </a:rPr>
              <a:t>together. 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This device 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is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a 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combination 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of 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P-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 type 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and N-type semiconductor </a:t>
            </a:r>
            <a:r>
              <a:rPr sz="3050" spc="-15" dirty="0">
                <a:solidFill>
                  <a:srgbClr val="2B2E33"/>
                </a:solidFill>
                <a:latin typeface="Calibri"/>
                <a:cs typeface="Calibri"/>
              </a:rPr>
              <a:t>material </a:t>
            </a:r>
            <a:r>
              <a:rPr sz="3050" spc="-5" dirty="0">
                <a:solidFill>
                  <a:srgbClr val="2B2E33"/>
                </a:solidFill>
                <a:latin typeface="Calibri"/>
                <a:cs typeface="Calibri"/>
              </a:rPr>
              <a:t>hence it is </a:t>
            </a:r>
            <a:r>
              <a:rPr sz="3050" b="1" dirty="0">
                <a:solidFill>
                  <a:srgbClr val="2B2E33"/>
                </a:solidFill>
                <a:latin typeface="Calibri"/>
                <a:cs typeface="Calibri"/>
              </a:rPr>
              <a:t>also </a:t>
            </a:r>
            <a:r>
              <a:rPr sz="3050" b="1" spc="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b="1" spc="-5" dirty="0">
                <a:solidFill>
                  <a:srgbClr val="2B2E33"/>
                </a:solidFill>
                <a:latin typeface="Calibri"/>
                <a:cs typeface="Calibri"/>
              </a:rPr>
              <a:t>known </a:t>
            </a:r>
            <a:r>
              <a:rPr sz="3050" b="1" dirty="0">
                <a:solidFill>
                  <a:srgbClr val="2B2E33"/>
                </a:solidFill>
                <a:latin typeface="Calibri"/>
                <a:cs typeface="Calibri"/>
              </a:rPr>
              <a:t>as</a:t>
            </a:r>
            <a:r>
              <a:rPr sz="3050" b="1" spc="-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2B2E33"/>
                </a:solidFill>
                <a:latin typeface="Calibri"/>
                <a:cs typeface="Calibri"/>
              </a:rPr>
              <a:t>PN</a:t>
            </a:r>
            <a:r>
              <a:rPr sz="3050" b="1" spc="-3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b="1" spc="-5" dirty="0">
                <a:solidFill>
                  <a:srgbClr val="2B2E33"/>
                </a:solidFill>
                <a:latin typeface="Calibri"/>
                <a:cs typeface="Calibri"/>
              </a:rPr>
              <a:t>Junction</a:t>
            </a:r>
            <a:r>
              <a:rPr sz="3050" b="1" spc="1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050" b="1" spc="-10" dirty="0">
                <a:solidFill>
                  <a:srgbClr val="2B2E33"/>
                </a:solidFill>
                <a:latin typeface="Calibri"/>
                <a:cs typeface="Calibri"/>
              </a:rPr>
              <a:t>Diode</a:t>
            </a:r>
            <a:r>
              <a:rPr sz="3050" spc="-10" dirty="0">
                <a:solidFill>
                  <a:srgbClr val="2B2E33"/>
                </a:solidFill>
                <a:latin typeface="Calibri"/>
                <a:cs typeface="Calibri"/>
              </a:rPr>
              <a:t>.</a:t>
            </a:r>
            <a:endParaRPr sz="3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273" y="679703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594" y="1389887"/>
            <a:ext cx="9798050" cy="311975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14655" marR="9525" indent="-402590" algn="just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A junction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is </a:t>
            </a:r>
            <a:r>
              <a:rPr sz="3250" spc="-5" dirty="0">
                <a:solidFill>
                  <a:srgbClr val="2B2E33"/>
                </a:solidFill>
                <a:latin typeface="Calibri"/>
                <a:cs typeface="Calibri"/>
              </a:rPr>
              <a:t>formed between </a:t>
            </a:r>
            <a:r>
              <a:rPr sz="3250" spc="10" dirty="0">
                <a:solidFill>
                  <a:srgbClr val="2B2E33"/>
                </a:solidFill>
                <a:latin typeface="Calibri"/>
                <a:cs typeface="Calibri"/>
              </a:rPr>
              <a:t>the </a:t>
            </a: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P-type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and </a:t>
            </a:r>
            <a:r>
              <a:rPr sz="3250" spc="10" dirty="0">
                <a:solidFill>
                  <a:srgbClr val="2B2E33"/>
                </a:solidFill>
                <a:latin typeface="Calibri"/>
                <a:cs typeface="Calibri"/>
              </a:rPr>
              <a:t>N-type </a:t>
            </a:r>
            <a:r>
              <a:rPr sz="3250" spc="1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-25" dirty="0">
                <a:solidFill>
                  <a:srgbClr val="2B2E33"/>
                </a:solidFill>
                <a:latin typeface="Calibri"/>
                <a:cs typeface="Calibri"/>
              </a:rPr>
              <a:t>layers.</a:t>
            </a:r>
            <a:r>
              <a:rPr sz="3250" spc="5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2B2E33"/>
                </a:solidFill>
                <a:latin typeface="Calibri"/>
                <a:cs typeface="Calibri"/>
              </a:rPr>
              <a:t>This</a:t>
            </a:r>
            <a:r>
              <a:rPr sz="3250" spc="4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junction</a:t>
            </a:r>
            <a:r>
              <a:rPr sz="3250" spc="4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is</a:t>
            </a:r>
            <a:r>
              <a:rPr sz="3250" spc="2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known</a:t>
            </a:r>
            <a:r>
              <a:rPr sz="3250" spc="6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as</a:t>
            </a:r>
            <a:r>
              <a:rPr sz="3250" spc="3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b="1" dirty="0">
                <a:solidFill>
                  <a:srgbClr val="2B2E33"/>
                </a:solidFill>
                <a:latin typeface="Calibri"/>
                <a:cs typeface="Calibri"/>
              </a:rPr>
              <a:t>PN</a:t>
            </a:r>
            <a:r>
              <a:rPr sz="3250" b="1" spc="4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b="1" dirty="0">
                <a:solidFill>
                  <a:srgbClr val="2B2E33"/>
                </a:solidFill>
                <a:latin typeface="Calibri"/>
                <a:cs typeface="Calibri"/>
              </a:rPr>
              <a:t>junction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.</a:t>
            </a:r>
            <a:endParaRPr sz="3250">
              <a:latin typeface="Calibri"/>
              <a:cs typeface="Calibri"/>
            </a:endParaRPr>
          </a:p>
          <a:p>
            <a:pPr marL="414655" marR="5080" indent="-402590" algn="just">
              <a:lnSpc>
                <a:spcPct val="100899"/>
              </a:lnSpc>
              <a:spcBef>
                <a:spcPts val="77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A diode has </a:t>
            </a:r>
            <a:r>
              <a:rPr sz="3250" spc="-5" dirty="0">
                <a:solidFill>
                  <a:srgbClr val="2B2E33"/>
                </a:solidFill>
                <a:latin typeface="Calibri"/>
                <a:cs typeface="Calibri"/>
              </a:rPr>
              <a:t>two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terminals; </a:t>
            </a:r>
            <a:r>
              <a:rPr sz="3250" spc="10" dirty="0">
                <a:solidFill>
                  <a:srgbClr val="2B2E33"/>
                </a:solidFill>
                <a:latin typeface="Calibri"/>
                <a:cs typeface="Calibri"/>
              </a:rPr>
              <a:t>one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terminal is </a:t>
            </a:r>
            <a:r>
              <a:rPr sz="3250" spc="-20" dirty="0">
                <a:solidFill>
                  <a:srgbClr val="2B2E33"/>
                </a:solidFill>
                <a:latin typeface="Calibri"/>
                <a:cs typeface="Calibri"/>
              </a:rPr>
              <a:t>taken </a:t>
            </a:r>
            <a:r>
              <a:rPr sz="3250" spc="-5" dirty="0">
                <a:solidFill>
                  <a:srgbClr val="2B2E33"/>
                </a:solidFill>
                <a:latin typeface="Calibri"/>
                <a:cs typeface="Calibri"/>
              </a:rPr>
              <a:t>from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 the </a:t>
            </a:r>
            <a:r>
              <a:rPr sz="3250" b="1" u="heavy" spc="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P-type </a:t>
            </a:r>
            <a:r>
              <a:rPr sz="3250" b="1" u="heavy" spc="-1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layer</a:t>
            </a:r>
            <a:r>
              <a:rPr sz="3250" b="1" spc="-1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10" dirty="0">
                <a:solidFill>
                  <a:srgbClr val="2B2E33"/>
                </a:solidFill>
                <a:latin typeface="Calibri"/>
                <a:cs typeface="Calibri"/>
              </a:rPr>
              <a:t>and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it is </a:t>
            </a: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known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as </a:t>
            </a:r>
            <a:r>
              <a:rPr sz="3250" b="1" u="heavy" spc="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Anode</a:t>
            </a: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. The second </a:t>
            </a:r>
            <a:r>
              <a:rPr sz="3250" spc="1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terminal is </a:t>
            </a:r>
            <a:r>
              <a:rPr sz="3250" spc="-20" dirty="0">
                <a:solidFill>
                  <a:srgbClr val="2B2E33"/>
                </a:solidFill>
                <a:latin typeface="Calibri"/>
                <a:cs typeface="Calibri"/>
              </a:rPr>
              <a:t>taken</a:t>
            </a:r>
            <a:r>
              <a:rPr sz="3250" spc="-1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2B2E33"/>
                </a:solidFill>
                <a:latin typeface="Calibri"/>
                <a:cs typeface="Calibri"/>
              </a:rPr>
              <a:t>from</a:t>
            </a:r>
            <a:r>
              <a:rPr sz="3250" spc="-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the</a:t>
            </a: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b="1" u="heavy" spc="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N-type</a:t>
            </a:r>
            <a:r>
              <a:rPr sz="3250" b="1" u="heavy" spc="10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 </a:t>
            </a:r>
            <a:r>
              <a:rPr sz="3250" b="1" u="heavy" spc="-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material</a:t>
            </a:r>
            <a:r>
              <a:rPr sz="3250" b="1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spc="10" dirty="0">
                <a:solidFill>
                  <a:srgbClr val="2B2E33"/>
                </a:solidFill>
                <a:latin typeface="Calibri"/>
                <a:cs typeface="Calibri"/>
              </a:rPr>
              <a:t>and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it</a:t>
            </a: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is </a:t>
            </a:r>
            <a:r>
              <a:rPr sz="3250" spc="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known</a:t>
            </a:r>
            <a:r>
              <a:rPr sz="3250" spc="60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2B2E33"/>
                </a:solidFill>
                <a:latin typeface="Calibri"/>
                <a:cs typeface="Calibri"/>
              </a:rPr>
              <a:t>as</a:t>
            </a:r>
            <a:r>
              <a:rPr sz="3250" spc="25" dirty="0">
                <a:solidFill>
                  <a:srgbClr val="2B2E33"/>
                </a:solidFill>
                <a:latin typeface="Calibri"/>
                <a:cs typeface="Calibri"/>
              </a:rPr>
              <a:t> </a:t>
            </a:r>
            <a:r>
              <a:rPr sz="3250" b="1" u="heavy" spc="-5" dirty="0">
                <a:solidFill>
                  <a:srgbClr val="2B2E33"/>
                </a:solidFill>
                <a:uFill>
                  <a:solidFill>
                    <a:srgbClr val="2B2E33"/>
                  </a:solidFill>
                </a:uFill>
                <a:latin typeface="Calibri"/>
                <a:cs typeface="Calibri"/>
              </a:rPr>
              <a:t>Cathode</a:t>
            </a:r>
            <a:r>
              <a:rPr sz="3250" spc="-5" dirty="0">
                <a:solidFill>
                  <a:srgbClr val="2B2E33"/>
                </a:solidFill>
                <a:latin typeface="Calibri"/>
                <a:cs typeface="Calibri"/>
              </a:rPr>
              <a:t>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273" y="679703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4195" y="1754040"/>
            <a:ext cx="4119037" cy="4565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19168" y="2767686"/>
            <a:ext cx="7617071" cy="33949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8644" y="679703"/>
            <a:ext cx="57219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Principle</a:t>
            </a:r>
            <a:r>
              <a:rPr spc="-45" dirty="0"/>
              <a:t> </a:t>
            </a:r>
            <a:r>
              <a:rPr spc="-85" dirty="0"/>
              <a:t>of</a:t>
            </a:r>
            <a:r>
              <a:rPr spc="-60" dirty="0"/>
              <a:t> </a:t>
            </a:r>
            <a:r>
              <a:rPr spc="45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594" y="1268577"/>
            <a:ext cx="2922905" cy="208026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35" dirty="0">
                <a:latin typeface="Calibri"/>
                <a:cs typeface="Calibri"/>
              </a:rPr>
              <a:t>Zero</a:t>
            </a:r>
            <a:r>
              <a:rPr sz="3750" spc="-40" dirty="0">
                <a:latin typeface="Calibri"/>
                <a:cs typeface="Calibri"/>
              </a:rPr>
              <a:t> </a:t>
            </a:r>
            <a:r>
              <a:rPr sz="3750" spc="-5" dirty="0">
                <a:latin typeface="Calibri"/>
                <a:cs typeface="Calibri"/>
              </a:rPr>
              <a:t>–</a:t>
            </a:r>
            <a:r>
              <a:rPr sz="3750" spc="-10" dirty="0">
                <a:latin typeface="Calibri"/>
                <a:cs typeface="Calibri"/>
              </a:rPr>
              <a:t> </a:t>
            </a:r>
            <a:r>
              <a:rPr sz="3750" spc="-5" dirty="0">
                <a:latin typeface="Calibri"/>
                <a:cs typeface="Calibri"/>
              </a:rPr>
              <a:t>Bias</a:t>
            </a:r>
            <a:endParaRPr sz="37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25" dirty="0">
                <a:latin typeface="Calibri"/>
                <a:cs typeface="Calibri"/>
              </a:rPr>
              <a:t>Forward</a:t>
            </a:r>
            <a:r>
              <a:rPr sz="3750" spc="-65" dirty="0">
                <a:latin typeface="Calibri"/>
                <a:cs typeface="Calibri"/>
              </a:rPr>
              <a:t> </a:t>
            </a:r>
            <a:r>
              <a:rPr sz="3750" spc="-5" dirty="0">
                <a:latin typeface="Calibri"/>
                <a:cs typeface="Calibri"/>
              </a:rPr>
              <a:t>Bias</a:t>
            </a:r>
            <a:endParaRPr sz="37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35" dirty="0">
                <a:latin typeface="Calibri"/>
                <a:cs typeface="Calibri"/>
              </a:rPr>
              <a:t>Reverse</a:t>
            </a:r>
            <a:r>
              <a:rPr sz="3750" spc="-90" dirty="0">
                <a:latin typeface="Calibri"/>
                <a:cs typeface="Calibri"/>
              </a:rPr>
              <a:t> </a:t>
            </a:r>
            <a:r>
              <a:rPr sz="3750" spc="-5" dirty="0">
                <a:latin typeface="Calibri"/>
                <a:cs typeface="Calibri"/>
              </a:rPr>
              <a:t>Bias</a:t>
            </a:r>
            <a:endParaRPr sz="3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6603" y="682752"/>
            <a:ext cx="24504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/>
              <a:t>Zero</a:t>
            </a:r>
            <a:r>
              <a:rPr spc="-140" dirty="0"/>
              <a:t> </a:t>
            </a:r>
            <a:r>
              <a:rPr spc="-25" dirty="0"/>
              <a:t>Bias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6859" y="1414272"/>
            <a:ext cx="10309860" cy="1004569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414655" marR="5080" indent="-402590">
              <a:lnSpc>
                <a:spcPts val="3790"/>
              </a:lnSpc>
              <a:spcBef>
                <a:spcPts val="325"/>
              </a:spcBef>
              <a:buFont typeface="Arial MT"/>
              <a:buChar char="•"/>
              <a:tabLst>
                <a:tab pos="414655" algn="l"/>
                <a:tab pos="415290" algn="l"/>
                <a:tab pos="1185545" algn="l"/>
                <a:tab pos="2889885" algn="l"/>
                <a:tab pos="4450080" algn="l"/>
                <a:tab pos="6290945" algn="l"/>
                <a:tab pos="6788150" algn="l"/>
                <a:tab pos="8327390" algn="l"/>
                <a:tab pos="8930640" algn="l"/>
                <a:tab pos="9751060" algn="l"/>
              </a:tabLst>
            </a:pPr>
            <a:r>
              <a:rPr sz="3250" spc="50" dirty="0">
                <a:solidFill>
                  <a:srgbClr val="403F41"/>
                </a:solidFill>
                <a:latin typeface="Lucida Sans Unicode"/>
                <a:cs typeface="Lucida Sans Unicode"/>
              </a:rPr>
              <a:t>N</a:t>
            </a:r>
            <a:r>
              <a:rPr sz="3250" spc="-150" dirty="0">
                <a:solidFill>
                  <a:srgbClr val="403F41"/>
                </a:solidFill>
                <a:latin typeface="Lucida Sans Unicode"/>
                <a:cs typeface="Lucida Sans Unicode"/>
              </a:rPr>
              <a:t>o</a:t>
            </a:r>
            <a:r>
              <a:rPr sz="3250" dirty="0">
                <a:solidFill>
                  <a:srgbClr val="403F41"/>
                </a:solidFill>
                <a:latin typeface="Lucida Sans Unicode"/>
                <a:cs typeface="Lucida Sans Unicode"/>
              </a:rPr>
              <a:t>	</a:t>
            </a:r>
            <a:r>
              <a:rPr sz="3250" spc="-90" dirty="0">
                <a:solidFill>
                  <a:srgbClr val="403F41"/>
                </a:solidFill>
                <a:latin typeface="Lucida Sans Unicode"/>
                <a:cs typeface="Lucida Sans Unicode"/>
              </a:rPr>
              <a:t>e</a:t>
            </a:r>
            <a:r>
              <a:rPr sz="3250" spc="-370" dirty="0">
                <a:solidFill>
                  <a:srgbClr val="403F41"/>
                </a:solidFill>
                <a:latin typeface="Lucida Sans Unicode"/>
                <a:cs typeface="Lucida Sans Unicode"/>
              </a:rPr>
              <a:t>x</a:t>
            </a:r>
            <a:r>
              <a:rPr sz="3250" spc="-45" dirty="0">
                <a:solidFill>
                  <a:srgbClr val="403F41"/>
                </a:solidFill>
                <a:latin typeface="Lucida Sans Unicode"/>
                <a:cs typeface="Lucida Sans Unicode"/>
              </a:rPr>
              <a:t>t</a:t>
            </a:r>
            <a:r>
              <a:rPr sz="3250" spc="-90" dirty="0">
                <a:solidFill>
                  <a:srgbClr val="403F41"/>
                </a:solidFill>
                <a:latin typeface="Lucida Sans Unicode"/>
                <a:cs typeface="Lucida Sans Unicode"/>
              </a:rPr>
              <a:t>e</a:t>
            </a:r>
            <a:r>
              <a:rPr sz="3250" spc="-140" dirty="0">
                <a:solidFill>
                  <a:srgbClr val="403F41"/>
                </a:solidFill>
                <a:latin typeface="Lucida Sans Unicode"/>
                <a:cs typeface="Lucida Sans Unicode"/>
              </a:rPr>
              <a:t>r</a:t>
            </a:r>
            <a:r>
              <a:rPr sz="3250" spc="-195" dirty="0">
                <a:solidFill>
                  <a:srgbClr val="403F41"/>
                </a:solidFill>
                <a:latin typeface="Lucida Sans Unicode"/>
                <a:cs typeface="Lucida Sans Unicode"/>
              </a:rPr>
              <a:t>n</a:t>
            </a:r>
            <a:r>
              <a:rPr sz="3250" spc="-170" dirty="0">
                <a:solidFill>
                  <a:srgbClr val="403F41"/>
                </a:solidFill>
                <a:latin typeface="Lucida Sans Unicode"/>
                <a:cs typeface="Lucida Sans Unicode"/>
              </a:rPr>
              <a:t>al</a:t>
            </a:r>
            <a:r>
              <a:rPr sz="3250" dirty="0">
                <a:solidFill>
                  <a:srgbClr val="403F41"/>
                </a:solidFill>
                <a:latin typeface="Lucida Sans Unicode"/>
                <a:cs typeface="Lucida Sans Unicode"/>
              </a:rPr>
              <a:t>	</a:t>
            </a:r>
            <a:r>
              <a:rPr sz="3250" spc="-5" dirty="0">
                <a:solidFill>
                  <a:srgbClr val="403F41"/>
                </a:solidFill>
                <a:latin typeface="Lucida Sans Unicode"/>
                <a:cs typeface="Lucida Sans Unicode"/>
              </a:rPr>
              <a:t>v</a:t>
            </a:r>
            <a:r>
              <a:rPr sz="3250" spc="-215" dirty="0">
                <a:solidFill>
                  <a:srgbClr val="403F41"/>
                </a:solidFill>
                <a:latin typeface="Lucida Sans Unicode"/>
                <a:cs typeface="Lucida Sans Unicode"/>
              </a:rPr>
              <a:t>o</a:t>
            </a:r>
            <a:r>
              <a:rPr sz="3250" spc="-90" dirty="0">
                <a:solidFill>
                  <a:srgbClr val="403F41"/>
                </a:solidFill>
                <a:latin typeface="Lucida Sans Unicode"/>
                <a:cs typeface="Lucida Sans Unicode"/>
              </a:rPr>
              <a:t>l</a:t>
            </a:r>
            <a:r>
              <a:rPr sz="3250" spc="-45" dirty="0">
                <a:solidFill>
                  <a:srgbClr val="403F41"/>
                </a:solidFill>
                <a:latin typeface="Lucida Sans Unicode"/>
                <a:cs typeface="Lucida Sans Unicode"/>
              </a:rPr>
              <a:t>t</a:t>
            </a:r>
            <a:r>
              <a:rPr sz="3250" spc="-170" dirty="0">
                <a:solidFill>
                  <a:srgbClr val="403F41"/>
                </a:solidFill>
                <a:latin typeface="Lucida Sans Unicode"/>
                <a:cs typeface="Lucida Sans Unicode"/>
              </a:rPr>
              <a:t>a</a:t>
            </a:r>
            <a:r>
              <a:rPr sz="3250" spc="-325" dirty="0">
                <a:solidFill>
                  <a:srgbClr val="403F41"/>
                </a:solidFill>
                <a:latin typeface="Lucida Sans Unicode"/>
                <a:cs typeface="Lucida Sans Unicode"/>
              </a:rPr>
              <a:t>g</a:t>
            </a:r>
            <a:r>
              <a:rPr sz="3250" spc="-90" dirty="0">
                <a:solidFill>
                  <a:srgbClr val="403F41"/>
                </a:solidFill>
                <a:latin typeface="Lucida Sans Unicode"/>
                <a:cs typeface="Lucida Sans Unicode"/>
              </a:rPr>
              <a:t>e</a:t>
            </a:r>
            <a:r>
              <a:rPr sz="3250" dirty="0">
                <a:solidFill>
                  <a:srgbClr val="403F41"/>
                </a:solidFill>
                <a:latin typeface="Lucida Sans Unicode"/>
                <a:cs typeface="Lucida Sans Unicode"/>
              </a:rPr>
              <a:t>	</a:t>
            </a:r>
            <a:r>
              <a:rPr sz="3250" spc="-225" dirty="0">
                <a:solidFill>
                  <a:srgbClr val="403F41"/>
                </a:solidFill>
                <a:latin typeface="Lucida Sans Unicode"/>
                <a:cs typeface="Lucida Sans Unicode"/>
              </a:rPr>
              <a:t>p</a:t>
            </a:r>
            <a:r>
              <a:rPr sz="3250" spc="-95" dirty="0">
                <a:solidFill>
                  <a:srgbClr val="403F41"/>
                </a:solidFill>
                <a:latin typeface="Lucida Sans Unicode"/>
                <a:cs typeface="Lucida Sans Unicode"/>
              </a:rPr>
              <a:t>ot</a:t>
            </a:r>
            <a:r>
              <a:rPr sz="3250" spc="-90" dirty="0">
                <a:solidFill>
                  <a:srgbClr val="403F41"/>
                </a:solidFill>
                <a:latin typeface="Lucida Sans Unicode"/>
                <a:cs typeface="Lucida Sans Unicode"/>
              </a:rPr>
              <a:t>e</a:t>
            </a:r>
            <a:r>
              <a:rPr sz="3250" spc="-120" dirty="0">
                <a:solidFill>
                  <a:srgbClr val="403F41"/>
                </a:solidFill>
                <a:latin typeface="Lucida Sans Unicode"/>
                <a:cs typeface="Lucida Sans Unicode"/>
              </a:rPr>
              <a:t>nt</a:t>
            </a:r>
            <a:r>
              <a:rPr sz="3250" spc="-155" dirty="0">
                <a:solidFill>
                  <a:srgbClr val="403F41"/>
                </a:solidFill>
                <a:latin typeface="Lucida Sans Unicode"/>
                <a:cs typeface="Lucida Sans Unicode"/>
              </a:rPr>
              <a:t>i</a:t>
            </a:r>
            <a:r>
              <a:rPr sz="3250" spc="-170" dirty="0">
                <a:solidFill>
                  <a:srgbClr val="403F41"/>
                </a:solidFill>
                <a:latin typeface="Lucida Sans Unicode"/>
                <a:cs typeface="Lucida Sans Unicode"/>
              </a:rPr>
              <a:t>al</a:t>
            </a:r>
            <a:r>
              <a:rPr sz="3250" dirty="0">
                <a:solidFill>
                  <a:srgbClr val="403F41"/>
                </a:solidFill>
                <a:latin typeface="Lucida Sans Unicode"/>
                <a:cs typeface="Lucida Sans Unicode"/>
              </a:rPr>
              <a:t>	</a:t>
            </a:r>
            <a:r>
              <a:rPr sz="3250" spc="-175" dirty="0">
                <a:solidFill>
                  <a:srgbClr val="403F41"/>
                </a:solidFill>
                <a:latin typeface="Lucida Sans Unicode"/>
                <a:cs typeface="Lucida Sans Unicode"/>
              </a:rPr>
              <a:t>i</a:t>
            </a:r>
            <a:r>
              <a:rPr sz="3250" spc="-245" dirty="0">
                <a:solidFill>
                  <a:srgbClr val="403F41"/>
                </a:solidFill>
                <a:latin typeface="Lucida Sans Unicode"/>
                <a:cs typeface="Lucida Sans Unicode"/>
              </a:rPr>
              <a:t>s</a:t>
            </a:r>
            <a:r>
              <a:rPr sz="3250" dirty="0">
                <a:solidFill>
                  <a:srgbClr val="403F41"/>
                </a:solidFill>
                <a:latin typeface="Lucida Sans Unicode"/>
                <a:cs typeface="Lucida Sans Unicode"/>
              </a:rPr>
              <a:t>	</a:t>
            </a:r>
            <a:r>
              <a:rPr sz="3250" spc="-170" dirty="0">
                <a:solidFill>
                  <a:srgbClr val="403F41"/>
                </a:solidFill>
                <a:latin typeface="Lucida Sans Unicode"/>
                <a:cs typeface="Lucida Sans Unicode"/>
              </a:rPr>
              <a:t>a</a:t>
            </a:r>
            <a:r>
              <a:rPr sz="3250" spc="-225" dirty="0">
                <a:solidFill>
                  <a:srgbClr val="403F41"/>
                </a:solidFill>
                <a:latin typeface="Lucida Sans Unicode"/>
                <a:cs typeface="Lucida Sans Unicode"/>
              </a:rPr>
              <a:t>pp</a:t>
            </a:r>
            <a:r>
              <a:rPr sz="3250" spc="-165" dirty="0">
                <a:solidFill>
                  <a:srgbClr val="403F41"/>
                </a:solidFill>
                <a:latin typeface="Lucida Sans Unicode"/>
                <a:cs typeface="Lucida Sans Unicode"/>
              </a:rPr>
              <a:t>l</a:t>
            </a:r>
            <a:r>
              <a:rPr sz="3250" spc="-160" dirty="0">
                <a:solidFill>
                  <a:srgbClr val="403F41"/>
                </a:solidFill>
                <a:latin typeface="Lucida Sans Unicode"/>
                <a:cs typeface="Lucida Sans Unicode"/>
              </a:rPr>
              <a:t>i</a:t>
            </a:r>
            <a:r>
              <a:rPr sz="3250" spc="-90" dirty="0">
                <a:solidFill>
                  <a:srgbClr val="403F41"/>
                </a:solidFill>
                <a:latin typeface="Lucida Sans Unicode"/>
                <a:cs typeface="Lucida Sans Unicode"/>
              </a:rPr>
              <a:t>e</a:t>
            </a:r>
            <a:r>
              <a:rPr sz="3250" spc="-220" dirty="0">
                <a:solidFill>
                  <a:srgbClr val="403F41"/>
                </a:solidFill>
                <a:latin typeface="Lucida Sans Unicode"/>
                <a:cs typeface="Lucida Sans Unicode"/>
              </a:rPr>
              <a:t>d</a:t>
            </a:r>
            <a:r>
              <a:rPr sz="3250" dirty="0">
                <a:solidFill>
                  <a:srgbClr val="403F41"/>
                </a:solidFill>
                <a:latin typeface="Lucida Sans Unicode"/>
                <a:cs typeface="Lucida Sans Unicode"/>
              </a:rPr>
              <a:t>	</a:t>
            </a:r>
            <a:r>
              <a:rPr sz="3250" spc="-45" dirty="0">
                <a:solidFill>
                  <a:srgbClr val="403F41"/>
                </a:solidFill>
                <a:latin typeface="Lucida Sans Unicode"/>
                <a:cs typeface="Lucida Sans Unicode"/>
              </a:rPr>
              <a:t>t</a:t>
            </a:r>
            <a:r>
              <a:rPr sz="3250" spc="-150" dirty="0">
                <a:solidFill>
                  <a:srgbClr val="403F41"/>
                </a:solidFill>
                <a:latin typeface="Lucida Sans Unicode"/>
                <a:cs typeface="Lucida Sans Unicode"/>
              </a:rPr>
              <a:t>o</a:t>
            </a:r>
            <a:r>
              <a:rPr sz="3250" dirty="0">
                <a:solidFill>
                  <a:srgbClr val="403F41"/>
                </a:solidFill>
                <a:latin typeface="Lucida Sans Unicode"/>
                <a:cs typeface="Lucida Sans Unicode"/>
              </a:rPr>
              <a:t>	</a:t>
            </a:r>
            <a:r>
              <a:rPr sz="3250" spc="-45" dirty="0">
                <a:solidFill>
                  <a:srgbClr val="403F41"/>
                </a:solidFill>
                <a:latin typeface="Lucida Sans Unicode"/>
                <a:cs typeface="Lucida Sans Unicode"/>
              </a:rPr>
              <a:t>t</a:t>
            </a:r>
            <a:r>
              <a:rPr sz="3250" spc="-145" dirty="0">
                <a:solidFill>
                  <a:srgbClr val="403F41"/>
                </a:solidFill>
                <a:latin typeface="Lucida Sans Unicode"/>
                <a:cs typeface="Lucida Sans Unicode"/>
              </a:rPr>
              <a:t>he</a:t>
            </a:r>
            <a:r>
              <a:rPr sz="3250" dirty="0">
                <a:solidFill>
                  <a:srgbClr val="403F41"/>
                </a:solidFill>
                <a:latin typeface="Lucida Sans Unicode"/>
                <a:cs typeface="Lucida Sans Unicode"/>
              </a:rPr>
              <a:t>	</a:t>
            </a:r>
            <a:r>
              <a:rPr sz="3250" spc="85" dirty="0">
                <a:solidFill>
                  <a:srgbClr val="403F41"/>
                </a:solidFill>
                <a:latin typeface="Lucida Sans Unicode"/>
                <a:cs typeface="Lucida Sans Unicode"/>
              </a:rPr>
              <a:t>P</a:t>
            </a:r>
            <a:r>
              <a:rPr sz="3250" spc="5" dirty="0">
                <a:solidFill>
                  <a:srgbClr val="403F41"/>
                </a:solidFill>
                <a:latin typeface="Lucida Sans Unicode"/>
                <a:cs typeface="Lucida Sans Unicode"/>
              </a:rPr>
              <a:t>N  </a:t>
            </a:r>
            <a:r>
              <a:rPr sz="3250" spc="-204" dirty="0">
                <a:solidFill>
                  <a:srgbClr val="403F41"/>
                </a:solidFill>
                <a:latin typeface="Lucida Sans Unicode"/>
                <a:cs typeface="Lucida Sans Unicode"/>
              </a:rPr>
              <a:t>j</a:t>
            </a:r>
            <a:r>
              <a:rPr sz="3250" spc="-135" dirty="0">
                <a:solidFill>
                  <a:srgbClr val="403F41"/>
                </a:solidFill>
                <a:latin typeface="Lucida Sans Unicode"/>
                <a:cs typeface="Lucida Sans Unicode"/>
              </a:rPr>
              <a:t>unct</a:t>
            </a:r>
            <a:r>
              <a:rPr sz="3250" spc="-155" dirty="0">
                <a:solidFill>
                  <a:srgbClr val="403F41"/>
                </a:solidFill>
                <a:latin typeface="Lucida Sans Unicode"/>
                <a:cs typeface="Lucida Sans Unicode"/>
              </a:rPr>
              <a:t>i</a:t>
            </a:r>
            <a:r>
              <a:rPr sz="3250" spc="-175" dirty="0">
                <a:solidFill>
                  <a:srgbClr val="403F41"/>
                </a:solidFill>
                <a:latin typeface="Lucida Sans Unicode"/>
                <a:cs typeface="Lucida Sans Unicode"/>
              </a:rPr>
              <a:t>on</a:t>
            </a:r>
            <a:r>
              <a:rPr sz="3250" spc="-180" dirty="0">
                <a:solidFill>
                  <a:srgbClr val="403F41"/>
                </a:solidFill>
                <a:latin typeface="Lucida Sans Unicode"/>
                <a:cs typeface="Lucida Sans Unicode"/>
              </a:rPr>
              <a:t> </a:t>
            </a:r>
            <a:r>
              <a:rPr sz="3250" spc="-225" dirty="0">
                <a:solidFill>
                  <a:srgbClr val="403F41"/>
                </a:solidFill>
                <a:latin typeface="Lucida Sans Unicode"/>
                <a:cs typeface="Lucida Sans Unicode"/>
              </a:rPr>
              <a:t>d</a:t>
            </a:r>
            <a:r>
              <a:rPr sz="3250" spc="-155" dirty="0">
                <a:solidFill>
                  <a:srgbClr val="403F41"/>
                </a:solidFill>
                <a:latin typeface="Lucida Sans Unicode"/>
                <a:cs typeface="Lucida Sans Unicode"/>
              </a:rPr>
              <a:t>i</a:t>
            </a:r>
            <a:r>
              <a:rPr sz="3250" spc="-180" dirty="0">
                <a:solidFill>
                  <a:srgbClr val="403F41"/>
                </a:solidFill>
                <a:latin typeface="Lucida Sans Unicode"/>
                <a:cs typeface="Lucida Sans Unicode"/>
              </a:rPr>
              <a:t>o</a:t>
            </a:r>
            <a:r>
              <a:rPr sz="3250" spc="-190" dirty="0">
                <a:solidFill>
                  <a:srgbClr val="403F41"/>
                </a:solidFill>
                <a:latin typeface="Lucida Sans Unicode"/>
                <a:cs typeface="Lucida Sans Unicode"/>
              </a:rPr>
              <a:t>d</a:t>
            </a:r>
            <a:r>
              <a:rPr sz="3250" spc="-90" dirty="0">
                <a:solidFill>
                  <a:srgbClr val="403F41"/>
                </a:solidFill>
                <a:latin typeface="Lucida Sans Unicode"/>
                <a:cs typeface="Lucida Sans Unicode"/>
              </a:rPr>
              <a:t>e</a:t>
            </a:r>
            <a:endParaRPr sz="325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3432" y="2618739"/>
            <a:ext cx="6172200" cy="39654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1115" y="682752"/>
            <a:ext cx="33661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Forward</a:t>
            </a:r>
            <a:r>
              <a:rPr spc="-50" dirty="0"/>
              <a:t> </a:t>
            </a:r>
            <a:r>
              <a:rPr spc="-25" dirty="0"/>
              <a:t>Bias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3644" y="1392936"/>
            <a:ext cx="9796780" cy="20199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14655" marR="5080" indent="-402590" algn="just">
              <a:lnSpc>
                <a:spcPct val="100699"/>
              </a:lnSpc>
              <a:spcBef>
                <a:spcPts val="8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The </a:t>
            </a:r>
            <a:r>
              <a:rPr sz="3250" spc="-10" dirty="0">
                <a:solidFill>
                  <a:srgbClr val="403F41"/>
                </a:solidFill>
                <a:latin typeface="Calibri"/>
                <a:cs typeface="Calibri"/>
              </a:rPr>
              <a:t>voltage </a:t>
            </a:r>
            <a:r>
              <a:rPr sz="3250" spc="-5" dirty="0">
                <a:solidFill>
                  <a:srgbClr val="403F41"/>
                </a:solidFill>
                <a:latin typeface="Calibri"/>
                <a:cs typeface="Calibri"/>
              </a:rPr>
              <a:t>potential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is </a:t>
            </a:r>
            <a:r>
              <a:rPr sz="3250" spc="5" dirty="0">
                <a:solidFill>
                  <a:srgbClr val="403F41"/>
                </a:solidFill>
                <a:latin typeface="Calibri"/>
                <a:cs typeface="Calibri"/>
              </a:rPr>
              <a:t>connected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positive, (+ve) </a:t>
            </a:r>
            <a:r>
              <a:rPr sz="3250" spc="-5" dirty="0">
                <a:solidFill>
                  <a:srgbClr val="403F41"/>
                </a:solidFill>
                <a:latin typeface="Calibri"/>
                <a:cs typeface="Calibri"/>
              </a:rPr>
              <a:t>to </a:t>
            </a:r>
            <a:r>
              <a:rPr sz="3250" spc="10" dirty="0">
                <a:solidFill>
                  <a:srgbClr val="403F41"/>
                </a:solidFill>
                <a:latin typeface="Calibri"/>
                <a:cs typeface="Calibri"/>
              </a:rPr>
              <a:t>the </a:t>
            </a:r>
            <a:r>
              <a:rPr sz="3250" spc="-720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403F41"/>
                </a:solidFill>
                <a:latin typeface="Calibri"/>
                <a:cs typeface="Calibri"/>
              </a:rPr>
              <a:t>P-type</a:t>
            </a:r>
            <a:r>
              <a:rPr sz="3250" spc="10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403F41"/>
                </a:solidFill>
                <a:latin typeface="Calibri"/>
                <a:cs typeface="Calibri"/>
              </a:rPr>
              <a:t>material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403F41"/>
                </a:solidFill>
                <a:latin typeface="Calibri"/>
                <a:cs typeface="Calibri"/>
              </a:rPr>
              <a:t>and</a:t>
            </a:r>
            <a:r>
              <a:rPr sz="3250" spc="10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spc="-15" dirty="0">
                <a:solidFill>
                  <a:srgbClr val="403F41"/>
                </a:solidFill>
                <a:latin typeface="Calibri"/>
                <a:cs typeface="Calibri"/>
              </a:rPr>
              <a:t>negative,</a:t>
            </a:r>
            <a:r>
              <a:rPr sz="3250" spc="-10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403F41"/>
                </a:solidFill>
                <a:latin typeface="Calibri"/>
                <a:cs typeface="Calibri"/>
              </a:rPr>
              <a:t>(-ve)</a:t>
            </a:r>
            <a:r>
              <a:rPr sz="3250" spc="10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403F41"/>
                </a:solidFill>
                <a:latin typeface="Calibri"/>
                <a:cs typeface="Calibri"/>
              </a:rPr>
              <a:t>to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 the</a:t>
            </a:r>
            <a:r>
              <a:rPr sz="3250" spc="5" dirty="0">
                <a:solidFill>
                  <a:srgbClr val="403F41"/>
                </a:solidFill>
                <a:latin typeface="Calibri"/>
                <a:cs typeface="Calibri"/>
              </a:rPr>
              <a:t> N-type </a:t>
            </a:r>
            <a:r>
              <a:rPr sz="3250" spc="10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403F41"/>
                </a:solidFill>
                <a:latin typeface="Calibri"/>
                <a:cs typeface="Calibri"/>
              </a:rPr>
              <a:t>material</a:t>
            </a:r>
            <a:r>
              <a:rPr sz="3250" spc="1450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403F41"/>
                </a:solidFill>
                <a:latin typeface="Calibri"/>
                <a:cs typeface="Calibri"/>
              </a:rPr>
              <a:t>across</a:t>
            </a:r>
            <a:r>
              <a:rPr sz="3250" spc="145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the   diode   </a:t>
            </a:r>
            <a:r>
              <a:rPr sz="3250" spc="10" dirty="0">
                <a:solidFill>
                  <a:srgbClr val="403F41"/>
                </a:solidFill>
                <a:latin typeface="Calibri"/>
                <a:cs typeface="Calibri"/>
              </a:rPr>
              <a:t>which   </a:t>
            </a:r>
            <a:r>
              <a:rPr sz="3250" spc="5" dirty="0">
                <a:solidFill>
                  <a:srgbClr val="403F41"/>
                </a:solidFill>
                <a:latin typeface="Calibri"/>
                <a:cs typeface="Calibri"/>
              </a:rPr>
              <a:t>has   </a:t>
            </a:r>
            <a:r>
              <a:rPr sz="3250" spc="10" dirty="0">
                <a:solidFill>
                  <a:srgbClr val="403F41"/>
                </a:solidFill>
                <a:latin typeface="Calibri"/>
                <a:cs typeface="Calibri"/>
              </a:rPr>
              <a:t>the   </a:t>
            </a:r>
            <a:r>
              <a:rPr sz="3250" spc="-20" dirty="0">
                <a:solidFill>
                  <a:srgbClr val="403F41"/>
                </a:solidFill>
                <a:latin typeface="Calibri"/>
                <a:cs typeface="Calibri"/>
              </a:rPr>
              <a:t>effect </a:t>
            </a:r>
            <a:r>
              <a:rPr sz="3250" spc="-1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403F41"/>
                </a:solidFill>
                <a:latin typeface="Calibri"/>
                <a:cs typeface="Calibri"/>
              </a:rPr>
              <a:t>of</a:t>
            </a:r>
            <a:r>
              <a:rPr sz="3250" spc="-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b="1" spc="-5" dirty="0">
                <a:solidFill>
                  <a:srgbClr val="403F41"/>
                </a:solidFill>
                <a:latin typeface="Calibri"/>
                <a:cs typeface="Calibri"/>
              </a:rPr>
              <a:t>Decreasing</a:t>
            </a:r>
            <a:r>
              <a:rPr sz="3250" b="1" spc="110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the</a:t>
            </a:r>
            <a:r>
              <a:rPr sz="3250" spc="1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PN</a:t>
            </a:r>
            <a:r>
              <a:rPr sz="3250" spc="3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junction</a:t>
            </a:r>
            <a:r>
              <a:rPr sz="3250" spc="4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diodes</a:t>
            </a:r>
            <a:r>
              <a:rPr sz="3250" spc="70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width.</a:t>
            </a:r>
            <a:endParaRPr sz="3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1907" y="3508735"/>
            <a:ext cx="5510508" cy="282912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273" y="679703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3233" y="2395842"/>
            <a:ext cx="7620106" cy="325062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4091" y="682752"/>
            <a:ext cx="74402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Forward</a:t>
            </a:r>
            <a:r>
              <a:rPr spc="10" dirty="0"/>
              <a:t> </a:t>
            </a:r>
            <a:r>
              <a:rPr spc="-25" dirty="0"/>
              <a:t>Bias</a:t>
            </a:r>
            <a:r>
              <a:rPr spc="-65" dirty="0"/>
              <a:t> </a:t>
            </a:r>
            <a:r>
              <a:rPr spc="35" dirty="0"/>
              <a:t>Characteristics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8760" y="1457452"/>
            <a:ext cx="8010144" cy="50749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9179" y="682752"/>
            <a:ext cx="335787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Reverse</a:t>
            </a:r>
            <a:r>
              <a:rPr spc="-65" dirty="0"/>
              <a:t> </a:t>
            </a:r>
            <a:r>
              <a:rPr spc="-25" dirty="0"/>
              <a:t>Bias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5252" y="1392936"/>
            <a:ext cx="10064750" cy="20199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14655" marR="5080" indent="-402590" algn="just">
              <a:lnSpc>
                <a:spcPct val="100699"/>
              </a:lnSpc>
              <a:spcBef>
                <a:spcPts val="8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The </a:t>
            </a:r>
            <a:r>
              <a:rPr sz="3250" spc="-10" dirty="0">
                <a:solidFill>
                  <a:srgbClr val="403F41"/>
                </a:solidFill>
                <a:latin typeface="Calibri"/>
                <a:cs typeface="Calibri"/>
              </a:rPr>
              <a:t>voltage </a:t>
            </a:r>
            <a:r>
              <a:rPr sz="3250" spc="-5" dirty="0">
                <a:solidFill>
                  <a:srgbClr val="403F41"/>
                </a:solidFill>
                <a:latin typeface="Calibri"/>
                <a:cs typeface="Calibri"/>
              </a:rPr>
              <a:t>potential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is </a:t>
            </a:r>
            <a:r>
              <a:rPr sz="3250" spc="5" dirty="0">
                <a:solidFill>
                  <a:srgbClr val="403F41"/>
                </a:solidFill>
                <a:latin typeface="Calibri"/>
                <a:cs typeface="Calibri"/>
              </a:rPr>
              <a:t>connected </a:t>
            </a:r>
            <a:r>
              <a:rPr sz="3250" spc="-15" dirty="0">
                <a:solidFill>
                  <a:srgbClr val="403F41"/>
                </a:solidFill>
                <a:latin typeface="Calibri"/>
                <a:cs typeface="Calibri"/>
              </a:rPr>
              <a:t>negative,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(-ve) </a:t>
            </a:r>
            <a:r>
              <a:rPr sz="3250" spc="-5" dirty="0">
                <a:solidFill>
                  <a:srgbClr val="403F41"/>
                </a:solidFill>
                <a:latin typeface="Calibri"/>
                <a:cs typeface="Calibri"/>
              </a:rPr>
              <a:t>to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the </a:t>
            </a:r>
            <a:r>
              <a:rPr sz="3250" spc="5" dirty="0">
                <a:solidFill>
                  <a:srgbClr val="403F41"/>
                </a:solidFill>
                <a:latin typeface="Calibri"/>
                <a:cs typeface="Calibri"/>
              </a:rPr>
              <a:t> P-type</a:t>
            </a:r>
            <a:r>
              <a:rPr sz="3250" spc="10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403F41"/>
                </a:solidFill>
                <a:latin typeface="Calibri"/>
                <a:cs typeface="Calibri"/>
              </a:rPr>
              <a:t>material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403F41"/>
                </a:solidFill>
                <a:latin typeface="Calibri"/>
                <a:cs typeface="Calibri"/>
              </a:rPr>
              <a:t>and</a:t>
            </a:r>
            <a:r>
              <a:rPr sz="3250" spc="10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positive,</a:t>
            </a:r>
            <a:r>
              <a:rPr sz="3250" spc="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(+ve)</a:t>
            </a:r>
            <a:r>
              <a:rPr sz="3250" spc="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403F41"/>
                </a:solidFill>
                <a:latin typeface="Calibri"/>
                <a:cs typeface="Calibri"/>
              </a:rPr>
              <a:t>to</a:t>
            </a:r>
            <a:r>
              <a:rPr sz="3250" spc="72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the</a:t>
            </a:r>
            <a:r>
              <a:rPr sz="3250" spc="73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403F41"/>
                </a:solidFill>
                <a:latin typeface="Calibri"/>
                <a:cs typeface="Calibri"/>
              </a:rPr>
              <a:t>N-type </a:t>
            </a:r>
            <a:r>
              <a:rPr sz="3250" spc="10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403F41"/>
                </a:solidFill>
                <a:latin typeface="Calibri"/>
                <a:cs typeface="Calibri"/>
              </a:rPr>
              <a:t>material</a:t>
            </a:r>
            <a:r>
              <a:rPr sz="3250" spc="1460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403F41"/>
                </a:solidFill>
                <a:latin typeface="Calibri"/>
                <a:cs typeface="Calibri"/>
              </a:rPr>
              <a:t>across</a:t>
            </a:r>
            <a:r>
              <a:rPr sz="3250" spc="145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the    </a:t>
            </a:r>
            <a:r>
              <a:rPr sz="3250" spc="5" dirty="0">
                <a:solidFill>
                  <a:srgbClr val="403F41"/>
                </a:solidFill>
                <a:latin typeface="Calibri"/>
                <a:cs typeface="Calibri"/>
              </a:rPr>
              <a:t>diode    </a:t>
            </a:r>
            <a:r>
              <a:rPr sz="3250" spc="10" dirty="0">
                <a:solidFill>
                  <a:srgbClr val="403F41"/>
                </a:solidFill>
                <a:latin typeface="Calibri"/>
                <a:cs typeface="Calibri"/>
              </a:rPr>
              <a:t>which </a:t>
            </a:r>
            <a:r>
              <a:rPr sz="3250" spc="750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has    </a:t>
            </a:r>
            <a:r>
              <a:rPr sz="3250" spc="10" dirty="0">
                <a:solidFill>
                  <a:srgbClr val="403F41"/>
                </a:solidFill>
                <a:latin typeface="Calibri"/>
                <a:cs typeface="Calibri"/>
              </a:rPr>
              <a:t>the   </a:t>
            </a:r>
            <a:r>
              <a:rPr sz="3250" spc="-20" dirty="0">
                <a:solidFill>
                  <a:srgbClr val="403F41"/>
                </a:solidFill>
                <a:latin typeface="Calibri"/>
                <a:cs typeface="Calibri"/>
              </a:rPr>
              <a:t>effect </a:t>
            </a:r>
            <a:r>
              <a:rPr sz="3250" spc="-1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403F41"/>
                </a:solidFill>
                <a:latin typeface="Calibri"/>
                <a:cs typeface="Calibri"/>
              </a:rPr>
              <a:t>of</a:t>
            </a:r>
            <a:r>
              <a:rPr sz="3250" spc="-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b="1" spc="-5" dirty="0">
                <a:solidFill>
                  <a:srgbClr val="403F41"/>
                </a:solidFill>
                <a:latin typeface="Calibri"/>
                <a:cs typeface="Calibri"/>
              </a:rPr>
              <a:t>Increasing</a:t>
            </a:r>
            <a:r>
              <a:rPr sz="3250" b="1" spc="10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the</a:t>
            </a:r>
            <a:r>
              <a:rPr sz="3250" spc="1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PN</a:t>
            </a:r>
            <a:r>
              <a:rPr sz="3250" spc="3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junction</a:t>
            </a:r>
            <a:r>
              <a:rPr sz="3250" spc="4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spc="-25" dirty="0">
                <a:solidFill>
                  <a:srgbClr val="403F41"/>
                </a:solidFill>
                <a:latin typeface="Calibri"/>
                <a:cs typeface="Calibri"/>
              </a:rPr>
              <a:t>diode’s</a:t>
            </a:r>
            <a:r>
              <a:rPr sz="3250" spc="45" dirty="0">
                <a:solidFill>
                  <a:srgbClr val="403F41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403F41"/>
                </a:solidFill>
                <a:latin typeface="Calibri"/>
                <a:cs typeface="Calibri"/>
              </a:rPr>
              <a:t>width.</a:t>
            </a:r>
            <a:endParaRPr sz="3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6750" y="3498499"/>
            <a:ext cx="5497211" cy="28302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273" y="679703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303" y="2020100"/>
            <a:ext cx="8475889" cy="360661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2155" y="682752"/>
            <a:ext cx="743330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Reverse</a:t>
            </a:r>
            <a:r>
              <a:rPr spc="-35" dirty="0"/>
              <a:t> </a:t>
            </a:r>
            <a:r>
              <a:rPr spc="-25" dirty="0"/>
              <a:t>Bias</a:t>
            </a:r>
            <a:r>
              <a:rPr spc="-100" dirty="0"/>
              <a:t> </a:t>
            </a:r>
            <a:r>
              <a:rPr spc="40" dirty="0"/>
              <a:t>Characteristics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567" y="1554988"/>
            <a:ext cx="7891272" cy="479450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0783" y="679703"/>
            <a:ext cx="63963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15" dirty="0"/>
              <a:t>I</a:t>
            </a:r>
            <a:r>
              <a:rPr spc="200" dirty="0"/>
              <a:t>m</a:t>
            </a:r>
            <a:r>
              <a:rPr spc="20" dirty="0"/>
              <a:t>p</a:t>
            </a:r>
            <a:r>
              <a:rPr spc="-165" dirty="0"/>
              <a:t>o</a:t>
            </a:r>
            <a:r>
              <a:rPr spc="300" dirty="0"/>
              <a:t>r</a:t>
            </a:r>
            <a:r>
              <a:rPr spc="20" dirty="0"/>
              <a:t>t</a:t>
            </a:r>
            <a:r>
              <a:rPr spc="55" dirty="0"/>
              <a:t>a</a:t>
            </a:r>
            <a:r>
              <a:rPr spc="45" dirty="0"/>
              <a:t>n</a:t>
            </a:r>
            <a:r>
              <a:rPr dirty="0"/>
              <a:t>t</a:t>
            </a:r>
            <a:r>
              <a:rPr spc="-305" dirty="0"/>
              <a:t> </a:t>
            </a:r>
            <a:r>
              <a:rPr spc="-210" dirty="0"/>
              <a:t>T</a:t>
            </a:r>
            <a:r>
              <a:rPr spc="30" dirty="0"/>
              <a:t>e</a:t>
            </a:r>
            <a:r>
              <a:rPr spc="330" dirty="0"/>
              <a:t>r</a:t>
            </a:r>
            <a:r>
              <a:rPr spc="204" dirty="0"/>
              <a:t>m</a:t>
            </a:r>
            <a:r>
              <a:rPr spc="160" dirty="0"/>
              <a:t>i</a:t>
            </a:r>
            <a:r>
              <a:rPr spc="20" dirty="0"/>
              <a:t>n</a:t>
            </a:r>
            <a:r>
              <a:rPr spc="-165" dirty="0"/>
              <a:t>o</a:t>
            </a:r>
            <a:r>
              <a:rPr spc="160" dirty="0"/>
              <a:t>l</a:t>
            </a:r>
            <a:r>
              <a:rPr spc="-165" dirty="0"/>
              <a:t>o</a:t>
            </a:r>
            <a:r>
              <a:rPr spc="25" dirty="0"/>
              <a:t>g</a:t>
            </a:r>
            <a:r>
              <a:rPr spc="180" dirty="0"/>
              <a:t>i</a:t>
            </a:r>
            <a:r>
              <a:rPr spc="30" dirty="0"/>
              <a:t>e</a:t>
            </a:r>
            <a:r>
              <a:rPr spc="-19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594" y="1338072"/>
            <a:ext cx="9799320" cy="47688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14655" marR="7620" indent="-402590" algn="just">
              <a:lnSpc>
                <a:spcPts val="3550"/>
              </a:lnSpc>
              <a:spcBef>
                <a:spcPts val="52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b="1" spc="5" dirty="0">
                <a:latin typeface="Calibri"/>
                <a:cs typeface="Calibri"/>
              </a:rPr>
              <a:t>Depletion</a:t>
            </a:r>
            <a:r>
              <a:rPr sz="3250" b="1" spc="10" dirty="0">
                <a:latin typeface="Calibri"/>
                <a:cs typeface="Calibri"/>
              </a:rPr>
              <a:t> </a:t>
            </a:r>
            <a:r>
              <a:rPr sz="3250" b="1" dirty="0">
                <a:latin typeface="Calibri"/>
                <a:cs typeface="Calibri"/>
              </a:rPr>
              <a:t>Region:</a:t>
            </a:r>
            <a:r>
              <a:rPr sz="3250" b="1" spc="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The</a:t>
            </a:r>
            <a:r>
              <a:rPr sz="3250" spc="10" dirty="0">
                <a:latin typeface="Calibri"/>
                <a:cs typeface="Calibri"/>
              </a:rPr>
              <a:t> junction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region</a:t>
            </a:r>
            <a:r>
              <a:rPr sz="3250" spc="5" dirty="0">
                <a:latin typeface="Calibri"/>
                <a:cs typeface="Calibri"/>
              </a:rPr>
              <a:t> itself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has</a:t>
            </a:r>
            <a:r>
              <a:rPr sz="3250" spc="10" dirty="0">
                <a:latin typeface="Calibri"/>
                <a:cs typeface="Calibri"/>
              </a:rPr>
              <a:t> no 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charge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carriers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and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known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depletion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region.</a:t>
            </a:r>
            <a:endParaRPr sz="3250">
              <a:latin typeface="Calibri"/>
              <a:cs typeface="Calibri"/>
            </a:endParaRPr>
          </a:p>
          <a:p>
            <a:pPr marL="414655" marR="11430" indent="-402590" algn="just">
              <a:lnSpc>
                <a:spcPts val="3529"/>
              </a:lnSpc>
              <a:spcBef>
                <a:spcPts val="78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The </a:t>
            </a:r>
            <a:r>
              <a:rPr sz="3250" spc="10" dirty="0">
                <a:latin typeface="Calibri"/>
                <a:cs typeface="Calibri"/>
              </a:rPr>
              <a:t>junction </a:t>
            </a:r>
            <a:r>
              <a:rPr sz="3250" spc="5" dirty="0">
                <a:latin typeface="Calibri"/>
                <a:cs typeface="Calibri"/>
              </a:rPr>
              <a:t>(depletion) </a:t>
            </a:r>
            <a:r>
              <a:rPr sz="3250" spc="-5" dirty="0">
                <a:latin typeface="Calibri"/>
                <a:cs typeface="Calibri"/>
              </a:rPr>
              <a:t>region </a:t>
            </a:r>
            <a:r>
              <a:rPr sz="3250" spc="5" dirty="0">
                <a:latin typeface="Calibri"/>
                <a:cs typeface="Calibri"/>
              </a:rPr>
              <a:t>has a </a:t>
            </a:r>
            <a:r>
              <a:rPr sz="3250" spc="-10" dirty="0">
                <a:latin typeface="Calibri"/>
                <a:cs typeface="Calibri"/>
              </a:rPr>
              <a:t>physical </a:t>
            </a:r>
            <a:r>
              <a:rPr sz="3250" spc="5" dirty="0">
                <a:latin typeface="Calibri"/>
                <a:cs typeface="Calibri"/>
              </a:rPr>
              <a:t>thickness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that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varies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with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applied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voltage.</a:t>
            </a:r>
            <a:endParaRPr sz="3250">
              <a:latin typeface="Calibri"/>
              <a:cs typeface="Calibri"/>
            </a:endParaRPr>
          </a:p>
          <a:p>
            <a:pPr marL="414655" marR="5080" indent="-402590" algn="just">
              <a:lnSpc>
                <a:spcPct val="90700"/>
              </a:lnSpc>
              <a:spcBef>
                <a:spcPts val="75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b="1" spc="5" dirty="0">
                <a:latin typeface="Calibri"/>
                <a:cs typeface="Calibri"/>
              </a:rPr>
              <a:t>Depletion </a:t>
            </a:r>
            <a:r>
              <a:rPr sz="3250" b="1" dirty="0">
                <a:latin typeface="Calibri"/>
                <a:cs typeface="Calibri"/>
              </a:rPr>
              <a:t>Region </a:t>
            </a:r>
            <a:r>
              <a:rPr sz="3250" b="1" spc="10" dirty="0">
                <a:latin typeface="Calibri"/>
                <a:cs typeface="Calibri"/>
              </a:rPr>
              <a:t>@ </a:t>
            </a:r>
            <a:r>
              <a:rPr sz="3250" b="1" spc="-15" dirty="0">
                <a:latin typeface="Calibri"/>
                <a:cs typeface="Calibri"/>
              </a:rPr>
              <a:t>Zero </a:t>
            </a:r>
            <a:r>
              <a:rPr sz="3250" b="1" spc="5" dirty="0">
                <a:latin typeface="Calibri"/>
                <a:cs typeface="Calibri"/>
              </a:rPr>
              <a:t>Bias: </a:t>
            </a:r>
            <a:r>
              <a:rPr sz="3250" spc="10" dirty="0">
                <a:latin typeface="Calibri"/>
                <a:cs typeface="Calibri"/>
              </a:rPr>
              <a:t>When </a:t>
            </a:r>
            <a:r>
              <a:rPr sz="3250" spc="5" dirty="0">
                <a:latin typeface="Calibri"/>
                <a:cs typeface="Calibri"/>
              </a:rPr>
              <a:t>a diode </a:t>
            </a:r>
            <a:r>
              <a:rPr sz="3250" spc="10" dirty="0">
                <a:latin typeface="Calibri"/>
                <a:cs typeface="Calibri"/>
              </a:rPr>
              <a:t>is </a:t>
            </a:r>
            <a:r>
              <a:rPr sz="3250" spc="-20" dirty="0">
                <a:latin typeface="Calibri"/>
                <a:cs typeface="Calibri"/>
              </a:rPr>
              <a:t>Zero 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Biased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no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external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energy</a:t>
            </a:r>
            <a:r>
              <a:rPr sz="3250" spc="-5" dirty="0">
                <a:latin typeface="Calibri"/>
                <a:cs typeface="Calibri"/>
              </a:rPr>
              <a:t> source</a:t>
            </a:r>
            <a:r>
              <a:rPr sz="3250" dirty="0">
                <a:latin typeface="Calibri"/>
                <a:cs typeface="Calibri"/>
              </a:rPr>
              <a:t> is</a:t>
            </a:r>
            <a:r>
              <a:rPr sz="3250" spc="5" dirty="0">
                <a:latin typeface="Calibri"/>
                <a:cs typeface="Calibri"/>
              </a:rPr>
              <a:t> applied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and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 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natural</a:t>
            </a:r>
            <a:r>
              <a:rPr sz="3250" spc="-10" dirty="0">
                <a:latin typeface="Calibri"/>
                <a:cs typeface="Calibri"/>
              </a:rPr>
              <a:t> Potential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Barrier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developed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across</a:t>
            </a:r>
            <a:r>
              <a:rPr sz="3250" spc="73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 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depletion </a:t>
            </a:r>
            <a:r>
              <a:rPr sz="3250" spc="-15" dirty="0">
                <a:latin typeface="Calibri"/>
                <a:cs typeface="Calibri"/>
              </a:rPr>
              <a:t>layer </a:t>
            </a:r>
            <a:r>
              <a:rPr sz="3250" spc="10" dirty="0">
                <a:latin typeface="Calibri"/>
                <a:cs typeface="Calibri"/>
              </a:rPr>
              <a:t>which is </a:t>
            </a:r>
            <a:r>
              <a:rPr sz="3250" spc="-5" dirty="0">
                <a:latin typeface="Calibri"/>
                <a:cs typeface="Calibri"/>
              </a:rPr>
              <a:t>approximately </a:t>
            </a:r>
            <a:r>
              <a:rPr sz="3250" dirty="0">
                <a:latin typeface="Calibri"/>
                <a:cs typeface="Calibri"/>
              </a:rPr>
              <a:t>0.5 </a:t>
            </a:r>
            <a:r>
              <a:rPr sz="3250" spc="-5" dirty="0">
                <a:latin typeface="Calibri"/>
                <a:cs typeface="Calibri"/>
              </a:rPr>
              <a:t>to </a:t>
            </a:r>
            <a:r>
              <a:rPr sz="3250" spc="5" dirty="0">
                <a:latin typeface="Calibri"/>
                <a:cs typeface="Calibri"/>
              </a:rPr>
              <a:t>0.7v </a:t>
            </a:r>
            <a:r>
              <a:rPr sz="3250" spc="-5" dirty="0">
                <a:latin typeface="Calibri"/>
                <a:cs typeface="Calibri"/>
              </a:rPr>
              <a:t>for </a:t>
            </a:r>
            <a:r>
              <a:rPr sz="3250" dirty="0">
                <a:latin typeface="Calibri"/>
                <a:cs typeface="Calibri"/>
              </a:rPr>
              <a:t> silicon</a:t>
            </a:r>
            <a:r>
              <a:rPr sz="3250" spc="5" dirty="0">
                <a:latin typeface="Calibri"/>
                <a:cs typeface="Calibri"/>
              </a:rPr>
              <a:t> diodes</a:t>
            </a:r>
            <a:r>
              <a:rPr sz="3250" spc="10" dirty="0">
                <a:latin typeface="Calibri"/>
                <a:cs typeface="Calibri"/>
              </a:rPr>
              <a:t> and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approximately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0.3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volt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for 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germanium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diodes.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273" y="679703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594" y="1389887"/>
            <a:ext cx="9796780" cy="461645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14655" marR="5715" indent="-402590" algn="just">
              <a:lnSpc>
                <a:spcPct val="100699"/>
              </a:lnSpc>
              <a:spcBef>
                <a:spcPts val="8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b="1" spc="5" dirty="0">
                <a:latin typeface="Calibri"/>
                <a:cs typeface="Calibri"/>
              </a:rPr>
              <a:t>Depletion</a:t>
            </a:r>
            <a:r>
              <a:rPr sz="3250" b="1" spc="10" dirty="0">
                <a:latin typeface="Calibri"/>
                <a:cs typeface="Calibri"/>
              </a:rPr>
              <a:t> </a:t>
            </a:r>
            <a:r>
              <a:rPr sz="3250" b="1" dirty="0">
                <a:latin typeface="Calibri"/>
                <a:cs typeface="Calibri"/>
              </a:rPr>
              <a:t>Region,</a:t>
            </a:r>
            <a:r>
              <a:rPr sz="3250" b="1" spc="5" dirty="0">
                <a:latin typeface="Calibri"/>
                <a:cs typeface="Calibri"/>
              </a:rPr>
              <a:t> </a:t>
            </a:r>
            <a:r>
              <a:rPr sz="3250" b="1" spc="-5" dirty="0">
                <a:latin typeface="Calibri"/>
                <a:cs typeface="Calibri"/>
              </a:rPr>
              <a:t>Forward</a:t>
            </a:r>
            <a:r>
              <a:rPr sz="3250" b="1" dirty="0">
                <a:latin typeface="Calibri"/>
                <a:cs typeface="Calibri"/>
              </a:rPr>
              <a:t> Bias</a:t>
            </a:r>
            <a:r>
              <a:rPr sz="3250" b="1" spc="5" dirty="0">
                <a:latin typeface="Calibri"/>
                <a:cs typeface="Calibri"/>
              </a:rPr>
              <a:t> </a:t>
            </a:r>
            <a:r>
              <a:rPr sz="3250" b="1" dirty="0">
                <a:latin typeface="Calibri"/>
                <a:cs typeface="Calibri"/>
              </a:rPr>
              <a:t>:</a:t>
            </a:r>
            <a:r>
              <a:rPr sz="3250" b="1" spc="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When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junction 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diode </a:t>
            </a:r>
            <a:r>
              <a:rPr sz="3250" dirty="0">
                <a:latin typeface="Calibri"/>
                <a:cs typeface="Calibri"/>
              </a:rPr>
              <a:t>is </a:t>
            </a:r>
            <a:r>
              <a:rPr sz="3250" spc="-10" dirty="0">
                <a:latin typeface="Calibri"/>
                <a:cs typeface="Calibri"/>
              </a:rPr>
              <a:t>Forward </a:t>
            </a:r>
            <a:r>
              <a:rPr sz="3250" spc="5" dirty="0">
                <a:latin typeface="Calibri"/>
                <a:cs typeface="Calibri"/>
              </a:rPr>
              <a:t>Biased </a:t>
            </a:r>
            <a:r>
              <a:rPr sz="3250" spc="1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thickness of </a:t>
            </a:r>
            <a:r>
              <a:rPr sz="3250" dirty="0">
                <a:latin typeface="Calibri"/>
                <a:cs typeface="Calibri"/>
              </a:rPr>
              <a:t>the depletion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region </a:t>
            </a:r>
            <a:r>
              <a:rPr sz="3250" dirty="0">
                <a:latin typeface="Calibri"/>
                <a:cs typeface="Calibri"/>
              </a:rPr>
              <a:t>reduces </a:t>
            </a:r>
            <a:r>
              <a:rPr sz="3250" spc="10" dirty="0">
                <a:latin typeface="Calibri"/>
                <a:cs typeface="Calibri"/>
              </a:rPr>
              <a:t>and the </a:t>
            </a:r>
            <a:r>
              <a:rPr sz="3250" spc="5" dirty="0">
                <a:latin typeface="Calibri"/>
                <a:cs typeface="Calibri"/>
              </a:rPr>
              <a:t>diode acts </a:t>
            </a:r>
            <a:r>
              <a:rPr sz="3250" spc="-25" dirty="0">
                <a:latin typeface="Calibri"/>
                <a:cs typeface="Calibri"/>
              </a:rPr>
              <a:t>like </a:t>
            </a:r>
            <a:r>
              <a:rPr sz="3250" spc="5" dirty="0">
                <a:latin typeface="Calibri"/>
                <a:cs typeface="Calibri"/>
              </a:rPr>
              <a:t>a short </a:t>
            </a:r>
            <a:r>
              <a:rPr sz="3250" dirty="0">
                <a:latin typeface="Calibri"/>
                <a:cs typeface="Calibri"/>
              </a:rPr>
              <a:t>circuit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allowing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full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circuit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to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spc="-45" dirty="0">
                <a:latin typeface="Calibri"/>
                <a:cs typeface="Calibri"/>
              </a:rPr>
              <a:t>flow.</a:t>
            </a:r>
            <a:endParaRPr sz="3250">
              <a:latin typeface="Calibri"/>
              <a:cs typeface="Calibri"/>
            </a:endParaRPr>
          </a:p>
          <a:p>
            <a:pPr marL="414655" marR="5080" indent="-402590" algn="just">
              <a:lnSpc>
                <a:spcPct val="100800"/>
              </a:lnSpc>
              <a:spcBef>
                <a:spcPts val="79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b="1" spc="5" dirty="0">
                <a:latin typeface="Calibri"/>
                <a:cs typeface="Calibri"/>
              </a:rPr>
              <a:t>Depletion</a:t>
            </a:r>
            <a:r>
              <a:rPr sz="3250" b="1" spc="10" dirty="0">
                <a:latin typeface="Calibri"/>
                <a:cs typeface="Calibri"/>
              </a:rPr>
              <a:t> </a:t>
            </a:r>
            <a:r>
              <a:rPr sz="3250" b="1" dirty="0">
                <a:latin typeface="Calibri"/>
                <a:cs typeface="Calibri"/>
              </a:rPr>
              <a:t>Region,</a:t>
            </a:r>
            <a:r>
              <a:rPr sz="3250" b="1" spc="5" dirty="0">
                <a:latin typeface="Calibri"/>
                <a:cs typeface="Calibri"/>
              </a:rPr>
              <a:t> </a:t>
            </a:r>
            <a:r>
              <a:rPr sz="3250" b="1" spc="-10" dirty="0">
                <a:latin typeface="Calibri"/>
                <a:cs typeface="Calibri"/>
              </a:rPr>
              <a:t>Reverse</a:t>
            </a:r>
            <a:r>
              <a:rPr sz="3250" b="1" spc="-5" dirty="0">
                <a:latin typeface="Calibri"/>
                <a:cs typeface="Calibri"/>
              </a:rPr>
              <a:t> </a:t>
            </a:r>
            <a:r>
              <a:rPr sz="3250" b="1" dirty="0">
                <a:latin typeface="Calibri"/>
                <a:cs typeface="Calibri"/>
              </a:rPr>
              <a:t>Bias:</a:t>
            </a:r>
            <a:r>
              <a:rPr sz="3250" b="1" spc="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When  </a:t>
            </a:r>
            <a:r>
              <a:rPr sz="3250" spc="5" dirty="0">
                <a:latin typeface="Calibri"/>
                <a:cs typeface="Calibri"/>
              </a:rPr>
              <a:t>a  junction 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diode </a:t>
            </a:r>
            <a:r>
              <a:rPr sz="3250" spc="10" dirty="0">
                <a:latin typeface="Calibri"/>
                <a:cs typeface="Calibri"/>
              </a:rPr>
              <a:t>is </a:t>
            </a:r>
            <a:r>
              <a:rPr sz="3250" spc="-15" dirty="0">
                <a:latin typeface="Calibri"/>
                <a:cs typeface="Calibri"/>
              </a:rPr>
              <a:t>Reverse </a:t>
            </a:r>
            <a:r>
              <a:rPr sz="3250" spc="5" dirty="0">
                <a:latin typeface="Calibri"/>
                <a:cs typeface="Calibri"/>
              </a:rPr>
              <a:t>Biased </a:t>
            </a:r>
            <a:r>
              <a:rPr sz="3250" spc="10" dirty="0">
                <a:latin typeface="Calibri"/>
                <a:cs typeface="Calibri"/>
              </a:rPr>
              <a:t>the thickness </a:t>
            </a:r>
            <a:r>
              <a:rPr sz="3250" spc="5" dirty="0">
                <a:latin typeface="Calibri"/>
                <a:cs typeface="Calibri"/>
              </a:rPr>
              <a:t>of </a:t>
            </a:r>
            <a:r>
              <a:rPr sz="3250" spc="10" dirty="0">
                <a:latin typeface="Calibri"/>
                <a:cs typeface="Calibri"/>
              </a:rPr>
              <a:t>the </a:t>
            </a:r>
            <a:r>
              <a:rPr sz="3250" dirty="0">
                <a:latin typeface="Calibri"/>
                <a:cs typeface="Calibri"/>
              </a:rPr>
              <a:t>depletion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region </a:t>
            </a:r>
            <a:r>
              <a:rPr sz="3250" dirty="0">
                <a:latin typeface="Calibri"/>
                <a:cs typeface="Calibri"/>
              </a:rPr>
              <a:t>increases </a:t>
            </a:r>
            <a:r>
              <a:rPr sz="3250" spc="10" dirty="0">
                <a:latin typeface="Calibri"/>
                <a:cs typeface="Calibri"/>
              </a:rPr>
              <a:t>and the </a:t>
            </a:r>
            <a:r>
              <a:rPr sz="3250" dirty="0">
                <a:latin typeface="Calibri"/>
                <a:cs typeface="Calibri"/>
              </a:rPr>
              <a:t>diode </a:t>
            </a:r>
            <a:r>
              <a:rPr sz="3250" spc="5" dirty="0">
                <a:latin typeface="Calibri"/>
                <a:cs typeface="Calibri"/>
              </a:rPr>
              <a:t>acts </a:t>
            </a:r>
            <a:r>
              <a:rPr sz="3250" spc="-25" dirty="0">
                <a:latin typeface="Calibri"/>
                <a:cs typeface="Calibri"/>
              </a:rPr>
              <a:t>like </a:t>
            </a:r>
            <a:r>
              <a:rPr sz="3250" dirty="0">
                <a:latin typeface="Calibri"/>
                <a:cs typeface="Calibri"/>
              </a:rPr>
              <a:t>an </a:t>
            </a:r>
            <a:r>
              <a:rPr sz="3250" spc="15" dirty="0">
                <a:latin typeface="Calibri"/>
                <a:cs typeface="Calibri"/>
              </a:rPr>
              <a:t>open </a:t>
            </a:r>
            <a:r>
              <a:rPr sz="3250" dirty="0">
                <a:latin typeface="Calibri"/>
                <a:cs typeface="Calibri"/>
              </a:rPr>
              <a:t>circuit </a:t>
            </a:r>
            <a:r>
              <a:rPr sz="3250" spc="5" dirty="0">
                <a:latin typeface="Calibri"/>
                <a:cs typeface="Calibri"/>
              </a:rPr>
              <a:t> blocking </a:t>
            </a:r>
            <a:r>
              <a:rPr sz="3250" spc="-20" dirty="0">
                <a:latin typeface="Calibri"/>
                <a:cs typeface="Calibri"/>
              </a:rPr>
              <a:t>any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current </a:t>
            </a:r>
            <a:r>
              <a:rPr sz="3250" spc="-60" dirty="0">
                <a:latin typeface="Calibri"/>
                <a:cs typeface="Calibri"/>
              </a:rPr>
              <a:t>flow,</a:t>
            </a:r>
            <a:r>
              <a:rPr sz="3250" spc="-5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(only a </a:t>
            </a:r>
            <a:r>
              <a:rPr sz="3250" dirty="0">
                <a:latin typeface="Calibri"/>
                <a:cs typeface="Calibri"/>
              </a:rPr>
              <a:t>very small </a:t>
            </a:r>
            <a:r>
              <a:rPr sz="3250" spc="-10" dirty="0">
                <a:latin typeface="Calibri"/>
                <a:cs typeface="Calibri"/>
              </a:rPr>
              <a:t>leakage 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will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flow).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273" y="679703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371" y="1353312"/>
            <a:ext cx="10329545" cy="15195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4655" marR="5080" indent="-402590" algn="just">
              <a:lnSpc>
                <a:spcPct val="100600"/>
              </a:lnSpc>
              <a:spcBef>
                <a:spcPts val="9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b="1" spc="5" dirty="0">
                <a:latin typeface="Calibri"/>
                <a:cs typeface="Calibri"/>
              </a:rPr>
              <a:t>Drift </a:t>
            </a:r>
            <a:r>
              <a:rPr sz="3250" b="1" dirty="0">
                <a:latin typeface="Calibri"/>
                <a:cs typeface="Calibri"/>
              </a:rPr>
              <a:t>Current: </a:t>
            </a:r>
            <a:r>
              <a:rPr sz="3250" spc="10" dirty="0">
                <a:solidFill>
                  <a:srgbClr val="666666"/>
                </a:solidFill>
                <a:latin typeface="Calibri"/>
                <a:cs typeface="Calibri"/>
              </a:rPr>
              <a:t>Drift </a:t>
            </a:r>
            <a:r>
              <a:rPr sz="3250" spc="-10" dirty="0">
                <a:solidFill>
                  <a:srgbClr val="666666"/>
                </a:solidFill>
                <a:latin typeface="Calibri"/>
                <a:cs typeface="Calibri"/>
              </a:rPr>
              <a:t>current </a:t>
            </a:r>
            <a:r>
              <a:rPr sz="3250" spc="5" dirty="0">
                <a:solidFill>
                  <a:srgbClr val="666666"/>
                </a:solidFill>
                <a:latin typeface="Calibri"/>
                <a:cs typeface="Calibri"/>
              </a:rPr>
              <a:t>can </a:t>
            </a:r>
            <a:r>
              <a:rPr sz="3250" dirty="0">
                <a:solidFill>
                  <a:srgbClr val="666666"/>
                </a:solidFill>
                <a:latin typeface="Calibri"/>
                <a:cs typeface="Calibri"/>
              </a:rPr>
              <a:t>be defined as the </a:t>
            </a:r>
            <a:r>
              <a:rPr sz="3250" spc="-5" dirty="0">
                <a:solidFill>
                  <a:srgbClr val="666666"/>
                </a:solidFill>
                <a:latin typeface="Calibri"/>
                <a:cs typeface="Calibri"/>
              </a:rPr>
              <a:t>charge </a:t>
            </a:r>
            <a:r>
              <a:rPr sz="325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666666"/>
                </a:solidFill>
                <a:latin typeface="Calibri"/>
                <a:cs typeface="Calibri"/>
              </a:rPr>
              <a:t>carrier’s </a:t>
            </a:r>
            <a:r>
              <a:rPr sz="3250" dirty="0">
                <a:solidFill>
                  <a:srgbClr val="666666"/>
                </a:solidFill>
                <a:latin typeface="Calibri"/>
                <a:cs typeface="Calibri"/>
              </a:rPr>
              <a:t>moves </a:t>
            </a:r>
            <a:r>
              <a:rPr sz="3250" spc="10" dirty="0">
                <a:solidFill>
                  <a:srgbClr val="666666"/>
                </a:solidFill>
                <a:latin typeface="Calibri"/>
                <a:cs typeface="Calibri"/>
              </a:rPr>
              <a:t>in </a:t>
            </a:r>
            <a:r>
              <a:rPr sz="3250" spc="5" dirty="0">
                <a:solidFill>
                  <a:srgbClr val="666666"/>
                </a:solidFill>
                <a:latin typeface="Calibri"/>
                <a:cs typeface="Calibri"/>
              </a:rPr>
              <a:t>a semiconductor </a:t>
            </a:r>
            <a:r>
              <a:rPr sz="3250" dirty="0">
                <a:solidFill>
                  <a:srgbClr val="666666"/>
                </a:solidFill>
                <a:latin typeface="Calibri"/>
                <a:cs typeface="Calibri"/>
              </a:rPr>
              <a:t>because </a:t>
            </a:r>
            <a:r>
              <a:rPr sz="3250" spc="5" dirty="0">
                <a:solidFill>
                  <a:srgbClr val="666666"/>
                </a:solidFill>
                <a:latin typeface="Calibri"/>
                <a:cs typeface="Calibri"/>
              </a:rPr>
              <a:t>of </a:t>
            </a:r>
            <a:r>
              <a:rPr sz="3250" dirty="0">
                <a:solidFill>
                  <a:srgbClr val="666666"/>
                </a:solidFill>
                <a:latin typeface="Calibri"/>
                <a:cs typeface="Calibri"/>
              </a:rPr>
              <a:t>the </a:t>
            </a:r>
            <a:r>
              <a:rPr sz="3250" spc="5" dirty="0">
                <a:solidFill>
                  <a:srgbClr val="666666"/>
                </a:solidFill>
                <a:latin typeface="Calibri"/>
                <a:cs typeface="Calibri"/>
              </a:rPr>
              <a:t>electric </a:t>
            </a:r>
            <a:r>
              <a:rPr sz="3250" spc="1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666666"/>
                </a:solidFill>
                <a:latin typeface="Calibri"/>
                <a:cs typeface="Calibri"/>
              </a:rPr>
              <a:t>field.</a:t>
            </a:r>
            <a:endParaRPr sz="3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3805" y="2811464"/>
            <a:ext cx="5346058" cy="356370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273" y="679703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268" y="1353312"/>
            <a:ext cx="9796145" cy="262001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14655" marR="5080" indent="-402590" algn="just">
              <a:lnSpc>
                <a:spcPct val="100699"/>
              </a:lnSpc>
              <a:spcBef>
                <a:spcPts val="8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b="1" dirty="0">
                <a:latin typeface="Calibri"/>
                <a:cs typeface="Calibri"/>
              </a:rPr>
              <a:t>Diffusion Current: </a:t>
            </a:r>
            <a:r>
              <a:rPr sz="3250" spc="5" dirty="0">
                <a:solidFill>
                  <a:srgbClr val="666666"/>
                </a:solidFill>
                <a:latin typeface="Calibri"/>
                <a:cs typeface="Calibri"/>
              </a:rPr>
              <a:t>The </a:t>
            </a:r>
            <a:r>
              <a:rPr sz="3250" dirty="0">
                <a:solidFill>
                  <a:srgbClr val="666666"/>
                </a:solidFill>
                <a:latin typeface="Calibri"/>
                <a:cs typeface="Calibri"/>
              </a:rPr>
              <a:t>diffusion </a:t>
            </a:r>
            <a:r>
              <a:rPr sz="3250" spc="-5" dirty="0">
                <a:solidFill>
                  <a:srgbClr val="666666"/>
                </a:solidFill>
                <a:latin typeface="Calibri"/>
                <a:cs typeface="Calibri"/>
              </a:rPr>
              <a:t>current </a:t>
            </a:r>
            <a:r>
              <a:rPr sz="3250" dirty="0">
                <a:solidFill>
                  <a:srgbClr val="666666"/>
                </a:solidFill>
                <a:latin typeface="Calibri"/>
                <a:cs typeface="Calibri"/>
              </a:rPr>
              <a:t>can be </a:t>
            </a:r>
            <a:r>
              <a:rPr sz="3250" spc="-5" dirty="0">
                <a:solidFill>
                  <a:srgbClr val="666666"/>
                </a:solidFill>
                <a:latin typeface="Calibri"/>
                <a:cs typeface="Calibri"/>
              </a:rPr>
              <a:t>defined </a:t>
            </a:r>
            <a:r>
              <a:rPr sz="3250" dirty="0">
                <a:solidFill>
                  <a:srgbClr val="666666"/>
                </a:solidFill>
                <a:latin typeface="Calibri"/>
                <a:cs typeface="Calibri"/>
              </a:rPr>
              <a:t> as </a:t>
            </a:r>
            <a:r>
              <a:rPr sz="3250" spc="10" dirty="0">
                <a:solidFill>
                  <a:srgbClr val="666666"/>
                </a:solidFill>
                <a:latin typeface="Calibri"/>
                <a:cs typeface="Calibri"/>
              </a:rPr>
              <a:t>the </a:t>
            </a:r>
            <a:r>
              <a:rPr sz="3250" dirty="0">
                <a:solidFill>
                  <a:srgbClr val="666666"/>
                </a:solidFill>
                <a:latin typeface="Calibri"/>
                <a:cs typeface="Calibri"/>
              </a:rPr>
              <a:t>flow </a:t>
            </a:r>
            <a:r>
              <a:rPr sz="3250" spc="5" dirty="0">
                <a:solidFill>
                  <a:srgbClr val="666666"/>
                </a:solidFill>
                <a:latin typeface="Calibri"/>
                <a:cs typeface="Calibri"/>
              </a:rPr>
              <a:t>of </a:t>
            </a:r>
            <a:r>
              <a:rPr sz="3250" spc="-10" dirty="0">
                <a:solidFill>
                  <a:srgbClr val="666666"/>
                </a:solidFill>
                <a:latin typeface="Calibri"/>
                <a:cs typeface="Calibri"/>
              </a:rPr>
              <a:t>charge </a:t>
            </a:r>
            <a:r>
              <a:rPr sz="3250" spc="-5" dirty="0">
                <a:solidFill>
                  <a:srgbClr val="666666"/>
                </a:solidFill>
                <a:latin typeface="Calibri"/>
                <a:cs typeface="Calibri"/>
              </a:rPr>
              <a:t>carriers </a:t>
            </a:r>
            <a:r>
              <a:rPr sz="3250" spc="5" dirty="0">
                <a:solidFill>
                  <a:srgbClr val="666666"/>
                </a:solidFill>
                <a:latin typeface="Calibri"/>
                <a:cs typeface="Calibri"/>
              </a:rPr>
              <a:t>within a semiconductor </a:t>
            </a:r>
            <a:r>
              <a:rPr sz="3250" spc="1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3250" spc="-20" dirty="0">
                <a:solidFill>
                  <a:srgbClr val="666666"/>
                </a:solidFill>
                <a:latin typeface="Calibri"/>
                <a:cs typeface="Calibri"/>
              </a:rPr>
              <a:t>travels </a:t>
            </a:r>
            <a:r>
              <a:rPr sz="3250" spc="-10" dirty="0">
                <a:solidFill>
                  <a:srgbClr val="666666"/>
                </a:solidFill>
                <a:latin typeface="Calibri"/>
                <a:cs typeface="Calibri"/>
              </a:rPr>
              <a:t>from </a:t>
            </a:r>
            <a:r>
              <a:rPr sz="3250" spc="5" dirty="0">
                <a:solidFill>
                  <a:srgbClr val="666666"/>
                </a:solidFill>
                <a:latin typeface="Calibri"/>
                <a:cs typeface="Calibri"/>
              </a:rPr>
              <a:t>a higher </a:t>
            </a:r>
            <a:r>
              <a:rPr sz="3250" spc="-5" dirty="0">
                <a:solidFill>
                  <a:srgbClr val="666666"/>
                </a:solidFill>
                <a:latin typeface="Calibri"/>
                <a:cs typeface="Calibri"/>
              </a:rPr>
              <a:t>concentration region to </a:t>
            </a:r>
            <a:r>
              <a:rPr sz="3250" spc="5" dirty="0">
                <a:solidFill>
                  <a:srgbClr val="666666"/>
                </a:solidFill>
                <a:latin typeface="Calibri"/>
                <a:cs typeface="Calibri"/>
              </a:rPr>
              <a:t>a </a:t>
            </a:r>
            <a:r>
              <a:rPr sz="3250" dirty="0">
                <a:solidFill>
                  <a:srgbClr val="666666"/>
                </a:solidFill>
                <a:latin typeface="Calibri"/>
                <a:cs typeface="Calibri"/>
              </a:rPr>
              <a:t>lower </a:t>
            </a:r>
            <a:r>
              <a:rPr sz="3250" spc="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666666"/>
                </a:solidFill>
                <a:latin typeface="Calibri"/>
                <a:cs typeface="Calibri"/>
              </a:rPr>
              <a:t>concentration</a:t>
            </a:r>
            <a:r>
              <a:rPr sz="3250" spc="4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666666"/>
                </a:solidFill>
                <a:latin typeface="Calibri"/>
                <a:cs typeface="Calibri"/>
              </a:rPr>
              <a:t>region.</a:t>
            </a:r>
            <a:endParaRPr sz="3250">
              <a:latin typeface="Calibri"/>
              <a:cs typeface="Calibri"/>
            </a:endParaRPr>
          </a:p>
          <a:p>
            <a:pPr marL="414655" indent="-402590" algn="just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b="1" u="heavy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Calibri"/>
                <a:cs typeface="Calibri"/>
              </a:rPr>
              <a:t>Cause:</a:t>
            </a:r>
            <a:r>
              <a:rPr sz="3250" b="1" spc="4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666666"/>
                </a:solidFill>
                <a:latin typeface="Calibri"/>
                <a:cs typeface="Calibri"/>
              </a:rPr>
              <a:t>Non-uniform</a:t>
            </a:r>
            <a:r>
              <a:rPr sz="3250" spc="65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666666"/>
                </a:solidFill>
                <a:latin typeface="Calibri"/>
                <a:cs typeface="Calibri"/>
              </a:rPr>
              <a:t>doping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0174" y="679703"/>
            <a:ext cx="61194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Diode</a:t>
            </a:r>
            <a:r>
              <a:rPr spc="-35" dirty="0"/>
              <a:t> </a:t>
            </a:r>
            <a:r>
              <a:rPr spc="75" dirty="0"/>
              <a:t>Current</a:t>
            </a:r>
            <a:r>
              <a:rPr spc="-50" dirty="0"/>
              <a:t> </a:t>
            </a:r>
            <a:r>
              <a:rPr spc="15" dirty="0"/>
              <a:t>Equation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2684" y="1389887"/>
            <a:ext cx="1709420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-10" dirty="0">
                <a:latin typeface="Calibri"/>
                <a:cs typeface="Calibri"/>
              </a:rPr>
              <a:t>Current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04948" y="1389887"/>
            <a:ext cx="7682865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051685" algn="l"/>
                <a:tab pos="3105785" algn="l"/>
                <a:tab pos="4492625" algn="l"/>
                <a:tab pos="6156960" algn="l"/>
              </a:tabLst>
            </a:pPr>
            <a:r>
              <a:rPr sz="3250" spc="-30" dirty="0">
                <a:latin typeface="Calibri"/>
                <a:cs typeface="Calibri"/>
              </a:rPr>
              <a:t>E</a:t>
            </a:r>
            <a:r>
              <a:rPr sz="3250" spc="15" dirty="0">
                <a:latin typeface="Calibri"/>
                <a:cs typeface="Calibri"/>
              </a:rPr>
              <a:t>q</a:t>
            </a:r>
            <a:r>
              <a:rPr sz="3250" spc="-5" dirty="0">
                <a:latin typeface="Calibri"/>
                <a:cs typeface="Calibri"/>
              </a:rPr>
              <a:t>u</a:t>
            </a:r>
            <a:r>
              <a:rPr sz="3250" spc="-25" dirty="0">
                <a:latin typeface="Calibri"/>
                <a:cs typeface="Calibri"/>
              </a:rPr>
              <a:t>a</a:t>
            </a:r>
            <a:r>
              <a:rPr sz="3250" spc="5" dirty="0">
                <a:latin typeface="Calibri"/>
                <a:cs typeface="Calibri"/>
              </a:rPr>
              <a:t>t</a:t>
            </a:r>
            <a:r>
              <a:rPr sz="3250" spc="-5" dirty="0">
                <a:latin typeface="Calibri"/>
                <a:cs typeface="Calibri"/>
              </a:rPr>
              <a:t>i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-10" dirty="0">
                <a:latin typeface="Calibri"/>
                <a:cs typeface="Calibri"/>
              </a:rPr>
              <a:t>n</a:t>
            </a:r>
            <a:r>
              <a:rPr sz="3250" dirty="0">
                <a:latin typeface="Calibri"/>
                <a:cs typeface="Calibri"/>
              </a:rPr>
              <a:t>:	</a:t>
            </a:r>
            <a:r>
              <a:rPr sz="3250" spc="20" dirty="0">
                <a:latin typeface="Calibri"/>
                <a:cs typeface="Calibri"/>
              </a:rPr>
              <a:t>T</a:t>
            </a:r>
            <a:r>
              <a:rPr sz="3250" spc="-5" dirty="0">
                <a:latin typeface="Calibri"/>
                <a:cs typeface="Calibri"/>
              </a:rPr>
              <a:t>h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5" dirty="0">
                <a:latin typeface="Calibri"/>
                <a:cs typeface="Calibri"/>
              </a:rPr>
              <a:t>di</a:t>
            </a:r>
            <a:r>
              <a:rPr sz="3250" spc="30" dirty="0">
                <a:latin typeface="Calibri"/>
                <a:cs typeface="Calibri"/>
              </a:rPr>
              <a:t>o</a:t>
            </a:r>
            <a:r>
              <a:rPr sz="3250" spc="-5" dirty="0">
                <a:latin typeface="Calibri"/>
                <a:cs typeface="Calibri"/>
              </a:rPr>
              <a:t>d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15" dirty="0">
                <a:latin typeface="Calibri"/>
                <a:cs typeface="Calibri"/>
              </a:rPr>
              <a:t>c</a:t>
            </a:r>
            <a:r>
              <a:rPr sz="3250" spc="-5" dirty="0">
                <a:latin typeface="Calibri"/>
                <a:cs typeface="Calibri"/>
              </a:rPr>
              <a:t>u</a:t>
            </a:r>
            <a:r>
              <a:rPr sz="3250" spc="10" dirty="0">
                <a:latin typeface="Calibri"/>
                <a:cs typeface="Calibri"/>
              </a:rPr>
              <a:t>r</a:t>
            </a:r>
            <a:r>
              <a:rPr sz="3250" spc="-60" dirty="0">
                <a:latin typeface="Calibri"/>
                <a:cs typeface="Calibri"/>
              </a:rPr>
              <a:t>r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spc="-30" dirty="0">
                <a:latin typeface="Calibri"/>
                <a:cs typeface="Calibri"/>
              </a:rPr>
              <a:t>n</a:t>
            </a:r>
            <a:r>
              <a:rPr sz="3250" dirty="0">
                <a:latin typeface="Calibri"/>
                <a:cs typeface="Calibri"/>
              </a:rPr>
              <a:t>t	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spc="15" dirty="0">
                <a:latin typeface="Calibri"/>
                <a:cs typeface="Calibri"/>
              </a:rPr>
              <a:t>q</a:t>
            </a:r>
            <a:r>
              <a:rPr sz="3250" spc="-5" dirty="0">
                <a:latin typeface="Calibri"/>
                <a:cs typeface="Calibri"/>
              </a:rPr>
              <a:t>u</a:t>
            </a:r>
            <a:r>
              <a:rPr sz="3250" spc="-25" dirty="0">
                <a:latin typeface="Calibri"/>
                <a:cs typeface="Calibri"/>
              </a:rPr>
              <a:t>a</a:t>
            </a:r>
            <a:r>
              <a:rPr sz="3250" spc="30" dirty="0">
                <a:latin typeface="Calibri"/>
                <a:cs typeface="Calibri"/>
              </a:rPr>
              <a:t>t</a:t>
            </a:r>
            <a:r>
              <a:rPr sz="3250" spc="-5" dirty="0">
                <a:latin typeface="Calibri"/>
                <a:cs typeface="Calibri"/>
              </a:rPr>
              <a:t>i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5" dirty="0">
                <a:latin typeface="Calibri"/>
                <a:cs typeface="Calibri"/>
              </a:rPr>
              <a:t>n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019" y="1889760"/>
            <a:ext cx="9393555" cy="20199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00699"/>
              </a:lnSpc>
              <a:spcBef>
                <a:spcPts val="85"/>
              </a:spcBef>
            </a:pPr>
            <a:r>
              <a:rPr sz="3250" spc="-5" dirty="0">
                <a:latin typeface="Calibri"/>
                <a:cs typeface="Calibri"/>
              </a:rPr>
              <a:t>expresses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the</a:t>
            </a:r>
            <a:r>
              <a:rPr sz="3250" spc="75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relationship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between</a:t>
            </a:r>
            <a:r>
              <a:rPr sz="3250" dirty="0">
                <a:latin typeface="Calibri"/>
                <a:cs typeface="Calibri"/>
              </a:rPr>
              <a:t> the</a:t>
            </a:r>
            <a:r>
              <a:rPr sz="3250" spc="735" dirty="0">
                <a:latin typeface="Calibri"/>
                <a:cs typeface="Calibri"/>
              </a:rPr>
              <a:t> </a:t>
            </a:r>
            <a:r>
              <a:rPr sz="325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Current </a:t>
            </a:r>
            <a:r>
              <a:rPr sz="3250" b="1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flowing </a:t>
            </a:r>
            <a:r>
              <a:rPr sz="3250" spc="5" dirty="0">
                <a:latin typeface="Calibri"/>
                <a:cs typeface="Calibri"/>
              </a:rPr>
              <a:t>through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diode </a:t>
            </a:r>
            <a:r>
              <a:rPr sz="3250" spc="10" dirty="0">
                <a:latin typeface="Calibri"/>
                <a:cs typeface="Calibri"/>
              </a:rPr>
              <a:t>as </a:t>
            </a:r>
            <a:r>
              <a:rPr sz="3250" spc="5" dirty="0">
                <a:latin typeface="Calibri"/>
                <a:cs typeface="Calibri"/>
              </a:rPr>
              <a:t>a </a:t>
            </a:r>
            <a:r>
              <a:rPr sz="3250" spc="10" dirty="0">
                <a:latin typeface="Calibri"/>
                <a:cs typeface="Calibri"/>
              </a:rPr>
              <a:t>function </a:t>
            </a:r>
            <a:r>
              <a:rPr sz="3250" spc="5" dirty="0">
                <a:latin typeface="Calibri"/>
                <a:cs typeface="Calibri"/>
              </a:rPr>
              <a:t>of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b="1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Voltage </a:t>
            </a:r>
            <a:r>
              <a:rPr sz="3250" b="1" spc="-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applied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across</a:t>
            </a:r>
            <a:r>
              <a:rPr sz="3250" dirty="0">
                <a:latin typeface="Calibri"/>
                <a:cs typeface="Calibri"/>
              </a:rPr>
              <a:t> it.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Mathematically</a:t>
            </a:r>
            <a:r>
              <a:rPr sz="3250" dirty="0">
                <a:latin typeface="Calibri"/>
                <a:cs typeface="Calibri"/>
              </a:rPr>
              <a:t> the</a:t>
            </a:r>
            <a:r>
              <a:rPr sz="3250" spc="5" dirty="0">
                <a:latin typeface="Calibri"/>
                <a:cs typeface="Calibri"/>
              </a:rPr>
              <a:t> diode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current </a:t>
            </a:r>
            <a:r>
              <a:rPr sz="3250" dirty="0">
                <a:latin typeface="Calibri"/>
                <a:cs typeface="Calibri"/>
              </a:rPr>
              <a:t> equation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can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expressed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as:</a:t>
            </a:r>
            <a:endParaRPr sz="32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0135" y="4465655"/>
            <a:ext cx="6881787" cy="14243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880" y="1289913"/>
            <a:ext cx="10471150" cy="481711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527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52755" algn="l"/>
                <a:tab pos="453390" algn="l"/>
              </a:tabLst>
            </a:pPr>
            <a:r>
              <a:rPr sz="3250" spc="-10" dirty="0">
                <a:latin typeface="Calibri"/>
                <a:cs typeface="Calibri"/>
              </a:rPr>
              <a:t>Where</a:t>
            </a:r>
            <a:endParaRPr sz="3250">
              <a:latin typeface="Calibri"/>
              <a:cs typeface="Calibri"/>
            </a:endParaRPr>
          </a:p>
          <a:p>
            <a:pPr marL="4527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52755" algn="l"/>
                <a:tab pos="453390" algn="l"/>
              </a:tabLst>
            </a:pPr>
            <a:r>
              <a:rPr sz="3250" dirty="0">
                <a:latin typeface="Calibri"/>
                <a:cs typeface="Calibri"/>
              </a:rPr>
              <a:t>I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flowing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through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diode</a:t>
            </a:r>
            <a:endParaRPr sz="3250">
              <a:latin typeface="Calibri"/>
              <a:cs typeface="Calibri"/>
            </a:endParaRPr>
          </a:p>
          <a:p>
            <a:pPr marL="452755" indent="-402590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52755" algn="l"/>
                <a:tab pos="453390" algn="l"/>
              </a:tabLst>
            </a:pPr>
            <a:r>
              <a:rPr sz="3250" spc="5" dirty="0">
                <a:latin typeface="Calibri"/>
                <a:cs typeface="Calibri"/>
              </a:rPr>
              <a:t>I</a:t>
            </a:r>
            <a:r>
              <a:rPr sz="3225" spc="7" baseline="-20671" dirty="0">
                <a:latin typeface="Calibri"/>
                <a:cs typeface="Calibri"/>
              </a:rPr>
              <a:t>0</a:t>
            </a:r>
            <a:r>
              <a:rPr sz="3225" spc="397" baseline="-20671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dark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saturation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current,</a:t>
            </a:r>
            <a:endParaRPr sz="3250">
              <a:latin typeface="Calibri"/>
              <a:cs typeface="Calibri"/>
            </a:endParaRPr>
          </a:p>
          <a:p>
            <a:pPr marL="4527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52755" algn="l"/>
                <a:tab pos="453390" algn="l"/>
              </a:tabLst>
            </a:pPr>
            <a:r>
              <a:rPr sz="3250" spc="5" dirty="0">
                <a:latin typeface="Calibri"/>
                <a:cs typeface="Calibri"/>
              </a:rPr>
              <a:t>q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charge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on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electron,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(1.602</a:t>
            </a:r>
            <a:r>
              <a:rPr sz="3250" spc="8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x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10^(-19)</a:t>
            </a:r>
            <a:r>
              <a:rPr sz="3250" spc="8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Coulomb)</a:t>
            </a:r>
            <a:endParaRPr sz="3250">
              <a:latin typeface="Calibri"/>
              <a:cs typeface="Calibri"/>
            </a:endParaRPr>
          </a:p>
          <a:p>
            <a:pPr marL="452755" indent="-402590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452755" algn="l"/>
                <a:tab pos="453390" algn="l"/>
              </a:tabLst>
            </a:pPr>
            <a:r>
              <a:rPr sz="3250" spc="5" dirty="0">
                <a:latin typeface="Calibri"/>
                <a:cs typeface="Calibri"/>
              </a:rPr>
              <a:t>V</a:t>
            </a:r>
            <a:r>
              <a:rPr sz="3250" dirty="0">
                <a:latin typeface="Calibri"/>
                <a:cs typeface="Calibri"/>
              </a:rPr>
              <a:t> is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30" dirty="0">
                <a:latin typeface="Calibri"/>
                <a:cs typeface="Calibri"/>
              </a:rPr>
              <a:t>Voltage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applied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across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diode,</a:t>
            </a:r>
            <a:endParaRPr sz="3250">
              <a:latin typeface="Calibri"/>
              <a:cs typeface="Calibri"/>
            </a:endParaRPr>
          </a:p>
          <a:p>
            <a:pPr marL="452755" indent="-402590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52755" algn="l"/>
                <a:tab pos="453390" algn="l"/>
              </a:tabLst>
            </a:pPr>
            <a:r>
              <a:rPr sz="3250" spc="5" dirty="0">
                <a:latin typeface="Calibri"/>
                <a:cs typeface="Calibri"/>
              </a:rPr>
              <a:t>η</a:t>
            </a:r>
            <a:r>
              <a:rPr sz="3250" dirty="0">
                <a:latin typeface="Calibri"/>
                <a:cs typeface="Calibri"/>
              </a:rPr>
              <a:t> is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(exponential)</a:t>
            </a:r>
            <a:r>
              <a:rPr sz="3250" spc="7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ideality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5" dirty="0">
                <a:latin typeface="Calibri"/>
                <a:cs typeface="Calibri"/>
              </a:rPr>
              <a:t>factor.</a:t>
            </a:r>
            <a:endParaRPr sz="3250">
              <a:latin typeface="Calibri"/>
              <a:cs typeface="Calibri"/>
            </a:endParaRPr>
          </a:p>
          <a:p>
            <a:pPr marL="4527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52755" algn="l"/>
                <a:tab pos="453390" algn="l"/>
              </a:tabLst>
            </a:pPr>
            <a:r>
              <a:rPr sz="3250" spc="5" dirty="0">
                <a:latin typeface="Calibri"/>
                <a:cs typeface="Calibri"/>
              </a:rPr>
              <a:t>K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Boltzmann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Constant,</a:t>
            </a:r>
            <a:r>
              <a:rPr sz="3250" spc="7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1.38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x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10^(-23)</a:t>
            </a:r>
            <a:r>
              <a:rPr sz="3250" spc="7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J/K</a:t>
            </a:r>
            <a:endParaRPr sz="3250">
              <a:latin typeface="Calibri"/>
              <a:cs typeface="Calibri"/>
            </a:endParaRPr>
          </a:p>
          <a:p>
            <a:pPr marL="452755" indent="-402590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452755" algn="l"/>
                <a:tab pos="453390" algn="l"/>
              </a:tabLst>
            </a:pPr>
            <a:r>
              <a:rPr sz="3250" spc="5" dirty="0">
                <a:latin typeface="Calibri"/>
                <a:cs typeface="Calibri"/>
              </a:rPr>
              <a:t>T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absolute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temperature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Kelvin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7616" y="682752"/>
            <a:ext cx="85598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Volt-Ampere</a:t>
            </a:r>
            <a:r>
              <a:rPr spc="25" dirty="0"/>
              <a:t> </a:t>
            </a:r>
            <a:r>
              <a:rPr spc="100" dirty="0"/>
              <a:t>(V-I)</a:t>
            </a:r>
            <a:r>
              <a:rPr spc="-80" dirty="0"/>
              <a:t> </a:t>
            </a:r>
            <a:r>
              <a:rPr spc="40" dirty="0"/>
              <a:t>Characteristics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405636"/>
            <a:ext cx="7315200" cy="52730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2711" y="682752"/>
            <a:ext cx="90150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3530" algn="l"/>
              </a:tabLst>
            </a:pPr>
            <a:r>
              <a:rPr spc="80" dirty="0"/>
              <a:t>Ideal	</a:t>
            </a:r>
            <a:r>
              <a:rPr dirty="0"/>
              <a:t>&amp;</a:t>
            </a:r>
            <a:r>
              <a:rPr spc="70" dirty="0"/>
              <a:t> </a:t>
            </a:r>
            <a:r>
              <a:rPr spc="25" dirty="0"/>
              <a:t>Real</a:t>
            </a:r>
            <a:r>
              <a:rPr spc="75" dirty="0"/>
              <a:t> </a:t>
            </a:r>
            <a:r>
              <a:rPr spc="30" dirty="0"/>
              <a:t>Diode</a:t>
            </a:r>
            <a:r>
              <a:rPr spc="-10" dirty="0"/>
              <a:t> </a:t>
            </a:r>
            <a:r>
              <a:rPr spc="35" dirty="0"/>
              <a:t>Characteristics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4872" y="1338580"/>
            <a:ext cx="5510783" cy="5181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9924" y="679703"/>
            <a:ext cx="80816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PN</a:t>
            </a:r>
            <a:r>
              <a:rPr spc="10" dirty="0"/>
              <a:t> </a:t>
            </a:r>
            <a:r>
              <a:rPr spc="-85" dirty="0"/>
              <a:t>Junction</a:t>
            </a:r>
            <a:r>
              <a:rPr spc="-65" dirty="0"/>
              <a:t> </a:t>
            </a:r>
            <a:r>
              <a:rPr spc="35" dirty="0"/>
              <a:t>Diode</a:t>
            </a:r>
            <a:r>
              <a:rPr spc="-35" dirty="0"/>
              <a:t> </a:t>
            </a:r>
            <a:r>
              <a:rPr spc="15" dirty="0"/>
              <a:t>Applications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-5" dirty="0"/>
              <a:t>Rectification</a:t>
            </a:r>
            <a:r>
              <a:rPr spc="-30" dirty="0"/>
              <a:t> </a:t>
            </a:r>
            <a:r>
              <a:rPr dirty="0"/>
              <a:t>(Half</a:t>
            </a:r>
            <a:r>
              <a:rPr spc="40" dirty="0"/>
              <a:t> </a:t>
            </a:r>
            <a:r>
              <a:rPr spc="-45" dirty="0"/>
              <a:t>Wave</a:t>
            </a:r>
            <a:r>
              <a:rPr spc="10" dirty="0"/>
              <a:t> </a:t>
            </a:r>
            <a:r>
              <a:rPr dirty="0"/>
              <a:t>/</a:t>
            </a:r>
            <a:r>
              <a:rPr spc="20" dirty="0"/>
              <a:t> </a:t>
            </a:r>
            <a:r>
              <a:rPr spc="-5" dirty="0"/>
              <a:t>Full</a:t>
            </a:r>
            <a:r>
              <a:rPr spc="50" dirty="0"/>
              <a:t> </a:t>
            </a:r>
            <a:r>
              <a:rPr spc="-30" dirty="0"/>
              <a:t>Wave).</a:t>
            </a: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5" dirty="0"/>
              <a:t>As</a:t>
            </a:r>
            <a:r>
              <a:rPr spc="25" dirty="0"/>
              <a:t> </a:t>
            </a:r>
            <a:r>
              <a:rPr spc="5" dirty="0"/>
              <a:t>a</a:t>
            </a:r>
            <a:r>
              <a:rPr dirty="0"/>
              <a:t> </a:t>
            </a:r>
            <a:r>
              <a:rPr spc="-10" dirty="0"/>
              <a:t>Switch</a:t>
            </a:r>
            <a:r>
              <a:rPr spc="35" dirty="0"/>
              <a:t> </a:t>
            </a:r>
            <a:r>
              <a:rPr dirty="0"/>
              <a:t>(in</a:t>
            </a:r>
            <a:r>
              <a:rPr spc="40" dirty="0"/>
              <a:t> </a:t>
            </a:r>
            <a:r>
              <a:rPr dirty="0"/>
              <a:t>Logic</a:t>
            </a:r>
            <a:r>
              <a:rPr spc="10" dirty="0"/>
              <a:t> </a:t>
            </a:r>
            <a:r>
              <a:rPr spc="-5" dirty="0"/>
              <a:t>Gates)</a:t>
            </a:r>
          </a:p>
          <a:p>
            <a:pPr marL="414655" indent="-402590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-5" dirty="0"/>
              <a:t>Source</a:t>
            </a:r>
            <a:r>
              <a:rPr spc="40" dirty="0"/>
              <a:t> </a:t>
            </a:r>
            <a:r>
              <a:rPr spc="-5" dirty="0"/>
              <a:t>Isolation.</a:t>
            </a: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5" dirty="0"/>
              <a:t>As</a:t>
            </a:r>
            <a:r>
              <a:rPr spc="25" dirty="0"/>
              <a:t> </a:t>
            </a:r>
            <a:r>
              <a:rPr spc="-30" dirty="0"/>
              <a:t>Voltage</a:t>
            </a:r>
            <a:r>
              <a:rPr spc="10" dirty="0"/>
              <a:t> </a:t>
            </a:r>
            <a:r>
              <a:rPr spc="-15" dirty="0"/>
              <a:t>Reference</a:t>
            </a:r>
            <a:r>
              <a:rPr spc="-10" dirty="0"/>
              <a:t> </a:t>
            </a:r>
            <a:r>
              <a:rPr dirty="0"/>
              <a:t>/</a:t>
            </a:r>
            <a:r>
              <a:rPr spc="15" dirty="0"/>
              <a:t> </a:t>
            </a:r>
            <a:r>
              <a:rPr spc="-30" dirty="0"/>
              <a:t>Voltage</a:t>
            </a:r>
            <a:r>
              <a:rPr spc="35" dirty="0"/>
              <a:t> </a:t>
            </a:r>
            <a:r>
              <a:rPr spc="-40" dirty="0"/>
              <a:t>Regulator.</a:t>
            </a:r>
          </a:p>
          <a:p>
            <a:pPr marL="414655" indent="-402590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-5" dirty="0"/>
              <a:t>Frequency</a:t>
            </a:r>
            <a:r>
              <a:rPr spc="60" dirty="0"/>
              <a:t> </a:t>
            </a:r>
            <a:r>
              <a:rPr spc="-75" dirty="0"/>
              <a:t>Mixer.</a:t>
            </a:r>
          </a:p>
          <a:p>
            <a:pPr marL="414655" indent="-402590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10" dirty="0"/>
              <a:t>AM</a:t>
            </a:r>
            <a:r>
              <a:rPr spc="25" dirty="0"/>
              <a:t> </a:t>
            </a:r>
            <a:r>
              <a:rPr spc="-10" dirty="0"/>
              <a:t>Envelope</a:t>
            </a:r>
            <a:r>
              <a:rPr spc="60" dirty="0"/>
              <a:t> </a:t>
            </a:r>
            <a:r>
              <a:rPr dirty="0"/>
              <a:t>Detector</a:t>
            </a:r>
            <a:r>
              <a:rPr spc="-50" dirty="0"/>
              <a:t> </a:t>
            </a:r>
            <a:r>
              <a:rPr spc="5" dirty="0"/>
              <a:t>or</a:t>
            </a:r>
            <a:r>
              <a:rPr spc="20" dirty="0"/>
              <a:t> </a:t>
            </a:r>
            <a:r>
              <a:rPr dirty="0"/>
              <a:t>Demodulator</a:t>
            </a:r>
            <a:r>
              <a:rPr spc="25" dirty="0"/>
              <a:t> </a:t>
            </a:r>
            <a:r>
              <a:rPr dirty="0"/>
              <a:t>(Diode</a:t>
            </a:r>
            <a:r>
              <a:rPr spc="55" dirty="0"/>
              <a:t> </a:t>
            </a:r>
            <a:r>
              <a:rPr dirty="0"/>
              <a:t>Detector)</a:t>
            </a: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dirty="0"/>
              <a:t>Diode</a:t>
            </a:r>
            <a:r>
              <a:rPr spc="25" dirty="0"/>
              <a:t> </a:t>
            </a:r>
            <a:r>
              <a:rPr dirty="0"/>
              <a:t>as</a:t>
            </a:r>
            <a:r>
              <a:rPr spc="15" dirty="0"/>
              <a:t> </a:t>
            </a:r>
            <a:r>
              <a:rPr spc="-5" dirty="0"/>
              <a:t>Light</a:t>
            </a:r>
            <a:r>
              <a:rPr dirty="0"/>
              <a:t> </a:t>
            </a:r>
            <a:r>
              <a:rPr spc="-5" dirty="0"/>
              <a:t>Source.</a:t>
            </a:r>
          </a:p>
          <a:p>
            <a:pPr marL="414655" indent="-402590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5" dirty="0"/>
              <a:t>As a</a:t>
            </a:r>
            <a:r>
              <a:rPr spc="-15" dirty="0"/>
              <a:t> </a:t>
            </a:r>
            <a:r>
              <a:rPr spc="-50" dirty="0"/>
              <a:t>Sensor.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962</Words>
  <Application>Microsoft Office PowerPoint</Application>
  <PresentationFormat>Custom</PresentationFormat>
  <Paragraphs>119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Arial MT</vt:lpstr>
      <vt:lpstr>Calibri</vt:lpstr>
      <vt:lpstr>Lucida Sans Unicode</vt:lpstr>
      <vt:lpstr>Office Theme</vt:lpstr>
      <vt:lpstr>Course: ECE249</vt:lpstr>
      <vt:lpstr>Outline</vt:lpstr>
      <vt:lpstr>Basics of Diode</vt:lpstr>
      <vt:lpstr>Cont…</vt:lpstr>
      <vt:lpstr>Cont…</vt:lpstr>
      <vt:lpstr>Circuit Symbol - PN Junction Diode</vt:lpstr>
      <vt:lpstr>Circuit Symbol of Other Diodes</vt:lpstr>
      <vt:lpstr>Construction</vt:lpstr>
      <vt:lpstr>Cont…</vt:lpstr>
      <vt:lpstr>Cont…</vt:lpstr>
      <vt:lpstr>Principle of Operation</vt:lpstr>
      <vt:lpstr>Zero Bias</vt:lpstr>
      <vt:lpstr>Forward Bias</vt:lpstr>
      <vt:lpstr>Cont…</vt:lpstr>
      <vt:lpstr>Forward Bias Characteristics</vt:lpstr>
      <vt:lpstr>Reverse Bias</vt:lpstr>
      <vt:lpstr>Cont…</vt:lpstr>
      <vt:lpstr>Reverse Bias Characteristics</vt:lpstr>
      <vt:lpstr>Important Terminologies</vt:lpstr>
      <vt:lpstr>Cont…</vt:lpstr>
      <vt:lpstr>Cont…</vt:lpstr>
      <vt:lpstr>Cont…</vt:lpstr>
      <vt:lpstr>Diode Current Equation</vt:lpstr>
      <vt:lpstr>Cont…</vt:lpstr>
      <vt:lpstr>Volt-Ampere (V-I) Characteristics</vt:lpstr>
      <vt:lpstr>Ideal &amp; Real Diode Characteristics</vt:lpstr>
      <vt:lpstr>PN Junction Diode Applications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ECE249</dc:title>
  <cp:lastModifiedBy>Swapnil Bagwari</cp:lastModifiedBy>
  <cp:revision>2</cp:revision>
  <dcterms:created xsi:type="dcterms:W3CDTF">2022-12-27T04:00:57Z</dcterms:created>
  <dcterms:modified xsi:type="dcterms:W3CDTF">2023-01-07T15:12:04Z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LastSaved">
    <vt:filetime>2022-11-22T00:00:00Z</vt:filetime>
  </property>
</Properties>
</file>