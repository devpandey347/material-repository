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7" r:id="rId20"/>
    <p:sldId id="278" r:id="rId21"/>
    <p:sldId id="279" r:id="rId22"/>
  </p:sldIdLst>
  <p:sldSz cx="10693400" cy="7556500"/>
  <p:notesSz cx="10693400" cy="7556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387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4064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4064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4064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4064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4064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07273" y="679703"/>
            <a:ext cx="1773554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2371" y="1289913"/>
            <a:ext cx="9903460" cy="4615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834371" y="6384875"/>
            <a:ext cx="257809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4064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0388" y="1078992"/>
            <a:ext cx="4799965" cy="739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89860" algn="l"/>
              </a:tabLst>
            </a:pPr>
            <a:r>
              <a:rPr sz="4650" b="0" spc="170" dirty="0">
                <a:solidFill>
                  <a:srgbClr val="000000"/>
                </a:solidFill>
                <a:latin typeface="Lucida Sans Unicode"/>
                <a:cs typeface="Lucida Sans Unicode"/>
              </a:rPr>
              <a:t>C</a:t>
            </a:r>
            <a:r>
              <a:rPr sz="4650" b="0" spc="-175" dirty="0">
                <a:solidFill>
                  <a:srgbClr val="000000"/>
                </a:solidFill>
                <a:latin typeface="Lucida Sans Unicode"/>
                <a:cs typeface="Lucida Sans Unicode"/>
              </a:rPr>
              <a:t>o</a:t>
            </a:r>
            <a:r>
              <a:rPr sz="4650" b="0" spc="-254" dirty="0">
                <a:solidFill>
                  <a:srgbClr val="000000"/>
                </a:solidFill>
                <a:latin typeface="Lucida Sans Unicode"/>
                <a:cs typeface="Lucida Sans Unicode"/>
              </a:rPr>
              <a:t>u</a:t>
            </a:r>
            <a:r>
              <a:rPr sz="4650" b="0" spc="20" dirty="0">
                <a:solidFill>
                  <a:srgbClr val="000000"/>
                </a:solidFill>
                <a:latin typeface="Lucida Sans Unicode"/>
                <a:cs typeface="Lucida Sans Unicode"/>
              </a:rPr>
              <a:t>r</a:t>
            </a:r>
            <a:r>
              <a:rPr sz="4650" b="0" spc="-235" dirty="0">
                <a:solidFill>
                  <a:srgbClr val="000000"/>
                </a:solidFill>
                <a:latin typeface="Lucida Sans Unicode"/>
                <a:cs typeface="Lucida Sans Unicode"/>
              </a:rPr>
              <a:t>s</a:t>
            </a:r>
            <a:r>
              <a:rPr sz="4650" b="0" spc="55" dirty="0">
                <a:solidFill>
                  <a:srgbClr val="000000"/>
                </a:solidFill>
                <a:latin typeface="Lucida Sans Unicode"/>
                <a:cs typeface="Lucida Sans Unicode"/>
              </a:rPr>
              <a:t>e</a:t>
            </a:r>
            <a:r>
              <a:rPr sz="4650" b="0" spc="-105" dirty="0">
                <a:solidFill>
                  <a:srgbClr val="000000"/>
                </a:solidFill>
                <a:latin typeface="Lucida Sans Unicode"/>
                <a:cs typeface="Lucida Sans Unicode"/>
              </a:rPr>
              <a:t>:</a:t>
            </a:r>
            <a:r>
              <a:rPr sz="4650" b="0" dirty="0">
                <a:solidFill>
                  <a:srgbClr val="000000"/>
                </a:solidFill>
                <a:latin typeface="Lucida Sans Unicode"/>
                <a:cs typeface="Lucida Sans Unicode"/>
              </a:rPr>
              <a:t>	</a:t>
            </a:r>
            <a:r>
              <a:rPr sz="4650" b="0" spc="204" dirty="0">
                <a:solidFill>
                  <a:srgbClr val="000000"/>
                </a:solidFill>
                <a:latin typeface="Lucida Sans Unicode"/>
                <a:cs typeface="Lucida Sans Unicode"/>
              </a:rPr>
              <a:t>ECE</a:t>
            </a:r>
            <a:r>
              <a:rPr sz="4650" b="0" spc="-405" dirty="0">
                <a:solidFill>
                  <a:srgbClr val="000000"/>
                </a:solidFill>
                <a:latin typeface="Lucida Sans Unicode"/>
                <a:cs typeface="Lucida Sans Unicode"/>
              </a:rPr>
              <a:t>249</a:t>
            </a:r>
            <a:endParaRPr sz="465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1972" y="1798320"/>
            <a:ext cx="9108440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750" spc="-55" dirty="0">
                <a:latin typeface="Lucida Sans Unicode"/>
                <a:cs typeface="Lucida Sans Unicode"/>
              </a:rPr>
              <a:t>Basic</a:t>
            </a:r>
            <a:r>
              <a:rPr sz="3750" spc="-235" dirty="0">
                <a:latin typeface="Lucida Sans Unicode"/>
                <a:cs typeface="Lucida Sans Unicode"/>
              </a:rPr>
              <a:t> </a:t>
            </a:r>
            <a:r>
              <a:rPr sz="3750" spc="-10" dirty="0">
                <a:latin typeface="Lucida Sans Unicode"/>
                <a:cs typeface="Lucida Sans Unicode"/>
              </a:rPr>
              <a:t>Electrical</a:t>
            </a:r>
            <a:r>
              <a:rPr sz="3750" spc="-254" dirty="0">
                <a:latin typeface="Lucida Sans Unicode"/>
                <a:cs typeface="Lucida Sans Unicode"/>
              </a:rPr>
              <a:t> </a:t>
            </a:r>
            <a:r>
              <a:rPr sz="3750" spc="-85" dirty="0">
                <a:latin typeface="Lucida Sans Unicode"/>
                <a:cs typeface="Lucida Sans Unicode"/>
              </a:rPr>
              <a:t>&amp;</a:t>
            </a:r>
            <a:r>
              <a:rPr sz="3750" spc="-235" dirty="0">
                <a:latin typeface="Lucida Sans Unicode"/>
                <a:cs typeface="Lucida Sans Unicode"/>
              </a:rPr>
              <a:t> </a:t>
            </a:r>
            <a:r>
              <a:rPr sz="3750" spc="-75" dirty="0">
                <a:latin typeface="Lucida Sans Unicode"/>
                <a:cs typeface="Lucida Sans Unicode"/>
              </a:rPr>
              <a:t>Electronics</a:t>
            </a:r>
            <a:r>
              <a:rPr sz="3750" spc="-250" dirty="0">
                <a:latin typeface="Lucida Sans Unicode"/>
                <a:cs typeface="Lucida Sans Unicode"/>
              </a:rPr>
              <a:t> </a:t>
            </a:r>
            <a:r>
              <a:rPr sz="3750" spc="-30" dirty="0">
                <a:latin typeface="Lucida Sans Unicode"/>
                <a:cs typeface="Lucida Sans Unicode"/>
              </a:rPr>
              <a:t>Engineering</a:t>
            </a:r>
            <a:endParaRPr sz="3750">
              <a:latin typeface="Lucida Sans Unicode"/>
              <a:cs typeface="Lucida Sans Unicod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6023" y="893573"/>
            <a:ext cx="24384" cy="7010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0669524" y="774700"/>
            <a:ext cx="22860" cy="6010910"/>
          </a:xfrm>
          <a:custGeom>
            <a:avLst/>
            <a:gdLst/>
            <a:ahLst/>
            <a:cxnLst/>
            <a:rect l="l" t="t" r="r" b="b"/>
            <a:pathLst>
              <a:path w="22859" h="6010909">
                <a:moveTo>
                  <a:pt x="22859" y="0"/>
                </a:moveTo>
                <a:lnTo>
                  <a:pt x="0" y="0"/>
                </a:lnTo>
                <a:lnTo>
                  <a:pt x="0" y="6010656"/>
                </a:lnTo>
                <a:lnTo>
                  <a:pt x="22859" y="6010656"/>
                </a:lnTo>
                <a:lnTo>
                  <a:pt x="2285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771651"/>
            <a:ext cx="3175" cy="5992495"/>
          </a:xfrm>
          <a:custGeom>
            <a:avLst/>
            <a:gdLst/>
            <a:ahLst/>
            <a:cxnLst/>
            <a:rect l="l" t="t" r="r" b="b"/>
            <a:pathLst>
              <a:path w="3175" h="5992495">
                <a:moveTo>
                  <a:pt x="3037" y="0"/>
                </a:moveTo>
                <a:lnTo>
                  <a:pt x="0" y="5992368"/>
                </a:lnTo>
              </a:path>
            </a:pathLst>
          </a:custGeom>
          <a:ln w="4571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605020" y="2612136"/>
            <a:ext cx="1901189" cy="739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650" spc="-220" dirty="0">
                <a:latin typeface="Lucida Sans Unicode"/>
                <a:cs typeface="Lucida Sans Unicode"/>
              </a:rPr>
              <a:t>Unit-IV</a:t>
            </a:r>
            <a:endParaRPr sz="46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22764" y="6384875"/>
            <a:ext cx="168910" cy="24447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400" spc="-5" dirty="0">
                <a:solidFill>
                  <a:srgbClr val="888888"/>
                </a:solidFill>
                <a:latin typeface="Calibri"/>
                <a:cs typeface="Calibri"/>
              </a:rPr>
              <a:t>1</a:t>
            </a:fld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60774" y="2789681"/>
            <a:ext cx="4232910" cy="1128514"/>
          </a:xfrm>
          <a:prstGeom prst="rect">
            <a:avLst/>
          </a:prstGeom>
        </p:spPr>
        <p:txBody>
          <a:bodyPr vert="horz" wrap="square" lIns="0" tIns="408940" rIns="0" bIns="0" rtlCol="0">
            <a:spAutoFit/>
          </a:bodyPr>
          <a:lstStyle/>
          <a:p>
            <a:pPr marL="1236980">
              <a:lnSpc>
                <a:spcPct val="100000"/>
              </a:lnSpc>
              <a:spcBef>
                <a:spcPts val="3220"/>
              </a:spcBef>
            </a:pPr>
            <a:r>
              <a:rPr sz="4650" spc="15" dirty="0">
                <a:latin typeface="Lucida Sans Unicode"/>
                <a:cs typeface="Lucida Sans Unicode"/>
              </a:rPr>
              <a:t>MOSFET</a:t>
            </a:r>
            <a:endParaRPr sz="465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922764" y="6384875"/>
            <a:ext cx="168910" cy="24447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400" spc="-5" dirty="0">
                <a:solidFill>
                  <a:srgbClr val="888888"/>
                </a:solidFill>
                <a:latin typeface="Calibri"/>
                <a:cs typeface="Calibri"/>
              </a:rPr>
              <a:t>2</a:t>
            </a:fld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0703" y="679703"/>
            <a:ext cx="19304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5" dirty="0"/>
              <a:t>O</a:t>
            </a:r>
            <a:r>
              <a:rPr spc="20" dirty="0"/>
              <a:t>ut</a:t>
            </a:r>
            <a:r>
              <a:rPr spc="160" dirty="0"/>
              <a:t>li</a:t>
            </a:r>
            <a:r>
              <a:rPr spc="20" dirty="0"/>
              <a:t>n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0594" y="1268577"/>
            <a:ext cx="8228965" cy="482028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750" spc="-5" dirty="0">
                <a:latin typeface="Calibri"/>
                <a:cs typeface="Calibri"/>
              </a:rPr>
              <a:t>Basics</a:t>
            </a:r>
            <a:endParaRPr sz="37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750" spc="-10" dirty="0">
                <a:latin typeface="Calibri"/>
                <a:cs typeface="Calibri"/>
              </a:rPr>
              <a:t>Construction</a:t>
            </a:r>
            <a:endParaRPr sz="37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7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750" spc="-5" dirty="0">
                <a:latin typeface="Calibri"/>
                <a:cs typeface="Calibri"/>
              </a:rPr>
              <a:t>Principal</a:t>
            </a:r>
            <a:r>
              <a:rPr sz="3750" spc="-20" dirty="0">
                <a:latin typeface="Calibri"/>
                <a:cs typeface="Calibri"/>
              </a:rPr>
              <a:t> </a:t>
            </a:r>
            <a:r>
              <a:rPr sz="3750" spc="-10" dirty="0">
                <a:latin typeface="Calibri"/>
                <a:cs typeface="Calibri"/>
              </a:rPr>
              <a:t>of</a:t>
            </a:r>
            <a:r>
              <a:rPr sz="3750" spc="-15" dirty="0">
                <a:latin typeface="Calibri"/>
                <a:cs typeface="Calibri"/>
              </a:rPr>
              <a:t> </a:t>
            </a:r>
            <a:r>
              <a:rPr sz="3750" spc="-20" dirty="0">
                <a:latin typeface="Calibri"/>
                <a:cs typeface="Calibri"/>
              </a:rPr>
              <a:t>operation</a:t>
            </a:r>
            <a:endParaRPr sz="37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750" spc="-15" dirty="0">
                <a:latin typeface="Calibri"/>
                <a:cs typeface="Calibri"/>
              </a:rPr>
              <a:t>Important</a:t>
            </a:r>
            <a:r>
              <a:rPr sz="3750" spc="5" dirty="0">
                <a:latin typeface="Calibri"/>
                <a:cs typeface="Calibri"/>
              </a:rPr>
              <a:t> </a:t>
            </a:r>
            <a:r>
              <a:rPr sz="3750" spc="-30" dirty="0">
                <a:latin typeface="Calibri"/>
                <a:cs typeface="Calibri"/>
              </a:rPr>
              <a:t>Terminologies,</a:t>
            </a:r>
            <a:r>
              <a:rPr sz="3750" spc="-15" dirty="0">
                <a:latin typeface="Calibri"/>
                <a:cs typeface="Calibri"/>
              </a:rPr>
              <a:t> Configurations</a:t>
            </a:r>
            <a:endParaRPr sz="37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750" spc="-20" dirty="0">
                <a:latin typeface="Calibri"/>
                <a:cs typeface="Calibri"/>
              </a:rPr>
              <a:t>Characteristics</a:t>
            </a:r>
            <a:endParaRPr sz="37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7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750" spc="-5" dirty="0">
                <a:latin typeface="Calibri"/>
                <a:cs typeface="Calibri"/>
              </a:rPr>
              <a:t>BJT</a:t>
            </a:r>
            <a:r>
              <a:rPr sz="3750" spc="-30" dirty="0">
                <a:latin typeface="Calibri"/>
                <a:cs typeface="Calibri"/>
              </a:rPr>
              <a:t> </a:t>
            </a:r>
            <a:r>
              <a:rPr sz="3750" spc="-85" dirty="0">
                <a:latin typeface="Calibri"/>
                <a:cs typeface="Calibri"/>
              </a:rPr>
              <a:t>Vs</a:t>
            </a:r>
            <a:r>
              <a:rPr sz="3750" spc="-25" dirty="0">
                <a:latin typeface="Calibri"/>
                <a:cs typeface="Calibri"/>
              </a:rPr>
              <a:t> </a:t>
            </a:r>
            <a:r>
              <a:rPr sz="3750" spc="-10" dirty="0">
                <a:latin typeface="Calibri"/>
                <a:cs typeface="Calibri"/>
              </a:rPr>
              <a:t>MOSFET</a:t>
            </a:r>
            <a:endParaRPr sz="37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750" spc="-20" dirty="0">
                <a:latin typeface="Calibri"/>
                <a:cs typeface="Calibri"/>
              </a:rPr>
              <a:t>Advantages, </a:t>
            </a:r>
            <a:r>
              <a:rPr sz="3750" spc="-10" dirty="0">
                <a:latin typeface="Calibri"/>
                <a:cs typeface="Calibri"/>
              </a:rPr>
              <a:t>Applications</a:t>
            </a:r>
            <a:endParaRPr sz="3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922764" y="6384875"/>
            <a:ext cx="168910" cy="24447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400" spc="-5" dirty="0">
                <a:solidFill>
                  <a:srgbClr val="888888"/>
                </a:solidFill>
                <a:latin typeface="Calibri"/>
                <a:cs typeface="Calibri"/>
              </a:rPr>
              <a:t>3</a:t>
            </a:fld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15618" y="679703"/>
            <a:ext cx="225933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25" dirty="0"/>
              <a:t>M</a:t>
            </a:r>
            <a:r>
              <a:rPr spc="145" dirty="0"/>
              <a:t>O</a:t>
            </a:r>
            <a:r>
              <a:rPr spc="-575" dirty="0"/>
              <a:t>S</a:t>
            </a:r>
            <a:r>
              <a:rPr spc="70" dirty="0"/>
              <a:t>F</a:t>
            </a:r>
            <a:r>
              <a:rPr spc="5" dirty="0"/>
              <a:t>E</a:t>
            </a:r>
            <a:r>
              <a:rPr dirty="0"/>
              <a:t>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371" y="1201521"/>
            <a:ext cx="10332085" cy="531368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14655" indent="-402590" algn="just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dirty="0">
                <a:latin typeface="Calibri"/>
                <a:cs typeface="Calibri"/>
              </a:rPr>
              <a:t>MOSFET</a:t>
            </a:r>
            <a:r>
              <a:rPr sz="3250" spc="9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–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Metal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Oxide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Field</a:t>
            </a:r>
            <a:r>
              <a:rPr sz="3250" spc="50" dirty="0">
                <a:latin typeface="Calibri"/>
                <a:cs typeface="Calibri"/>
              </a:rPr>
              <a:t> </a:t>
            </a:r>
            <a:r>
              <a:rPr sz="3250" spc="-25" dirty="0">
                <a:latin typeface="Calibri"/>
                <a:cs typeface="Calibri"/>
              </a:rPr>
              <a:t>Effect</a:t>
            </a:r>
            <a:r>
              <a:rPr sz="3250" spc="-35" dirty="0">
                <a:latin typeface="Calibri"/>
                <a:cs typeface="Calibri"/>
              </a:rPr>
              <a:t> Transistor</a:t>
            </a:r>
            <a:endParaRPr sz="3250">
              <a:latin typeface="Calibri"/>
              <a:cs typeface="Calibri"/>
            </a:endParaRPr>
          </a:p>
          <a:p>
            <a:pPr marL="414655" marR="8890" indent="-402590" algn="just">
              <a:lnSpc>
                <a:spcPct val="100899"/>
              </a:lnSpc>
              <a:spcBef>
                <a:spcPts val="770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spc="5" dirty="0">
                <a:latin typeface="Calibri"/>
                <a:cs typeface="Calibri"/>
              </a:rPr>
              <a:t>Designed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to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over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come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shortcomings</a:t>
            </a:r>
            <a:r>
              <a:rPr sz="3250" spc="5" dirty="0">
                <a:latin typeface="Calibri"/>
                <a:cs typeface="Calibri"/>
              </a:rPr>
              <a:t> of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FET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(Field 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30" dirty="0">
                <a:latin typeface="Calibri"/>
                <a:cs typeface="Calibri"/>
              </a:rPr>
              <a:t>Effect </a:t>
            </a:r>
            <a:r>
              <a:rPr sz="3250" spc="-35" dirty="0">
                <a:latin typeface="Calibri"/>
                <a:cs typeface="Calibri"/>
              </a:rPr>
              <a:t>Transistor </a:t>
            </a:r>
            <a:r>
              <a:rPr sz="3250" spc="-20" dirty="0">
                <a:latin typeface="Calibri"/>
                <a:cs typeface="Calibri"/>
              </a:rPr>
              <a:t>like </a:t>
            </a:r>
            <a:r>
              <a:rPr sz="3250" spc="-5" dirty="0">
                <a:latin typeface="Calibri"/>
                <a:cs typeface="Calibri"/>
              </a:rPr>
              <a:t>slow operation, </a:t>
            </a:r>
            <a:r>
              <a:rPr sz="3250" spc="5" dirty="0">
                <a:latin typeface="Calibri"/>
                <a:cs typeface="Calibri"/>
              </a:rPr>
              <a:t>high </a:t>
            </a:r>
            <a:r>
              <a:rPr sz="3250" spc="-10" dirty="0">
                <a:latin typeface="Calibri"/>
                <a:cs typeface="Calibri"/>
              </a:rPr>
              <a:t>drain resistance, 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moderate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input</a:t>
            </a:r>
            <a:r>
              <a:rPr sz="3250" spc="8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impedance).</a:t>
            </a:r>
            <a:endParaRPr sz="3250">
              <a:latin typeface="Calibri"/>
              <a:cs typeface="Calibri"/>
            </a:endParaRPr>
          </a:p>
          <a:p>
            <a:pPr marL="414655" marR="5080" indent="-402590" algn="just">
              <a:lnSpc>
                <a:spcPct val="100800"/>
              </a:lnSpc>
              <a:spcBef>
                <a:spcPts val="770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spc="-10" dirty="0">
                <a:solidFill>
                  <a:srgbClr val="333333"/>
                </a:solidFill>
                <a:latin typeface="Calibri"/>
                <a:cs typeface="Calibri"/>
              </a:rPr>
              <a:t>Metal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Oxide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Silicon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Field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30" dirty="0">
                <a:solidFill>
                  <a:srgbClr val="333333"/>
                </a:solidFill>
                <a:latin typeface="Calibri"/>
                <a:cs typeface="Calibri"/>
              </a:rPr>
              <a:t>Effect</a:t>
            </a:r>
            <a:r>
              <a:rPr sz="32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30" dirty="0">
                <a:solidFill>
                  <a:srgbClr val="333333"/>
                </a:solidFill>
                <a:latin typeface="Calibri"/>
                <a:cs typeface="Calibri"/>
              </a:rPr>
              <a:t>Transistors</a:t>
            </a:r>
            <a:r>
              <a:rPr sz="32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commonly 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known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as </a:t>
            </a:r>
            <a:r>
              <a:rPr sz="3250" spc="-30" dirty="0">
                <a:solidFill>
                  <a:srgbClr val="333333"/>
                </a:solidFill>
                <a:latin typeface="Calibri"/>
                <a:cs typeface="Calibri"/>
              </a:rPr>
              <a:t>MOSFETs</a:t>
            </a:r>
            <a:r>
              <a:rPr sz="32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2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325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electronic</a:t>
            </a:r>
            <a:r>
              <a:rPr sz="3250" spc="7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devices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used 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to switch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or 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amplify </a:t>
            </a:r>
            <a:r>
              <a:rPr sz="3250" spc="-10" dirty="0">
                <a:solidFill>
                  <a:srgbClr val="333333"/>
                </a:solidFill>
                <a:latin typeface="Calibri"/>
                <a:cs typeface="Calibri"/>
              </a:rPr>
              <a:t>voltages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in circuits. It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is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a </a:t>
            </a:r>
            <a:r>
              <a:rPr sz="3250" spc="-10" dirty="0">
                <a:solidFill>
                  <a:srgbClr val="333333"/>
                </a:solidFill>
                <a:latin typeface="Calibri"/>
                <a:cs typeface="Calibri"/>
              </a:rPr>
              <a:t>voltage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 controlled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 device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3250" spc="7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3250" spc="7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constructed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15" dirty="0">
                <a:solidFill>
                  <a:srgbClr val="333333"/>
                </a:solidFill>
                <a:latin typeface="Calibri"/>
                <a:cs typeface="Calibri"/>
              </a:rPr>
              <a:t>by</a:t>
            </a:r>
            <a:r>
              <a:rPr sz="3250" spc="7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10" dirty="0">
                <a:solidFill>
                  <a:srgbClr val="333333"/>
                </a:solidFill>
                <a:latin typeface="Calibri"/>
                <a:cs typeface="Calibri"/>
              </a:rPr>
              <a:t>three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terminals.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 The 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terminals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of 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MOSFET </a:t>
            </a:r>
            <a:r>
              <a:rPr sz="3250" spc="-20" dirty="0">
                <a:solidFill>
                  <a:srgbClr val="333333"/>
                </a:solidFill>
                <a:latin typeface="Calibri"/>
                <a:cs typeface="Calibri"/>
              </a:rPr>
              <a:t>are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named 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as </a:t>
            </a:r>
            <a:r>
              <a:rPr sz="3250" spc="-15" dirty="0">
                <a:solidFill>
                  <a:srgbClr val="333333"/>
                </a:solidFill>
                <a:latin typeface="Calibri"/>
                <a:cs typeface="Calibri"/>
              </a:rPr>
              <a:t>follows:</a:t>
            </a:r>
            <a:r>
              <a:rPr sz="325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b="1" dirty="0">
                <a:latin typeface="Calibri"/>
                <a:cs typeface="Calibri"/>
              </a:rPr>
              <a:t>Source</a:t>
            </a:r>
            <a:r>
              <a:rPr sz="3250" dirty="0">
                <a:latin typeface="Calibri"/>
                <a:cs typeface="Calibri"/>
              </a:rPr>
              <a:t>, </a:t>
            </a:r>
            <a:r>
              <a:rPr sz="3250" b="1" spc="-10" dirty="0">
                <a:latin typeface="Calibri"/>
                <a:cs typeface="Calibri"/>
              </a:rPr>
              <a:t>Gate </a:t>
            </a:r>
            <a:r>
              <a:rPr sz="3250" b="1" spc="-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and</a:t>
            </a:r>
            <a:r>
              <a:rPr sz="3250" spc="35" dirty="0">
                <a:latin typeface="Calibri"/>
                <a:cs typeface="Calibri"/>
              </a:rPr>
              <a:t> </a:t>
            </a:r>
            <a:r>
              <a:rPr sz="3250" b="1" spc="-15" dirty="0">
                <a:latin typeface="Calibri"/>
                <a:cs typeface="Calibri"/>
              </a:rPr>
              <a:t>Drain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107" y="679703"/>
            <a:ext cx="897382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MOSFET</a:t>
            </a:r>
            <a:r>
              <a:rPr spc="70" dirty="0"/>
              <a:t> </a:t>
            </a:r>
            <a:r>
              <a:rPr spc="15" dirty="0"/>
              <a:t>Construction</a:t>
            </a:r>
            <a:r>
              <a:rPr spc="10" dirty="0"/>
              <a:t> </a:t>
            </a:r>
            <a:r>
              <a:rPr dirty="0"/>
              <a:t>N</a:t>
            </a:r>
            <a:r>
              <a:rPr spc="484" dirty="0"/>
              <a:t> </a:t>
            </a:r>
            <a:r>
              <a:rPr dirty="0"/>
              <a:t>-</a:t>
            </a:r>
            <a:r>
              <a:rPr spc="-85" dirty="0"/>
              <a:t> </a:t>
            </a:r>
            <a:r>
              <a:rPr spc="40" dirty="0"/>
              <a:t>Channel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7784" y="1509267"/>
            <a:ext cx="6003280" cy="517498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22764" y="6384875"/>
            <a:ext cx="168910" cy="24447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400" spc="-5" dirty="0">
                <a:solidFill>
                  <a:srgbClr val="888888"/>
                </a:solidFill>
                <a:latin typeface="Calibri"/>
                <a:cs typeface="Calibri"/>
              </a:rPr>
              <a:t>4</a:t>
            </a:fld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7273" y="566928"/>
            <a:ext cx="17735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15" dirty="0"/>
              <a:t>t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48164" y="6376415"/>
            <a:ext cx="11557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" dirty="0">
                <a:solidFill>
                  <a:srgbClr val="888888"/>
                </a:solidFill>
                <a:latin typeface="Calibri"/>
                <a:cs typeface="Calibri"/>
              </a:rPr>
              <a:t>5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9671" y="1033272"/>
            <a:ext cx="10357485" cy="5213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27355" marR="17780" indent="-402590" algn="just">
              <a:lnSpc>
                <a:spcPct val="100600"/>
              </a:lnSpc>
              <a:spcBef>
                <a:spcPts val="90"/>
              </a:spcBef>
              <a:buFont typeface="Arial MT"/>
              <a:buChar char="•"/>
              <a:tabLst>
                <a:tab pos="427990" algn="l"/>
              </a:tabLst>
            </a:pPr>
            <a:r>
              <a:rPr sz="3250" spc="5" dirty="0">
                <a:latin typeface="Calibri"/>
                <a:cs typeface="Calibri"/>
              </a:rPr>
              <a:t>A thin </a:t>
            </a:r>
            <a:r>
              <a:rPr sz="3250" spc="-20" dirty="0">
                <a:latin typeface="Calibri"/>
                <a:cs typeface="Calibri"/>
              </a:rPr>
              <a:t>layer</a:t>
            </a:r>
            <a:r>
              <a:rPr sz="3250" spc="-1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of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b="1" dirty="0">
                <a:latin typeface="Calibri"/>
                <a:cs typeface="Calibri"/>
              </a:rPr>
              <a:t>Silicon</a:t>
            </a:r>
            <a:r>
              <a:rPr sz="3250" b="1" spc="5" dirty="0">
                <a:latin typeface="Calibri"/>
                <a:cs typeface="Calibri"/>
              </a:rPr>
              <a:t> </a:t>
            </a:r>
            <a:r>
              <a:rPr sz="3250" b="1" dirty="0">
                <a:latin typeface="Calibri"/>
                <a:cs typeface="Calibri"/>
              </a:rPr>
              <a:t>dioxide</a:t>
            </a:r>
            <a:r>
              <a:rPr sz="3250" b="1" spc="5" dirty="0">
                <a:latin typeface="Calibri"/>
                <a:cs typeface="Calibri"/>
              </a:rPr>
              <a:t> (SiO</a:t>
            </a:r>
            <a:r>
              <a:rPr sz="3225" b="1" spc="7" baseline="-20671" dirty="0">
                <a:latin typeface="Calibri"/>
                <a:cs typeface="Calibri"/>
              </a:rPr>
              <a:t>2</a:t>
            </a:r>
            <a:r>
              <a:rPr sz="3250" b="1" spc="5" dirty="0">
                <a:latin typeface="Calibri"/>
                <a:cs typeface="Calibri"/>
              </a:rPr>
              <a:t>)</a:t>
            </a:r>
            <a:r>
              <a:rPr sz="3250" b="1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grown</a:t>
            </a:r>
            <a:r>
              <a:rPr sz="3250" dirty="0">
                <a:latin typeface="Calibri"/>
                <a:cs typeface="Calibri"/>
              </a:rPr>
              <a:t> over </a:t>
            </a:r>
            <a:r>
              <a:rPr sz="3250" spc="10" dirty="0">
                <a:latin typeface="Calibri"/>
                <a:cs typeface="Calibri"/>
              </a:rPr>
              <a:t>the 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entire </a:t>
            </a:r>
            <a:r>
              <a:rPr sz="3250" spc="-5" dirty="0">
                <a:latin typeface="Calibri"/>
                <a:cs typeface="Calibri"/>
              </a:rPr>
              <a:t>surface </a:t>
            </a:r>
            <a:r>
              <a:rPr sz="3250" spc="10" dirty="0">
                <a:latin typeface="Calibri"/>
                <a:cs typeface="Calibri"/>
              </a:rPr>
              <a:t>and </a:t>
            </a:r>
            <a:r>
              <a:rPr sz="3250" spc="5" dirty="0">
                <a:latin typeface="Calibri"/>
                <a:cs typeface="Calibri"/>
              </a:rPr>
              <a:t>holes </a:t>
            </a:r>
            <a:r>
              <a:rPr sz="3250" spc="-10" dirty="0">
                <a:latin typeface="Calibri"/>
                <a:cs typeface="Calibri"/>
              </a:rPr>
              <a:t>are </a:t>
            </a:r>
            <a:r>
              <a:rPr sz="3250" spc="10" dirty="0">
                <a:latin typeface="Calibri"/>
                <a:cs typeface="Calibri"/>
              </a:rPr>
              <a:t>made </a:t>
            </a:r>
            <a:r>
              <a:rPr sz="3250" spc="-5" dirty="0">
                <a:latin typeface="Calibri"/>
                <a:cs typeface="Calibri"/>
              </a:rPr>
              <a:t>to </a:t>
            </a:r>
            <a:r>
              <a:rPr sz="3250" spc="-15" dirty="0">
                <a:latin typeface="Calibri"/>
                <a:cs typeface="Calibri"/>
              </a:rPr>
              <a:t>draw </a:t>
            </a:r>
            <a:r>
              <a:rPr sz="3250" spc="5" dirty="0">
                <a:latin typeface="Calibri"/>
                <a:cs typeface="Calibri"/>
              </a:rPr>
              <a:t>ohmic </a:t>
            </a:r>
            <a:r>
              <a:rPr sz="3250" dirty="0">
                <a:latin typeface="Calibri"/>
                <a:cs typeface="Calibri"/>
              </a:rPr>
              <a:t>contacts 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for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drain</a:t>
            </a:r>
            <a:r>
              <a:rPr sz="3250" spc="6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and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source</a:t>
            </a:r>
            <a:r>
              <a:rPr sz="3250" spc="6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terminals.</a:t>
            </a:r>
            <a:endParaRPr sz="3250">
              <a:latin typeface="Calibri"/>
              <a:cs typeface="Calibri"/>
            </a:endParaRPr>
          </a:p>
          <a:p>
            <a:pPr marL="427355" marR="19050" indent="-402590" algn="just">
              <a:lnSpc>
                <a:spcPct val="100699"/>
              </a:lnSpc>
              <a:spcBef>
                <a:spcPts val="800"/>
              </a:spcBef>
              <a:buFont typeface="Arial MT"/>
              <a:buChar char="•"/>
              <a:tabLst>
                <a:tab pos="427990" algn="l"/>
              </a:tabLst>
            </a:pPr>
            <a:r>
              <a:rPr sz="3250" spc="5" dirty="0">
                <a:latin typeface="Calibri"/>
                <a:cs typeface="Calibri"/>
              </a:rPr>
              <a:t>A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conducting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layer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of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b="1" spc="5" dirty="0">
                <a:latin typeface="Calibri"/>
                <a:cs typeface="Calibri"/>
              </a:rPr>
              <a:t>aluminum</a:t>
            </a:r>
            <a:r>
              <a:rPr sz="3250" b="1" spc="10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is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laid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over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entire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channel, upon </a:t>
            </a:r>
            <a:r>
              <a:rPr sz="3250" spc="10" dirty="0">
                <a:latin typeface="Calibri"/>
                <a:cs typeface="Calibri"/>
              </a:rPr>
              <a:t>this </a:t>
            </a:r>
            <a:r>
              <a:rPr sz="3250" b="1" spc="5" dirty="0">
                <a:latin typeface="Calibri"/>
                <a:cs typeface="Calibri"/>
              </a:rPr>
              <a:t>SiO</a:t>
            </a:r>
            <a:r>
              <a:rPr sz="3225" b="1" spc="7" baseline="-20671" dirty="0">
                <a:latin typeface="Calibri"/>
                <a:cs typeface="Calibri"/>
              </a:rPr>
              <a:t>2</a:t>
            </a:r>
            <a:r>
              <a:rPr sz="3225" b="1" spc="15" baseline="-20671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layer </a:t>
            </a:r>
            <a:r>
              <a:rPr sz="3250" spc="-10" dirty="0">
                <a:latin typeface="Calibri"/>
                <a:cs typeface="Calibri"/>
              </a:rPr>
              <a:t>from </a:t>
            </a:r>
            <a:r>
              <a:rPr sz="3250" spc="-5" dirty="0">
                <a:latin typeface="Calibri"/>
                <a:cs typeface="Calibri"/>
              </a:rPr>
              <a:t>source to </a:t>
            </a:r>
            <a:r>
              <a:rPr sz="3250" spc="-10" dirty="0">
                <a:latin typeface="Calibri"/>
                <a:cs typeface="Calibri"/>
              </a:rPr>
              <a:t>drain </a:t>
            </a:r>
            <a:r>
              <a:rPr sz="3250" spc="10" dirty="0">
                <a:latin typeface="Calibri"/>
                <a:cs typeface="Calibri"/>
              </a:rPr>
              <a:t>which 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constitutes </a:t>
            </a:r>
            <a:r>
              <a:rPr sz="3250" spc="10" dirty="0">
                <a:latin typeface="Calibri"/>
                <a:cs typeface="Calibri"/>
              </a:rPr>
              <a:t>the </a:t>
            </a:r>
            <a:r>
              <a:rPr sz="3250" spc="-15" dirty="0">
                <a:latin typeface="Calibri"/>
                <a:cs typeface="Calibri"/>
              </a:rPr>
              <a:t>gate. </a:t>
            </a:r>
            <a:r>
              <a:rPr sz="3250" dirty="0">
                <a:latin typeface="Calibri"/>
                <a:cs typeface="Calibri"/>
              </a:rPr>
              <a:t>The </a:t>
            </a:r>
            <a:r>
              <a:rPr sz="3250" b="1" spc="5" dirty="0">
                <a:latin typeface="Calibri"/>
                <a:cs typeface="Calibri"/>
              </a:rPr>
              <a:t>SiO</a:t>
            </a:r>
            <a:r>
              <a:rPr sz="3225" b="1" spc="7" baseline="-20671" dirty="0">
                <a:latin typeface="Calibri"/>
                <a:cs typeface="Calibri"/>
              </a:rPr>
              <a:t>2  </a:t>
            </a:r>
            <a:r>
              <a:rPr sz="3250" b="1" spc="-10" dirty="0">
                <a:latin typeface="Calibri"/>
                <a:cs typeface="Calibri"/>
              </a:rPr>
              <a:t>substrate </a:t>
            </a:r>
            <a:r>
              <a:rPr sz="3250" dirty="0">
                <a:latin typeface="Calibri"/>
                <a:cs typeface="Calibri"/>
              </a:rPr>
              <a:t>is </a:t>
            </a:r>
            <a:r>
              <a:rPr sz="3250" spc="5" dirty="0">
                <a:latin typeface="Calibri"/>
                <a:cs typeface="Calibri"/>
              </a:rPr>
              <a:t>connected </a:t>
            </a:r>
            <a:r>
              <a:rPr sz="3250" spc="-5" dirty="0">
                <a:latin typeface="Calibri"/>
                <a:cs typeface="Calibri"/>
              </a:rPr>
              <a:t>to </a:t>
            </a:r>
            <a:r>
              <a:rPr sz="3250" dirty="0">
                <a:latin typeface="Calibri"/>
                <a:cs typeface="Calibri"/>
              </a:rPr>
              <a:t> the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common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or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ground</a:t>
            </a:r>
            <a:r>
              <a:rPr sz="3250" spc="6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terminals.</a:t>
            </a:r>
            <a:endParaRPr sz="3250">
              <a:latin typeface="Calibri"/>
              <a:cs typeface="Calibri"/>
            </a:endParaRPr>
          </a:p>
          <a:p>
            <a:pPr marL="427355" marR="19685" indent="-402590" algn="just">
              <a:lnSpc>
                <a:spcPct val="100600"/>
              </a:lnSpc>
              <a:spcBef>
                <a:spcPts val="805"/>
              </a:spcBef>
              <a:buFont typeface="Arial MT"/>
              <a:buChar char="•"/>
              <a:tabLst>
                <a:tab pos="427990" algn="l"/>
              </a:tabLst>
            </a:pPr>
            <a:r>
              <a:rPr sz="3250" dirty="0">
                <a:latin typeface="Calibri"/>
                <a:cs typeface="Calibri"/>
              </a:rPr>
              <a:t>Because </a:t>
            </a:r>
            <a:r>
              <a:rPr sz="3250" spc="5" dirty="0">
                <a:latin typeface="Calibri"/>
                <a:cs typeface="Calibri"/>
              </a:rPr>
              <a:t>of </a:t>
            </a:r>
            <a:r>
              <a:rPr sz="3250" dirty="0">
                <a:latin typeface="Calibri"/>
                <a:cs typeface="Calibri"/>
              </a:rPr>
              <a:t>its construction, the </a:t>
            </a:r>
            <a:r>
              <a:rPr sz="3250" spc="10" dirty="0">
                <a:latin typeface="Calibri"/>
                <a:cs typeface="Calibri"/>
              </a:rPr>
              <a:t>MOSFET </a:t>
            </a:r>
            <a:r>
              <a:rPr sz="3250" spc="5" dirty="0">
                <a:latin typeface="Calibri"/>
                <a:cs typeface="Calibri"/>
              </a:rPr>
              <a:t>has a </a:t>
            </a:r>
            <a:r>
              <a:rPr sz="3250" dirty="0">
                <a:latin typeface="Calibri"/>
                <a:cs typeface="Calibri"/>
              </a:rPr>
              <a:t>very less </a:t>
            </a:r>
            <a:r>
              <a:rPr sz="3250" spc="5" dirty="0">
                <a:latin typeface="Calibri"/>
                <a:cs typeface="Calibri"/>
              </a:rPr>
              <a:t> chip </a:t>
            </a:r>
            <a:r>
              <a:rPr sz="3250" spc="-10" dirty="0">
                <a:latin typeface="Calibri"/>
                <a:cs typeface="Calibri"/>
              </a:rPr>
              <a:t>area </a:t>
            </a:r>
            <a:r>
              <a:rPr sz="3250" spc="5" dirty="0">
                <a:latin typeface="Calibri"/>
                <a:cs typeface="Calibri"/>
              </a:rPr>
              <a:t>than </a:t>
            </a:r>
            <a:r>
              <a:rPr sz="3250" spc="-75" dirty="0">
                <a:latin typeface="Calibri"/>
                <a:cs typeface="Calibri"/>
              </a:rPr>
              <a:t>BJT,</a:t>
            </a:r>
            <a:r>
              <a:rPr sz="3250" spc="-7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which </a:t>
            </a:r>
            <a:r>
              <a:rPr sz="3250" spc="10" dirty="0">
                <a:latin typeface="Calibri"/>
                <a:cs typeface="Calibri"/>
              </a:rPr>
              <a:t>is </a:t>
            </a:r>
            <a:r>
              <a:rPr sz="3250" spc="5" dirty="0">
                <a:latin typeface="Calibri"/>
                <a:cs typeface="Calibri"/>
              </a:rPr>
              <a:t>5% of </a:t>
            </a:r>
            <a:r>
              <a:rPr sz="3250" dirty="0">
                <a:latin typeface="Calibri"/>
                <a:cs typeface="Calibri"/>
              </a:rPr>
              <a:t>the </a:t>
            </a:r>
            <a:r>
              <a:rPr sz="3250" spc="5" dirty="0">
                <a:latin typeface="Calibri"/>
                <a:cs typeface="Calibri"/>
              </a:rPr>
              <a:t>occupancy </a:t>
            </a:r>
            <a:r>
              <a:rPr sz="3250" spc="10" dirty="0">
                <a:latin typeface="Calibri"/>
                <a:cs typeface="Calibri"/>
              </a:rPr>
              <a:t>when 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compared</a:t>
            </a:r>
            <a:r>
              <a:rPr sz="3250" spc="5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to</a:t>
            </a:r>
            <a:r>
              <a:rPr sz="3250" spc="6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bipolar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junction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spc="-35" dirty="0">
                <a:latin typeface="Calibri"/>
                <a:cs typeface="Calibri"/>
              </a:rPr>
              <a:t>transistor.</a:t>
            </a:r>
            <a:r>
              <a:rPr sz="3250" spc="5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This</a:t>
            </a:r>
            <a:r>
              <a:rPr sz="3250" spc="8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device</a:t>
            </a:r>
            <a:r>
              <a:rPr sz="3250" spc="6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can</a:t>
            </a:r>
            <a:r>
              <a:rPr sz="3250" spc="7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be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4708" y="6224015"/>
            <a:ext cx="3306445" cy="5232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250" spc="-15" dirty="0">
                <a:latin typeface="Calibri"/>
                <a:cs typeface="Calibri"/>
              </a:rPr>
              <a:t>operated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in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modes.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6425" y="679703"/>
            <a:ext cx="461962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Cont…</a:t>
            </a:r>
            <a:r>
              <a:rPr spc="-125" dirty="0"/>
              <a:t> </a:t>
            </a:r>
            <a:r>
              <a:rPr spc="55" dirty="0"/>
              <a:t>P-Channel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8691" y="1541180"/>
            <a:ext cx="5255779" cy="445541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3865" y="679703"/>
            <a:ext cx="746569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70705" algn="l"/>
              </a:tabLst>
            </a:pPr>
            <a:r>
              <a:rPr spc="125" dirty="0"/>
              <a:t>C</a:t>
            </a:r>
            <a:r>
              <a:rPr spc="160" dirty="0"/>
              <a:t>i</a:t>
            </a:r>
            <a:r>
              <a:rPr spc="145" dirty="0"/>
              <a:t>r</a:t>
            </a:r>
            <a:r>
              <a:rPr spc="20" dirty="0"/>
              <a:t>c</a:t>
            </a:r>
            <a:r>
              <a:rPr spc="25" dirty="0"/>
              <a:t>u</a:t>
            </a:r>
            <a:r>
              <a:rPr spc="160" dirty="0"/>
              <a:t>i</a:t>
            </a:r>
            <a:r>
              <a:rPr dirty="0"/>
              <a:t>t</a:t>
            </a:r>
            <a:r>
              <a:rPr spc="-50" dirty="0"/>
              <a:t> </a:t>
            </a:r>
            <a:r>
              <a:rPr spc="-575" dirty="0"/>
              <a:t>S</a:t>
            </a:r>
            <a:r>
              <a:rPr spc="80" dirty="0"/>
              <a:t>y</a:t>
            </a:r>
            <a:r>
              <a:rPr spc="200" dirty="0"/>
              <a:t>m</a:t>
            </a:r>
            <a:r>
              <a:rPr spc="20" dirty="0"/>
              <a:t>b</a:t>
            </a:r>
            <a:r>
              <a:rPr spc="-165" dirty="0"/>
              <a:t>o</a:t>
            </a:r>
            <a:r>
              <a:rPr spc="160" dirty="0"/>
              <a:t>l</a:t>
            </a:r>
            <a:r>
              <a:rPr spc="-195" dirty="0"/>
              <a:t>s</a:t>
            </a:r>
            <a:r>
              <a:rPr dirty="0"/>
              <a:t>	</a:t>
            </a:r>
            <a:r>
              <a:rPr spc="-240" dirty="0"/>
              <a:t>–</a:t>
            </a:r>
            <a:r>
              <a:rPr spc="-120" dirty="0"/>
              <a:t> </a:t>
            </a:r>
            <a:r>
              <a:rPr dirty="0"/>
              <a:t>N</a:t>
            </a:r>
            <a:r>
              <a:rPr spc="40" dirty="0"/>
              <a:t> </a:t>
            </a:r>
            <a:r>
              <a:rPr spc="120" dirty="0"/>
              <a:t>C</a:t>
            </a:r>
            <a:r>
              <a:rPr spc="20" dirty="0"/>
              <a:t>h</a:t>
            </a:r>
            <a:r>
              <a:rPr spc="55" dirty="0"/>
              <a:t>a</a:t>
            </a:r>
            <a:r>
              <a:rPr spc="45" dirty="0"/>
              <a:t>n</a:t>
            </a:r>
            <a:r>
              <a:rPr spc="20" dirty="0"/>
              <a:t>n</a:t>
            </a:r>
            <a:r>
              <a:rPr spc="35" dirty="0"/>
              <a:t>e</a:t>
            </a:r>
            <a:r>
              <a:rPr dirty="0"/>
              <a:t>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1960" y="1976636"/>
            <a:ext cx="6327192" cy="429766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3113" y="591311"/>
            <a:ext cx="74168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70705" algn="l"/>
              </a:tabLst>
            </a:pPr>
            <a:r>
              <a:rPr spc="125" dirty="0"/>
              <a:t>C</a:t>
            </a:r>
            <a:r>
              <a:rPr spc="160" dirty="0"/>
              <a:t>i</a:t>
            </a:r>
            <a:r>
              <a:rPr spc="145" dirty="0"/>
              <a:t>r</a:t>
            </a:r>
            <a:r>
              <a:rPr spc="20" dirty="0"/>
              <a:t>c</a:t>
            </a:r>
            <a:r>
              <a:rPr spc="25" dirty="0"/>
              <a:t>u</a:t>
            </a:r>
            <a:r>
              <a:rPr spc="160" dirty="0"/>
              <a:t>i</a:t>
            </a:r>
            <a:r>
              <a:rPr dirty="0"/>
              <a:t>t</a:t>
            </a:r>
            <a:r>
              <a:rPr spc="-50" dirty="0"/>
              <a:t> </a:t>
            </a:r>
            <a:r>
              <a:rPr spc="-575" dirty="0"/>
              <a:t>S</a:t>
            </a:r>
            <a:r>
              <a:rPr spc="80" dirty="0"/>
              <a:t>y</a:t>
            </a:r>
            <a:r>
              <a:rPr spc="200" dirty="0"/>
              <a:t>m</a:t>
            </a:r>
            <a:r>
              <a:rPr spc="20" dirty="0"/>
              <a:t>b</a:t>
            </a:r>
            <a:r>
              <a:rPr spc="-165" dirty="0"/>
              <a:t>o</a:t>
            </a:r>
            <a:r>
              <a:rPr spc="160" dirty="0"/>
              <a:t>l</a:t>
            </a:r>
            <a:r>
              <a:rPr spc="-195" dirty="0"/>
              <a:t>s</a:t>
            </a:r>
            <a:r>
              <a:rPr dirty="0"/>
              <a:t>	</a:t>
            </a:r>
            <a:r>
              <a:rPr spc="-240" dirty="0"/>
              <a:t>–</a:t>
            </a:r>
            <a:r>
              <a:rPr spc="-125" dirty="0"/>
              <a:t> </a:t>
            </a:r>
            <a:r>
              <a:rPr dirty="0"/>
              <a:t>P</a:t>
            </a:r>
            <a:r>
              <a:rPr spc="-110" dirty="0"/>
              <a:t> </a:t>
            </a:r>
            <a:r>
              <a:rPr spc="120" dirty="0"/>
              <a:t>C</a:t>
            </a:r>
            <a:r>
              <a:rPr spc="20" dirty="0"/>
              <a:t>h</a:t>
            </a:r>
            <a:r>
              <a:rPr spc="55" dirty="0"/>
              <a:t>a</a:t>
            </a:r>
            <a:r>
              <a:rPr spc="45" dirty="0"/>
              <a:t>n</a:t>
            </a:r>
            <a:r>
              <a:rPr spc="20" dirty="0"/>
              <a:t>n</a:t>
            </a:r>
            <a:r>
              <a:rPr spc="35" dirty="0"/>
              <a:t>e</a:t>
            </a:r>
            <a:r>
              <a:rPr dirty="0"/>
              <a:t>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9492" y="1816290"/>
            <a:ext cx="6564953" cy="44479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9763" y="679703"/>
            <a:ext cx="594487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MOSFET</a:t>
            </a:r>
            <a:r>
              <a:rPr spc="15" dirty="0"/>
              <a:t> </a:t>
            </a:r>
            <a:r>
              <a:rPr spc="30" dirty="0"/>
              <a:t>Classification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3324" y="2199516"/>
            <a:ext cx="7568435" cy="324050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0395" y="679703"/>
            <a:ext cx="51631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Enhancement</a:t>
            </a:r>
            <a:r>
              <a:rPr spc="-45" dirty="0"/>
              <a:t> </a:t>
            </a:r>
            <a:r>
              <a:rPr spc="65" dirty="0"/>
              <a:t>Mode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371" y="1289913"/>
            <a:ext cx="10240010" cy="272034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14655" indent="-402590" algn="just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spc="-10" dirty="0">
                <a:solidFill>
                  <a:srgbClr val="333333"/>
                </a:solidFill>
                <a:latin typeface="Calibri"/>
                <a:cs typeface="Calibri"/>
              </a:rPr>
              <a:t>Default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–</a:t>
            </a:r>
            <a:r>
              <a:rPr sz="325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No</a:t>
            </a:r>
            <a:r>
              <a:rPr sz="325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25" dirty="0">
                <a:solidFill>
                  <a:srgbClr val="333333"/>
                </a:solidFill>
                <a:latin typeface="Calibri"/>
                <a:cs typeface="Calibri"/>
              </a:rPr>
              <a:t>gate</a:t>
            </a:r>
            <a:r>
              <a:rPr sz="325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10" dirty="0">
                <a:solidFill>
                  <a:srgbClr val="333333"/>
                </a:solidFill>
                <a:latin typeface="Calibri"/>
                <a:cs typeface="Calibri"/>
              </a:rPr>
              <a:t>voltage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-</a:t>
            </a:r>
            <a:r>
              <a:rPr sz="3250" spc="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No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channel</a:t>
            </a:r>
            <a:r>
              <a:rPr sz="3250" spc="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conductivity</a:t>
            </a:r>
            <a:endParaRPr sz="3250">
              <a:latin typeface="Calibri"/>
              <a:cs typeface="Calibri"/>
            </a:endParaRPr>
          </a:p>
          <a:p>
            <a:pPr marL="414655" marR="5080" indent="-402590" algn="just">
              <a:lnSpc>
                <a:spcPct val="100899"/>
              </a:lnSpc>
              <a:spcBef>
                <a:spcPts val="770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When 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there 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is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no </a:t>
            </a:r>
            <a:r>
              <a:rPr sz="3250" spc="-10" dirty="0">
                <a:solidFill>
                  <a:srgbClr val="333333"/>
                </a:solidFill>
                <a:latin typeface="Calibri"/>
                <a:cs typeface="Calibri"/>
              </a:rPr>
              <a:t>voltage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across </a:t>
            </a:r>
            <a:r>
              <a:rPr sz="3250" spc="15" dirty="0">
                <a:solidFill>
                  <a:srgbClr val="333333"/>
                </a:solidFill>
                <a:latin typeface="Calibri"/>
                <a:cs typeface="Calibri"/>
              </a:rPr>
              <a:t>the </a:t>
            </a:r>
            <a:r>
              <a:rPr sz="3250" spc="-25" dirty="0">
                <a:solidFill>
                  <a:srgbClr val="333333"/>
                </a:solidFill>
                <a:latin typeface="Calibri"/>
                <a:cs typeface="Calibri"/>
              </a:rPr>
              <a:t>gate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terminal, 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then </a:t>
            </a:r>
            <a:r>
              <a:rPr sz="325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the 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device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does 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not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conduct. </a:t>
            </a:r>
            <a:r>
              <a:rPr sz="3250" spc="15" dirty="0">
                <a:solidFill>
                  <a:srgbClr val="333333"/>
                </a:solidFill>
                <a:latin typeface="Calibri"/>
                <a:cs typeface="Calibri"/>
              </a:rPr>
              <a:t>When </a:t>
            </a:r>
            <a:r>
              <a:rPr sz="3250" spc="-10" dirty="0">
                <a:solidFill>
                  <a:srgbClr val="333333"/>
                </a:solidFill>
                <a:latin typeface="Calibri"/>
                <a:cs typeface="Calibri"/>
              </a:rPr>
              <a:t>there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is the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maximum </a:t>
            </a:r>
            <a:r>
              <a:rPr sz="3250" spc="-7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10" dirty="0">
                <a:solidFill>
                  <a:srgbClr val="333333"/>
                </a:solidFill>
                <a:latin typeface="Calibri"/>
                <a:cs typeface="Calibri"/>
              </a:rPr>
              <a:t>voltage 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across </a:t>
            </a:r>
            <a:r>
              <a:rPr sz="3250" spc="15" dirty="0">
                <a:solidFill>
                  <a:srgbClr val="333333"/>
                </a:solidFill>
                <a:latin typeface="Calibri"/>
                <a:cs typeface="Calibri"/>
              </a:rPr>
              <a:t>the </a:t>
            </a:r>
            <a:r>
              <a:rPr sz="3250" spc="-25" dirty="0">
                <a:solidFill>
                  <a:srgbClr val="333333"/>
                </a:solidFill>
                <a:latin typeface="Calibri"/>
                <a:cs typeface="Calibri"/>
              </a:rPr>
              <a:t>gate 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terminal, 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then the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device shows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enhanced</a:t>
            </a:r>
            <a:r>
              <a:rPr sz="3250" spc="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15" dirty="0">
                <a:solidFill>
                  <a:srgbClr val="333333"/>
                </a:solidFill>
                <a:latin typeface="Calibri"/>
                <a:cs typeface="Calibri"/>
              </a:rPr>
              <a:t>conductivity.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1255" y="679703"/>
            <a:ext cx="4078604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5" dirty="0"/>
              <a:t>Depletion</a:t>
            </a:r>
            <a:r>
              <a:rPr spc="-45" dirty="0"/>
              <a:t> </a:t>
            </a:r>
            <a:r>
              <a:rPr spc="65" dirty="0"/>
              <a:t>Mode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371" y="1289913"/>
            <a:ext cx="10241280" cy="331724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14655" indent="-402590" algn="just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spc="-10" dirty="0">
                <a:solidFill>
                  <a:srgbClr val="333333"/>
                </a:solidFill>
                <a:latin typeface="Calibri"/>
                <a:cs typeface="Calibri"/>
              </a:rPr>
              <a:t>Default:</a:t>
            </a:r>
            <a:r>
              <a:rPr sz="325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No</a:t>
            </a:r>
            <a:r>
              <a:rPr sz="325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30" dirty="0">
                <a:solidFill>
                  <a:srgbClr val="333333"/>
                </a:solidFill>
                <a:latin typeface="Calibri"/>
                <a:cs typeface="Calibri"/>
              </a:rPr>
              <a:t>Voltage</a:t>
            </a:r>
            <a:r>
              <a:rPr sz="3250" spc="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325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Gate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–</a:t>
            </a:r>
            <a:r>
              <a:rPr sz="325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Maximum</a:t>
            </a:r>
            <a:r>
              <a:rPr sz="3250" spc="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Conductivity</a:t>
            </a:r>
            <a:endParaRPr sz="3250">
              <a:latin typeface="Calibri"/>
              <a:cs typeface="Calibri"/>
            </a:endParaRPr>
          </a:p>
          <a:p>
            <a:pPr marL="414655" marR="6985" indent="-402590" algn="just">
              <a:lnSpc>
                <a:spcPct val="100899"/>
              </a:lnSpc>
              <a:spcBef>
                <a:spcPts val="770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When 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there 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is no </a:t>
            </a:r>
            <a:r>
              <a:rPr sz="3250" spc="-10" dirty="0">
                <a:solidFill>
                  <a:srgbClr val="333333"/>
                </a:solidFill>
                <a:latin typeface="Calibri"/>
                <a:cs typeface="Calibri"/>
              </a:rPr>
              <a:t>voltage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across the </a:t>
            </a:r>
            <a:r>
              <a:rPr sz="3250" spc="-25" dirty="0">
                <a:solidFill>
                  <a:srgbClr val="333333"/>
                </a:solidFill>
                <a:latin typeface="Calibri"/>
                <a:cs typeface="Calibri"/>
              </a:rPr>
              <a:t>gate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terminal, the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channel</a:t>
            </a:r>
            <a:r>
              <a:rPr sz="3250" spc="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10" dirty="0">
                <a:solidFill>
                  <a:srgbClr val="333333"/>
                </a:solidFill>
                <a:latin typeface="Calibri"/>
                <a:cs typeface="Calibri"/>
              </a:rPr>
              <a:t>shows</a:t>
            </a:r>
            <a:r>
              <a:rPr sz="3250" spc="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maximum</a:t>
            </a:r>
            <a:r>
              <a:rPr sz="3250" spc="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conductance.</a:t>
            </a:r>
            <a:endParaRPr sz="3250">
              <a:latin typeface="Calibri"/>
              <a:cs typeface="Calibri"/>
            </a:endParaRPr>
          </a:p>
          <a:p>
            <a:pPr marL="414655" marR="5080" indent="-402590" algn="just">
              <a:lnSpc>
                <a:spcPct val="100600"/>
              </a:lnSpc>
              <a:spcBef>
                <a:spcPts val="805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When</a:t>
            </a:r>
            <a:r>
              <a:rPr sz="325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10" dirty="0">
                <a:solidFill>
                  <a:srgbClr val="333333"/>
                </a:solidFill>
                <a:latin typeface="Calibri"/>
                <a:cs typeface="Calibri"/>
              </a:rPr>
              <a:t>voltage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 across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 the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25" dirty="0">
                <a:solidFill>
                  <a:srgbClr val="333333"/>
                </a:solidFill>
                <a:latin typeface="Calibri"/>
                <a:cs typeface="Calibri"/>
              </a:rPr>
              <a:t>gate</a:t>
            </a:r>
            <a:r>
              <a:rPr sz="325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terminal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 either 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positive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 or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10" dirty="0">
                <a:solidFill>
                  <a:srgbClr val="333333"/>
                </a:solidFill>
                <a:latin typeface="Calibri"/>
                <a:cs typeface="Calibri"/>
              </a:rPr>
              <a:t>negative,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then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 channel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conductivity 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decreases.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372" y="716279"/>
            <a:ext cx="9349105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364480" algn="l"/>
              </a:tabLst>
            </a:pPr>
            <a:r>
              <a:rPr sz="3750" spc="-5" dirty="0"/>
              <a:t>P</a:t>
            </a:r>
            <a:r>
              <a:rPr sz="3750" spc="200" dirty="0"/>
              <a:t>r</a:t>
            </a:r>
            <a:r>
              <a:rPr sz="3750" spc="130" dirty="0"/>
              <a:t>i</a:t>
            </a:r>
            <a:r>
              <a:rPr sz="3750" spc="30" dirty="0"/>
              <a:t>n</a:t>
            </a:r>
            <a:r>
              <a:rPr sz="3750" spc="15" dirty="0"/>
              <a:t>c</a:t>
            </a:r>
            <a:r>
              <a:rPr sz="3750" spc="130" dirty="0"/>
              <a:t>i</a:t>
            </a:r>
            <a:r>
              <a:rPr sz="3750" spc="35" dirty="0"/>
              <a:t>p</a:t>
            </a:r>
            <a:r>
              <a:rPr sz="3750" spc="130" dirty="0"/>
              <a:t>l</a:t>
            </a:r>
            <a:r>
              <a:rPr sz="3750" spc="-5" dirty="0"/>
              <a:t>e</a:t>
            </a:r>
            <a:r>
              <a:rPr sz="3750" spc="-60" dirty="0"/>
              <a:t> </a:t>
            </a:r>
            <a:r>
              <a:rPr sz="3750" spc="-160" dirty="0"/>
              <a:t>o</a:t>
            </a:r>
            <a:r>
              <a:rPr sz="3750" spc="-5" dirty="0"/>
              <a:t>f</a:t>
            </a:r>
            <a:r>
              <a:rPr sz="3750" spc="-50" dirty="0"/>
              <a:t> </a:t>
            </a:r>
            <a:r>
              <a:rPr sz="3750" spc="130" dirty="0"/>
              <a:t>O</a:t>
            </a:r>
            <a:r>
              <a:rPr sz="3750" spc="30" dirty="0"/>
              <a:t>p</a:t>
            </a:r>
            <a:r>
              <a:rPr sz="3750" spc="20" dirty="0"/>
              <a:t>e</a:t>
            </a:r>
            <a:r>
              <a:rPr sz="3750" spc="105" dirty="0"/>
              <a:t>r</a:t>
            </a:r>
            <a:r>
              <a:rPr sz="3750" spc="45" dirty="0"/>
              <a:t>a</a:t>
            </a:r>
            <a:r>
              <a:rPr sz="3750" spc="55" dirty="0"/>
              <a:t>t</a:t>
            </a:r>
            <a:r>
              <a:rPr sz="3750" spc="130" dirty="0"/>
              <a:t>i</a:t>
            </a:r>
            <a:r>
              <a:rPr sz="3750" spc="-160" dirty="0"/>
              <a:t>o</a:t>
            </a:r>
            <a:r>
              <a:rPr sz="3750" spc="-5" dirty="0"/>
              <a:t>n</a:t>
            </a:r>
            <a:r>
              <a:rPr sz="3750" dirty="0"/>
              <a:t>	</a:t>
            </a:r>
            <a:r>
              <a:rPr sz="3750" spc="-215" dirty="0"/>
              <a:t>–</a:t>
            </a:r>
            <a:r>
              <a:rPr sz="3750" spc="-105" dirty="0"/>
              <a:t> </a:t>
            </a:r>
            <a:r>
              <a:rPr sz="3750" spc="140" dirty="0"/>
              <a:t>D</a:t>
            </a:r>
            <a:r>
              <a:rPr sz="3750" spc="-55" dirty="0"/>
              <a:t>e</a:t>
            </a:r>
            <a:r>
              <a:rPr sz="3750" spc="35" dirty="0"/>
              <a:t>p</a:t>
            </a:r>
            <a:r>
              <a:rPr sz="3750" spc="130" dirty="0"/>
              <a:t>l</a:t>
            </a:r>
            <a:r>
              <a:rPr sz="3750" spc="15" dirty="0"/>
              <a:t>e</a:t>
            </a:r>
            <a:r>
              <a:rPr sz="3750" spc="25" dirty="0"/>
              <a:t>t</a:t>
            </a:r>
            <a:r>
              <a:rPr sz="3750" spc="130" dirty="0"/>
              <a:t>i</a:t>
            </a:r>
            <a:r>
              <a:rPr sz="3750" spc="-160" dirty="0"/>
              <a:t>o</a:t>
            </a:r>
            <a:r>
              <a:rPr sz="3750" spc="-5" dirty="0"/>
              <a:t>n</a:t>
            </a:r>
            <a:r>
              <a:rPr sz="3750" spc="-15" dirty="0"/>
              <a:t> </a:t>
            </a:r>
            <a:r>
              <a:rPr sz="3750" spc="380" dirty="0"/>
              <a:t>M</a:t>
            </a:r>
            <a:r>
              <a:rPr sz="3750" spc="-160" dirty="0"/>
              <a:t>o</a:t>
            </a:r>
            <a:r>
              <a:rPr sz="3750" spc="30" dirty="0"/>
              <a:t>d</a:t>
            </a:r>
            <a:r>
              <a:rPr sz="3750" spc="-5" dirty="0"/>
              <a:t>e</a:t>
            </a:r>
            <a:endParaRPr sz="37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2540" y="1822728"/>
            <a:ext cx="5512571" cy="476414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7273" y="679703"/>
            <a:ext cx="17735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15" dirty="0"/>
              <a:t>t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371" y="1389887"/>
            <a:ext cx="10244455" cy="431800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14655" marR="8890" indent="-402590" algn="just">
              <a:lnSpc>
                <a:spcPct val="100899"/>
              </a:lnSpc>
              <a:spcBef>
                <a:spcPts val="75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No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PN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junction</a:t>
            </a:r>
            <a:r>
              <a:rPr sz="325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20" dirty="0">
                <a:solidFill>
                  <a:srgbClr val="333333"/>
                </a:solidFill>
                <a:latin typeface="Calibri"/>
                <a:cs typeface="Calibri"/>
              </a:rPr>
              <a:t>like</a:t>
            </a:r>
            <a:r>
              <a:rPr sz="325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85" dirty="0">
                <a:solidFill>
                  <a:srgbClr val="333333"/>
                </a:solidFill>
                <a:latin typeface="Calibri"/>
                <a:cs typeface="Calibri"/>
              </a:rPr>
              <a:t>FET,</a:t>
            </a:r>
            <a:r>
              <a:rPr sz="3250" spc="-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instead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10" dirty="0">
                <a:solidFill>
                  <a:srgbClr val="333333"/>
                </a:solidFill>
                <a:latin typeface="Calibri"/>
                <a:cs typeface="Calibri"/>
              </a:rPr>
              <a:t>there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3250" spc="7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an 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insulation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20" dirty="0">
                <a:solidFill>
                  <a:srgbClr val="333333"/>
                </a:solidFill>
                <a:latin typeface="Calibri"/>
                <a:cs typeface="Calibri"/>
              </a:rPr>
              <a:t>layer</a:t>
            </a:r>
            <a:endParaRPr sz="3250">
              <a:latin typeface="Calibri"/>
              <a:cs typeface="Calibri"/>
            </a:endParaRPr>
          </a:p>
          <a:p>
            <a:pPr marL="414655" marR="8255" indent="-402590" algn="just">
              <a:lnSpc>
                <a:spcPct val="100899"/>
              </a:lnSpc>
              <a:spcBef>
                <a:spcPts val="770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spc="-10" dirty="0">
                <a:solidFill>
                  <a:srgbClr val="333333"/>
                </a:solidFill>
                <a:latin typeface="Calibri"/>
                <a:cs typeface="Calibri"/>
              </a:rPr>
              <a:t>Current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conduction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 due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 the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presence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 of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diffused </a:t>
            </a:r>
            <a:r>
              <a:rPr sz="3250" spc="-7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channel</a:t>
            </a:r>
            <a:endParaRPr sz="3250">
              <a:latin typeface="Calibri"/>
              <a:cs typeface="Calibri"/>
            </a:endParaRPr>
          </a:p>
          <a:p>
            <a:pPr marL="414655" indent="-402590" algn="just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Sio2</a:t>
            </a:r>
            <a:r>
              <a:rPr sz="325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&amp;</a:t>
            </a:r>
            <a:r>
              <a:rPr sz="325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Al </a:t>
            </a:r>
            <a:r>
              <a:rPr sz="3250" spc="-10" dirty="0">
                <a:solidFill>
                  <a:srgbClr val="333333"/>
                </a:solidFill>
                <a:latin typeface="Calibri"/>
                <a:cs typeface="Calibri"/>
              </a:rPr>
              <a:t>metal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contact</a:t>
            </a:r>
            <a:r>
              <a:rPr sz="325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forms,</a:t>
            </a:r>
            <a:r>
              <a:rPr sz="325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 capacitor</a:t>
            </a:r>
            <a:endParaRPr sz="3250">
              <a:latin typeface="Calibri"/>
              <a:cs typeface="Calibri"/>
            </a:endParaRPr>
          </a:p>
          <a:p>
            <a:pPr marL="414655" marR="5080" indent="-402590" algn="just">
              <a:lnSpc>
                <a:spcPct val="100899"/>
              </a:lnSpc>
              <a:spcBef>
                <a:spcPts val="795"/>
              </a:spcBef>
              <a:buFont typeface="Arial MT"/>
              <a:buChar char="•"/>
              <a:tabLst>
                <a:tab pos="415290" algn="l"/>
              </a:tabLst>
            </a:pP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NMOS</a:t>
            </a:r>
            <a:r>
              <a:rPr sz="3250" spc="409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3250" spc="409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Depletion</a:t>
            </a:r>
            <a:r>
              <a:rPr sz="3250" spc="4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Mode</a:t>
            </a:r>
            <a:r>
              <a:rPr sz="3250" spc="4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–</a:t>
            </a:r>
            <a:r>
              <a:rPr sz="3250" spc="4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Biasing</a:t>
            </a:r>
            <a:r>
              <a:rPr sz="3250" spc="4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10" dirty="0">
                <a:solidFill>
                  <a:srgbClr val="333333"/>
                </a:solidFill>
                <a:latin typeface="Calibri"/>
                <a:cs typeface="Calibri"/>
              </a:rPr>
              <a:t>Requirement</a:t>
            </a:r>
            <a:r>
              <a:rPr sz="3250" spc="4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–</a:t>
            </a:r>
            <a:r>
              <a:rPr sz="3250" spc="4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Gate </a:t>
            </a:r>
            <a:r>
              <a:rPr sz="3250" spc="-7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to </a:t>
            </a:r>
            <a:r>
              <a:rPr sz="3250" spc="-50" dirty="0">
                <a:solidFill>
                  <a:srgbClr val="333333"/>
                </a:solidFill>
                <a:latin typeface="Calibri"/>
                <a:cs typeface="Calibri"/>
              </a:rPr>
              <a:t>–Ve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terminal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&amp; </a:t>
            </a:r>
            <a:r>
              <a:rPr sz="3250" spc="-10" dirty="0">
                <a:solidFill>
                  <a:srgbClr val="333333"/>
                </a:solidFill>
                <a:latin typeface="Calibri"/>
                <a:cs typeface="Calibri"/>
              </a:rPr>
              <a:t>Drain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is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connected 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to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the </a:t>
            </a:r>
            <a:r>
              <a:rPr sz="3250" spc="-50" dirty="0">
                <a:solidFill>
                  <a:srgbClr val="333333"/>
                </a:solidFill>
                <a:latin typeface="Calibri"/>
                <a:cs typeface="Calibri"/>
              </a:rPr>
              <a:t>+Ve 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terminal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325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25" dirty="0">
                <a:solidFill>
                  <a:srgbClr val="333333"/>
                </a:solidFill>
                <a:latin typeface="Calibri"/>
                <a:cs typeface="Calibri"/>
              </a:rPr>
              <a:t>gate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10" dirty="0">
                <a:solidFill>
                  <a:srgbClr val="333333"/>
                </a:solidFill>
                <a:latin typeface="Calibri"/>
                <a:cs typeface="Calibri"/>
              </a:rPr>
              <a:t>voltage.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7273" y="679703"/>
            <a:ext cx="17735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15" dirty="0"/>
              <a:t>t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671" y="1389887"/>
            <a:ext cx="10267950" cy="3717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27355" marR="17780" indent="-402590" algn="just">
              <a:lnSpc>
                <a:spcPct val="100600"/>
              </a:lnSpc>
              <a:spcBef>
                <a:spcPts val="90"/>
              </a:spcBef>
              <a:buFont typeface="Arial MT"/>
              <a:buChar char="•"/>
              <a:tabLst>
                <a:tab pos="427990" algn="l"/>
              </a:tabLst>
            </a:pPr>
            <a:r>
              <a:rPr sz="3250" spc="10" dirty="0">
                <a:latin typeface="Calibri"/>
                <a:cs typeface="Calibri"/>
              </a:rPr>
              <a:t>When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no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voltage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5" dirty="0">
                <a:latin typeface="Calibri"/>
                <a:cs typeface="Calibri"/>
              </a:rPr>
              <a:t> applied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between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25" dirty="0">
                <a:latin typeface="Calibri"/>
                <a:cs typeface="Calibri"/>
              </a:rPr>
              <a:t>gate</a:t>
            </a:r>
            <a:r>
              <a:rPr sz="3250" spc="-20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and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source,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some </a:t>
            </a:r>
            <a:r>
              <a:rPr sz="3250" spc="-5" dirty="0">
                <a:latin typeface="Calibri"/>
                <a:cs typeface="Calibri"/>
              </a:rPr>
              <a:t>current </a:t>
            </a:r>
            <a:r>
              <a:rPr sz="3250" dirty="0">
                <a:latin typeface="Calibri"/>
                <a:cs typeface="Calibri"/>
              </a:rPr>
              <a:t>flows </a:t>
            </a:r>
            <a:r>
              <a:rPr sz="3250" spc="5" dirty="0">
                <a:latin typeface="Calibri"/>
                <a:cs typeface="Calibri"/>
              </a:rPr>
              <a:t>due </a:t>
            </a:r>
            <a:r>
              <a:rPr sz="3250" spc="-5" dirty="0">
                <a:latin typeface="Calibri"/>
                <a:cs typeface="Calibri"/>
              </a:rPr>
              <a:t>to </a:t>
            </a:r>
            <a:r>
              <a:rPr sz="3250" dirty="0">
                <a:latin typeface="Calibri"/>
                <a:cs typeface="Calibri"/>
              </a:rPr>
              <a:t>the </a:t>
            </a:r>
            <a:r>
              <a:rPr sz="3250" spc="-10" dirty="0">
                <a:latin typeface="Calibri"/>
                <a:cs typeface="Calibri"/>
              </a:rPr>
              <a:t>voltage </a:t>
            </a:r>
            <a:r>
              <a:rPr sz="3250" spc="-5" dirty="0">
                <a:latin typeface="Calibri"/>
                <a:cs typeface="Calibri"/>
              </a:rPr>
              <a:t>between </a:t>
            </a:r>
            <a:r>
              <a:rPr sz="3250" spc="-10" dirty="0">
                <a:latin typeface="Calibri"/>
                <a:cs typeface="Calibri"/>
              </a:rPr>
              <a:t>drain </a:t>
            </a:r>
            <a:r>
              <a:rPr sz="3250" spc="5" dirty="0">
                <a:latin typeface="Calibri"/>
                <a:cs typeface="Calibri"/>
              </a:rPr>
              <a:t>and 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source.</a:t>
            </a:r>
            <a:endParaRPr sz="3250">
              <a:latin typeface="Calibri"/>
              <a:cs typeface="Calibri"/>
            </a:endParaRPr>
          </a:p>
          <a:p>
            <a:pPr marL="427355" indent="-402590" algn="just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427990" algn="l"/>
              </a:tabLst>
            </a:pPr>
            <a:r>
              <a:rPr sz="3250" spc="-5" dirty="0">
                <a:latin typeface="Calibri"/>
                <a:cs typeface="Calibri"/>
              </a:rPr>
              <a:t>Let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some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negative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voltage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is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applied</a:t>
            </a:r>
            <a:r>
              <a:rPr sz="3250" spc="6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at</a:t>
            </a:r>
            <a:r>
              <a:rPr sz="3250" spc="-15" dirty="0">
                <a:latin typeface="Calibri"/>
                <a:cs typeface="Calibri"/>
              </a:rPr>
              <a:t> </a:t>
            </a:r>
            <a:r>
              <a:rPr sz="3250" b="1" spc="-5" dirty="0">
                <a:latin typeface="Calibri"/>
                <a:cs typeface="Calibri"/>
              </a:rPr>
              <a:t>V</a:t>
            </a:r>
            <a:r>
              <a:rPr sz="3225" b="1" spc="-7" baseline="-20671" dirty="0">
                <a:latin typeface="Calibri"/>
                <a:cs typeface="Calibri"/>
              </a:rPr>
              <a:t>GG</a:t>
            </a:r>
            <a:r>
              <a:rPr sz="3250" spc="-5" dirty="0">
                <a:latin typeface="Calibri"/>
                <a:cs typeface="Calibri"/>
              </a:rPr>
              <a:t>.</a:t>
            </a:r>
            <a:endParaRPr sz="3250">
              <a:latin typeface="Calibri"/>
              <a:cs typeface="Calibri"/>
            </a:endParaRPr>
          </a:p>
          <a:p>
            <a:pPr marL="427355" marR="17780" indent="-402590" algn="just">
              <a:lnSpc>
                <a:spcPct val="100899"/>
              </a:lnSpc>
              <a:spcBef>
                <a:spcPts val="770"/>
              </a:spcBef>
              <a:buFont typeface="Arial MT"/>
              <a:buChar char="•"/>
              <a:tabLst>
                <a:tab pos="427990" algn="l"/>
              </a:tabLst>
            </a:pPr>
            <a:r>
              <a:rPr sz="3250" spc="10" dirty="0">
                <a:latin typeface="Calibri"/>
                <a:cs typeface="Calibri"/>
              </a:rPr>
              <a:t>Then the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minority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carriers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i.e.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holes,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get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attracted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and </a:t>
            </a:r>
            <a:r>
              <a:rPr sz="3250" spc="-72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settles</a:t>
            </a:r>
            <a:r>
              <a:rPr sz="3250" dirty="0">
                <a:latin typeface="Calibri"/>
                <a:cs typeface="Calibri"/>
              </a:rPr>
              <a:t> near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b="1" spc="5" dirty="0">
                <a:latin typeface="Calibri"/>
                <a:cs typeface="Calibri"/>
              </a:rPr>
              <a:t>SiO</a:t>
            </a:r>
            <a:r>
              <a:rPr sz="3225" b="1" spc="7" baseline="-20671" dirty="0">
                <a:latin typeface="Calibri"/>
                <a:cs typeface="Calibri"/>
              </a:rPr>
              <a:t>2</a:t>
            </a:r>
            <a:r>
              <a:rPr sz="3225" b="1" spc="15" baseline="-20671" dirty="0">
                <a:latin typeface="Calibri"/>
                <a:cs typeface="Calibri"/>
              </a:rPr>
              <a:t> </a:t>
            </a:r>
            <a:r>
              <a:rPr sz="3250" spc="-75" dirty="0">
                <a:latin typeface="Calibri"/>
                <a:cs typeface="Calibri"/>
              </a:rPr>
              <a:t>layer.</a:t>
            </a:r>
            <a:r>
              <a:rPr sz="3250" spc="-7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But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5" dirty="0">
                <a:latin typeface="Calibri"/>
                <a:cs typeface="Calibri"/>
              </a:rPr>
              <a:t> majority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carriers,</a:t>
            </a:r>
            <a:r>
              <a:rPr sz="3250" dirty="0">
                <a:latin typeface="Calibri"/>
                <a:cs typeface="Calibri"/>
              </a:rPr>
              <a:t> i.e., 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electrons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get </a:t>
            </a:r>
            <a:r>
              <a:rPr sz="3250" spc="-5" dirty="0">
                <a:latin typeface="Calibri"/>
                <a:cs typeface="Calibri"/>
              </a:rPr>
              <a:t>repelled.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7273" y="679703"/>
            <a:ext cx="17735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C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15" dirty="0"/>
              <a:t>t</a:t>
            </a:r>
            <a:r>
              <a:rPr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671" y="1389887"/>
            <a:ext cx="10269855" cy="47174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27355" marR="21590" indent="-402590" algn="just">
              <a:lnSpc>
                <a:spcPct val="100699"/>
              </a:lnSpc>
              <a:spcBef>
                <a:spcPts val="85"/>
              </a:spcBef>
              <a:buFont typeface="Arial MT"/>
              <a:buChar char="•"/>
              <a:tabLst>
                <a:tab pos="427990" algn="l"/>
              </a:tabLst>
            </a:pPr>
            <a:r>
              <a:rPr sz="3250" spc="5" dirty="0">
                <a:latin typeface="Calibri"/>
                <a:cs typeface="Calibri"/>
              </a:rPr>
              <a:t>With some amount of </a:t>
            </a:r>
            <a:r>
              <a:rPr sz="3250" spc="-15" dirty="0">
                <a:latin typeface="Calibri"/>
                <a:cs typeface="Calibri"/>
              </a:rPr>
              <a:t>negative </a:t>
            </a:r>
            <a:r>
              <a:rPr sz="3250" spc="-5" dirty="0">
                <a:latin typeface="Calibri"/>
                <a:cs typeface="Calibri"/>
              </a:rPr>
              <a:t>potential </a:t>
            </a:r>
            <a:r>
              <a:rPr sz="3250" spc="-10" dirty="0">
                <a:latin typeface="Calibri"/>
                <a:cs typeface="Calibri"/>
              </a:rPr>
              <a:t>at </a:t>
            </a:r>
            <a:r>
              <a:rPr sz="3250" b="1" spc="-5" dirty="0">
                <a:latin typeface="Calibri"/>
                <a:cs typeface="Calibri"/>
              </a:rPr>
              <a:t>V</a:t>
            </a:r>
            <a:r>
              <a:rPr sz="3225" b="1" spc="-7" baseline="-20671" dirty="0">
                <a:latin typeface="Calibri"/>
                <a:cs typeface="Calibri"/>
              </a:rPr>
              <a:t>GG</a:t>
            </a:r>
            <a:r>
              <a:rPr sz="3225" b="1" baseline="-20671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a </a:t>
            </a:r>
            <a:r>
              <a:rPr sz="3250" spc="-5" dirty="0">
                <a:latin typeface="Calibri"/>
                <a:cs typeface="Calibri"/>
              </a:rPr>
              <a:t>certain </a:t>
            </a:r>
            <a:r>
              <a:rPr sz="3250" dirty="0">
                <a:latin typeface="Calibri"/>
                <a:cs typeface="Calibri"/>
              </a:rPr>
              <a:t> amount </a:t>
            </a:r>
            <a:r>
              <a:rPr sz="3250" spc="5" dirty="0">
                <a:latin typeface="Calibri"/>
                <a:cs typeface="Calibri"/>
              </a:rPr>
              <a:t>of </a:t>
            </a:r>
            <a:r>
              <a:rPr sz="3250" spc="-10" dirty="0">
                <a:latin typeface="Calibri"/>
                <a:cs typeface="Calibri"/>
              </a:rPr>
              <a:t>drain </a:t>
            </a:r>
            <a:r>
              <a:rPr sz="3250" spc="-5" dirty="0">
                <a:latin typeface="Calibri"/>
                <a:cs typeface="Calibri"/>
              </a:rPr>
              <a:t>current </a:t>
            </a:r>
            <a:r>
              <a:rPr sz="3250" b="1" spc="5" dirty="0">
                <a:latin typeface="Calibri"/>
                <a:cs typeface="Calibri"/>
              </a:rPr>
              <a:t>I</a:t>
            </a:r>
            <a:r>
              <a:rPr sz="3225" b="1" spc="7" baseline="-20671" dirty="0">
                <a:latin typeface="Calibri"/>
                <a:cs typeface="Calibri"/>
              </a:rPr>
              <a:t>D </a:t>
            </a:r>
            <a:r>
              <a:rPr sz="3250" dirty="0">
                <a:latin typeface="Calibri"/>
                <a:cs typeface="Calibri"/>
              </a:rPr>
              <a:t>flows </a:t>
            </a:r>
            <a:r>
              <a:rPr sz="3250" spc="5" dirty="0">
                <a:latin typeface="Calibri"/>
                <a:cs typeface="Calibri"/>
              </a:rPr>
              <a:t>through </a:t>
            </a:r>
            <a:r>
              <a:rPr sz="3250" spc="-5" dirty="0">
                <a:latin typeface="Calibri"/>
                <a:cs typeface="Calibri"/>
              </a:rPr>
              <a:t>source to </a:t>
            </a:r>
            <a:r>
              <a:rPr sz="3250" spc="-10" dirty="0">
                <a:latin typeface="Calibri"/>
                <a:cs typeface="Calibri"/>
              </a:rPr>
              <a:t>drain. </a:t>
            </a:r>
            <a:r>
              <a:rPr sz="3250" spc="-5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When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this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negative</a:t>
            </a:r>
            <a:r>
              <a:rPr sz="3250" spc="-10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potential</a:t>
            </a:r>
            <a:r>
              <a:rPr sz="3250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is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further</a:t>
            </a:r>
            <a:r>
              <a:rPr sz="3250" spc="1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increased,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10" dirty="0">
                <a:latin typeface="Calibri"/>
                <a:cs typeface="Calibri"/>
              </a:rPr>
              <a:t>the 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electrons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get </a:t>
            </a:r>
            <a:r>
              <a:rPr sz="3250" spc="-5" dirty="0">
                <a:latin typeface="Calibri"/>
                <a:cs typeface="Calibri"/>
              </a:rPr>
              <a:t>depleted</a:t>
            </a:r>
            <a:r>
              <a:rPr sz="3250" spc="4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and</a:t>
            </a:r>
            <a:r>
              <a:rPr sz="3250" spc="40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the</a:t>
            </a:r>
            <a:r>
              <a:rPr sz="3250" spc="1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current</a:t>
            </a:r>
            <a:r>
              <a:rPr sz="3250" spc="65" dirty="0">
                <a:latin typeface="Calibri"/>
                <a:cs typeface="Calibri"/>
              </a:rPr>
              <a:t> </a:t>
            </a:r>
            <a:r>
              <a:rPr sz="3250" b="1" spc="5" dirty="0">
                <a:latin typeface="Calibri"/>
                <a:cs typeface="Calibri"/>
              </a:rPr>
              <a:t>I</a:t>
            </a:r>
            <a:r>
              <a:rPr sz="3225" b="1" spc="7" baseline="-20671" dirty="0">
                <a:latin typeface="Calibri"/>
                <a:cs typeface="Calibri"/>
              </a:rPr>
              <a:t>D</a:t>
            </a:r>
            <a:r>
              <a:rPr sz="3225" b="1" spc="405" baseline="-20671" dirty="0">
                <a:latin typeface="Calibri"/>
                <a:cs typeface="Calibri"/>
              </a:rPr>
              <a:t> </a:t>
            </a:r>
            <a:r>
              <a:rPr sz="3250" spc="-5" dirty="0">
                <a:latin typeface="Calibri"/>
                <a:cs typeface="Calibri"/>
              </a:rPr>
              <a:t>decreases.</a:t>
            </a:r>
            <a:endParaRPr sz="3250">
              <a:latin typeface="Calibri"/>
              <a:cs typeface="Calibri"/>
            </a:endParaRPr>
          </a:p>
          <a:p>
            <a:pPr marL="427355" marR="20320" indent="-402590" algn="just">
              <a:lnSpc>
                <a:spcPct val="100899"/>
              </a:lnSpc>
              <a:spcBef>
                <a:spcPts val="795"/>
              </a:spcBef>
              <a:buFont typeface="Arial MT"/>
              <a:buChar char="•"/>
              <a:tabLst>
                <a:tab pos="427990" algn="l"/>
              </a:tabLst>
            </a:pPr>
            <a:r>
              <a:rPr sz="3250" spc="5" dirty="0">
                <a:latin typeface="Calibri"/>
                <a:cs typeface="Calibri"/>
              </a:rPr>
              <a:t>Hence </a:t>
            </a:r>
            <a:r>
              <a:rPr sz="3250" dirty="0">
                <a:latin typeface="Calibri"/>
                <a:cs typeface="Calibri"/>
              </a:rPr>
              <a:t>the </a:t>
            </a:r>
            <a:r>
              <a:rPr sz="3250" spc="-10" dirty="0">
                <a:latin typeface="Calibri"/>
                <a:cs typeface="Calibri"/>
              </a:rPr>
              <a:t>more </a:t>
            </a:r>
            <a:r>
              <a:rPr sz="3250" spc="-15" dirty="0">
                <a:latin typeface="Calibri"/>
                <a:cs typeface="Calibri"/>
              </a:rPr>
              <a:t>negative </a:t>
            </a:r>
            <a:r>
              <a:rPr sz="3250" dirty="0">
                <a:latin typeface="Calibri"/>
                <a:cs typeface="Calibri"/>
              </a:rPr>
              <a:t>the </a:t>
            </a:r>
            <a:r>
              <a:rPr sz="3250" spc="5" dirty="0">
                <a:latin typeface="Calibri"/>
                <a:cs typeface="Calibri"/>
              </a:rPr>
              <a:t>applied </a:t>
            </a:r>
            <a:r>
              <a:rPr sz="3250" b="1" spc="-5" dirty="0">
                <a:latin typeface="Calibri"/>
                <a:cs typeface="Calibri"/>
              </a:rPr>
              <a:t>V</a:t>
            </a:r>
            <a:r>
              <a:rPr sz="3225" b="1" spc="-7" baseline="-20671" dirty="0">
                <a:latin typeface="Calibri"/>
                <a:cs typeface="Calibri"/>
              </a:rPr>
              <a:t>GG</a:t>
            </a:r>
            <a:r>
              <a:rPr sz="3250" spc="-5" dirty="0">
                <a:latin typeface="Calibri"/>
                <a:cs typeface="Calibri"/>
              </a:rPr>
              <a:t>, </a:t>
            </a:r>
            <a:r>
              <a:rPr sz="3250" dirty="0">
                <a:latin typeface="Calibri"/>
                <a:cs typeface="Calibri"/>
              </a:rPr>
              <a:t>the </a:t>
            </a:r>
            <a:r>
              <a:rPr sz="3250" spc="5" dirty="0">
                <a:latin typeface="Calibri"/>
                <a:cs typeface="Calibri"/>
              </a:rPr>
              <a:t>lesser </a:t>
            </a:r>
            <a:r>
              <a:rPr sz="3250" dirty="0">
                <a:latin typeface="Calibri"/>
                <a:cs typeface="Calibri"/>
              </a:rPr>
              <a:t>the </a:t>
            </a:r>
            <a:r>
              <a:rPr sz="3250" spc="5" dirty="0">
                <a:latin typeface="Calibri"/>
                <a:cs typeface="Calibri"/>
              </a:rPr>
              <a:t> </a:t>
            </a:r>
            <a:r>
              <a:rPr sz="3250" spc="-15" dirty="0">
                <a:latin typeface="Calibri"/>
                <a:cs typeface="Calibri"/>
              </a:rPr>
              <a:t>value</a:t>
            </a:r>
            <a:r>
              <a:rPr sz="3250" spc="30" dirty="0">
                <a:latin typeface="Calibri"/>
                <a:cs typeface="Calibri"/>
              </a:rPr>
              <a:t> </a:t>
            </a:r>
            <a:r>
              <a:rPr sz="3250" spc="5" dirty="0">
                <a:latin typeface="Calibri"/>
                <a:cs typeface="Calibri"/>
              </a:rPr>
              <a:t>of</a:t>
            </a:r>
            <a:r>
              <a:rPr sz="3250" spc="20" dirty="0">
                <a:latin typeface="Calibri"/>
                <a:cs typeface="Calibri"/>
              </a:rPr>
              <a:t> </a:t>
            </a:r>
            <a:r>
              <a:rPr sz="3250" spc="-20" dirty="0">
                <a:latin typeface="Calibri"/>
                <a:cs typeface="Calibri"/>
              </a:rPr>
              <a:t>drain</a:t>
            </a:r>
            <a:r>
              <a:rPr sz="3250" spc="65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current</a:t>
            </a:r>
            <a:r>
              <a:rPr sz="3250" spc="65" dirty="0">
                <a:latin typeface="Calibri"/>
                <a:cs typeface="Calibri"/>
              </a:rPr>
              <a:t> </a:t>
            </a:r>
            <a:r>
              <a:rPr sz="3250" b="1" spc="5" dirty="0">
                <a:latin typeface="Calibri"/>
                <a:cs typeface="Calibri"/>
              </a:rPr>
              <a:t>I</a:t>
            </a:r>
            <a:r>
              <a:rPr sz="3225" b="1" spc="7" baseline="-20671" dirty="0">
                <a:latin typeface="Calibri"/>
                <a:cs typeface="Calibri"/>
              </a:rPr>
              <a:t>D</a:t>
            </a:r>
            <a:r>
              <a:rPr sz="3225" b="1" spc="405" baseline="-20671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will</a:t>
            </a:r>
            <a:r>
              <a:rPr sz="3250" spc="25" dirty="0">
                <a:latin typeface="Calibri"/>
                <a:cs typeface="Calibri"/>
              </a:rPr>
              <a:t> </a:t>
            </a:r>
            <a:r>
              <a:rPr sz="3250" dirty="0">
                <a:latin typeface="Calibri"/>
                <a:cs typeface="Calibri"/>
              </a:rPr>
              <a:t>be.</a:t>
            </a:r>
            <a:endParaRPr sz="3250">
              <a:latin typeface="Calibri"/>
              <a:cs typeface="Calibri"/>
            </a:endParaRPr>
          </a:p>
          <a:p>
            <a:pPr marL="427355" marR="17780" indent="-402590" algn="just">
              <a:lnSpc>
                <a:spcPct val="100899"/>
              </a:lnSpc>
              <a:spcBef>
                <a:spcPts val="765"/>
              </a:spcBef>
              <a:buFont typeface="Arial MT"/>
              <a:buChar char="•"/>
              <a:tabLst>
                <a:tab pos="427990" algn="l"/>
              </a:tabLst>
            </a:pP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The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channel 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nearer to </a:t>
            </a:r>
            <a:r>
              <a:rPr sz="3250" spc="-15" dirty="0">
                <a:solidFill>
                  <a:srgbClr val="333333"/>
                </a:solidFill>
                <a:latin typeface="Calibri"/>
                <a:cs typeface="Calibri"/>
              </a:rPr>
              <a:t>drain 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gets </a:t>
            </a:r>
            <a:r>
              <a:rPr sz="3250" spc="-10" dirty="0">
                <a:solidFill>
                  <a:srgbClr val="333333"/>
                </a:solidFill>
                <a:latin typeface="Calibri"/>
                <a:cs typeface="Calibri"/>
              </a:rPr>
              <a:t>more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depleted than </a:t>
            </a:r>
            <a:r>
              <a:rPr sz="3250" spc="-10" dirty="0">
                <a:solidFill>
                  <a:srgbClr val="333333"/>
                </a:solidFill>
                <a:latin typeface="Calibri"/>
                <a:cs typeface="Calibri"/>
              </a:rPr>
              <a:t>at 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 source</a:t>
            </a:r>
            <a:r>
              <a:rPr sz="3250" spc="4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3250" spc="48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3250" spc="5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FET</a:t>
            </a:r>
            <a:r>
              <a:rPr sz="3250" spc="5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3250" spc="4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3250" spc="4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current</a:t>
            </a:r>
            <a:r>
              <a:rPr sz="3250" spc="5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flow</a:t>
            </a:r>
            <a:r>
              <a:rPr sz="3250" spc="5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decreases</a:t>
            </a:r>
            <a:r>
              <a:rPr sz="3250" spc="5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due</a:t>
            </a:r>
            <a:r>
              <a:rPr sz="3250" spc="5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to </a:t>
            </a:r>
            <a:r>
              <a:rPr sz="3250" spc="-7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this</a:t>
            </a:r>
            <a:r>
              <a:rPr sz="325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10" dirty="0">
                <a:solidFill>
                  <a:srgbClr val="333333"/>
                </a:solidFill>
                <a:latin typeface="Calibri"/>
                <a:cs typeface="Calibri"/>
              </a:rPr>
              <a:t>effect.</a:t>
            </a:r>
            <a:r>
              <a:rPr sz="325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Hence</a:t>
            </a:r>
            <a:r>
              <a:rPr sz="325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325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325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called</a:t>
            </a:r>
            <a:r>
              <a:rPr sz="325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325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b="1" spc="-5" dirty="0">
                <a:solidFill>
                  <a:srgbClr val="333333"/>
                </a:solidFill>
                <a:latin typeface="Calibri"/>
                <a:cs typeface="Calibri"/>
              </a:rPr>
              <a:t>depletion</a:t>
            </a:r>
            <a:r>
              <a:rPr sz="3250" b="1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b="1" spc="5" dirty="0">
                <a:solidFill>
                  <a:srgbClr val="333333"/>
                </a:solidFill>
                <a:latin typeface="Calibri"/>
                <a:cs typeface="Calibri"/>
              </a:rPr>
              <a:t>mode</a:t>
            </a:r>
            <a:r>
              <a:rPr sz="3250" b="1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b="1" dirty="0">
                <a:solidFill>
                  <a:srgbClr val="333333"/>
                </a:solidFill>
                <a:latin typeface="Calibri"/>
                <a:cs typeface="Calibri"/>
              </a:rPr>
              <a:t>MOSFET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4494" y="679703"/>
            <a:ext cx="55327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Drain</a:t>
            </a:r>
            <a:r>
              <a:rPr spc="-105" dirty="0"/>
              <a:t> </a:t>
            </a:r>
            <a:r>
              <a:rPr spc="40" dirty="0"/>
              <a:t>Characteristics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9680" y="1598574"/>
            <a:ext cx="7734929" cy="493981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2552" y="682752"/>
            <a:ext cx="628904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5" dirty="0"/>
              <a:t>Transfer</a:t>
            </a:r>
            <a:r>
              <a:rPr spc="40" dirty="0"/>
              <a:t> Characteristics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1975" y="1366011"/>
            <a:ext cx="8208264" cy="530047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7483" y="1021080"/>
            <a:ext cx="9103360" cy="523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681855" algn="l"/>
                <a:tab pos="7980045" algn="l"/>
              </a:tabLst>
            </a:pPr>
            <a:r>
              <a:rPr sz="3250" spc="10" dirty="0"/>
              <a:t>P</a:t>
            </a:r>
            <a:r>
              <a:rPr sz="3250" spc="170" dirty="0"/>
              <a:t>r</a:t>
            </a:r>
            <a:r>
              <a:rPr sz="3250" spc="114" dirty="0"/>
              <a:t>i</a:t>
            </a:r>
            <a:r>
              <a:rPr sz="3250" spc="25" dirty="0"/>
              <a:t>n</a:t>
            </a:r>
            <a:r>
              <a:rPr sz="3250" spc="40" dirty="0"/>
              <a:t>c</a:t>
            </a:r>
            <a:r>
              <a:rPr sz="3250" spc="114" dirty="0"/>
              <a:t>i</a:t>
            </a:r>
            <a:r>
              <a:rPr sz="3250" spc="30" dirty="0"/>
              <a:t>p</a:t>
            </a:r>
            <a:r>
              <a:rPr sz="3250" spc="114" dirty="0"/>
              <a:t>l</a:t>
            </a:r>
            <a:r>
              <a:rPr sz="3250" spc="5" dirty="0"/>
              <a:t>e</a:t>
            </a:r>
            <a:r>
              <a:rPr sz="3250" spc="-10" dirty="0"/>
              <a:t> </a:t>
            </a:r>
            <a:r>
              <a:rPr sz="3250" spc="-114" dirty="0"/>
              <a:t>o</a:t>
            </a:r>
            <a:r>
              <a:rPr sz="3250" dirty="0"/>
              <a:t>f</a:t>
            </a:r>
            <a:r>
              <a:rPr sz="3250" spc="-55" dirty="0"/>
              <a:t> </a:t>
            </a:r>
            <a:r>
              <a:rPr sz="3250" spc="125" dirty="0"/>
              <a:t>O</a:t>
            </a:r>
            <a:r>
              <a:rPr sz="3250" spc="25" dirty="0"/>
              <a:t>p</a:t>
            </a:r>
            <a:r>
              <a:rPr sz="3250" spc="30" dirty="0"/>
              <a:t>e</a:t>
            </a:r>
            <a:r>
              <a:rPr sz="3250" spc="100" dirty="0"/>
              <a:t>r</a:t>
            </a:r>
            <a:r>
              <a:rPr sz="3250" spc="40" dirty="0"/>
              <a:t>a</a:t>
            </a:r>
            <a:r>
              <a:rPr sz="3250" spc="25" dirty="0"/>
              <a:t>t</a:t>
            </a:r>
            <a:r>
              <a:rPr sz="3250" spc="114" dirty="0"/>
              <a:t>i</a:t>
            </a:r>
            <a:r>
              <a:rPr sz="3250" spc="-55" dirty="0"/>
              <a:t>on</a:t>
            </a:r>
            <a:r>
              <a:rPr sz="3250" dirty="0"/>
              <a:t>	</a:t>
            </a:r>
            <a:r>
              <a:rPr sz="3250" spc="-180" dirty="0"/>
              <a:t>–</a:t>
            </a:r>
            <a:r>
              <a:rPr sz="3250" spc="-65" dirty="0"/>
              <a:t> </a:t>
            </a:r>
            <a:r>
              <a:rPr sz="3250" spc="10" dirty="0"/>
              <a:t>E</a:t>
            </a:r>
            <a:r>
              <a:rPr sz="3250" spc="25" dirty="0"/>
              <a:t>nh</a:t>
            </a:r>
            <a:r>
              <a:rPr sz="3250" spc="20" dirty="0"/>
              <a:t>a</a:t>
            </a:r>
            <a:r>
              <a:rPr sz="3250" spc="25" dirty="0"/>
              <a:t>n</a:t>
            </a:r>
            <a:r>
              <a:rPr sz="3250" spc="35" dirty="0"/>
              <a:t>ce</a:t>
            </a:r>
            <a:r>
              <a:rPr sz="3250" spc="175" dirty="0"/>
              <a:t>m</a:t>
            </a:r>
            <a:r>
              <a:rPr sz="3250" spc="30" dirty="0"/>
              <a:t>en</a:t>
            </a:r>
            <a:r>
              <a:rPr sz="3250" dirty="0"/>
              <a:t>t	</a:t>
            </a:r>
            <a:r>
              <a:rPr sz="3250" spc="345" dirty="0"/>
              <a:t>M</a:t>
            </a:r>
            <a:r>
              <a:rPr sz="3250" spc="-35" dirty="0"/>
              <a:t>ode</a:t>
            </a:r>
            <a:endParaRPr sz="32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3445" y="1706442"/>
            <a:ext cx="5802010" cy="497854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" dirty="0"/>
              <a:t>18</a:t>
            </a:fld>
            <a:endParaRPr spc="-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9035" y="679703"/>
            <a:ext cx="405066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70" dirty="0"/>
              <a:t>BJT</a:t>
            </a:r>
            <a:r>
              <a:rPr spc="-365" dirty="0"/>
              <a:t> </a:t>
            </a:r>
            <a:r>
              <a:rPr spc="65" dirty="0"/>
              <a:t>V</a:t>
            </a:r>
            <a:r>
              <a:rPr spc="-195" dirty="0"/>
              <a:t>s</a:t>
            </a:r>
            <a:r>
              <a:rPr spc="-85" dirty="0"/>
              <a:t> </a:t>
            </a:r>
            <a:r>
              <a:rPr spc="425" dirty="0"/>
              <a:t>M</a:t>
            </a:r>
            <a:r>
              <a:rPr spc="145" dirty="0"/>
              <a:t>O</a:t>
            </a:r>
            <a:r>
              <a:rPr spc="-575" dirty="0"/>
              <a:t>S</a:t>
            </a:r>
            <a:r>
              <a:rPr spc="70" dirty="0"/>
              <a:t>F</a:t>
            </a:r>
            <a:r>
              <a:rPr spc="5" dirty="0"/>
              <a:t>E</a:t>
            </a:r>
            <a:r>
              <a:rPr dirty="0"/>
              <a:t>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8088" y="1469754"/>
            <a:ext cx="5961606" cy="510833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3011" y="679703"/>
            <a:ext cx="749236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Advantages </a:t>
            </a:r>
            <a:r>
              <a:rPr dirty="0"/>
              <a:t>&amp;</a:t>
            </a:r>
            <a:r>
              <a:rPr spc="45" dirty="0"/>
              <a:t> </a:t>
            </a:r>
            <a:r>
              <a:rPr spc="5" dirty="0"/>
              <a:t>Disadvantages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pc="-15" dirty="0"/>
              <a:t>Advantages</a:t>
            </a:r>
            <a:r>
              <a:rPr spc="8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dirty="0"/>
              <a:t>MOSFET</a:t>
            </a:r>
          </a:p>
          <a:p>
            <a:pPr marL="4146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b="0" spc="-35" dirty="0">
                <a:solidFill>
                  <a:srgbClr val="333333"/>
                </a:solidFill>
                <a:latin typeface="Calibri"/>
                <a:cs typeface="Calibri"/>
              </a:rPr>
              <a:t>MOSFETs</a:t>
            </a:r>
            <a:r>
              <a:rPr b="0" spc="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spc="-15" dirty="0">
                <a:solidFill>
                  <a:srgbClr val="333333"/>
                </a:solidFill>
                <a:latin typeface="Calibri"/>
                <a:cs typeface="Calibri"/>
              </a:rPr>
              <a:t>operate</a:t>
            </a:r>
            <a:r>
              <a:rPr b="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333333"/>
                </a:solidFill>
                <a:latin typeface="Calibri"/>
                <a:cs typeface="Calibri"/>
              </a:rPr>
              <a:t>at</a:t>
            </a:r>
            <a:r>
              <a:rPr b="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333333"/>
                </a:solidFill>
                <a:latin typeface="Calibri"/>
                <a:cs typeface="Calibri"/>
              </a:rPr>
              <a:t>greater </a:t>
            </a:r>
            <a:r>
              <a:rPr b="0" dirty="0">
                <a:solidFill>
                  <a:srgbClr val="333333"/>
                </a:solidFill>
                <a:latin typeface="Calibri"/>
                <a:cs typeface="Calibri"/>
              </a:rPr>
              <a:t>efficiency</a:t>
            </a:r>
            <a:r>
              <a:rPr b="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333333"/>
                </a:solidFill>
                <a:latin typeface="Calibri"/>
                <a:cs typeface="Calibri"/>
              </a:rPr>
              <a:t>at</a:t>
            </a:r>
            <a:r>
              <a:rPr b="0" spc="-5" dirty="0">
                <a:solidFill>
                  <a:srgbClr val="333333"/>
                </a:solidFill>
                <a:latin typeface="Calibri"/>
                <a:cs typeface="Calibri"/>
              </a:rPr>
              <a:t> lower</a:t>
            </a:r>
            <a:r>
              <a:rPr b="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333333"/>
                </a:solidFill>
                <a:latin typeface="Calibri"/>
                <a:cs typeface="Calibri"/>
              </a:rPr>
              <a:t>voltages.</a:t>
            </a:r>
          </a:p>
          <a:p>
            <a:pPr marL="414655" marR="60325" indent="-402590">
              <a:lnSpc>
                <a:spcPct val="100899"/>
              </a:lnSpc>
              <a:spcBef>
                <a:spcPts val="79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b="0" dirty="0">
                <a:solidFill>
                  <a:srgbClr val="333333"/>
                </a:solidFill>
                <a:latin typeface="Calibri"/>
                <a:cs typeface="Calibri"/>
              </a:rPr>
              <a:t>Absence</a:t>
            </a:r>
            <a:r>
              <a:rPr b="0" spc="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spc="5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b="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spc="-25" dirty="0">
                <a:solidFill>
                  <a:srgbClr val="333333"/>
                </a:solidFill>
                <a:latin typeface="Calibri"/>
                <a:cs typeface="Calibri"/>
              </a:rPr>
              <a:t>gate</a:t>
            </a:r>
            <a:r>
              <a:rPr b="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333333"/>
                </a:solidFill>
                <a:latin typeface="Calibri"/>
                <a:cs typeface="Calibri"/>
              </a:rPr>
              <a:t>current</a:t>
            </a:r>
            <a:r>
              <a:rPr b="0" spc="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333333"/>
                </a:solidFill>
                <a:latin typeface="Calibri"/>
                <a:cs typeface="Calibri"/>
              </a:rPr>
              <a:t>results</a:t>
            </a:r>
            <a:r>
              <a:rPr b="0" spc="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b="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333333"/>
                </a:solidFill>
                <a:latin typeface="Calibri"/>
                <a:cs typeface="Calibri"/>
              </a:rPr>
              <a:t>high</a:t>
            </a:r>
            <a:r>
              <a:rPr b="0" spc="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333333"/>
                </a:solidFill>
                <a:latin typeface="Calibri"/>
                <a:cs typeface="Calibri"/>
              </a:rPr>
              <a:t>input</a:t>
            </a:r>
            <a:r>
              <a:rPr b="0" spc="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333333"/>
                </a:solidFill>
                <a:latin typeface="Calibri"/>
                <a:cs typeface="Calibri"/>
              </a:rPr>
              <a:t>impedance </a:t>
            </a:r>
            <a:r>
              <a:rPr b="0" spc="-7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333333"/>
                </a:solidFill>
                <a:latin typeface="Calibri"/>
                <a:cs typeface="Calibri"/>
              </a:rPr>
              <a:t>producing</a:t>
            </a:r>
            <a:r>
              <a:rPr b="0" spc="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333333"/>
                </a:solidFill>
                <a:latin typeface="Calibri"/>
                <a:cs typeface="Calibri"/>
              </a:rPr>
              <a:t>high</a:t>
            </a:r>
            <a:r>
              <a:rPr b="0" spc="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333333"/>
                </a:solidFill>
                <a:latin typeface="Calibri"/>
                <a:cs typeface="Calibri"/>
              </a:rPr>
              <a:t>switching</a:t>
            </a:r>
            <a:r>
              <a:rPr b="0" spc="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333333"/>
                </a:solidFill>
                <a:latin typeface="Calibri"/>
                <a:cs typeface="Calibri"/>
              </a:rPr>
              <a:t>speed.</a:t>
            </a:r>
          </a:p>
          <a:p>
            <a:pPr marL="4146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pc="-10" dirty="0"/>
              <a:t>Disadvantages</a:t>
            </a:r>
            <a:r>
              <a:rPr spc="10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MOSFET</a:t>
            </a:r>
          </a:p>
          <a:p>
            <a:pPr marL="414655" marR="850265" indent="-402590">
              <a:lnSpc>
                <a:spcPct val="100899"/>
              </a:lnSpc>
              <a:spcBef>
                <a:spcPts val="79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b="0" spc="-35" dirty="0">
                <a:solidFill>
                  <a:srgbClr val="333333"/>
                </a:solidFill>
                <a:latin typeface="Calibri"/>
                <a:cs typeface="Calibri"/>
              </a:rPr>
              <a:t>MOSFETs</a:t>
            </a:r>
            <a:r>
              <a:rPr b="0" spc="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spc="-2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b="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333333"/>
                </a:solidFill>
                <a:latin typeface="Calibri"/>
                <a:cs typeface="Calibri"/>
              </a:rPr>
              <a:t>vulnerable</a:t>
            </a:r>
            <a:r>
              <a:rPr b="0" spc="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b="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333333"/>
                </a:solidFill>
                <a:latin typeface="Calibri"/>
                <a:cs typeface="Calibri"/>
              </a:rPr>
              <a:t>damage</a:t>
            </a:r>
            <a:r>
              <a:rPr b="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spc="-15" dirty="0">
                <a:solidFill>
                  <a:srgbClr val="333333"/>
                </a:solidFill>
                <a:latin typeface="Calibri"/>
                <a:cs typeface="Calibri"/>
              </a:rPr>
              <a:t>by</a:t>
            </a:r>
            <a:r>
              <a:rPr b="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333333"/>
                </a:solidFill>
                <a:latin typeface="Calibri"/>
                <a:cs typeface="Calibri"/>
              </a:rPr>
              <a:t>electrostatic </a:t>
            </a:r>
            <a:r>
              <a:rPr b="0" spc="-7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333333"/>
                </a:solidFill>
                <a:latin typeface="Calibri"/>
                <a:cs typeface="Calibri"/>
              </a:rPr>
              <a:t>charges</a:t>
            </a:r>
            <a:r>
              <a:rPr b="0" spc="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333333"/>
                </a:solidFill>
                <a:latin typeface="Calibri"/>
                <a:cs typeface="Calibri"/>
              </a:rPr>
              <a:t>due</a:t>
            </a:r>
            <a:r>
              <a:rPr b="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spc="-5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b="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b="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333333"/>
                </a:solidFill>
                <a:latin typeface="Calibri"/>
                <a:cs typeface="Calibri"/>
              </a:rPr>
              <a:t>thin</a:t>
            </a:r>
            <a:r>
              <a:rPr b="0" spc="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spc="-15" dirty="0">
                <a:solidFill>
                  <a:srgbClr val="333333"/>
                </a:solidFill>
                <a:latin typeface="Calibri"/>
                <a:cs typeface="Calibri"/>
              </a:rPr>
              <a:t>oxide</a:t>
            </a:r>
            <a:r>
              <a:rPr b="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spc="-75" dirty="0">
                <a:solidFill>
                  <a:srgbClr val="333333"/>
                </a:solidFill>
                <a:latin typeface="Calibri"/>
                <a:cs typeface="Calibri"/>
              </a:rPr>
              <a:t>layer.</a:t>
            </a:r>
          </a:p>
          <a:p>
            <a:pPr marL="4146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b="0" spc="-5" dirty="0">
                <a:solidFill>
                  <a:srgbClr val="333333"/>
                </a:solidFill>
                <a:latin typeface="Calibri"/>
                <a:cs typeface="Calibri"/>
              </a:rPr>
              <a:t>Overload</a:t>
            </a:r>
            <a:r>
              <a:rPr b="0" spc="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333333"/>
                </a:solidFill>
                <a:latin typeface="Calibri"/>
                <a:cs typeface="Calibri"/>
              </a:rPr>
              <a:t>voltages</a:t>
            </a:r>
            <a:r>
              <a:rPr b="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spc="-20" dirty="0">
                <a:solidFill>
                  <a:srgbClr val="333333"/>
                </a:solidFill>
                <a:latin typeface="Calibri"/>
                <a:cs typeface="Calibri"/>
              </a:rPr>
              <a:t>make</a:t>
            </a:r>
            <a:r>
              <a:rPr b="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spc="-35" dirty="0">
                <a:solidFill>
                  <a:srgbClr val="333333"/>
                </a:solidFill>
                <a:latin typeface="Calibri"/>
                <a:cs typeface="Calibri"/>
              </a:rPr>
              <a:t>MOSFETs</a:t>
            </a:r>
            <a:r>
              <a:rPr b="0" spc="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333333"/>
                </a:solidFill>
                <a:latin typeface="Calibri"/>
                <a:cs typeface="Calibri"/>
              </a:rPr>
              <a:t>unstable.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" dirty="0"/>
              <a:t>21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5076" y="679703"/>
            <a:ext cx="639127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44010" algn="l"/>
              </a:tabLst>
            </a:pPr>
            <a:r>
              <a:rPr spc="-55" dirty="0"/>
              <a:t>A</a:t>
            </a:r>
            <a:r>
              <a:rPr spc="-60" dirty="0"/>
              <a:t>p</a:t>
            </a:r>
            <a:r>
              <a:rPr spc="25" dirty="0"/>
              <a:t>p</a:t>
            </a:r>
            <a:r>
              <a:rPr spc="160" dirty="0"/>
              <a:t>li</a:t>
            </a:r>
            <a:r>
              <a:rPr spc="20" dirty="0"/>
              <a:t>c</a:t>
            </a:r>
            <a:r>
              <a:rPr spc="55" dirty="0"/>
              <a:t>a</a:t>
            </a:r>
            <a:r>
              <a:rPr spc="50" dirty="0"/>
              <a:t>t</a:t>
            </a:r>
            <a:r>
              <a:rPr spc="160" dirty="0"/>
              <a:t>i</a:t>
            </a:r>
            <a:r>
              <a:rPr spc="-165" dirty="0"/>
              <a:t>o</a:t>
            </a:r>
            <a:r>
              <a:rPr spc="20" dirty="0"/>
              <a:t>n</a:t>
            </a:r>
            <a:r>
              <a:rPr spc="-195" dirty="0"/>
              <a:t>s</a:t>
            </a:r>
            <a:r>
              <a:rPr spc="-25" dirty="0"/>
              <a:t> </a:t>
            </a:r>
            <a:r>
              <a:rPr spc="-165" dirty="0"/>
              <a:t>o</a:t>
            </a:r>
            <a:r>
              <a:rPr dirty="0"/>
              <a:t>f	</a:t>
            </a:r>
            <a:r>
              <a:rPr spc="425" dirty="0"/>
              <a:t>M</a:t>
            </a:r>
            <a:r>
              <a:rPr spc="145" dirty="0"/>
              <a:t>O</a:t>
            </a:r>
            <a:r>
              <a:rPr spc="-575" dirty="0"/>
              <a:t>S</a:t>
            </a:r>
            <a:r>
              <a:rPr spc="70" dirty="0"/>
              <a:t>F</a:t>
            </a:r>
            <a:r>
              <a:rPr spc="5" dirty="0"/>
              <a:t>E</a:t>
            </a:r>
            <a:r>
              <a:rPr dirty="0"/>
              <a:t>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371" y="1389887"/>
            <a:ext cx="10330815" cy="28181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14655" marR="5080" indent="-402590">
              <a:lnSpc>
                <a:spcPct val="100899"/>
              </a:lnSpc>
              <a:spcBef>
                <a:spcPts val="75"/>
              </a:spcBef>
              <a:buFont typeface="Arial MT"/>
              <a:buChar char="•"/>
              <a:tabLst>
                <a:tab pos="414655" algn="l"/>
                <a:tab pos="415290" algn="l"/>
                <a:tab pos="1679575" algn="l"/>
                <a:tab pos="3688079" algn="l"/>
                <a:tab pos="6026150" algn="l"/>
                <a:tab pos="6925309" algn="l"/>
                <a:tab pos="8647430" algn="l"/>
              </a:tabLst>
            </a:pP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R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3250" spc="15" dirty="0">
                <a:solidFill>
                  <a:srgbClr val="333333"/>
                </a:solidFill>
                <a:latin typeface="Calibri"/>
                <a:cs typeface="Calibri"/>
              </a:rPr>
              <a:t>d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i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o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f</a:t>
            </a:r>
            <a:r>
              <a:rPr sz="3250" spc="-60" dirty="0">
                <a:solidFill>
                  <a:srgbClr val="333333"/>
                </a:solidFill>
                <a:latin typeface="Calibri"/>
                <a:cs typeface="Calibri"/>
              </a:rPr>
              <a:t>r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e</a:t>
            </a:r>
            <a:r>
              <a:rPr sz="3250" spc="15" dirty="0">
                <a:solidFill>
                  <a:srgbClr val="333333"/>
                </a:solidFill>
                <a:latin typeface="Calibri"/>
                <a:cs typeface="Calibri"/>
              </a:rPr>
              <a:t>q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u</a:t>
            </a:r>
            <a:r>
              <a:rPr sz="3250" spc="35" dirty="0">
                <a:solidFill>
                  <a:srgbClr val="333333"/>
                </a:solidFill>
                <a:latin typeface="Calibri"/>
                <a:cs typeface="Calibri"/>
              </a:rPr>
              <a:t>e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n</a:t>
            </a:r>
            <a:r>
              <a:rPr sz="3250" spc="15" dirty="0">
                <a:solidFill>
                  <a:srgbClr val="333333"/>
                </a:solidFill>
                <a:latin typeface="Calibri"/>
                <a:cs typeface="Calibri"/>
              </a:rPr>
              <a:t>c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y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	a</a:t>
            </a:r>
            <a:r>
              <a:rPr sz="3250" spc="15" dirty="0">
                <a:solidFill>
                  <a:srgbClr val="333333"/>
                </a:solidFill>
                <a:latin typeface="Calibri"/>
                <a:cs typeface="Calibri"/>
              </a:rPr>
              <a:t>p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plic</a:t>
            </a:r>
            <a:r>
              <a:rPr sz="3250" spc="-25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t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i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o</a:t>
            </a:r>
            <a:r>
              <a:rPr sz="3250" spc="15" dirty="0">
                <a:solidFill>
                  <a:srgbClr val="333333"/>
                </a:solidFill>
                <a:latin typeface="Calibri"/>
                <a:cs typeface="Calibri"/>
              </a:rPr>
              <a:t>n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s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3250" spc="15" dirty="0">
                <a:solidFill>
                  <a:srgbClr val="333333"/>
                </a:solidFill>
                <a:latin typeface="Calibri"/>
                <a:cs typeface="Calibri"/>
              </a:rPr>
              <a:t>u</a:t>
            </a:r>
            <a:r>
              <a:rPr sz="3250" spc="20" dirty="0">
                <a:solidFill>
                  <a:srgbClr val="333333"/>
                </a:solidFill>
                <a:latin typeface="Calibri"/>
                <a:cs typeface="Calibri"/>
              </a:rPr>
              <a:t>s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e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	M</a:t>
            </a:r>
            <a:r>
              <a:rPr sz="3250" spc="25" dirty="0">
                <a:solidFill>
                  <a:srgbClr val="333333"/>
                </a:solidFill>
                <a:latin typeface="Calibri"/>
                <a:cs typeface="Calibri"/>
              </a:rPr>
              <a:t>O</a:t>
            </a:r>
            <a:r>
              <a:rPr sz="3250" spc="-10" dirty="0">
                <a:solidFill>
                  <a:srgbClr val="333333"/>
                </a:solidFill>
                <a:latin typeface="Calibri"/>
                <a:cs typeface="Calibri"/>
              </a:rPr>
              <a:t>S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F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E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T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	a</a:t>
            </a:r>
            <a:r>
              <a:rPr sz="3250" spc="35" dirty="0">
                <a:solidFill>
                  <a:srgbClr val="333333"/>
                </a:solidFill>
                <a:latin typeface="Calibri"/>
                <a:cs typeface="Calibri"/>
              </a:rPr>
              <a:t>m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p</a:t>
            </a:r>
            <a:r>
              <a:rPr sz="3250" spc="15" dirty="0">
                <a:solidFill>
                  <a:srgbClr val="333333"/>
                </a:solidFill>
                <a:latin typeface="Calibri"/>
                <a:cs typeface="Calibri"/>
              </a:rPr>
              <a:t>l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i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f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i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e</a:t>
            </a:r>
            <a:r>
              <a:rPr sz="3250" spc="-60" dirty="0">
                <a:solidFill>
                  <a:srgbClr val="333333"/>
                </a:solidFill>
                <a:latin typeface="Calibri"/>
                <a:cs typeface="Calibri"/>
              </a:rPr>
              <a:t>r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s  </a:t>
            </a:r>
            <a:r>
              <a:rPr sz="3250" spc="-25" dirty="0">
                <a:solidFill>
                  <a:srgbClr val="333333"/>
                </a:solidFill>
                <a:latin typeface="Calibri"/>
                <a:cs typeface="Calibri"/>
              </a:rPr>
              <a:t>extensively.</a:t>
            </a:r>
            <a:endParaRPr sz="32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MOSFET</a:t>
            </a:r>
            <a:r>
              <a:rPr sz="3250" spc="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10" dirty="0">
                <a:solidFill>
                  <a:srgbClr val="333333"/>
                </a:solidFill>
                <a:latin typeface="Calibri"/>
                <a:cs typeface="Calibri"/>
              </a:rPr>
              <a:t>behaves</a:t>
            </a:r>
            <a:r>
              <a:rPr sz="3250" spc="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325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passive</a:t>
            </a:r>
            <a:r>
              <a:rPr sz="3250" spc="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circuit</a:t>
            </a:r>
            <a:r>
              <a:rPr sz="3250" spc="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element.</a:t>
            </a:r>
            <a:endParaRPr sz="32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spc="-20" dirty="0">
                <a:solidFill>
                  <a:srgbClr val="333333"/>
                </a:solidFill>
                <a:latin typeface="Calibri"/>
                <a:cs typeface="Calibri"/>
              </a:rPr>
              <a:t>Power</a:t>
            </a:r>
            <a:r>
              <a:rPr sz="3250" spc="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35" dirty="0">
                <a:solidFill>
                  <a:srgbClr val="333333"/>
                </a:solidFill>
                <a:latin typeface="Calibri"/>
                <a:cs typeface="Calibri"/>
              </a:rPr>
              <a:t>MOSFETs</a:t>
            </a:r>
            <a:r>
              <a:rPr sz="3250" spc="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can</a:t>
            </a:r>
            <a:r>
              <a:rPr sz="325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be</a:t>
            </a:r>
            <a:r>
              <a:rPr sz="325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used</a:t>
            </a:r>
            <a:r>
              <a:rPr sz="3250" spc="4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3250" spc="-10" dirty="0">
                <a:solidFill>
                  <a:srgbClr val="333333"/>
                </a:solidFill>
                <a:latin typeface="Calibri"/>
                <a:cs typeface="Calibri"/>
              </a:rPr>
              <a:t> regulate</a:t>
            </a:r>
            <a:r>
              <a:rPr sz="325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DC</a:t>
            </a:r>
            <a:r>
              <a:rPr sz="325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motors.</a:t>
            </a:r>
            <a:endParaRPr sz="3250">
              <a:latin typeface="Calibri"/>
              <a:cs typeface="Calibri"/>
            </a:endParaRPr>
          </a:p>
          <a:p>
            <a:pPr marL="414655" indent="-40259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414655" algn="l"/>
                <a:tab pos="415290" algn="l"/>
              </a:tabLst>
            </a:pPr>
            <a:r>
              <a:rPr sz="3250" spc="-35" dirty="0">
                <a:solidFill>
                  <a:srgbClr val="333333"/>
                </a:solidFill>
                <a:latin typeface="Calibri"/>
                <a:cs typeface="Calibri"/>
              </a:rPr>
              <a:t>MOSFETs</a:t>
            </a:r>
            <a:r>
              <a:rPr sz="3250" spc="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20" dirty="0">
                <a:solidFill>
                  <a:srgbClr val="333333"/>
                </a:solidFill>
                <a:latin typeface="Calibri"/>
                <a:cs typeface="Calibri"/>
              </a:rPr>
              <a:t>are</a:t>
            </a:r>
            <a:r>
              <a:rPr sz="3250" spc="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used</a:t>
            </a:r>
            <a:r>
              <a:rPr sz="3250" spc="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325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325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design</a:t>
            </a:r>
            <a:r>
              <a:rPr sz="3250" spc="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5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325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325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dirty="0">
                <a:solidFill>
                  <a:srgbClr val="333333"/>
                </a:solidFill>
                <a:latin typeface="Calibri"/>
                <a:cs typeface="Calibri"/>
              </a:rPr>
              <a:t>chopper</a:t>
            </a:r>
            <a:r>
              <a:rPr sz="3250" spc="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250" spc="-5" dirty="0">
                <a:solidFill>
                  <a:srgbClr val="333333"/>
                </a:solidFill>
                <a:latin typeface="Calibri"/>
                <a:cs typeface="Calibri"/>
              </a:rPr>
              <a:t>circuit.</a:t>
            </a:r>
            <a:endParaRPr sz="3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625</Words>
  <Application>Microsoft Office PowerPoint</Application>
  <PresentationFormat>Custom</PresentationFormat>
  <Paragraphs>84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Arial MT</vt:lpstr>
      <vt:lpstr>Calibri</vt:lpstr>
      <vt:lpstr>Lucida Sans Unicode</vt:lpstr>
      <vt:lpstr>Office Theme</vt:lpstr>
      <vt:lpstr>Course: ECE249</vt:lpstr>
      <vt:lpstr>Outline</vt:lpstr>
      <vt:lpstr>MOSFET</vt:lpstr>
      <vt:lpstr>MOSFET Construction N - Channel</vt:lpstr>
      <vt:lpstr>Cont…</vt:lpstr>
      <vt:lpstr>Cont… P-Channel</vt:lpstr>
      <vt:lpstr>Circuit Symbols – N Channel</vt:lpstr>
      <vt:lpstr>Circuit Symbols – P Channel</vt:lpstr>
      <vt:lpstr>MOSFET Classification</vt:lpstr>
      <vt:lpstr>Enhancement Mode</vt:lpstr>
      <vt:lpstr>Depletion Mode</vt:lpstr>
      <vt:lpstr>Principle of Operation – Depletion Mode</vt:lpstr>
      <vt:lpstr>Cont…</vt:lpstr>
      <vt:lpstr>Cont…</vt:lpstr>
      <vt:lpstr>Cont…</vt:lpstr>
      <vt:lpstr>Drain Characteristics</vt:lpstr>
      <vt:lpstr>Transfer Characteristics</vt:lpstr>
      <vt:lpstr>Principle of Operation – Enhancement Mode</vt:lpstr>
      <vt:lpstr>BJT Vs MOSFET</vt:lpstr>
      <vt:lpstr>Advantages &amp; Disadvantages</vt:lpstr>
      <vt:lpstr>Applications of MOSFET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Course: ECE249</dc:title>
  <cp:lastModifiedBy>Swapnil Bagwari</cp:lastModifiedBy>
  <cp:revision>2</cp:revision>
  <dcterms:created xsi:type="dcterms:W3CDTF">2023-01-03T03:36:37Z</dcterms:created>
  <dcterms:modified xsi:type="dcterms:W3CDTF">2023-01-07T15:12:51Z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2022-11-24T00:00:00Z</vt:filetime>
  </property>
  <property fmtid="{D5CDD505-2E9C-101B-9397-08002B2CF9AE}" pid="3" name="LastSaved">
    <vt:filetime>2022-11-24T00:00:00Z</vt:filetime>
  </property>
</Properties>
</file>