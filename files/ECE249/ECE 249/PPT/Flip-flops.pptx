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90" r:id="rId3"/>
    <p:sldId id="257" r:id="rId4"/>
    <p:sldId id="258" r:id="rId5"/>
    <p:sldId id="260" r:id="rId6"/>
    <p:sldId id="262" r:id="rId7"/>
    <p:sldId id="259" r:id="rId8"/>
    <p:sldId id="266" r:id="rId9"/>
    <p:sldId id="267" r:id="rId10"/>
    <p:sldId id="296" r:id="rId11"/>
    <p:sldId id="265" r:id="rId12"/>
    <p:sldId id="268" r:id="rId13"/>
    <p:sldId id="270" r:id="rId14"/>
    <p:sldId id="269" r:id="rId15"/>
    <p:sldId id="297" r:id="rId16"/>
    <p:sldId id="291" r:id="rId17"/>
    <p:sldId id="271" r:id="rId18"/>
    <p:sldId id="273" r:id="rId19"/>
    <p:sldId id="272" r:id="rId20"/>
    <p:sldId id="274" r:id="rId21"/>
    <p:sldId id="277" r:id="rId22"/>
    <p:sldId id="275" r:id="rId23"/>
    <p:sldId id="284" r:id="rId24"/>
    <p:sldId id="276" r:id="rId25"/>
    <p:sldId id="279" r:id="rId26"/>
    <p:sldId id="294" r:id="rId27"/>
    <p:sldId id="278" r:id="rId28"/>
    <p:sldId id="285" r:id="rId29"/>
    <p:sldId id="280" r:id="rId30"/>
    <p:sldId id="287" r:id="rId31"/>
    <p:sldId id="281" r:id="rId32"/>
    <p:sldId id="286" r:id="rId33"/>
    <p:sldId id="295" r:id="rId34"/>
    <p:sldId id="282" r:id="rId35"/>
    <p:sldId id="283" r:id="rId36"/>
    <p:sldId id="288" r:id="rId37"/>
    <p:sldId id="289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596C-56A8-434A-8A7C-FCD0A6877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21DCB2-A783-4EE1-B2F3-AF9127E6A4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A0A39-8A18-4F07-9447-6925CD204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4C8A-8495-4B83-A54C-160329372F74}" type="datetimeFigureOut">
              <a:rPr lang="en-US" smtClean="0"/>
              <a:pPr/>
              <a:t>12/14/2022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9D48C-D56B-4ED5-A6E5-19E47DEEB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0B27D-A3E5-4960-8DB0-86B3E6925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BA84-4D8B-4761-B622-A587BE7ACC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378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AA69-5728-42A7-956D-D4C66BA5D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DF377-E7A5-43D1-92A5-A7C728C99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2556F-C1D1-4373-84F7-1E346A469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4C8A-8495-4B83-A54C-160329372F74}" type="datetimeFigureOut">
              <a:rPr lang="en-US" smtClean="0"/>
              <a:pPr/>
              <a:t>12/14/2022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CCE7C-8E43-405C-95E3-810BC3B1B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BBF5F-C41F-40BA-8083-5219FF778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BA84-4D8B-4761-B622-A587BE7ACC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29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9968D-5288-4D1E-807F-C80DE4230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7E96C-D1BA-44D5-AE44-D43D30F0A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A1BFC-A6A3-43B2-BE11-D686BDF5D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4C8A-8495-4B83-A54C-160329372F74}" type="datetimeFigureOut">
              <a:rPr lang="en-US" smtClean="0"/>
              <a:pPr/>
              <a:t>12/14/2022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55196-F555-4DEB-9D02-BFC19A389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B9737-3236-4FBC-B88E-B60B4C37A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BA84-4D8B-4761-B622-A587BE7ACC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73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0FC81-1B20-435E-930A-CA04653E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057B5-6BFF-4726-AFFD-DD470DD2D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E120A-F4F5-4ADD-AF40-A5CE8DE70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8F7129-81F7-4CE9-8C1D-5724571F6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4C8A-8495-4B83-A54C-160329372F74}" type="datetimeFigureOut">
              <a:rPr lang="en-US" smtClean="0"/>
              <a:pPr/>
              <a:t>12/14/2022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693E2-1507-4983-8134-08FDAAC17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6E88F-229A-4823-8300-E7383C352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BA84-4D8B-4761-B622-A587BE7ACC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9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BB6A9-AE9C-46A6-BF50-CD7D49B8D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2AD34-1698-4F9D-9D20-B8C6C1CC0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56253-8CF1-44EF-83EA-F6F4BAFBC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7A761-CE2B-441F-971B-805A0BFBF6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F9926B-8896-479D-A939-A0F2F6307F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A23AA4-28AB-4F3D-AC3A-8235D30A0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4C8A-8495-4B83-A54C-160329372F74}" type="datetimeFigureOut">
              <a:rPr lang="en-US" smtClean="0"/>
              <a:pPr/>
              <a:t>12/14/2022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630324-19BA-4EEA-9C98-76B16B08B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E4F26-816F-4B89-B219-307FC32A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BA84-4D8B-4761-B622-A587BE7ACC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4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9DBB5-02CE-4984-878B-7F57EF3FC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57B235-8A6B-42FD-BF77-C1A0DB325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4C8A-8495-4B83-A54C-160329372F74}" type="datetimeFigureOut">
              <a:rPr lang="en-US" smtClean="0"/>
              <a:pPr/>
              <a:t>12/14/2022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357DD1-572C-4C55-BC60-CC33C80E8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2E26C1-290B-4CF3-9B57-623B6AFF3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BA84-4D8B-4761-B622-A587BE7ACC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42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C54716-DA0B-429A-B162-65A188066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4C8A-8495-4B83-A54C-160329372F74}" type="datetimeFigureOut">
              <a:rPr lang="en-US" smtClean="0"/>
              <a:pPr/>
              <a:t>12/14/2022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BE426-6E85-47B4-9A96-20FECC7C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6A05E-5988-4907-8B8F-E311E4498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BA84-4D8B-4761-B622-A587BE7ACC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867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A4D09-64AD-42BF-95FE-9D7F65965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D1BD7-6133-47A2-BFF7-15312788E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7E575-AD2D-4533-809E-6D3D802B0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33BA3-6D6B-41FD-A996-7423E07C7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4C8A-8495-4B83-A54C-160329372F74}" type="datetimeFigureOut">
              <a:rPr lang="en-US" smtClean="0"/>
              <a:pPr/>
              <a:t>12/14/2022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8E3C9-A458-4CA3-9D1E-FD42979A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21722-E2A6-41C5-9B89-325A8E9CD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BA84-4D8B-4761-B622-A587BE7ACC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28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84C9B-45D9-4B8F-ABA0-F11F5E2A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6C4C3F-87E5-433E-8716-615B09A69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F4D39C-30FB-49C6-8CC0-515D4C9C2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C5A30-FF5C-48DB-A49C-C6043B457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4C8A-8495-4B83-A54C-160329372F74}" type="datetimeFigureOut">
              <a:rPr lang="en-US" smtClean="0"/>
              <a:pPr/>
              <a:t>12/14/2022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98D25-0404-41B9-9C32-7130DAE4F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9F0CB5-23E0-4F93-A642-BD11312A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BA84-4D8B-4761-B622-A587BE7ACC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51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34D7E-0DF9-479B-A199-5D8AEDD77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81FAC9-BBDF-40F2-B31C-4613076FD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A2447-A68F-497A-AAC5-BADC353B2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4C8A-8495-4B83-A54C-160329372F74}" type="datetimeFigureOut">
              <a:rPr lang="en-US" smtClean="0"/>
              <a:pPr/>
              <a:t>12/14/2022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BC926-F4E3-40D2-B4F3-40D99BDF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5A92F-C87D-43C5-B990-13116A83B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BA84-4D8B-4761-B622-A587BE7ACC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721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CFD9D9-4878-4283-87E3-29F0879020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45EC89-A0B7-45AB-ABC3-391413822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D1ACC-F7E3-4E39-95B9-86384A1DF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4C8A-8495-4B83-A54C-160329372F74}" type="datetimeFigureOut">
              <a:rPr lang="en-US" smtClean="0"/>
              <a:pPr/>
              <a:t>12/14/2022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21C27-2A16-4022-BC33-5D9020FEB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1058E-03C5-4E89-8710-4FC645766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BA84-4D8B-4761-B622-A587BE7ACC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229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D0C083-3374-4DFE-A831-F074E293B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2C511-2CA2-40A7-B3D1-31BF1E456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CD332-9666-435E-9092-AE500F8DE4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164C8A-8495-4B83-A54C-160329372F74}" type="datetimeFigureOut">
              <a:rPr lang="en-US" smtClean="0"/>
              <a:pPr/>
              <a:t>12/14/2022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9DE0D-EDCF-40AA-9504-72BBDAB3C1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008D2-1C48-4E22-A5AF-5760BC6EC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DBA84-4D8B-4761-B622-A587BE7ACC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02CB-EE17-4A34-B360-BCD52DB54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793115"/>
          </a:xfrm>
        </p:spPr>
        <p:txBody>
          <a:bodyPr>
            <a:normAutofit/>
          </a:bodyPr>
          <a:lstStyle/>
          <a:p>
            <a:r>
              <a:rPr lang="en-US" dirty="0"/>
              <a:t>Unit -6</a:t>
            </a:r>
            <a:br>
              <a:rPr lang="en-US" dirty="0"/>
            </a:br>
            <a:r>
              <a:rPr lang="en-US" dirty="0"/>
              <a:t>Sequential Circuit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90B59E-5EA5-4C87-B83D-BE9E8557C4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70" y="4079875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Latch </a:t>
            </a:r>
          </a:p>
          <a:p>
            <a:r>
              <a:rPr lang="en-US" dirty="0"/>
              <a:t>Flip-Flop</a:t>
            </a:r>
          </a:p>
          <a:p>
            <a:r>
              <a:rPr lang="en-US" dirty="0"/>
              <a:t>Racing Error in FF</a:t>
            </a:r>
          </a:p>
          <a:p>
            <a:r>
              <a:rPr lang="en-US" dirty="0"/>
              <a:t>Flip-Flop Conversion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661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6E8E2E-3BDB-4AC7-ABEF-4262E49F3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5155"/>
            <a:ext cx="5230054" cy="133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65C139-8E5F-48DD-B389-78515D406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22" y="655155"/>
            <a:ext cx="5369407" cy="25518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214461-108C-42EF-9CE4-66C133361F70}"/>
              </a:ext>
            </a:extLst>
          </p:cNvPr>
          <p:cNvSpPr txBox="1"/>
          <p:nvPr/>
        </p:nvSpPr>
        <p:spPr>
          <a:xfrm>
            <a:off x="1205947" y="13252"/>
            <a:ext cx="3330784" cy="5232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Combinational Circuit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A75C6-867C-4EF0-99A1-6B4EE0735F9B}"/>
              </a:ext>
            </a:extLst>
          </p:cNvPr>
          <p:cNvSpPr txBox="1"/>
          <p:nvPr/>
        </p:nvSpPr>
        <p:spPr>
          <a:xfrm>
            <a:off x="8156712" y="13252"/>
            <a:ext cx="2742482" cy="5232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Sequential Circuit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2C0A5C73-DA94-4963-8162-2C7FA37BBE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386978"/>
              </p:ext>
            </p:extLst>
          </p:nvPr>
        </p:nvGraphicFramePr>
        <p:xfrm>
          <a:off x="973290" y="3429000"/>
          <a:ext cx="10245420" cy="29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8397">
                  <a:extLst>
                    <a:ext uri="{9D8B030D-6E8A-4147-A177-3AD203B41FA5}">
                      <a16:colId xmlns:a16="http://schemas.microsoft.com/office/drawing/2014/main" val="720719804"/>
                    </a:ext>
                  </a:extLst>
                </a:gridCol>
                <a:gridCol w="5507023">
                  <a:extLst>
                    <a:ext uri="{9D8B030D-6E8A-4147-A177-3AD203B41FA5}">
                      <a16:colId xmlns:a16="http://schemas.microsoft.com/office/drawing/2014/main" val="3492508319"/>
                    </a:ext>
                  </a:extLst>
                </a:gridCol>
              </a:tblGrid>
              <a:tr h="401291">
                <a:tc>
                  <a:txBody>
                    <a:bodyPr/>
                    <a:lstStyle/>
                    <a:p>
                      <a:r>
                        <a:rPr lang="en-US" dirty="0"/>
                        <a:t>Output depends on only Present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 depends on present input as well previous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874326"/>
                  </a:ext>
                </a:extLst>
              </a:tr>
              <a:tr h="389277">
                <a:tc>
                  <a:txBody>
                    <a:bodyPr/>
                    <a:lstStyle/>
                    <a:p>
                      <a:r>
                        <a:rPr lang="en-US" dirty="0"/>
                        <a:t>Do not requires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 memory to store previous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230006"/>
                  </a:ext>
                </a:extLst>
              </a:tr>
              <a:tr h="364162">
                <a:tc>
                  <a:txBody>
                    <a:bodyPr/>
                    <a:lstStyle/>
                    <a:p>
                      <a:r>
                        <a:rPr lang="en-US" dirty="0"/>
                        <a:t>Do not required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 feedback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738583"/>
                  </a:ext>
                </a:extLst>
              </a:tr>
              <a:tr h="389277">
                <a:tc>
                  <a:txBody>
                    <a:bodyPr/>
                    <a:lstStyle/>
                    <a:p>
                      <a:r>
                        <a:rPr lang="en-US" dirty="0"/>
                        <a:t>Faster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598257"/>
                  </a:ext>
                </a:extLst>
              </a:tr>
              <a:tr h="364162">
                <a:tc>
                  <a:txBody>
                    <a:bodyPr/>
                    <a:lstStyle/>
                    <a:p>
                      <a:r>
                        <a:rPr lang="en-US" dirty="0"/>
                        <a:t>Easy to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Difficult to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082400"/>
                  </a:ext>
                </a:extLst>
              </a:tr>
              <a:tr h="348637">
                <a:tc>
                  <a:txBody>
                    <a:bodyPr/>
                    <a:lstStyle/>
                    <a:p>
                      <a:r>
                        <a:rPr lang="en-US" dirty="0"/>
                        <a:t>Basic block are logic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Basic block are flip flop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699557"/>
                  </a:ext>
                </a:extLst>
              </a:tr>
              <a:tr h="575454">
                <a:tc>
                  <a:txBody>
                    <a:bodyPr/>
                    <a:lstStyle/>
                    <a:p>
                      <a:r>
                        <a:rPr lang="en-US" dirty="0"/>
                        <a:t>Example - </a:t>
                      </a:r>
                    </a:p>
                    <a:p>
                      <a:r>
                        <a:rPr lang="en-US" dirty="0"/>
                        <a:t>Adder, Decoder, Multiplexer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 -</a:t>
                      </a:r>
                    </a:p>
                    <a:p>
                      <a:r>
                        <a:rPr lang="en-US" dirty="0"/>
                        <a:t>Flip Flop, Counters, Shift register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247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3643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2E70B-5208-420B-AACB-4A10D0076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31611"/>
          </a:xfr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sz="8000" dirty="0"/>
              <a:t>Latch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C3297-E9B5-494C-958C-ADEC3223B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051"/>
            <a:ext cx="10515600" cy="348103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Has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two stable states (High-low)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H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as feedback path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L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atches can be memory devices,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tore one bit of data for as long as the device is powered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A asynchronous device</a:t>
            </a:r>
          </a:p>
        </p:txBody>
      </p:sp>
    </p:spTree>
    <p:extLst>
      <p:ext uri="{BB962C8B-B14F-4D97-AF65-F5344CB8AC3E}">
        <p14:creationId xmlns:p14="http://schemas.microsoft.com/office/powerpoint/2010/main" val="714746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FD266-DB57-4874-A38E-315A43053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18991" cy="917679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br>
              <a:rPr lang="en-US" sz="7200" b="0" i="0" dirty="0">
                <a:solidFill>
                  <a:srgbClr val="000000"/>
                </a:solidFill>
                <a:effectLst/>
                <a:latin typeface="Linux Libertine"/>
              </a:rPr>
            </a:br>
            <a:r>
              <a:rPr lang="en-US" sz="7200" b="0" i="0" dirty="0">
                <a:solidFill>
                  <a:srgbClr val="000000"/>
                </a:solidFill>
                <a:effectLst/>
                <a:latin typeface="Linux Libertine"/>
              </a:rPr>
              <a:t>SR latch</a:t>
            </a:r>
            <a:br>
              <a:rPr lang="en-US" sz="7200" b="0" i="0" dirty="0">
                <a:solidFill>
                  <a:srgbClr val="000000"/>
                </a:solidFill>
                <a:effectLst/>
                <a:latin typeface="Linux Libertine"/>
              </a:rPr>
            </a:br>
            <a:endParaRPr lang="en-US" sz="7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04CFFF7-AD5E-487C-BF04-3CBEA3D1F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813" y="3082062"/>
            <a:ext cx="2438400" cy="190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2503120-45C6-46DE-8903-8E48B0FB4A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984" y="1903861"/>
            <a:ext cx="3523422" cy="2202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20376F-E6CC-48CB-A827-69EA02D148B9}"/>
              </a:ext>
            </a:extLst>
          </p:cNvPr>
          <p:cNvSpPr txBox="1"/>
          <p:nvPr/>
        </p:nvSpPr>
        <p:spPr>
          <a:xfrm>
            <a:off x="290721" y="975832"/>
            <a:ext cx="82676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SR latch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(Set/Reset)</a:t>
            </a:r>
          </a:p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can be created with two NOR/NAND gates have a </a:t>
            </a:r>
            <a:r>
              <a:rPr 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cross-feedback loop</a:t>
            </a:r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6D1504-DB2F-44BF-98B3-957B222A2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154387"/>
              </p:ext>
            </p:extLst>
          </p:nvPr>
        </p:nvGraphicFramePr>
        <p:xfrm>
          <a:off x="428004" y="4596199"/>
          <a:ext cx="2447720" cy="1828800"/>
        </p:xfrm>
        <a:graphic>
          <a:graphicData uri="http://schemas.openxmlformats.org/drawingml/2006/table">
            <a:tbl>
              <a:tblPr/>
              <a:tblGrid>
                <a:gridCol w="611930">
                  <a:extLst>
                    <a:ext uri="{9D8B030D-6E8A-4147-A177-3AD203B41FA5}">
                      <a16:colId xmlns:a16="http://schemas.microsoft.com/office/drawing/2014/main" val="3254661385"/>
                    </a:ext>
                  </a:extLst>
                </a:gridCol>
                <a:gridCol w="611930">
                  <a:extLst>
                    <a:ext uri="{9D8B030D-6E8A-4147-A177-3AD203B41FA5}">
                      <a16:colId xmlns:a16="http://schemas.microsoft.com/office/drawing/2014/main" val="319517104"/>
                    </a:ext>
                  </a:extLst>
                </a:gridCol>
                <a:gridCol w="611930">
                  <a:extLst>
                    <a:ext uri="{9D8B030D-6E8A-4147-A177-3AD203B41FA5}">
                      <a16:colId xmlns:a16="http://schemas.microsoft.com/office/drawing/2014/main" val="1889755116"/>
                    </a:ext>
                  </a:extLst>
                </a:gridCol>
                <a:gridCol w="611930">
                  <a:extLst>
                    <a:ext uri="{9D8B030D-6E8A-4147-A177-3AD203B41FA5}">
                      <a16:colId xmlns:a16="http://schemas.microsoft.com/office/drawing/2014/main" val="30769179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Q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Q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730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b="0" dirty="0">
                          <a:effectLst/>
                        </a:rPr>
                        <a:t>No Change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296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424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853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Invalid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790803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88F2F4-ECBC-454D-BA56-E9C9D9943FE4}"/>
              </a:ext>
            </a:extLst>
          </p:cNvPr>
          <p:cNvCxnSpPr/>
          <p:nvPr/>
        </p:nvCxnSpPr>
        <p:spPr>
          <a:xfrm>
            <a:off x="2425148" y="4649207"/>
            <a:ext cx="30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5510D09-F6FD-4949-B680-EE5965F26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947358"/>
              </p:ext>
            </p:extLst>
          </p:nvPr>
        </p:nvGraphicFramePr>
        <p:xfrm>
          <a:off x="9176302" y="4426068"/>
          <a:ext cx="2447720" cy="1828800"/>
        </p:xfrm>
        <a:graphic>
          <a:graphicData uri="http://schemas.openxmlformats.org/drawingml/2006/table">
            <a:tbl>
              <a:tblPr/>
              <a:tblGrid>
                <a:gridCol w="611930">
                  <a:extLst>
                    <a:ext uri="{9D8B030D-6E8A-4147-A177-3AD203B41FA5}">
                      <a16:colId xmlns:a16="http://schemas.microsoft.com/office/drawing/2014/main" val="3254661385"/>
                    </a:ext>
                  </a:extLst>
                </a:gridCol>
                <a:gridCol w="611930">
                  <a:extLst>
                    <a:ext uri="{9D8B030D-6E8A-4147-A177-3AD203B41FA5}">
                      <a16:colId xmlns:a16="http://schemas.microsoft.com/office/drawing/2014/main" val="319517104"/>
                    </a:ext>
                  </a:extLst>
                </a:gridCol>
                <a:gridCol w="611930">
                  <a:extLst>
                    <a:ext uri="{9D8B030D-6E8A-4147-A177-3AD203B41FA5}">
                      <a16:colId xmlns:a16="http://schemas.microsoft.com/office/drawing/2014/main" val="1889755116"/>
                    </a:ext>
                  </a:extLst>
                </a:gridCol>
                <a:gridCol w="611930">
                  <a:extLst>
                    <a:ext uri="{9D8B030D-6E8A-4147-A177-3AD203B41FA5}">
                      <a16:colId xmlns:a16="http://schemas.microsoft.com/office/drawing/2014/main" val="30769179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Q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Q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730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b="0" dirty="0">
                          <a:effectLst/>
                        </a:rPr>
                        <a:t>Invalid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296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424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853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No Change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790803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516EE2-A66F-4039-816A-2DC8855540B8}"/>
              </a:ext>
            </a:extLst>
          </p:cNvPr>
          <p:cNvCxnSpPr/>
          <p:nvPr/>
        </p:nvCxnSpPr>
        <p:spPr>
          <a:xfrm>
            <a:off x="11173446" y="4479076"/>
            <a:ext cx="30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71D52427-B84D-4D13-B7CE-459FE8C34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1429" y="1622163"/>
            <a:ext cx="4162823" cy="248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087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9C01F8CA-4B0E-4C81-B70F-914DC54D3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1611" y="1695282"/>
            <a:ext cx="3377649" cy="2111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ACC4EA-BF42-4697-ACCE-19B803C00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397967"/>
              </p:ext>
            </p:extLst>
          </p:nvPr>
        </p:nvGraphicFramePr>
        <p:xfrm>
          <a:off x="4122045" y="4523886"/>
          <a:ext cx="2447720" cy="1828800"/>
        </p:xfrm>
        <a:graphic>
          <a:graphicData uri="http://schemas.openxmlformats.org/drawingml/2006/table">
            <a:tbl>
              <a:tblPr/>
              <a:tblGrid>
                <a:gridCol w="611930">
                  <a:extLst>
                    <a:ext uri="{9D8B030D-6E8A-4147-A177-3AD203B41FA5}">
                      <a16:colId xmlns:a16="http://schemas.microsoft.com/office/drawing/2014/main" val="3254661385"/>
                    </a:ext>
                  </a:extLst>
                </a:gridCol>
                <a:gridCol w="611930">
                  <a:extLst>
                    <a:ext uri="{9D8B030D-6E8A-4147-A177-3AD203B41FA5}">
                      <a16:colId xmlns:a16="http://schemas.microsoft.com/office/drawing/2014/main" val="319517104"/>
                    </a:ext>
                  </a:extLst>
                </a:gridCol>
                <a:gridCol w="611930">
                  <a:extLst>
                    <a:ext uri="{9D8B030D-6E8A-4147-A177-3AD203B41FA5}">
                      <a16:colId xmlns:a16="http://schemas.microsoft.com/office/drawing/2014/main" val="1889755116"/>
                    </a:ext>
                  </a:extLst>
                </a:gridCol>
                <a:gridCol w="611930">
                  <a:extLst>
                    <a:ext uri="{9D8B030D-6E8A-4147-A177-3AD203B41FA5}">
                      <a16:colId xmlns:a16="http://schemas.microsoft.com/office/drawing/2014/main" val="30769179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Q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Q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730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b="0" dirty="0">
                          <a:effectLst/>
                        </a:rPr>
                        <a:t>No Change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296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424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853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 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Invalid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79080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319F2B-9D31-4BC2-B2DB-E4588805FFC9}"/>
              </a:ext>
            </a:extLst>
          </p:cNvPr>
          <p:cNvCxnSpPr/>
          <p:nvPr/>
        </p:nvCxnSpPr>
        <p:spPr>
          <a:xfrm>
            <a:off x="6119189" y="4576894"/>
            <a:ext cx="30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A88C26B-7CE7-42F5-B965-6AD32CD980FD}"/>
              </a:ext>
            </a:extLst>
          </p:cNvPr>
          <p:cNvSpPr txBox="1"/>
          <p:nvPr/>
        </p:nvSpPr>
        <p:spPr>
          <a:xfrm>
            <a:off x="4500701" y="353357"/>
            <a:ext cx="3236976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To maintain Uniformity</a:t>
            </a:r>
          </a:p>
          <a:p>
            <a:pPr algn="ctr"/>
            <a:r>
              <a:rPr lang="en-US" dirty="0"/>
              <a:t>Input and swapped and Negated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CCC84DF6-633C-423A-87D2-D06811990F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23" y="1604174"/>
            <a:ext cx="3523422" cy="2202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529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8CC4A-97D3-47B6-8DE7-B107A60F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89614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QUIZ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AF389-2125-4720-AE21-82E7FB952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SR Latch comprised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Universal Gate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Equivalence Gate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Exclusive Gate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NOT Gate</a:t>
            </a:r>
          </a:p>
        </p:txBody>
      </p:sp>
      <p:sp>
        <p:nvSpPr>
          <p:cNvPr id="4" name="Freeform 3"/>
          <p:cNvSpPr/>
          <p:nvPr/>
        </p:nvSpPr>
        <p:spPr>
          <a:xfrm>
            <a:off x="770709" y="2677886"/>
            <a:ext cx="627017" cy="581734"/>
          </a:xfrm>
          <a:custGeom>
            <a:avLst/>
            <a:gdLst>
              <a:gd name="connsiteX0" fmla="*/ 0 w 627017"/>
              <a:gd name="connsiteY0" fmla="*/ 470263 h 581734"/>
              <a:gd name="connsiteX1" fmla="*/ 13062 w 627017"/>
              <a:gd name="connsiteY1" fmla="*/ 431074 h 581734"/>
              <a:gd name="connsiteX2" fmla="*/ 117565 w 627017"/>
              <a:gd name="connsiteY2" fmla="*/ 418011 h 581734"/>
              <a:gd name="connsiteX3" fmla="*/ 222068 w 627017"/>
              <a:gd name="connsiteY3" fmla="*/ 483325 h 581734"/>
              <a:gd name="connsiteX4" fmla="*/ 313508 w 627017"/>
              <a:gd name="connsiteY4" fmla="*/ 548640 h 581734"/>
              <a:gd name="connsiteX5" fmla="*/ 365760 w 627017"/>
              <a:gd name="connsiteY5" fmla="*/ 418011 h 581734"/>
              <a:gd name="connsiteX6" fmla="*/ 404948 w 627017"/>
              <a:gd name="connsiteY6" fmla="*/ 365760 h 581734"/>
              <a:gd name="connsiteX7" fmla="*/ 431074 w 627017"/>
              <a:gd name="connsiteY7" fmla="*/ 300445 h 581734"/>
              <a:gd name="connsiteX8" fmla="*/ 509451 w 627017"/>
              <a:gd name="connsiteY8" fmla="*/ 195943 h 581734"/>
              <a:gd name="connsiteX9" fmla="*/ 535577 w 627017"/>
              <a:gd name="connsiteY9" fmla="*/ 143691 h 581734"/>
              <a:gd name="connsiteX10" fmla="*/ 561702 w 627017"/>
              <a:gd name="connsiteY10" fmla="*/ 78377 h 581734"/>
              <a:gd name="connsiteX11" fmla="*/ 600891 w 627017"/>
              <a:gd name="connsiteY11" fmla="*/ 39188 h 581734"/>
              <a:gd name="connsiteX12" fmla="*/ 627017 w 627017"/>
              <a:gd name="connsiteY12" fmla="*/ 0 h 581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27017" h="581734">
                <a:moveTo>
                  <a:pt x="0" y="470263"/>
                </a:moveTo>
                <a:cubicBezTo>
                  <a:pt x="4354" y="457200"/>
                  <a:pt x="4460" y="441826"/>
                  <a:pt x="13062" y="431074"/>
                </a:cubicBezTo>
                <a:cubicBezTo>
                  <a:pt x="47526" y="387993"/>
                  <a:pt x="69663" y="408430"/>
                  <a:pt x="117565" y="418011"/>
                </a:cubicBezTo>
                <a:cubicBezTo>
                  <a:pt x="174853" y="532586"/>
                  <a:pt x="98209" y="414515"/>
                  <a:pt x="222068" y="483325"/>
                </a:cubicBezTo>
                <a:cubicBezTo>
                  <a:pt x="399206" y="581734"/>
                  <a:pt x="135264" y="504078"/>
                  <a:pt x="313508" y="548640"/>
                </a:cubicBezTo>
                <a:cubicBezTo>
                  <a:pt x="329119" y="501808"/>
                  <a:pt x="340266" y="464750"/>
                  <a:pt x="365760" y="418011"/>
                </a:cubicBezTo>
                <a:cubicBezTo>
                  <a:pt x="376185" y="398898"/>
                  <a:pt x="394375" y="384791"/>
                  <a:pt x="404948" y="365760"/>
                </a:cubicBezTo>
                <a:cubicBezTo>
                  <a:pt x="416336" y="345262"/>
                  <a:pt x="418785" y="320415"/>
                  <a:pt x="431074" y="300445"/>
                </a:cubicBezTo>
                <a:cubicBezTo>
                  <a:pt x="453895" y="263362"/>
                  <a:pt x="489978" y="234889"/>
                  <a:pt x="509451" y="195943"/>
                </a:cubicBezTo>
                <a:cubicBezTo>
                  <a:pt x="518160" y="178526"/>
                  <a:pt x="527668" y="161486"/>
                  <a:pt x="535577" y="143691"/>
                </a:cubicBezTo>
                <a:cubicBezTo>
                  <a:pt x="545100" y="122264"/>
                  <a:pt x="549274" y="98261"/>
                  <a:pt x="561702" y="78377"/>
                </a:cubicBezTo>
                <a:cubicBezTo>
                  <a:pt x="571493" y="62711"/>
                  <a:pt x="589064" y="53380"/>
                  <a:pt x="600891" y="39188"/>
                </a:cubicBezTo>
                <a:cubicBezTo>
                  <a:pt x="610942" y="27127"/>
                  <a:pt x="627017" y="0"/>
                  <a:pt x="627017" y="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01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1476F-8600-4534-8941-5E3309D46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5632174" cy="1007165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br>
              <a:rPr lang="en-US" sz="4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4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Gated SR latch</a:t>
            </a:r>
            <a:br>
              <a:rPr lang="en-US" sz="4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48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4568182-2420-4E8F-A5E4-0324469B4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7304" y="-1"/>
            <a:ext cx="5764696" cy="2504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AEC9BC-96CF-4CCA-921B-0D227F83FDBE}"/>
              </a:ext>
            </a:extLst>
          </p:cNvPr>
          <p:cNvSpPr txBox="1"/>
          <p:nvPr/>
        </p:nvSpPr>
        <p:spPr>
          <a:xfrm>
            <a:off x="294861" y="1581330"/>
            <a:ext cx="62351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Gated SR latch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a simple extension of the SR latch </a:t>
            </a:r>
          </a:p>
          <a:p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n </a:t>
            </a:r>
            <a:r>
              <a:rPr lang="en-US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Enable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line must active before data can be latched</a:t>
            </a:r>
          </a:p>
          <a:p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Operate as SR latch if E=1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7F40EFC-B9B8-4D79-B942-36F6A903C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238026"/>
              </p:ext>
            </p:extLst>
          </p:nvPr>
        </p:nvGraphicFramePr>
        <p:xfrm>
          <a:off x="516616" y="3398607"/>
          <a:ext cx="3459035" cy="2854352"/>
        </p:xfrm>
        <a:graphic>
          <a:graphicData uri="http://schemas.openxmlformats.org/drawingml/2006/table">
            <a:tbl>
              <a:tblPr/>
              <a:tblGrid>
                <a:gridCol w="874862">
                  <a:extLst>
                    <a:ext uri="{9D8B030D-6E8A-4147-A177-3AD203B41FA5}">
                      <a16:colId xmlns:a16="http://schemas.microsoft.com/office/drawing/2014/main" val="2523812892"/>
                    </a:ext>
                  </a:extLst>
                </a:gridCol>
                <a:gridCol w="508752">
                  <a:extLst>
                    <a:ext uri="{9D8B030D-6E8A-4147-A177-3AD203B41FA5}">
                      <a16:colId xmlns:a16="http://schemas.microsoft.com/office/drawing/2014/main" val="3325154815"/>
                    </a:ext>
                  </a:extLst>
                </a:gridCol>
                <a:gridCol w="691807">
                  <a:extLst>
                    <a:ext uri="{9D8B030D-6E8A-4147-A177-3AD203B41FA5}">
                      <a16:colId xmlns:a16="http://schemas.microsoft.com/office/drawing/2014/main" val="208412699"/>
                    </a:ext>
                  </a:extLst>
                </a:gridCol>
                <a:gridCol w="691807">
                  <a:extLst>
                    <a:ext uri="{9D8B030D-6E8A-4147-A177-3AD203B41FA5}">
                      <a16:colId xmlns:a16="http://schemas.microsoft.com/office/drawing/2014/main" val="2741464650"/>
                    </a:ext>
                  </a:extLst>
                </a:gridCol>
                <a:gridCol w="691807">
                  <a:extLst>
                    <a:ext uri="{9D8B030D-6E8A-4147-A177-3AD203B41FA5}">
                      <a16:colId xmlns:a16="http://schemas.microsoft.com/office/drawing/2014/main" val="3016848107"/>
                    </a:ext>
                  </a:extLst>
                </a:gridCol>
              </a:tblGrid>
              <a:tr h="500559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effectLst/>
                        </a:rPr>
                        <a:t>Enable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effectLst/>
                        </a:rPr>
                        <a:t>S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effectLst/>
                        </a:rPr>
                        <a:t>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effectLst/>
                        </a:rPr>
                        <a:t>Q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effectLst/>
                        </a:rPr>
                        <a:t>Q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039247"/>
                  </a:ext>
                </a:extLst>
              </a:tr>
              <a:tr h="500559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effectLst/>
                        </a:rPr>
                        <a:t>0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effectLst/>
                        </a:rPr>
                        <a:t>X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effectLst/>
                        </a:rPr>
                        <a:t>X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effectLst/>
                        </a:rPr>
                        <a:t>No Change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effectLst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4692747"/>
                  </a:ext>
                </a:extLst>
              </a:tr>
              <a:tr h="555887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effectLst/>
                        </a:rPr>
                        <a:t>1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effectLst/>
                        </a:rPr>
                        <a:t>0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effectLst/>
                        </a:rPr>
                        <a:t>0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effectLst/>
                        </a:rPr>
                        <a:t>No Change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37854"/>
                  </a:ext>
                </a:extLst>
              </a:tr>
              <a:tr h="31805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effectLst/>
                        </a:rPr>
                        <a:t>1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effectLst/>
                        </a:rPr>
                        <a:t>0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effectLst/>
                        </a:rPr>
                        <a:t>1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effectLst/>
                        </a:rPr>
                        <a:t>0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effectLst/>
                        </a:rPr>
                        <a:t>1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844748"/>
                  </a:ext>
                </a:extLst>
              </a:tr>
              <a:tr h="31805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effectLst/>
                        </a:rPr>
                        <a:t>1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effectLst/>
                        </a:rPr>
                        <a:t>1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effectLst/>
                        </a:rPr>
                        <a:t>0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effectLst/>
                        </a:rPr>
                        <a:t>1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effectLst/>
                        </a:rPr>
                        <a:t>0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236942"/>
                  </a:ext>
                </a:extLst>
              </a:tr>
              <a:tr h="555887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effectLst/>
                        </a:rPr>
                        <a:t>1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effectLst/>
                        </a:rPr>
                        <a:t>1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effectLst/>
                        </a:rPr>
                        <a:t>1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effectLst/>
                        </a:rPr>
                        <a:t>Invalid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472652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DBA29B-7640-4BD0-9D0C-5D019A7CF57C}"/>
              </a:ext>
            </a:extLst>
          </p:cNvPr>
          <p:cNvCxnSpPr/>
          <p:nvPr/>
        </p:nvCxnSpPr>
        <p:spPr>
          <a:xfrm>
            <a:off x="3412435" y="3538330"/>
            <a:ext cx="3511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0A292A-1B2F-469F-AE09-F5F889AD48D6}"/>
              </a:ext>
            </a:extLst>
          </p:cNvPr>
          <p:cNvSpPr txBox="1"/>
          <p:nvPr/>
        </p:nvSpPr>
        <p:spPr>
          <a:xfrm>
            <a:off x="5111215" y="3625768"/>
            <a:ext cx="7080785" cy="19389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If a clock </a:t>
            </a: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is supplied as enable</a:t>
            </a:r>
          </a:p>
          <a:p>
            <a:r>
              <a:rPr lang="en-US" sz="2400" dirty="0">
                <a:solidFill>
                  <a:srgbClr val="202122"/>
                </a:solidFill>
                <a:latin typeface="Arial" panose="020B0604020202020204" pitchFamily="34" charset="0"/>
              </a:rPr>
              <a:t>G</a:t>
            </a: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ated SR latch becomes known as an </a:t>
            </a:r>
            <a:r>
              <a:rPr lang="en-US" sz="24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SR flip flop</a:t>
            </a: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US" sz="2400" dirty="0">
                <a:solidFill>
                  <a:srgbClr val="202122"/>
                </a:solidFill>
                <a:latin typeface="Arial" panose="020B0604020202020204" pitchFamily="34" charset="0"/>
              </a:rPr>
              <a:t>O</a:t>
            </a: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utput changes only with nature of clock</a:t>
            </a:r>
          </a:p>
          <a:p>
            <a:r>
              <a:rPr lang="en-US" sz="2400" dirty="0">
                <a:solidFill>
                  <a:srgbClr val="202122"/>
                </a:solidFill>
                <a:latin typeface="Arial" panose="020B0604020202020204" pitchFamily="34" charset="0"/>
              </a:rPr>
              <a:t>		Active Level Trigger </a:t>
            </a:r>
            <a:r>
              <a:rPr lang="en-US" sz="2400" dirty="0">
                <a:solidFill>
                  <a:srgbClr val="2021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Latch</a:t>
            </a:r>
          </a:p>
          <a:p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		Active Edge Trigger  Flip Flop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81681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8E49-A178-4E8B-8A94-B15055CA9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Latch vs Flip Flop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8F1C97-27F2-493B-977D-26018BD1750E}"/>
              </a:ext>
            </a:extLst>
          </p:cNvPr>
          <p:cNvSpPr txBox="1"/>
          <p:nvPr/>
        </p:nvSpPr>
        <p:spPr>
          <a:xfrm>
            <a:off x="318052" y="848139"/>
            <a:ext cx="5367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Clock Trigger - </a:t>
            </a:r>
            <a:r>
              <a:rPr lang="en-US" b="1" i="0" dirty="0">
                <a:solidFill>
                  <a:srgbClr val="282829"/>
                </a:solidFill>
                <a:effectLst/>
                <a:latin typeface="-apple-system"/>
              </a:rPr>
              <a:t>Triggering</a:t>
            </a:r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 means making a circuit active 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3C6736-0C83-4B73-BE8C-9A01A92FF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191" y="1561423"/>
            <a:ext cx="5645425" cy="34789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405BA6-C8E8-4BD5-B1DC-937F1F40E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5" y="1920278"/>
            <a:ext cx="2990850" cy="45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52538B-2687-48C2-B28C-69A679D77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24" y="3564348"/>
            <a:ext cx="3028950" cy="3619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1DE6E28-DC3E-4E93-B884-F70961C523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0378" y="1829007"/>
            <a:ext cx="3067050" cy="5143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063A1C0-F89A-450C-8974-007BF697BA7B}"/>
              </a:ext>
            </a:extLst>
          </p:cNvPr>
          <p:cNvSpPr txBox="1"/>
          <p:nvPr/>
        </p:nvSpPr>
        <p:spPr>
          <a:xfrm>
            <a:off x="9422296" y="2531165"/>
            <a:ext cx="2641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Positive Level (1-1) Trigger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9F80AC-3FE5-454C-BEED-27246C3D75DC}"/>
              </a:ext>
            </a:extLst>
          </p:cNvPr>
          <p:cNvSpPr txBox="1"/>
          <p:nvPr/>
        </p:nvSpPr>
        <p:spPr>
          <a:xfrm>
            <a:off x="9322905" y="3926298"/>
            <a:ext cx="2740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Negative Level (0-0) Trigger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30F525-69A8-4891-A969-E855ED738FA8}"/>
              </a:ext>
            </a:extLst>
          </p:cNvPr>
          <p:cNvSpPr txBox="1"/>
          <p:nvPr/>
        </p:nvSpPr>
        <p:spPr>
          <a:xfrm>
            <a:off x="344949" y="3990263"/>
            <a:ext cx="2711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Negative Edge (1-0) Trigger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2423DF-EC12-4B40-84DC-C45D10B1AB24}"/>
              </a:ext>
            </a:extLst>
          </p:cNvPr>
          <p:cNvSpPr txBox="1"/>
          <p:nvPr/>
        </p:nvSpPr>
        <p:spPr>
          <a:xfrm>
            <a:off x="394545" y="2369565"/>
            <a:ext cx="2612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Positive Edge (0-1) Trigger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DCE38C2-AB6B-4AD0-A938-ECF8084C4F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810" y="3300911"/>
            <a:ext cx="3084037" cy="52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44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69CD42-A5CB-4442-A9EE-ED379D53C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051437"/>
              </p:ext>
            </p:extLst>
          </p:nvPr>
        </p:nvGraphicFramePr>
        <p:xfrm>
          <a:off x="259364" y="567043"/>
          <a:ext cx="11190514" cy="2773493"/>
        </p:xfrm>
        <a:graphic>
          <a:graphicData uri="http://schemas.openxmlformats.org/drawingml/2006/table">
            <a:tbl>
              <a:tblPr/>
              <a:tblGrid>
                <a:gridCol w="5195307">
                  <a:extLst>
                    <a:ext uri="{9D8B030D-6E8A-4147-A177-3AD203B41FA5}">
                      <a16:colId xmlns:a16="http://schemas.microsoft.com/office/drawing/2014/main" val="1250062977"/>
                    </a:ext>
                  </a:extLst>
                </a:gridCol>
                <a:gridCol w="5995207">
                  <a:extLst>
                    <a:ext uri="{9D8B030D-6E8A-4147-A177-3AD203B41FA5}">
                      <a16:colId xmlns:a16="http://schemas.microsoft.com/office/drawing/2014/main" val="2689406283"/>
                    </a:ext>
                  </a:extLst>
                </a:gridCol>
              </a:tblGrid>
              <a:tr h="177134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LATCH</a:t>
                      </a:r>
                    </a:p>
                  </a:txBody>
                  <a:tcPr marL="30190" marR="30190" marT="30190" marB="30190">
                    <a:lnL w="9525" cap="flat" cmpd="sng" algn="ctr">
                      <a:solidFill>
                        <a:srgbClr val="4019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19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19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FLIP-FLOP</a:t>
                      </a:r>
                    </a:p>
                  </a:txBody>
                  <a:tcPr marL="30190" marR="30190" marT="30190" marB="30190">
                    <a:lnL w="9525" cap="flat" cmpd="sng" algn="ctr">
                      <a:solidFill>
                        <a:srgbClr val="4019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19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19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789976"/>
                  </a:ext>
                </a:extLst>
              </a:tr>
              <a:tr h="24014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Latch is a level triggered device.</a:t>
                      </a:r>
                    </a:p>
                  </a:txBody>
                  <a:tcPr marL="20126" marR="20126" marT="20126" marB="2012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Flip-flop is an edge triggered device.</a:t>
                      </a:r>
                    </a:p>
                  </a:txBody>
                  <a:tcPr marL="20126" marR="20126" marT="20126" marB="2012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388610"/>
                  </a:ext>
                </a:extLst>
              </a:tr>
              <a:tr h="29708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Latches are constructed from logic gates.</a:t>
                      </a:r>
                    </a:p>
                  </a:txBody>
                  <a:tcPr marL="20126" marR="20126" marT="20126" marB="2012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Flip-Flop is constructed from latches along with an additional logic gate</a:t>
                      </a:r>
                    </a:p>
                  </a:txBody>
                  <a:tcPr marL="20126" marR="20126" marT="20126" marB="2012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974959"/>
                  </a:ext>
                </a:extLst>
              </a:tr>
              <a:tr h="33411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Latches are faster</a:t>
                      </a:r>
                    </a:p>
                  </a:txBody>
                  <a:tcPr marL="20126" marR="20126" marT="20126" marB="2012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Flip-Flops are slower</a:t>
                      </a:r>
                    </a:p>
                  </a:txBody>
                  <a:tcPr marL="20126" marR="20126" marT="20126" marB="2012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619836"/>
                  </a:ext>
                </a:extLst>
              </a:tr>
              <a:tr h="33411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power is consumption</a:t>
                      </a:r>
                    </a:p>
                  </a:txBody>
                  <a:tcPr marL="20126" marR="20126" marT="20126" marB="2012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power is consumption</a:t>
                      </a:r>
                    </a:p>
                  </a:txBody>
                  <a:tcPr marL="20126" marR="20126" marT="20126" marB="2012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236539"/>
                  </a:ext>
                </a:extLst>
              </a:tr>
              <a:tr h="24014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latches can be clocked or clockless.</a:t>
                      </a:r>
                    </a:p>
                  </a:txBody>
                  <a:tcPr marL="20126" marR="20126" marT="20126" marB="2012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all the time, Flip-Flops are clocked.</a:t>
                      </a:r>
                    </a:p>
                  </a:txBody>
                  <a:tcPr marL="20126" marR="20126" marT="20126" marB="2012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350081"/>
                  </a:ext>
                </a:extLst>
              </a:tr>
              <a:tr h="522051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latch is asynchronous  </a:t>
                      </a:r>
                    </a:p>
                  </a:txBody>
                  <a:tcPr marL="20126" marR="20126" marT="20126" marB="2012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Flip-Flop is synchronous  </a:t>
                      </a:r>
                    </a:p>
                  </a:txBody>
                  <a:tcPr marL="20126" marR="20126" marT="20126" marB="2012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72344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400ED59-D80F-4919-A3F2-30CE1BB11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686" y="3741253"/>
            <a:ext cx="1628775" cy="1123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4189A0-FE93-4B26-B0A0-BA4402D0B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9857" y="3731728"/>
            <a:ext cx="1838325" cy="11334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8B6373-54AF-4FEC-AAA3-134589B5E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2980" y="3741253"/>
            <a:ext cx="1971675" cy="11715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9E60E6-BDA0-4732-84D0-5FCBED6F1F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181" y="3826978"/>
            <a:ext cx="1638300" cy="10858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12B4FFB-48DC-4F4A-B528-6630EEFA438C}"/>
              </a:ext>
            </a:extLst>
          </p:cNvPr>
          <p:cNvSpPr txBox="1"/>
          <p:nvPr/>
        </p:nvSpPr>
        <p:spPr>
          <a:xfrm>
            <a:off x="498198" y="4728162"/>
            <a:ext cx="9970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  <a:r>
              <a:rPr lang="en-US" dirty="0" err="1"/>
              <a:t>ve</a:t>
            </a:r>
            <a:r>
              <a:rPr lang="en-US" dirty="0"/>
              <a:t> Latch			-</a:t>
            </a:r>
            <a:r>
              <a:rPr lang="en-US" dirty="0" err="1"/>
              <a:t>ve</a:t>
            </a:r>
            <a:r>
              <a:rPr lang="en-US" dirty="0"/>
              <a:t> Latch				+</a:t>
            </a:r>
            <a:r>
              <a:rPr lang="en-US" dirty="0" err="1"/>
              <a:t>ve</a:t>
            </a:r>
            <a:r>
              <a:rPr lang="en-US" dirty="0"/>
              <a:t> FF			-</a:t>
            </a:r>
            <a:r>
              <a:rPr lang="en-US" dirty="0" err="1"/>
              <a:t>ve</a:t>
            </a:r>
            <a:r>
              <a:rPr lang="en-US" dirty="0"/>
              <a:t> FF</a:t>
            </a:r>
          </a:p>
        </p:txBody>
      </p:sp>
    </p:spTree>
    <p:extLst>
      <p:ext uri="{BB962C8B-B14F-4D97-AF65-F5344CB8AC3E}">
        <p14:creationId xmlns:p14="http://schemas.microsoft.com/office/powerpoint/2010/main" val="1554587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40DDD-01DC-4090-831B-88D732D3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 Flip Flop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F9EA5A5-B11F-4317-8E49-4C7FD695DA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86" y="2166275"/>
            <a:ext cx="6992461" cy="39528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B52C59-4CC2-40C0-90EF-C872081AB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460" y="195309"/>
            <a:ext cx="5113354" cy="26450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D47040-C116-4986-9C83-13A5D7CCA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4928" y="2840346"/>
            <a:ext cx="4618413" cy="351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72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6174B-3D5B-46F4-A8A1-DB66CB058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365" y="0"/>
            <a:ext cx="3057939" cy="681797"/>
          </a:xfr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SR Flip Flop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41D57D-BA7E-45F1-8053-43B0C3177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13" y="681797"/>
            <a:ext cx="11246539" cy="617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587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CC11F-B91D-41CA-8F0A-7556565EE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1066"/>
          </a:xfr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B9728-D4E6-4D70-BD2E-D602B7A36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SR FF produces invalid </a:t>
            </a:r>
            <a:r>
              <a:rPr lang="en-US"/>
              <a:t>output for </a:t>
            </a:r>
            <a:r>
              <a:rPr lang="en-US" dirty="0"/>
              <a:t>SR input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00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01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10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11</a:t>
            </a:r>
          </a:p>
        </p:txBody>
      </p:sp>
      <p:sp>
        <p:nvSpPr>
          <p:cNvPr id="4" name="Freeform 3"/>
          <p:cNvSpPr/>
          <p:nvPr/>
        </p:nvSpPr>
        <p:spPr>
          <a:xfrm>
            <a:off x="783771" y="4373420"/>
            <a:ext cx="1453601" cy="472900"/>
          </a:xfrm>
          <a:custGeom>
            <a:avLst/>
            <a:gdLst>
              <a:gd name="connsiteX0" fmla="*/ 0 w 1453601"/>
              <a:gd name="connsiteY0" fmla="*/ 303083 h 472900"/>
              <a:gd name="connsiteX1" fmla="*/ 13063 w 1453601"/>
              <a:gd name="connsiteY1" fmla="*/ 342271 h 472900"/>
              <a:gd name="connsiteX2" fmla="*/ 117566 w 1453601"/>
              <a:gd name="connsiteY2" fmla="*/ 355334 h 472900"/>
              <a:gd name="connsiteX3" fmla="*/ 169818 w 1453601"/>
              <a:gd name="connsiteY3" fmla="*/ 368397 h 472900"/>
              <a:gd name="connsiteX4" fmla="*/ 209006 w 1453601"/>
              <a:gd name="connsiteY4" fmla="*/ 407586 h 472900"/>
              <a:gd name="connsiteX5" fmla="*/ 287383 w 1453601"/>
              <a:gd name="connsiteY5" fmla="*/ 472900 h 472900"/>
              <a:gd name="connsiteX6" fmla="*/ 418012 w 1453601"/>
              <a:gd name="connsiteY6" fmla="*/ 446774 h 472900"/>
              <a:gd name="connsiteX7" fmla="*/ 457200 w 1453601"/>
              <a:gd name="connsiteY7" fmla="*/ 433711 h 472900"/>
              <a:gd name="connsiteX8" fmla="*/ 509452 w 1453601"/>
              <a:gd name="connsiteY8" fmla="*/ 342271 h 472900"/>
              <a:gd name="connsiteX9" fmla="*/ 640080 w 1453601"/>
              <a:gd name="connsiteY9" fmla="*/ 276957 h 472900"/>
              <a:gd name="connsiteX10" fmla="*/ 705395 w 1453601"/>
              <a:gd name="connsiteY10" fmla="*/ 250831 h 472900"/>
              <a:gd name="connsiteX11" fmla="*/ 744583 w 1453601"/>
              <a:gd name="connsiteY11" fmla="*/ 211643 h 472900"/>
              <a:gd name="connsiteX12" fmla="*/ 1005840 w 1453601"/>
              <a:gd name="connsiteY12" fmla="*/ 172454 h 472900"/>
              <a:gd name="connsiteX13" fmla="*/ 1045029 w 1453601"/>
              <a:gd name="connsiteY13" fmla="*/ 159391 h 472900"/>
              <a:gd name="connsiteX14" fmla="*/ 1227909 w 1453601"/>
              <a:gd name="connsiteY14" fmla="*/ 81014 h 472900"/>
              <a:gd name="connsiteX15" fmla="*/ 1267098 w 1453601"/>
              <a:gd name="connsiteY15" fmla="*/ 94077 h 472900"/>
              <a:gd name="connsiteX16" fmla="*/ 1332412 w 1453601"/>
              <a:gd name="connsiteY16" fmla="*/ 67951 h 472900"/>
              <a:gd name="connsiteX17" fmla="*/ 1410789 w 1453601"/>
              <a:gd name="connsiteY17" fmla="*/ 41826 h 472900"/>
              <a:gd name="connsiteX18" fmla="*/ 1449978 w 1453601"/>
              <a:gd name="connsiteY18" fmla="*/ 28763 h 47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453601" h="472900">
                <a:moveTo>
                  <a:pt x="0" y="303083"/>
                </a:moveTo>
                <a:cubicBezTo>
                  <a:pt x="4354" y="316146"/>
                  <a:pt x="480" y="336679"/>
                  <a:pt x="13063" y="342271"/>
                </a:cubicBezTo>
                <a:cubicBezTo>
                  <a:pt x="45143" y="356529"/>
                  <a:pt x="82938" y="349563"/>
                  <a:pt x="117566" y="355334"/>
                </a:cubicBezTo>
                <a:cubicBezTo>
                  <a:pt x="135275" y="358286"/>
                  <a:pt x="152401" y="364043"/>
                  <a:pt x="169818" y="368397"/>
                </a:cubicBezTo>
                <a:cubicBezTo>
                  <a:pt x="182881" y="381460"/>
                  <a:pt x="193340" y="397795"/>
                  <a:pt x="209006" y="407586"/>
                </a:cubicBezTo>
                <a:cubicBezTo>
                  <a:pt x="294504" y="461022"/>
                  <a:pt x="262560" y="398431"/>
                  <a:pt x="287383" y="472900"/>
                </a:cubicBezTo>
                <a:cubicBezTo>
                  <a:pt x="330926" y="464191"/>
                  <a:pt x="374744" y="456759"/>
                  <a:pt x="418012" y="446774"/>
                </a:cubicBezTo>
                <a:cubicBezTo>
                  <a:pt x="431429" y="443678"/>
                  <a:pt x="448133" y="444073"/>
                  <a:pt x="457200" y="433711"/>
                </a:cubicBezTo>
                <a:cubicBezTo>
                  <a:pt x="480317" y="407291"/>
                  <a:pt x="484629" y="367094"/>
                  <a:pt x="509452" y="342271"/>
                </a:cubicBezTo>
                <a:cubicBezTo>
                  <a:pt x="554267" y="297456"/>
                  <a:pt x="590565" y="295525"/>
                  <a:pt x="640080" y="276957"/>
                </a:cubicBezTo>
                <a:cubicBezTo>
                  <a:pt x="662036" y="268724"/>
                  <a:pt x="683623" y="259540"/>
                  <a:pt x="705395" y="250831"/>
                </a:cubicBezTo>
                <a:cubicBezTo>
                  <a:pt x="718458" y="237768"/>
                  <a:pt x="728434" y="220614"/>
                  <a:pt x="744583" y="211643"/>
                </a:cubicBezTo>
                <a:cubicBezTo>
                  <a:pt x="818350" y="170661"/>
                  <a:pt x="934390" y="177558"/>
                  <a:pt x="1005840" y="172454"/>
                </a:cubicBezTo>
                <a:cubicBezTo>
                  <a:pt x="1018903" y="168100"/>
                  <a:pt x="1032297" y="164634"/>
                  <a:pt x="1045029" y="159391"/>
                </a:cubicBezTo>
                <a:cubicBezTo>
                  <a:pt x="1106356" y="134139"/>
                  <a:pt x="1227909" y="81014"/>
                  <a:pt x="1227909" y="81014"/>
                </a:cubicBezTo>
                <a:cubicBezTo>
                  <a:pt x="1240972" y="85368"/>
                  <a:pt x="1253435" y="95785"/>
                  <a:pt x="1267098" y="94077"/>
                </a:cubicBezTo>
                <a:cubicBezTo>
                  <a:pt x="1290365" y="91169"/>
                  <a:pt x="1310375" y="75964"/>
                  <a:pt x="1332412" y="67951"/>
                </a:cubicBezTo>
                <a:cubicBezTo>
                  <a:pt x="1358293" y="58540"/>
                  <a:pt x="1384663" y="50534"/>
                  <a:pt x="1410789" y="41826"/>
                </a:cubicBezTo>
                <a:cubicBezTo>
                  <a:pt x="1453601" y="13285"/>
                  <a:pt x="1449978" y="0"/>
                  <a:pt x="1449978" y="28763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44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5F611-330C-45B4-9BEA-F99C41E72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62781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A4568-C644-46CF-B1C7-05A60231A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679" y="15208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Limitation of SR Flip Flop is it produces output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No Change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Reset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Set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Inhibit/Indeterminate/Invalid/Don’t Care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reeform 3"/>
          <p:cNvSpPr/>
          <p:nvPr/>
        </p:nvSpPr>
        <p:spPr>
          <a:xfrm>
            <a:off x="692331" y="4284184"/>
            <a:ext cx="1254035" cy="312517"/>
          </a:xfrm>
          <a:custGeom>
            <a:avLst/>
            <a:gdLst>
              <a:gd name="connsiteX0" fmla="*/ 0 w 1254035"/>
              <a:gd name="connsiteY0" fmla="*/ 65747 h 312517"/>
              <a:gd name="connsiteX1" fmla="*/ 78378 w 1254035"/>
              <a:gd name="connsiteY1" fmla="*/ 117999 h 312517"/>
              <a:gd name="connsiteX2" fmla="*/ 117566 w 1254035"/>
              <a:gd name="connsiteY2" fmla="*/ 170250 h 312517"/>
              <a:gd name="connsiteX3" fmla="*/ 156755 w 1254035"/>
              <a:gd name="connsiteY3" fmla="*/ 183313 h 312517"/>
              <a:gd name="connsiteX4" fmla="*/ 222069 w 1254035"/>
              <a:gd name="connsiteY4" fmla="*/ 222502 h 312517"/>
              <a:gd name="connsiteX5" fmla="*/ 274320 w 1254035"/>
              <a:gd name="connsiteY5" fmla="*/ 287816 h 312517"/>
              <a:gd name="connsiteX6" fmla="*/ 378823 w 1254035"/>
              <a:gd name="connsiteY6" fmla="*/ 287816 h 312517"/>
              <a:gd name="connsiteX7" fmla="*/ 574766 w 1254035"/>
              <a:gd name="connsiteY7" fmla="*/ 235565 h 312517"/>
              <a:gd name="connsiteX8" fmla="*/ 731520 w 1254035"/>
              <a:gd name="connsiteY8" fmla="*/ 157187 h 312517"/>
              <a:gd name="connsiteX9" fmla="*/ 901338 w 1254035"/>
              <a:gd name="connsiteY9" fmla="*/ 91873 h 312517"/>
              <a:gd name="connsiteX10" fmla="*/ 1045029 w 1254035"/>
              <a:gd name="connsiteY10" fmla="*/ 52685 h 312517"/>
              <a:gd name="connsiteX11" fmla="*/ 1110343 w 1254035"/>
              <a:gd name="connsiteY11" fmla="*/ 13496 h 312517"/>
              <a:gd name="connsiteX12" fmla="*/ 1254035 w 1254035"/>
              <a:gd name="connsiteY12" fmla="*/ 433 h 312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54035" h="312517">
                <a:moveTo>
                  <a:pt x="0" y="65747"/>
                </a:moveTo>
                <a:cubicBezTo>
                  <a:pt x="26126" y="83164"/>
                  <a:pt x="59538" y="92879"/>
                  <a:pt x="78378" y="117999"/>
                </a:cubicBezTo>
                <a:cubicBezTo>
                  <a:pt x="91441" y="135416"/>
                  <a:pt x="100841" y="156312"/>
                  <a:pt x="117566" y="170250"/>
                </a:cubicBezTo>
                <a:cubicBezTo>
                  <a:pt x="128144" y="179065"/>
                  <a:pt x="144439" y="177155"/>
                  <a:pt x="156755" y="183313"/>
                </a:cubicBezTo>
                <a:cubicBezTo>
                  <a:pt x="179464" y="194668"/>
                  <a:pt x="200298" y="209439"/>
                  <a:pt x="222069" y="222502"/>
                </a:cubicBezTo>
                <a:cubicBezTo>
                  <a:pt x="239486" y="244273"/>
                  <a:pt x="252015" y="271088"/>
                  <a:pt x="274320" y="287816"/>
                </a:cubicBezTo>
                <a:cubicBezTo>
                  <a:pt x="307255" y="312517"/>
                  <a:pt x="345888" y="297950"/>
                  <a:pt x="378823" y="287816"/>
                </a:cubicBezTo>
                <a:cubicBezTo>
                  <a:pt x="547457" y="235928"/>
                  <a:pt x="439010" y="258190"/>
                  <a:pt x="574766" y="235565"/>
                </a:cubicBezTo>
                <a:cubicBezTo>
                  <a:pt x="771775" y="169894"/>
                  <a:pt x="528931" y="258482"/>
                  <a:pt x="731520" y="157187"/>
                </a:cubicBezTo>
                <a:cubicBezTo>
                  <a:pt x="744669" y="150612"/>
                  <a:pt x="855906" y="104854"/>
                  <a:pt x="901338" y="91873"/>
                </a:cubicBezTo>
                <a:cubicBezTo>
                  <a:pt x="949074" y="78234"/>
                  <a:pt x="997132" y="65748"/>
                  <a:pt x="1045029" y="52685"/>
                </a:cubicBezTo>
                <a:cubicBezTo>
                  <a:pt x="1066800" y="39622"/>
                  <a:pt x="1085811" y="20038"/>
                  <a:pt x="1110343" y="13496"/>
                </a:cubicBezTo>
                <a:cubicBezTo>
                  <a:pt x="1160954" y="0"/>
                  <a:pt x="1205605" y="433"/>
                  <a:pt x="1254035" y="433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10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7DA7A9D-3B06-4F6A-8910-BAFCDBEF5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365" y="0"/>
            <a:ext cx="3057939" cy="681797"/>
          </a:xfr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JK Flip Flop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8B0E26-0939-4208-B030-ACF0E584659E}"/>
              </a:ext>
            </a:extLst>
          </p:cNvPr>
          <p:cNvSpPr txBox="1"/>
          <p:nvPr/>
        </p:nvSpPr>
        <p:spPr>
          <a:xfrm>
            <a:off x="331304" y="681797"/>
            <a:ext cx="74601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Limitation of SR-FF overcome in JK-FF by 3-input gate and additional feedback</a:t>
            </a:r>
          </a:p>
          <a:p>
            <a:r>
              <a:rPr lang="en-US" b="1" dirty="0">
                <a:solidFill>
                  <a:srgbClr val="7030A0"/>
                </a:solidFill>
              </a:rPr>
              <a:t>JK-FF toggle (Complement) for input (JK=11)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48841F-D6E0-4E88-A66E-C81CFA70D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1196" y="848730"/>
            <a:ext cx="3619500" cy="2451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90E6F3-866B-4B35-A614-6C839163E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861" y="3816626"/>
            <a:ext cx="11184835" cy="2915477"/>
          </a:xfrm>
          <a:prstGeom prst="rect">
            <a:avLst/>
          </a:prstGeom>
        </p:spPr>
      </p:pic>
      <p:pic>
        <p:nvPicPr>
          <p:cNvPr id="1026" name="Picture 2" descr="Flip-Flops">
            <a:extLst>
              <a:ext uri="{FF2B5EF4-FFF2-40B4-BE49-F238E27FC236}">
                <a16:creationId xmlns:a16="http://schemas.microsoft.com/office/drawing/2014/main" id="{D46C687B-8761-4FF7-8D85-C90F98411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259" y="1328128"/>
            <a:ext cx="4977019" cy="229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346F2F-4616-4654-855F-538BF07147A1}"/>
              </a:ext>
            </a:extLst>
          </p:cNvPr>
          <p:cNvSpPr txBox="1"/>
          <p:nvPr/>
        </p:nvSpPr>
        <p:spPr>
          <a:xfrm>
            <a:off x="9223514" y="17732"/>
            <a:ext cx="1458861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J</a:t>
            </a:r>
            <a:r>
              <a:rPr lang="en-US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 Set</a:t>
            </a:r>
          </a:p>
          <a:p>
            <a:r>
              <a:rPr lang="en-US" sz="2400" b="1" dirty="0">
                <a:solidFill>
                  <a:srgbClr val="7030A0"/>
                </a:solidFill>
                <a:sym typeface="Wingdings" panose="05000000000000000000" pitchFamily="2" charset="2"/>
              </a:rPr>
              <a:t>K Reset</a:t>
            </a:r>
            <a:endParaRPr lang="en-US" sz="2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566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3969B-4C40-4976-B168-10189061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506A9C9-FA8C-4907-955D-8C606CF58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587" y="2047567"/>
            <a:ext cx="7323789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6DB547-79B9-43B4-8483-872011059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001" y="213064"/>
            <a:ext cx="4134359" cy="270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92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JK FF will Toggle when</a:t>
            </a:r>
          </a:p>
          <a:p>
            <a:pPr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J=0  K=0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J=0  K=1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J=1  K=0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J=1  K=1</a:t>
            </a:r>
          </a:p>
        </p:txBody>
      </p:sp>
      <p:sp>
        <p:nvSpPr>
          <p:cNvPr id="4" name="Freeform 3"/>
          <p:cNvSpPr/>
          <p:nvPr/>
        </p:nvSpPr>
        <p:spPr>
          <a:xfrm>
            <a:off x="836023" y="4453378"/>
            <a:ext cx="979759" cy="340691"/>
          </a:xfrm>
          <a:custGeom>
            <a:avLst/>
            <a:gdLst>
              <a:gd name="connsiteX0" fmla="*/ 0 w 979759"/>
              <a:gd name="connsiteY0" fmla="*/ 262313 h 340691"/>
              <a:gd name="connsiteX1" fmla="*/ 169817 w 979759"/>
              <a:gd name="connsiteY1" fmla="*/ 288439 h 340691"/>
              <a:gd name="connsiteX2" fmla="*/ 222068 w 979759"/>
              <a:gd name="connsiteY2" fmla="*/ 301502 h 340691"/>
              <a:gd name="connsiteX3" fmla="*/ 274320 w 979759"/>
              <a:gd name="connsiteY3" fmla="*/ 327628 h 340691"/>
              <a:gd name="connsiteX4" fmla="*/ 313508 w 979759"/>
              <a:gd name="connsiteY4" fmla="*/ 340691 h 340691"/>
              <a:gd name="connsiteX5" fmla="*/ 418011 w 979759"/>
              <a:gd name="connsiteY5" fmla="*/ 301502 h 340691"/>
              <a:gd name="connsiteX6" fmla="*/ 613954 w 979759"/>
              <a:gd name="connsiteY6" fmla="*/ 223125 h 340691"/>
              <a:gd name="connsiteX7" fmla="*/ 705394 w 979759"/>
              <a:gd name="connsiteY7" fmla="*/ 118622 h 340691"/>
              <a:gd name="connsiteX8" fmla="*/ 796834 w 979759"/>
              <a:gd name="connsiteY8" fmla="*/ 105559 h 340691"/>
              <a:gd name="connsiteX9" fmla="*/ 849086 w 979759"/>
              <a:gd name="connsiteY9" fmla="*/ 66371 h 340691"/>
              <a:gd name="connsiteX10" fmla="*/ 901337 w 979759"/>
              <a:gd name="connsiteY10" fmla="*/ 14119 h 340691"/>
              <a:gd name="connsiteX11" fmla="*/ 940526 w 979759"/>
              <a:gd name="connsiteY11" fmla="*/ 1056 h 34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79759" h="340691">
                <a:moveTo>
                  <a:pt x="0" y="262313"/>
                </a:moveTo>
                <a:cubicBezTo>
                  <a:pt x="56606" y="271022"/>
                  <a:pt x="113417" y="278486"/>
                  <a:pt x="169817" y="288439"/>
                </a:cubicBezTo>
                <a:cubicBezTo>
                  <a:pt x="187497" y="291559"/>
                  <a:pt x="205258" y="295198"/>
                  <a:pt x="222068" y="301502"/>
                </a:cubicBezTo>
                <a:cubicBezTo>
                  <a:pt x="240301" y="308340"/>
                  <a:pt x="256421" y="319957"/>
                  <a:pt x="274320" y="327628"/>
                </a:cubicBezTo>
                <a:cubicBezTo>
                  <a:pt x="286976" y="333052"/>
                  <a:pt x="300445" y="336337"/>
                  <a:pt x="313508" y="340691"/>
                </a:cubicBezTo>
                <a:cubicBezTo>
                  <a:pt x="348342" y="327628"/>
                  <a:pt x="384014" y="316612"/>
                  <a:pt x="418011" y="301502"/>
                </a:cubicBezTo>
                <a:cubicBezTo>
                  <a:pt x="602699" y="219419"/>
                  <a:pt x="485305" y="248855"/>
                  <a:pt x="613954" y="223125"/>
                </a:cubicBezTo>
                <a:cubicBezTo>
                  <a:pt x="639252" y="180963"/>
                  <a:pt x="654348" y="137184"/>
                  <a:pt x="705394" y="118622"/>
                </a:cubicBezTo>
                <a:cubicBezTo>
                  <a:pt x="734330" y="108100"/>
                  <a:pt x="766354" y="109913"/>
                  <a:pt x="796834" y="105559"/>
                </a:cubicBezTo>
                <a:cubicBezTo>
                  <a:pt x="814251" y="92496"/>
                  <a:pt x="832701" y="80708"/>
                  <a:pt x="849086" y="66371"/>
                </a:cubicBezTo>
                <a:cubicBezTo>
                  <a:pt x="867623" y="50151"/>
                  <a:pt x="880450" y="27174"/>
                  <a:pt x="901337" y="14119"/>
                </a:cubicBezTo>
                <a:cubicBezTo>
                  <a:pt x="923927" y="0"/>
                  <a:pt x="979759" y="1056"/>
                  <a:pt x="940526" y="1056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752289-C7B5-4DA2-8512-ECC0D061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365" y="0"/>
            <a:ext cx="3057939" cy="681797"/>
          </a:xfr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T Flip Flop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5763C7-437F-4572-8692-2068F1EF7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86" y="1654382"/>
            <a:ext cx="10702166" cy="49253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3DCEE8-EB10-41C1-ADA8-B3DE3E837278}"/>
              </a:ext>
            </a:extLst>
          </p:cNvPr>
          <p:cNvSpPr txBox="1"/>
          <p:nvPr/>
        </p:nvSpPr>
        <p:spPr>
          <a:xfrm>
            <a:off x="0" y="504674"/>
            <a:ext cx="5364161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By Shorting J and K input, JKFF converted to TFF</a:t>
            </a:r>
          </a:p>
          <a:p>
            <a:r>
              <a:rPr lang="en-US" dirty="0">
                <a:solidFill>
                  <a:srgbClr val="7030A0"/>
                </a:solidFill>
              </a:rPr>
              <a:t>Single input T</a:t>
            </a:r>
          </a:p>
          <a:p>
            <a:r>
              <a:rPr lang="en-US" dirty="0">
                <a:solidFill>
                  <a:srgbClr val="7030A0"/>
                </a:solidFill>
              </a:rPr>
              <a:t>FF toggles (compliment) for T=1 and No Change for T=0</a:t>
            </a:r>
          </a:p>
          <a:p>
            <a:r>
              <a:rPr lang="en-US" dirty="0">
                <a:solidFill>
                  <a:srgbClr val="7030A0"/>
                </a:solidFill>
              </a:rPr>
              <a:t>Truth Table resemble to XOR gate</a:t>
            </a:r>
          </a:p>
        </p:txBody>
      </p:sp>
    </p:spTree>
    <p:extLst>
      <p:ext uri="{BB962C8B-B14F-4D97-AF65-F5344CB8AC3E}">
        <p14:creationId xmlns:p14="http://schemas.microsoft.com/office/powerpoint/2010/main" val="3510414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1F531-FF82-49CE-A0B9-F10D757A4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68ED2-C3DF-4156-AED8-ECAA661C8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303"/>
            <a:ext cx="10515600" cy="3382480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JK-FF can converts to T-FF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By inverting JK input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By shorting JK input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By connecting JK input to supply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By connecting JK input to ground</a:t>
            </a:r>
          </a:p>
        </p:txBody>
      </p:sp>
      <p:sp>
        <p:nvSpPr>
          <p:cNvPr id="5" name="Freeform 4"/>
          <p:cNvSpPr/>
          <p:nvPr/>
        </p:nvSpPr>
        <p:spPr>
          <a:xfrm>
            <a:off x="718457" y="3102239"/>
            <a:ext cx="783772" cy="427271"/>
          </a:xfrm>
          <a:custGeom>
            <a:avLst/>
            <a:gdLst>
              <a:gd name="connsiteX0" fmla="*/ 0 w 783772"/>
              <a:gd name="connsiteY0" fmla="*/ 372481 h 427271"/>
              <a:gd name="connsiteX1" fmla="*/ 65314 w 783772"/>
              <a:gd name="connsiteY1" fmla="*/ 398607 h 427271"/>
              <a:gd name="connsiteX2" fmla="*/ 104503 w 783772"/>
              <a:gd name="connsiteY2" fmla="*/ 424732 h 427271"/>
              <a:gd name="connsiteX3" fmla="*/ 156754 w 783772"/>
              <a:gd name="connsiteY3" fmla="*/ 411670 h 427271"/>
              <a:gd name="connsiteX4" fmla="*/ 222069 w 783772"/>
              <a:gd name="connsiteY4" fmla="*/ 372481 h 427271"/>
              <a:gd name="connsiteX5" fmla="*/ 300446 w 783772"/>
              <a:gd name="connsiteY5" fmla="*/ 359418 h 427271"/>
              <a:gd name="connsiteX6" fmla="*/ 352697 w 783772"/>
              <a:gd name="connsiteY6" fmla="*/ 307167 h 427271"/>
              <a:gd name="connsiteX7" fmla="*/ 457200 w 783772"/>
              <a:gd name="connsiteY7" fmla="*/ 254915 h 427271"/>
              <a:gd name="connsiteX8" fmla="*/ 509452 w 783772"/>
              <a:gd name="connsiteY8" fmla="*/ 215727 h 427271"/>
              <a:gd name="connsiteX9" fmla="*/ 627017 w 783772"/>
              <a:gd name="connsiteY9" fmla="*/ 124287 h 427271"/>
              <a:gd name="connsiteX10" fmla="*/ 744583 w 783772"/>
              <a:gd name="connsiteY10" fmla="*/ 6721 h 427271"/>
              <a:gd name="connsiteX11" fmla="*/ 783772 w 783772"/>
              <a:gd name="connsiteY11" fmla="*/ 6721 h 427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3772" h="427271">
                <a:moveTo>
                  <a:pt x="0" y="372481"/>
                </a:moveTo>
                <a:cubicBezTo>
                  <a:pt x="21771" y="381190"/>
                  <a:pt x="44341" y="388121"/>
                  <a:pt x="65314" y="398607"/>
                </a:cubicBezTo>
                <a:cubicBezTo>
                  <a:pt x="79356" y="405628"/>
                  <a:pt x="88961" y="422512"/>
                  <a:pt x="104503" y="424732"/>
                </a:cubicBezTo>
                <a:cubicBezTo>
                  <a:pt x="122276" y="427271"/>
                  <a:pt x="139337" y="416024"/>
                  <a:pt x="156754" y="411670"/>
                </a:cubicBezTo>
                <a:cubicBezTo>
                  <a:pt x="178526" y="398607"/>
                  <a:pt x="198208" y="381158"/>
                  <a:pt x="222069" y="372481"/>
                </a:cubicBezTo>
                <a:cubicBezTo>
                  <a:pt x="246960" y="363430"/>
                  <a:pt x="276756" y="371263"/>
                  <a:pt x="300446" y="359418"/>
                </a:cubicBezTo>
                <a:cubicBezTo>
                  <a:pt x="322477" y="348403"/>
                  <a:pt x="332202" y="320830"/>
                  <a:pt x="352697" y="307167"/>
                </a:cubicBezTo>
                <a:cubicBezTo>
                  <a:pt x="385102" y="285564"/>
                  <a:pt x="426043" y="278282"/>
                  <a:pt x="457200" y="254915"/>
                </a:cubicBezTo>
                <a:cubicBezTo>
                  <a:pt x="474617" y="241852"/>
                  <a:pt x="492451" y="229328"/>
                  <a:pt x="509452" y="215727"/>
                </a:cubicBezTo>
                <a:cubicBezTo>
                  <a:pt x="622506" y="125284"/>
                  <a:pt x="549092" y="176236"/>
                  <a:pt x="627017" y="124287"/>
                </a:cubicBezTo>
                <a:cubicBezTo>
                  <a:pt x="663862" y="69020"/>
                  <a:pt x="670754" y="51018"/>
                  <a:pt x="744583" y="6721"/>
                </a:cubicBezTo>
                <a:cubicBezTo>
                  <a:pt x="755784" y="0"/>
                  <a:pt x="770709" y="6721"/>
                  <a:pt x="783772" y="6721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15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EBDB1FB-7F40-4FC4-81C5-DF7E9E260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365" y="0"/>
            <a:ext cx="3057939" cy="681797"/>
          </a:xfr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D Flip Flop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C69DC9-13EF-4371-B48D-3EC1B19F7D1B}"/>
              </a:ext>
            </a:extLst>
          </p:cNvPr>
          <p:cNvSpPr txBox="1"/>
          <p:nvPr/>
        </p:nvSpPr>
        <p:spPr>
          <a:xfrm>
            <a:off x="0" y="504674"/>
            <a:ext cx="6733190" cy="14773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By inserting a NOT gate between J and K input, JKFF converted to DFF</a:t>
            </a:r>
          </a:p>
          <a:p>
            <a:r>
              <a:rPr lang="en-US" dirty="0">
                <a:solidFill>
                  <a:srgbClr val="7030A0"/>
                </a:solidFill>
              </a:rPr>
              <a:t>By inserting a NOT gate between S and R input, SEFF converted to DFF</a:t>
            </a:r>
          </a:p>
          <a:p>
            <a:r>
              <a:rPr lang="en-US" dirty="0">
                <a:solidFill>
                  <a:srgbClr val="7030A0"/>
                </a:solidFill>
              </a:rPr>
              <a:t>Single input D</a:t>
            </a:r>
          </a:p>
          <a:p>
            <a:r>
              <a:rPr lang="en-US" dirty="0">
                <a:solidFill>
                  <a:srgbClr val="7030A0"/>
                </a:solidFill>
              </a:rPr>
              <a:t>Known as Delay/Data/Transparent FF</a:t>
            </a:r>
          </a:p>
          <a:p>
            <a:r>
              <a:rPr lang="en-US" dirty="0">
                <a:solidFill>
                  <a:srgbClr val="7030A0"/>
                </a:solidFill>
              </a:rPr>
              <a:t>Truth Table resemble to XOR gate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A9B158-2936-4354-B347-E152A141A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980" y="681797"/>
            <a:ext cx="4629358" cy="4914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A85127-8345-4FB1-81A0-C67209ADF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2800117"/>
            <a:ext cx="1447800" cy="1381125"/>
          </a:xfrm>
          <a:prstGeom prst="rect">
            <a:avLst/>
          </a:prstGeom>
        </p:spPr>
      </p:pic>
      <p:pic>
        <p:nvPicPr>
          <p:cNvPr id="2050" name="Picture 2" descr="Flip Flops, R-S, J-K, D, T, Master Slave | D&amp;E notes">
            <a:extLst>
              <a:ext uri="{FF2B5EF4-FFF2-40B4-BE49-F238E27FC236}">
                <a16:creationId xmlns:a16="http://schemas.microsoft.com/office/drawing/2014/main" id="{BE59B405-2474-47A2-ADB6-211F0F72B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1" y="4916557"/>
            <a:ext cx="4867304" cy="1941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ifference between D Latch Schematic and D Flip Flop Schematic - Stack  Overflow">
            <a:extLst>
              <a:ext uri="{FF2B5EF4-FFF2-40B4-BE49-F238E27FC236}">
                <a16:creationId xmlns:a16="http://schemas.microsoft.com/office/drawing/2014/main" id="{A30B06A3-D99C-4360-AEFA-D710E03B9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21" y="2259000"/>
            <a:ext cx="4734339" cy="2073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439A73-BA38-4E0A-989D-3919FA8F2A32}"/>
              </a:ext>
            </a:extLst>
          </p:cNvPr>
          <p:cNvCxnSpPr/>
          <p:nvPr/>
        </p:nvCxnSpPr>
        <p:spPr>
          <a:xfrm>
            <a:off x="4651513" y="3790122"/>
            <a:ext cx="2418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501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1F531-FF82-49CE-A0B9-F10D757A4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68ED2-C3DF-4156-AED8-ECAA661C8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303"/>
            <a:ext cx="10515600" cy="3382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A _____ gate between J and K input, converts JK-FF to D-FF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BUF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NOR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NOT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OR</a:t>
            </a:r>
          </a:p>
        </p:txBody>
      </p:sp>
      <p:sp>
        <p:nvSpPr>
          <p:cNvPr id="4" name="Freeform 3"/>
          <p:cNvSpPr/>
          <p:nvPr/>
        </p:nvSpPr>
        <p:spPr>
          <a:xfrm>
            <a:off x="783771" y="3639706"/>
            <a:ext cx="888275" cy="304674"/>
          </a:xfrm>
          <a:custGeom>
            <a:avLst/>
            <a:gdLst>
              <a:gd name="connsiteX0" fmla="*/ 0 w 888275"/>
              <a:gd name="connsiteY0" fmla="*/ 253025 h 304674"/>
              <a:gd name="connsiteX1" fmla="*/ 104503 w 888275"/>
              <a:gd name="connsiteY1" fmla="*/ 266088 h 304674"/>
              <a:gd name="connsiteX2" fmla="*/ 235132 w 888275"/>
              <a:gd name="connsiteY2" fmla="*/ 279151 h 304674"/>
              <a:gd name="connsiteX3" fmla="*/ 274320 w 888275"/>
              <a:gd name="connsiteY3" fmla="*/ 292214 h 304674"/>
              <a:gd name="connsiteX4" fmla="*/ 404949 w 888275"/>
              <a:gd name="connsiteY4" fmla="*/ 226900 h 304674"/>
              <a:gd name="connsiteX5" fmla="*/ 470263 w 888275"/>
              <a:gd name="connsiteY5" fmla="*/ 174648 h 304674"/>
              <a:gd name="connsiteX6" fmla="*/ 548640 w 888275"/>
              <a:gd name="connsiteY6" fmla="*/ 161585 h 304674"/>
              <a:gd name="connsiteX7" fmla="*/ 718458 w 888275"/>
              <a:gd name="connsiteY7" fmla="*/ 70145 h 304674"/>
              <a:gd name="connsiteX8" fmla="*/ 783772 w 888275"/>
              <a:gd name="connsiteY8" fmla="*/ 57083 h 304674"/>
              <a:gd name="connsiteX9" fmla="*/ 888275 w 888275"/>
              <a:gd name="connsiteY9" fmla="*/ 4831 h 304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88275" h="304674">
                <a:moveTo>
                  <a:pt x="0" y="253025"/>
                </a:moveTo>
                <a:cubicBezTo>
                  <a:pt x="34834" y="257379"/>
                  <a:pt x="70079" y="259203"/>
                  <a:pt x="104503" y="266088"/>
                </a:cubicBezTo>
                <a:cubicBezTo>
                  <a:pt x="226006" y="290389"/>
                  <a:pt x="158562" y="304674"/>
                  <a:pt x="235132" y="279151"/>
                </a:cubicBezTo>
                <a:cubicBezTo>
                  <a:pt x="248195" y="283505"/>
                  <a:pt x="260818" y="294914"/>
                  <a:pt x="274320" y="292214"/>
                </a:cubicBezTo>
                <a:cubicBezTo>
                  <a:pt x="314813" y="284115"/>
                  <a:pt x="369119" y="253772"/>
                  <a:pt x="404949" y="226900"/>
                </a:cubicBezTo>
                <a:cubicBezTo>
                  <a:pt x="427254" y="210171"/>
                  <a:pt x="444881" y="186185"/>
                  <a:pt x="470263" y="174648"/>
                </a:cubicBezTo>
                <a:cubicBezTo>
                  <a:pt x="494375" y="163688"/>
                  <a:pt x="522514" y="165939"/>
                  <a:pt x="548640" y="161585"/>
                </a:cubicBezTo>
                <a:cubicBezTo>
                  <a:pt x="598341" y="128452"/>
                  <a:pt x="666797" y="80476"/>
                  <a:pt x="718458" y="70145"/>
                </a:cubicBezTo>
                <a:lnTo>
                  <a:pt x="783772" y="57083"/>
                </a:lnTo>
                <a:cubicBezTo>
                  <a:pt x="869395" y="0"/>
                  <a:pt x="830750" y="4831"/>
                  <a:pt x="888275" y="4831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451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4FB8C-A74C-4AB9-B65F-8497088D2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56510"/>
          </a:xfr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FF-Conversion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9472D8-0372-424F-80E0-D01AA7D0E90D}"/>
              </a:ext>
            </a:extLst>
          </p:cNvPr>
          <p:cNvSpPr txBox="1"/>
          <p:nvPr/>
        </p:nvSpPr>
        <p:spPr>
          <a:xfrm>
            <a:off x="-1" y="649388"/>
            <a:ext cx="706341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 FF can converted into other FF by some conversion logic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Based on FF excitation table</a:t>
            </a:r>
          </a:p>
          <a:p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Steps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Write Truth table of desired FF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Write Excitation table of given FF based on state from step1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Derive FF input using KMAP based on input and present state of step1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9F0AE7-1C38-4428-BED0-43540A6AA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3409" y="456510"/>
            <a:ext cx="5128592" cy="2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0BAEC7-385B-413D-8667-0059E2BE4944}"/>
              </a:ext>
            </a:extLst>
          </p:cNvPr>
          <p:cNvSpPr txBox="1"/>
          <p:nvPr/>
        </p:nvSpPr>
        <p:spPr>
          <a:xfrm>
            <a:off x="0" y="2965924"/>
            <a:ext cx="12192000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SR to others Flip Flop Conversion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45254F-25DD-4D30-A91F-D5665408B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44" y="3620467"/>
            <a:ext cx="9157252" cy="300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2738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C1296-8E17-4C6D-937A-DBEDEC8B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Excitation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186CE-FA22-4ED4-97D6-C41EC0A4E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66" y="688051"/>
            <a:ext cx="4903307" cy="6810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/>
              <a:t>Produce input if present and next state known</a:t>
            </a:r>
          </a:p>
          <a:p>
            <a:pPr marL="0" indent="0">
              <a:buNone/>
            </a:pPr>
            <a:r>
              <a:rPr lang="en-US" sz="2000" dirty="0"/>
              <a:t>Derived from truth table</a:t>
            </a:r>
          </a:p>
          <a:p>
            <a:pPr marL="0" indent="0">
              <a:buNone/>
            </a:pPr>
            <a:endParaRPr lang="en-US" sz="20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923788F-B975-48AC-AFA5-546BB7FDF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007781"/>
              </p:ext>
            </p:extLst>
          </p:nvPr>
        </p:nvGraphicFramePr>
        <p:xfrm>
          <a:off x="0" y="2278314"/>
          <a:ext cx="254624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078">
                  <a:extLst>
                    <a:ext uri="{9D8B030D-6E8A-4147-A177-3AD203B41FA5}">
                      <a16:colId xmlns:a16="http://schemas.microsoft.com/office/drawing/2014/main" val="2819768898"/>
                    </a:ext>
                  </a:extLst>
                </a:gridCol>
                <a:gridCol w="671444">
                  <a:extLst>
                    <a:ext uri="{9D8B030D-6E8A-4147-A177-3AD203B41FA5}">
                      <a16:colId xmlns:a16="http://schemas.microsoft.com/office/drawing/2014/main" val="679148867"/>
                    </a:ext>
                  </a:extLst>
                </a:gridCol>
                <a:gridCol w="553140">
                  <a:extLst>
                    <a:ext uri="{9D8B030D-6E8A-4147-A177-3AD203B41FA5}">
                      <a16:colId xmlns:a16="http://schemas.microsoft.com/office/drawing/2014/main" val="1365613649"/>
                    </a:ext>
                  </a:extLst>
                </a:gridCol>
                <a:gridCol w="844586">
                  <a:extLst>
                    <a:ext uri="{9D8B030D-6E8A-4147-A177-3AD203B41FA5}">
                      <a16:colId xmlns:a16="http://schemas.microsoft.com/office/drawing/2014/main" val="2805791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Qt+1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34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704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00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681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066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887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673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918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1722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9ADE75-3020-406D-A102-18A3ECDEB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265368"/>
              </p:ext>
            </p:extLst>
          </p:nvPr>
        </p:nvGraphicFramePr>
        <p:xfrm>
          <a:off x="3260033" y="3019994"/>
          <a:ext cx="186855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955">
                  <a:extLst>
                    <a:ext uri="{9D8B030D-6E8A-4147-A177-3AD203B41FA5}">
                      <a16:colId xmlns:a16="http://schemas.microsoft.com/office/drawing/2014/main" val="2819768898"/>
                    </a:ext>
                  </a:extLst>
                </a:gridCol>
                <a:gridCol w="682926">
                  <a:extLst>
                    <a:ext uri="{9D8B030D-6E8A-4147-A177-3AD203B41FA5}">
                      <a16:colId xmlns:a16="http://schemas.microsoft.com/office/drawing/2014/main" val="679148867"/>
                    </a:ext>
                  </a:extLst>
                </a:gridCol>
                <a:gridCol w="390244">
                  <a:extLst>
                    <a:ext uri="{9D8B030D-6E8A-4147-A177-3AD203B41FA5}">
                      <a16:colId xmlns:a16="http://schemas.microsoft.com/office/drawing/2014/main" val="3986400958"/>
                    </a:ext>
                  </a:extLst>
                </a:gridCol>
                <a:gridCol w="348431">
                  <a:extLst>
                    <a:ext uri="{9D8B030D-6E8A-4147-A177-3AD203B41FA5}">
                      <a16:colId xmlns:a16="http://schemas.microsoft.com/office/drawing/2014/main" val="1032513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Qt+1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34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704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00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681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06629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D053496-FED3-4DCE-B948-76DE388A5790}"/>
              </a:ext>
            </a:extLst>
          </p:cNvPr>
          <p:cNvSpPr/>
          <p:nvPr/>
        </p:nvSpPr>
        <p:spPr>
          <a:xfrm>
            <a:off x="-1" y="1614256"/>
            <a:ext cx="5552661" cy="4137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SR-FF Truth Table		     SR-FF Excitation Table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6B3A49-FD4B-483B-B93A-5CBA6F0A9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448786"/>
              </p:ext>
            </p:extLst>
          </p:nvPr>
        </p:nvGraphicFramePr>
        <p:xfrm>
          <a:off x="5794859" y="2344456"/>
          <a:ext cx="254624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948">
                  <a:extLst>
                    <a:ext uri="{9D8B030D-6E8A-4147-A177-3AD203B41FA5}">
                      <a16:colId xmlns:a16="http://schemas.microsoft.com/office/drawing/2014/main" val="2819768898"/>
                    </a:ext>
                  </a:extLst>
                </a:gridCol>
                <a:gridCol w="450574">
                  <a:extLst>
                    <a:ext uri="{9D8B030D-6E8A-4147-A177-3AD203B41FA5}">
                      <a16:colId xmlns:a16="http://schemas.microsoft.com/office/drawing/2014/main" val="679148867"/>
                    </a:ext>
                  </a:extLst>
                </a:gridCol>
                <a:gridCol w="553140">
                  <a:extLst>
                    <a:ext uri="{9D8B030D-6E8A-4147-A177-3AD203B41FA5}">
                      <a16:colId xmlns:a16="http://schemas.microsoft.com/office/drawing/2014/main" val="1365613649"/>
                    </a:ext>
                  </a:extLst>
                </a:gridCol>
                <a:gridCol w="844586">
                  <a:extLst>
                    <a:ext uri="{9D8B030D-6E8A-4147-A177-3AD203B41FA5}">
                      <a16:colId xmlns:a16="http://schemas.microsoft.com/office/drawing/2014/main" val="2805791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Qt+1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34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704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00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681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066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887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673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918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1722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29CDA62-4E59-46D0-A654-C86138A06D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178846"/>
              </p:ext>
            </p:extLst>
          </p:nvPr>
        </p:nvGraphicFramePr>
        <p:xfrm>
          <a:off x="9248880" y="3288368"/>
          <a:ext cx="186855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955">
                  <a:extLst>
                    <a:ext uri="{9D8B030D-6E8A-4147-A177-3AD203B41FA5}">
                      <a16:colId xmlns:a16="http://schemas.microsoft.com/office/drawing/2014/main" val="2819768898"/>
                    </a:ext>
                  </a:extLst>
                </a:gridCol>
                <a:gridCol w="682926">
                  <a:extLst>
                    <a:ext uri="{9D8B030D-6E8A-4147-A177-3AD203B41FA5}">
                      <a16:colId xmlns:a16="http://schemas.microsoft.com/office/drawing/2014/main" val="679148867"/>
                    </a:ext>
                  </a:extLst>
                </a:gridCol>
                <a:gridCol w="390244">
                  <a:extLst>
                    <a:ext uri="{9D8B030D-6E8A-4147-A177-3AD203B41FA5}">
                      <a16:colId xmlns:a16="http://schemas.microsoft.com/office/drawing/2014/main" val="3986400958"/>
                    </a:ext>
                  </a:extLst>
                </a:gridCol>
                <a:gridCol w="348431">
                  <a:extLst>
                    <a:ext uri="{9D8B030D-6E8A-4147-A177-3AD203B41FA5}">
                      <a16:colId xmlns:a16="http://schemas.microsoft.com/office/drawing/2014/main" val="1032513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Qt+1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34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704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00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681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066293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E66ED79E-B1A7-480F-B65B-374FDE357FFD}"/>
              </a:ext>
            </a:extLst>
          </p:cNvPr>
          <p:cNvSpPr/>
          <p:nvPr/>
        </p:nvSpPr>
        <p:spPr>
          <a:xfrm>
            <a:off x="5564777" y="1619036"/>
            <a:ext cx="5552661" cy="4137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JK-FF Truth Table		     JK-FF Excitation Table</a:t>
            </a:r>
          </a:p>
        </p:txBody>
      </p:sp>
    </p:spTree>
    <p:extLst>
      <p:ext uri="{BB962C8B-B14F-4D97-AF65-F5344CB8AC3E}">
        <p14:creationId xmlns:p14="http://schemas.microsoft.com/office/powerpoint/2010/main" val="1025198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D14506-538F-4625-B02A-41DF04C45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04"/>
            <a:ext cx="5919995" cy="6857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9D6215-4803-4B90-9F02-9A5A24564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809" y="0"/>
            <a:ext cx="55621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117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51997876-13F7-4C3C-B620-1CC355D5B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649456"/>
              </p:ext>
            </p:extLst>
          </p:nvPr>
        </p:nvGraphicFramePr>
        <p:xfrm>
          <a:off x="1" y="1390418"/>
          <a:ext cx="187480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078">
                  <a:extLst>
                    <a:ext uri="{9D8B030D-6E8A-4147-A177-3AD203B41FA5}">
                      <a16:colId xmlns:a16="http://schemas.microsoft.com/office/drawing/2014/main" val="2819768898"/>
                    </a:ext>
                  </a:extLst>
                </a:gridCol>
                <a:gridCol w="553140">
                  <a:extLst>
                    <a:ext uri="{9D8B030D-6E8A-4147-A177-3AD203B41FA5}">
                      <a16:colId xmlns:a16="http://schemas.microsoft.com/office/drawing/2014/main" val="1365613649"/>
                    </a:ext>
                  </a:extLst>
                </a:gridCol>
                <a:gridCol w="844586">
                  <a:extLst>
                    <a:ext uri="{9D8B030D-6E8A-4147-A177-3AD203B41FA5}">
                      <a16:colId xmlns:a16="http://schemas.microsoft.com/office/drawing/2014/main" val="2805791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Qt+1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34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704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00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681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06629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78DB607-3356-4CD0-9FB0-E5D5CFA22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86122"/>
              </p:ext>
            </p:extLst>
          </p:nvPr>
        </p:nvGraphicFramePr>
        <p:xfrm>
          <a:off x="3352800" y="1390418"/>
          <a:ext cx="170953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645">
                  <a:extLst>
                    <a:ext uri="{9D8B030D-6E8A-4147-A177-3AD203B41FA5}">
                      <a16:colId xmlns:a16="http://schemas.microsoft.com/office/drawing/2014/main" val="2819768898"/>
                    </a:ext>
                  </a:extLst>
                </a:gridCol>
                <a:gridCol w="768017">
                  <a:extLst>
                    <a:ext uri="{9D8B030D-6E8A-4147-A177-3AD203B41FA5}">
                      <a16:colId xmlns:a16="http://schemas.microsoft.com/office/drawing/2014/main" val="679148867"/>
                    </a:ext>
                  </a:extLst>
                </a:gridCol>
                <a:gridCol w="438868">
                  <a:extLst>
                    <a:ext uri="{9D8B030D-6E8A-4147-A177-3AD203B41FA5}">
                      <a16:colId xmlns:a16="http://schemas.microsoft.com/office/drawing/2014/main" val="3986400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Qt+1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34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704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00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681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066293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71CA43B8-582B-4302-8231-8E71F62A3205}"/>
              </a:ext>
            </a:extLst>
          </p:cNvPr>
          <p:cNvSpPr/>
          <p:nvPr/>
        </p:nvSpPr>
        <p:spPr>
          <a:xfrm>
            <a:off x="0" y="726360"/>
            <a:ext cx="5552661" cy="4137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T-FF Truth Table		     T-FF Excitation Table</a:t>
            </a:r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3B4CD802-C6E5-4621-A418-B8F4CABD1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853902"/>
              </p:ext>
            </p:extLst>
          </p:nvPr>
        </p:nvGraphicFramePr>
        <p:xfrm>
          <a:off x="6824873" y="1283341"/>
          <a:ext cx="187480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078">
                  <a:extLst>
                    <a:ext uri="{9D8B030D-6E8A-4147-A177-3AD203B41FA5}">
                      <a16:colId xmlns:a16="http://schemas.microsoft.com/office/drawing/2014/main" val="2819768898"/>
                    </a:ext>
                  </a:extLst>
                </a:gridCol>
                <a:gridCol w="553140">
                  <a:extLst>
                    <a:ext uri="{9D8B030D-6E8A-4147-A177-3AD203B41FA5}">
                      <a16:colId xmlns:a16="http://schemas.microsoft.com/office/drawing/2014/main" val="1365613649"/>
                    </a:ext>
                  </a:extLst>
                </a:gridCol>
                <a:gridCol w="844586">
                  <a:extLst>
                    <a:ext uri="{9D8B030D-6E8A-4147-A177-3AD203B41FA5}">
                      <a16:colId xmlns:a16="http://schemas.microsoft.com/office/drawing/2014/main" val="2805791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Qt+1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34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704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00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681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066293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D36E24C-C0BA-4665-8BDC-DE58F2DA30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609133"/>
              </p:ext>
            </p:extLst>
          </p:nvPr>
        </p:nvGraphicFramePr>
        <p:xfrm>
          <a:off x="10230680" y="1283341"/>
          <a:ext cx="170953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645">
                  <a:extLst>
                    <a:ext uri="{9D8B030D-6E8A-4147-A177-3AD203B41FA5}">
                      <a16:colId xmlns:a16="http://schemas.microsoft.com/office/drawing/2014/main" val="2819768898"/>
                    </a:ext>
                  </a:extLst>
                </a:gridCol>
                <a:gridCol w="768017">
                  <a:extLst>
                    <a:ext uri="{9D8B030D-6E8A-4147-A177-3AD203B41FA5}">
                      <a16:colId xmlns:a16="http://schemas.microsoft.com/office/drawing/2014/main" val="679148867"/>
                    </a:ext>
                  </a:extLst>
                </a:gridCol>
                <a:gridCol w="438868">
                  <a:extLst>
                    <a:ext uri="{9D8B030D-6E8A-4147-A177-3AD203B41FA5}">
                      <a16:colId xmlns:a16="http://schemas.microsoft.com/office/drawing/2014/main" val="3986400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Qt+1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34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704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00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681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066293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7CDF9492-E2AB-4AEA-ABCF-369AB0B77DAA}"/>
              </a:ext>
            </a:extLst>
          </p:cNvPr>
          <p:cNvSpPr/>
          <p:nvPr/>
        </p:nvSpPr>
        <p:spPr>
          <a:xfrm>
            <a:off x="6639341" y="626969"/>
            <a:ext cx="5552661" cy="4137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D-FF Truth Table		     D-FF Excitation Table</a:t>
            </a:r>
          </a:p>
        </p:txBody>
      </p:sp>
      <p:graphicFrame>
        <p:nvGraphicFramePr>
          <p:cNvPr id="17" name="Table 4">
            <a:extLst>
              <a:ext uri="{FF2B5EF4-FFF2-40B4-BE49-F238E27FC236}">
                <a16:creationId xmlns:a16="http://schemas.microsoft.com/office/drawing/2014/main" id="{8E6131A5-08CB-45CC-9934-9759A98B0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155477"/>
              </p:ext>
            </p:extLst>
          </p:nvPr>
        </p:nvGraphicFramePr>
        <p:xfrm>
          <a:off x="1874805" y="4220442"/>
          <a:ext cx="882241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2721">
                  <a:extLst>
                    <a:ext uri="{9D8B030D-6E8A-4147-A177-3AD203B41FA5}">
                      <a16:colId xmlns:a16="http://schemas.microsoft.com/office/drawing/2014/main" val="1365613649"/>
                    </a:ext>
                  </a:extLst>
                </a:gridCol>
                <a:gridCol w="1205948">
                  <a:extLst>
                    <a:ext uri="{9D8B030D-6E8A-4147-A177-3AD203B41FA5}">
                      <a16:colId xmlns:a16="http://schemas.microsoft.com/office/drawing/2014/main" val="2805791404"/>
                    </a:ext>
                  </a:extLst>
                </a:gridCol>
                <a:gridCol w="659737">
                  <a:extLst>
                    <a:ext uri="{9D8B030D-6E8A-4147-A177-3AD203B41FA5}">
                      <a16:colId xmlns:a16="http://schemas.microsoft.com/office/drawing/2014/main" val="1737384186"/>
                    </a:ext>
                  </a:extLst>
                </a:gridCol>
                <a:gridCol w="1341341">
                  <a:extLst>
                    <a:ext uri="{9D8B030D-6E8A-4147-A177-3AD203B41FA5}">
                      <a16:colId xmlns:a16="http://schemas.microsoft.com/office/drawing/2014/main" val="1810674055"/>
                    </a:ext>
                  </a:extLst>
                </a:gridCol>
                <a:gridCol w="864263">
                  <a:extLst>
                    <a:ext uri="{9D8B030D-6E8A-4147-A177-3AD203B41FA5}">
                      <a16:colId xmlns:a16="http://schemas.microsoft.com/office/drawing/2014/main" val="992865327"/>
                    </a:ext>
                  </a:extLst>
                </a:gridCol>
                <a:gridCol w="1102802">
                  <a:extLst>
                    <a:ext uri="{9D8B030D-6E8A-4147-A177-3AD203B41FA5}">
                      <a16:colId xmlns:a16="http://schemas.microsoft.com/office/drawing/2014/main" val="3760348910"/>
                    </a:ext>
                  </a:extLst>
                </a:gridCol>
                <a:gridCol w="1102802">
                  <a:extLst>
                    <a:ext uri="{9D8B030D-6E8A-4147-A177-3AD203B41FA5}">
                      <a16:colId xmlns:a16="http://schemas.microsoft.com/office/drawing/2014/main" val="3118945552"/>
                    </a:ext>
                  </a:extLst>
                </a:gridCol>
                <a:gridCol w="1102802">
                  <a:extLst>
                    <a:ext uri="{9D8B030D-6E8A-4147-A177-3AD203B41FA5}">
                      <a16:colId xmlns:a16="http://schemas.microsoft.com/office/drawing/2014/main" val="918554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Present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Next State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SRFF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JKFF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497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Qt+1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34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704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00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681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066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44807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793F-1B34-456F-81EC-E99A3164D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25BF0-F3F0-407C-89DA-E5516D39D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table provides input based on states is called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Truth table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Excitation table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State table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Clock table</a:t>
            </a:r>
          </a:p>
        </p:txBody>
      </p:sp>
      <p:sp>
        <p:nvSpPr>
          <p:cNvPr id="4" name="Freeform 3"/>
          <p:cNvSpPr/>
          <p:nvPr/>
        </p:nvSpPr>
        <p:spPr>
          <a:xfrm>
            <a:off x="444137" y="3370217"/>
            <a:ext cx="1439552" cy="522514"/>
          </a:xfrm>
          <a:custGeom>
            <a:avLst/>
            <a:gdLst>
              <a:gd name="connsiteX0" fmla="*/ 0 w 1439552"/>
              <a:gd name="connsiteY0" fmla="*/ 313509 h 522514"/>
              <a:gd name="connsiteX1" fmla="*/ 39189 w 1439552"/>
              <a:gd name="connsiteY1" fmla="*/ 287383 h 522514"/>
              <a:gd name="connsiteX2" fmla="*/ 104503 w 1439552"/>
              <a:gd name="connsiteY2" fmla="*/ 326572 h 522514"/>
              <a:gd name="connsiteX3" fmla="*/ 156754 w 1439552"/>
              <a:gd name="connsiteY3" fmla="*/ 339634 h 522514"/>
              <a:gd name="connsiteX4" fmla="*/ 274320 w 1439552"/>
              <a:gd name="connsiteY4" fmla="*/ 431074 h 522514"/>
              <a:gd name="connsiteX5" fmla="*/ 326572 w 1439552"/>
              <a:gd name="connsiteY5" fmla="*/ 483326 h 522514"/>
              <a:gd name="connsiteX6" fmla="*/ 404949 w 1439552"/>
              <a:gd name="connsiteY6" fmla="*/ 522514 h 522514"/>
              <a:gd name="connsiteX7" fmla="*/ 522514 w 1439552"/>
              <a:gd name="connsiteY7" fmla="*/ 509452 h 522514"/>
              <a:gd name="connsiteX8" fmla="*/ 574766 w 1439552"/>
              <a:gd name="connsiteY8" fmla="*/ 470263 h 522514"/>
              <a:gd name="connsiteX9" fmla="*/ 718457 w 1439552"/>
              <a:gd name="connsiteY9" fmla="*/ 404949 h 522514"/>
              <a:gd name="connsiteX10" fmla="*/ 783772 w 1439552"/>
              <a:gd name="connsiteY10" fmla="*/ 352697 h 522514"/>
              <a:gd name="connsiteX11" fmla="*/ 862149 w 1439552"/>
              <a:gd name="connsiteY11" fmla="*/ 300446 h 522514"/>
              <a:gd name="connsiteX12" fmla="*/ 979714 w 1439552"/>
              <a:gd name="connsiteY12" fmla="*/ 195943 h 522514"/>
              <a:gd name="connsiteX13" fmla="*/ 1031966 w 1439552"/>
              <a:gd name="connsiteY13" fmla="*/ 209006 h 522514"/>
              <a:gd name="connsiteX14" fmla="*/ 1175657 w 1439552"/>
              <a:gd name="connsiteY14" fmla="*/ 104503 h 522514"/>
              <a:gd name="connsiteX15" fmla="*/ 1384663 w 1439552"/>
              <a:gd name="connsiteY15" fmla="*/ 52252 h 522514"/>
              <a:gd name="connsiteX16" fmla="*/ 1397726 w 1439552"/>
              <a:gd name="connsiteY16" fmla="*/ 0 h 522514"/>
              <a:gd name="connsiteX17" fmla="*/ 1410789 w 1439552"/>
              <a:gd name="connsiteY17" fmla="*/ 39189 h 522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39552" h="522514">
                <a:moveTo>
                  <a:pt x="0" y="313509"/>
                </a:moveTo>
                <a:cubicBezTo>
                  <a:pt x="13063" y="304800"/>
                  <a:pt x="23610" y="285436"/>
                  <a:pt x="39189" y="287383"/>
                </a:cubicBezTo>
                <a:cubicBezTo>
                  <a:pt x="64383" y="290532"/>
                  <a:pt x="81302" y="316260"/>
                  <a:pt x="104503" y="326572"/>
                </a:cubicBezTo>
                <a:cubicBezTo>
                  <a:pt x="120909" y="333863"/>
                  <a:pt x="139337" y="335280"/>
                  <a:pt x="156754" y="339634"/>
                </a:cubicBezTo>
                <a:cubicBezTo>
                  <a:pt x="254918" y="437798"/>
                  <a:pt x="118072" y="306076"/>
                  <a:pt x="274320" y="431074"/>
                </a:cubicBezTo>
                <a:cubicBezTo>
                  <a:pt x="293554" y="446461"/>
                  <a:pt x="307870" y="467296"/>
                  <a:pt x="326572" y="483326"/>
                </a:cubicBezTo>
                <a:cubicBezTo>
                  <a:pt x="358802" y="510952"/>
                  <a:pt x="367017" y="509871"/>
                  <a:pt x="404949" y="522514"/>
                </a:cubicBezTo>
                <a:cubicBezTo>
                  <a:pt x="444137" y="518160"/>
                  <a:pt x="484828" y="521048"/>
                  <a:pt x="522514" y="509452"/>
                </a:cubicBezTo>
                <a:cubicBezTo>
                  <a:pt x="543323" y="503049"/>
                  <a:pt x="556097" y="481464"/>
                  <a:pt x="574766" y="470263"/>
                </a:cubicBezTo>
                <a:cubicBezTo>
                  <a:pt x="624445" y="440455"/>
                  <a:pt x="665896" y="425973"/>
                  <a:pt x="718457" y="404949"/>
                </a:cubicBezTo>
                <a:cubicBezTo>
                  <a:pt x="740229" y="387532"/>
                  <a:pt x="761223" y="369096"/>
                  <a:pt x="783772" y="352697"/>
                </a:cubicBezTo>
                <a:cubicBezTo>
                  <a:pt x="809166" y="334229"/>
                  <a:pt x="837630" y="320061"/>
                  <a:pt x="862149" y="300446"/>
                </a:cubicBezTo>
                <a:cubicBezTo>
                  <a:pt x="903092" y="267692"/>
                  <a:pt x="940526" y="230777"/>
                  <a:pt x="979714" y="195943"/>
                </a:cubicBezTo>
                <a:cubicBezTo>
                  <a:pt x="997131" y="200297"/>
                  <a:pt x="1015697" y="216598"/>
                  <a:pt x="1031966" y="209006"/>
                </a:cubicBezTo>
                <a:cubicBezTo>
                  <a:pt x="1085634" y="183961"/>
                  <a:pt x="1175657" y="104503"/>
                  <a:pt x="1175657" y="104503"/>
                </a:cubicBezTo>
                <a:cubicBezTo>
                  <a:pt x="1278702" y="119224"/>
                  <a:pt x="1287903" y="139336"/>
                  <a:pt x="1384663" y="52252"/>
                </a:cubicBezTo>
                <a:cubicBezTo>
                  <a:pt x="1398008" y="40242"/>
                  <a:pt x="1393372" y="17417"/>
                  <a:pt x="1397726" y="0"/>
                </a:cubicBezTo>
                <a:cubicBezTo>
                  <a:pt x="1426267" y="42812"/>
                  <a:pt x="1439552" y="39189"/>
                  <a:pt x="1410789" y="39189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102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In J-K flip-flop, the function K=J is used to realize _____________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a) D flip-flop</a:t>
            </a:r>
            <a:br>
              <a:rPr lang="en-US" dirty="0"/>
            </a:br>
            <a:r>
              <a:rPr lang="en-US" dirty="0"/>
              <a:t>b) S-R flip-flop</a:t>
            </a:r>
            <a:br>
              <a:rPr lang="en-US" dirty="0"/>
            </a:br>
            <a:r>
              <a:rPr lang="en-US" dirty="0"/>
              <a:t>c) T flip-flop</a:t>
            </a:r>
            <a:br>
              <a:rPr lang="en-US" dirty="0"/>
            </a:br>
            <a:r>
              <a:rPr lang="en-US" dirty="0"/>
              <a:t>d) S-K flip-flop</a:t>
            </a:r>
          </a:p>
        </p:txBody>
      </p:sp>
      <p:sp>
        <p:nvSpPr>
          <p:cNvPr id="4" name="Freeform 3"/>
          <p:cNvSpPr/>
          <p:nvPr/>
        </p:nvSpPr>
        <p:spPr>
          <a:xfrm>
            <a:off x="992777" y="3501352"/>
            <a:ext cx="914400" cy="456694"/>
          </a:xfrm>
          <a:custGeom>
            <a:avLst/>
            <a:gdLst>
              <a:gd name="connsiteX0" fmla="*/ 0 w 914400"/>
              <a:gd name="connsiteY0" fmla="*/ 313002 h 456694"/>
              <a:gd name="connsiteX1" fmla="*/ 91440 w 914400"/>
              <a:gd name="connsiteY1" fmla="*/ 378317 h 456694"/>
              <a:gd name="connsiteX2" fmla="*/ 117566 w 914400"/>
              <a:gd name="connsiteY2" fmla="*/ 417505 h 456694"/>
              <a:gd name="connsiteX3" fmla="*/ 156754 w 914400"/>
              <a:gd name="connsiteY3" fmla="*/ 456694 h 456694"/>
              <a:gd name="connsiteX4" fmla="*/ 339634 w 914400"/>
              <a:gd name="connsiteY4" fmla="*/ 417505 h 456694"/>
              <a:gd name="connsiteX5" fmla="*/ 574766 w 914400"/>
              <a:gd name="connsiteY5" fmla="*/ 247688 h 456694"/>
              <a:gd name="connsiteX6" fmla="*/ 666206 w 914400"/>
              <a:gd name="connsiteY6" fmla="*/ 221562 h 456694"/>
              <a:gd name="connsiteX7" fmla="*/ 809897 w 914400"/>
              <a:gd name="connsiteY7" fmla="*/ 130122 h 456694"/>
              <a:gd name="connsiteX8" fmla="*/ 914400 w 914400"/>
              <a:gd name="connsiteY8" fmla="*/ 90934 h 456694"/>
              <a:gd name="connsiteX9" fmla="*/ 901337 w 914400"/>
              <a:gd name="connsiteY9" fmla="*/ 103997 h 456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14400" h="456694">
                <a:moveTo>
                  <a:pt x="0" y="313002"/>
                </a:moveTo>
                <a:cubicBezTo>
                  <a:pt x="30480" y="334774"/>
                  <a:pt x="63444" y="353432"/>
                  <a:pt x="91440" y="378317"/>
                </a:cubicBezTo>
                <a:cubicBezTo>
                  <a:pt x="103174" y="388747"/>
                  <a:pt x="107515" y="405444"/>
                  <a:pt x="117566" y="417505"/>
                </a:cubicBezTo>
                <a:cubicBezTo>
                  <a:pt x="129393" y="431697"/>
                  <a:pt x="143691" y="443631"/>
                  <a:pt x="156754" y="456694"/>
                </a:cubicBezTo>
                <a:cubicBezTo>
                  <a:pt x="217714" y="443631"/>
                  <a:pt x="281749" y="440659"/>
                  <a:pt x="339634" y="417505"/>
                </a:cubicBezTo>
                <a:cubicBezTo>
                  <a:pt x="589505" y="317557"/>
                  <a:pt x="389090" y="353789"/>
                  <a:pt x="574766" y="247688"/>
                </a:cubicBezTo>
                <a:cubicBezTo>
                  <a:pt x="602289" y="231961"/>
                  <a:pt x="635726" y="230271"/>
                  <a:pt x="666206" y="221562"/>
                </a:cubicBezTo>
                <a:cubicBezTo>
                  <a:pt x="714103" y="191082"/>
                  <a:pt x="757184" y="151206"/>
                  <a:pt x="809897" y="130122"/>
                </a:cubicBezTo>
                <a:cubicBezTo>
                  <a:pt x="887997" y="98883"/>
                  <a:pt x="852967" y="111412"/>
                  <a:pt x="914400" y="90934"/>
                </a:cubicBezTo>
                <a:cubicBezTo>
                  <a:pt x="896213" y="0"/>
                  <a:pt x="901337" y="3416"/>
                  <a:pt x="901337" y="103997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B2BBA6-180C-460C-A411-B632072512F2}"/>
              </a:ext>
            </a:extLst>
          </p:cNvPr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JK to Others Flip Flop Conversion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EC62AF-EC6F-4FFD-BB4A-A24797C5C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34887"/>
            <a:ext cx="6096000" cy="53273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DD0437-65FB-48D0-8E0B-2C44058F1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825" y="728870"/>
            <a:ext cx="5717361" cy="543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8415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EF231B-D745-4956-AD11-F906EF399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756" y="501926"/>
            <a:ext cx="9922565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9896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9FE939-C12D-437B-B35E-782EC1077576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 to Others Flip Flop Conversion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D5EC6A-5049-496C-93D2-6406B3A1B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3450"/>
            <a:ext cx="4638261" cy="49911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A1EC32-B7D1-4662-9A23-ABC6B37EA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40" y="1188140"/>
            <a:ext cx="5202360" cy="30923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26D33F-65FA-4544-9B39-0236E25389E1}"/>
              </a:ext>
            </a:extLst>
          </p:cNvPr>
          <p:cNvSpPr txBox="1"/>
          <p:nvPr/>
        </p:nvSpPr>
        <p:spPr>
          <a:xfrm>
            <a:off x="8521150" y="640236"/>
            <a:ext cx="2554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 to SR Conversion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E1A2E4-1A2C-4323-97AC-7AC54FE0F1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425" y="4550889"/>
            <a:ext cx="2371725" cy="1666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A4184-D50C-4C6D-93AC-12C0BFE584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9929" y="4280453"/>
            <a:ext cx="3398359" cy="229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719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7B3491-D321-49EC-AFCD-2F306E2EC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36" y="877780"/>
            <a:ext cx="6627329" cy="380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62FF23-15F0-47AE-9616-D281B740FD16}"/>
              </a:ext>
            </a:extLst>
          </p:cNvPr>
          <p:cNvSpPr txBox="1"/>
          <p:nvPr/>
        </p:nvSpPr>
        <p:spPr>
          <a:xfrm>
            <a:off x="1205948" y="251791"/>
            <a:ext cx="28950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 to JK Conversion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9EC796A-0EA0-430D-8939-972CDFA9D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0722" y="513401"/>
            <a:ext cx="3544441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3EFF6F4E-F1D4-47D0-B586-E4545E4F8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0" y="3743325"/>
            <a:ext cx="4286250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2534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C6E4EE-C0B8-4F3E-8E3C-364338DF661F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 to others Flip Flop Conversion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2812A6-429D-4AC7-AC46-B88BF05F4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4047"/>
            <a:ext cx="5512904" cy="53149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03E622-CB2E-4590-AD79-4E4B36627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470" y="904047"/>
            <a:ext cx="6281530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9130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-flip-flop-to-jk-flip-flop Sequential Logic Circuits || Electronics  Tutorial">
            <a:extLst>
              <a:ext uri="{FF2B5EF4-FFF2-40B4-BE49-F238E27FC236}">
                <a16:creationId xmlns:a16="http://schemas.microsoft.com/office/drawing/2014/main" id="{6522334B-131A-4688-84AF-839AC7DDC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765" y="660330"/>
            <a:ext cx="5550383" cy="6197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F4B1F0-644C-47BA-BA8F-B394473EB031}"/>
              </a:ext>
            </a:extLst>
          </p:cNvPr>
          <p:cNvSpPr txBox="1"/>
          <p:nvPr/>
        </p:nvSpPr>
        <p:spPr>
          <a:xfrm>
            <a:off x="215039" y="137110"/>
            <a:ext cx="2834750" cy="5232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D to JK conversion</a:t>
            </a:r>
          </a:p>
        </p:txBody>
      </p:sp>
    </p:spTree>
    <p:extLst>
      <p:ext uri="{BB962C8B-B14F-4D97-AF65-F5344CB8AC3E}">
        <p14:creationId xmlns:p14="http://schemas.microsoft.com/office/powerpoint/2010/main" val="2559564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In delay flip-flop, _______ after the propagation delay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	a. Input follows input</a:t>
            </a:r>
            <a:br>
              <a:rPr lang="en-US" dirty="0"/>
            </a:br>
            <a:r>
              <a:rPr lang="en-US" dirty="0"/>
              <a:t>b. Input follows output</a:t>
            </a:r>
            <a:br>
              <a:rPr lang="en-US" dirty="0"/>
            </a:br>
            <a:r>
              <a:rPr lang="en-US" dirty="0"/>
              <a:t>c. Output follows input</a:t>
            </a:r>
            <a:br>
              <a:rPr lang="en-US" dirty="0"/>
            </a:br>
            <a:r>
              <a:rPr lang="en-US" dirty="0"/>
              <a:t>d. Output follows output</a:t>
            </a:r>
          </a:p>
        </p:txBody>
      </p:sp>
      <p:sp>
        <p:nvSpPr>
          <p:cNvPr id="4" name="Freeform 3"/>
          <p:cNvSpPr/>
          <p:nvPr/>
        </p:nvSpPr>
        <p:spPr>
          <a:xfrm>
            <a:off x="875211" y="4008920"/>
            <a:ext cx="1021131" cy="217024"/>
          </a:xfrm>
          <a:custGeom>
            <a:avLst/>
            <a:gdLst>
              <a:gd name="connsiteX0" fmla="*/ 0 w 1021131"/>
              <a:gd name="connsiteY0" fmla="*/ 79754 h 217024"/>
              <a:gd name="connsiteX1" fmla="*/ 65315 w 1021131"/>
              <a:gd name="connsiteY1" fmla="*/ 105880 h 217024"/>
              <a:gd name="connsiteX2" fmla="*/ 195943 w 1021131"/>
              <a:gd name="connsiteY2" fmla="*/ 132006 h 217024"/>
              <a:gd name="connsiteX3" fmla="*/ 248195 w 1021131"/>
              <a:gd name="connsiteY3" fmla="*/ 145069 h 217024"/>
              <a:gd name="connsiteX4" fmla="*/ 300446 w 1021131"/>
              <a:gd name="connsiteY4" fmla="*/ 197320 h 217024"/>
              <a:gd name="connsiteX5" fmla="*/ 457200 w 1021131"/>
              <a:gd name="connsiteY5" fmla="*/ 145069 h 217024"/>
              <a:gd name="connsiteX6" fmla="*/ 574766 w 1021131"/>
              <a:gd name="connsiteY6" fmla="*/ 145069 h 217024"/>
              <a:gd name="connsiteX7" fmla="*/ 640080 w 1021131"/>
              <a:gd name="connsiteY7" fmla="*/ 105880 h 217024"/>
              <a:gd name="connsiteX8" fmla="*/ 783772 w 1021131"/>
              <a:gd name="connsiteY8" fmla="*/ 92817 h 217024"/>
              <a:gd name="connsiteX9" fmla="*/ 901338 w 1021131"/>
              <a:gd name="connsiteY9" fmla="*/ 40566 h 217024"/>
              <a:gd name="connsiteX10" fmla="*/ 966652 w 1021131"/>
              <a:gd name="connsiteY10" fmla="*/ 14440 h 217024"/>
              <a:gd name="connsiteX11" fmla="*/ 992778 w 1021131"/>
              <a:gd name="connsiteY11" fmla="*/ 1377 h 217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131" h="217024">
                <a:moveTo>
                  <a:pt x="0" y="79754"/>
                </a:moveTo>
                <a:cubicBezTo>
                  <a:pt x="21772" y="88463"/>
                  <a:pt x="42658" y="99838"/>
                  <a:pt x="65315" y="105880"/>
                </a:cubicBezTo>
                <a:cubicBezTo>
                  <a:pt x="108221" y="117322"/>
                  <a:pt x="152524" y="122702"/>
                  <a:pt x="195943" y="132006"/>
                </a:cubicBezTo>
                <a:cubicBezTo>
                  <a:pt x="213498" y="135768"/>
                  <a:pt x="230778" y="140715"/>
                  <a:pt x="248195" y="145069"/>
                </a:cubicBezTo>
                <a:cubicBezTo>
                  <a:pt x="265612" y="162486"/>
                  <a:pt x="276550" y="191346"/>
                  <a:pt x="300446" y="197320"/>
                </a:cubicBezTo>
                <a:cubicBezTo>
                  <a:pt x="379262" y="217024"/>
                  <a:pt x="406192" y="183325"/>
                  <a:pt x="457200" y="145069"/>
                </a:cubicBezTo>
                <a:cubicBezTo>
                  <a:pt x="510359" y="158358"/>
                  <a:pt x="517363" y="168030"/>
                  <a:pt x="574766" y="145069"/>
                </a:cubicBezTo>
                <a:cubicBezTo>
                  <a:pt x="598340" y="135640"/>
                  <a:pt x="615448" y="112038"/>
                  <a:pt x="640080" y="105880"/>
                </a:cubicBezTo>
                <a:cubicBezTo>
                  <a:pt x="686739" y="94215"/>
                  <a:pt x="735875" y="97171"/>
                  <a:pt x="783772" y="92817"/>
                </a:cubicBezTo>
                <a:cubicBezTo>
                  <a:pt x="851192" y="47869"/>
                  <a:pt x="798737" y="77875"/>
                  <a:pt x="901338" y="40566"/>
                </a:cubicBezTo>
                <a:cubicBezTo>
                  <a:pt x="923375" y="32553"/>
                  <a:pt x="944697" y="22673"/>
                  <a:pt x="966652" y="14440"/>
                </a:cubicBezTo>
                <a:cubicBezTo>
                  <a:pt x="1005158" y="0"/>
                  <a:pt x="1021131" y="1377"/>
                  <a:pt x="992778" y="1377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BC92D-E74C-4BEB-811B-C091DD9C8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D Latch				vs			D Flip Flop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7AFAD-262C-412F-B572-0B8EB4F52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77" y="755788"/>
            <a:ext cx="5655365" cy="12055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Clock level sensitive</a:t>
            </a:r>
          </a:p>
          <a:p>
            <a:pPr marL="0" indent="0">
              <a:buNone/>
            </a:pPr>
            <a:r>
              <a:rPr lang="en-US" sz="2200" dirty="0"/>
              <a:t>Q=D when clock level is enabled</a:t>
            </a:r>
          </a:p>
          <a:p>
            <a:pPr marL="0" indent="0">
              <a:buNone/>
            </a:pPr>
            <a:r>
              <a:rPr lang="en-US" sz="2200" dirty="0"/>
              <a:t>In one level more than one data can transferred</a:t>
            </a:r>
          </a:p>
          <a:p>
            <a:pPr marL="0" indent="0">
              <a:buNone/>
            </a:pPr>
            <a:r>
              <a:rPr lang="en-US" sz="2200" dirty="0"/>
              <a:t>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FF35C9E-DCB8-48CD-B301-6B809D9B10FA}"/>
              </a:ext>
            </a:extLst>
          </p:cNvPr>
          <p:cNvSpPr txBox="1">
            <a:spLocks/>
          </p:cNvSpPr>
          <p:nvPr/>
        </p:nvSpPr>
        <p:spPr>
          <a:xfrm>
            <a:off x="7354957" y="736324"/>
            <a:ext cx="4740967" cy="16755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/>
              <a:t>Clock edge sensitive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/>
              <a:t>Q=D when clock edge is enabled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/>
              <a:t>Only one data can transferred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05039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2C515-86CD-42D1-86AD-B6D58E1C5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Race around condition/Racing Error in JK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C30BC6-2233-4CC1-9CE5-3D02E94DA6C5}"/>
              </a:ext>
            </a:extLst>
          </p:cNvPr>
          <p:cNvSpPr txBox="1"/>
          <p:nvPr/>
        </p:nvSpPr>
        <p:spPr>
          <a:xfrm>
            <a:off x="374372" y="1035830"/>
            <a:ext cx="67710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urw-din"/>
              </a:rPr>
              <a:t>J=K=1, and </a:t>
            </a:r>
            <a:r>
              <a:rPr lang="en-US" b="0" i="0" dirty="0" err="1">
                <a:effectLst/>
                <a:latin typeface="urw-din"/>
              </a:rPr>
              <a:t>clk</a:t>
            </a:r>
            <a:r>
              <a:rPr lang="en-US" b="0" i="0" dirty="0">
                <a:effectLst/>
                <a:latin typeface="urw-din"/>
              </a:rPr>
              <a:t>=1 for a long period of time</a:t>
            </a:r>
            <a:endParaRPr lang="en-US" dirty="0">
              <a:latin typeface="urw-din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urw-din"/>
              </a:rPr>
              <a:t>Q output will toggle as long as CLK is high (active)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urw-din"/>
              </a:rPr>
              <a:t>Toggling will be continue till J=K=1 and </a:t>
            </a:r>
            <a:r>
              <a:rPr lang="en-US" dirty="0" err="1">
                <a:latin typeface="urw-din"/>
              </a:rPr>
              <a:t>clk</a:t>
            </a:r>
            <a:r>
              <a:rPr lang="en-US" dirty="0">
                <a:latin typeface="urw-din"/>
              </a:rPr>
              <a:t> active</a:t>
            </a:r>
            <a:endParaRPr lang="en-US" b="0" i="0" dirty="0">
              <a:effectLst/>
              <a:latin typeface="urw-din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urw-din"/>
              </a:rPr>
              <a:t>T</a:t>
            </a:r>
            <a:r>
              <a:rPr lang="en-US" b="0" i="0" dirty="0">
                <a:effectLst/>
                <a:latin typeface="urw-din"/>
              </a:rPr>
              <a:t>he output of the flip-flop unstable or uncertain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1060B5-61FB-4430-B3DD-05B6CDE16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6970"/>
            <a:ext cx="5114695" cy="34887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DB6379-456E-4DB6-BBF9-9436189CFB8E}"/>
              </a:ext>
            </a:extLst>
          </p:cNvPr>
          <p:cNvSpPr txBox="1"/>
          <p:nvPr/>
        </p:nvSpPr>
        <p:spPr>
          <a:xfrm>
            <a:off x="7487479" y="663761"/>
            <a:ext cx="33660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Racing error exist when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Δt</a:t>
            </a:r>
            <a:r>
              <a:rPr lang="en-US" sz="2400" dirty="0"/>
              <a:t> ≤ </a:t>
            </a:r>
            <a:r>
              <a:rPr lang="en-US" sz="2400" dirty="0" err="1"/>
              <a:t>tp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To avoid Racing error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Δt</a:t>
            </a:r>
            <a:r>
              <a:rPr lang="en-US" sz="2400" dirty="0"/>
              <a:t> &gt; </a:t>
            </a:r>
            <a:r>
              <a:rPr lang="en-US" sz="2400" dirty="0" err="1"/>
              <a:t>tp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F425D3-3B4F-4112-B73A-4ECF2F9F0966}"/>
              </a:ext>
            </a:extLst>
          </p:cNvPr>
          <p:cNvSpPr txBox="1"/>
          <p:nvPr/>
        </p:nvSpPr>
        <p:spPr>
          <a:xfrm>
            <a:off x="737710" y="5657671"/>
            <a:ext cx="2957926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Racing eliminated by</a:t>
            </a:r>
          </a:p>
          <a:p>
            <a:endParaRPr lang="en-US" dirty="0"/>
          </a:p>
          <a:p>
            <a:r>
              <a:rPr lang="en-US" dirty="0"/>
              <a:t>Master Slave JK FF  (MS-JK FF)</a:t>
            </a:r>
          </a:p>
          <a:p>
            <a:r>
              <a:rPr lang="en-US" dirty="0"/>
              <a:t>Edge triggered FF</a:t>
            </a:r>
          </a:p>
        </p:txBody>
      </p:sp>
    </p:spTree>
    <p:extLst>
      <p:ext uri="{BB962C8B-B14F-4D97-AF65-F5344CB8AC3E}">
        <p14:creationId xmlns:p14="http://schemas.microsoft.com/office/powerpoint/2010/main" val="42909863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95548C0-5198-4D87-9194-1C849F26A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662" y="274637"/>
            <a:ext cx="6639338" cy="293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3D16EA-02A2-4BD4-A91D-F115F0AB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678017" cy="549275"/>
          </a:xfr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dirty="0"/>
              <a:t>Master Slave JK FF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6C4D0E-5173-46FC-A3E2-173C6B50DC39}"/>
              </a:ext>
            </a:extLst>
          </p:cNvPr>
          <p:cNvSpPr txBox="1"/>
          <p:nvPr/>
        </p:nvSpPr>
        <p:spPr>
          <a:xfrm>
            <a:off x="0" y="1067920"/>
            <a:ext cx="622189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dirty="0">
                <a:latin typeface="urw-din"/>
              </a:rPr>
              <a:t>T</a:t>
            </a:r>
            <a:r>
              <a:rPr lang="en-US" b="0" i="0" dirty="0">
                <a:effectLst/>
                <a:latin typeface="urw-din"/>
              </a:rPr>
              <a:t>wo JK flip-flops connected together in a series.</a:t>
            </a:r>
          </a:p>
          <a:p>
            <a:pPr algn="l" fontAlgn="base"/>
            <a:r>
              <a:rPr lang="en-US" dirty="0">
                <a:latin typeface="urw-din"/>
              </a:rPr>
              <a:t>First is </a:t>
            </a:r>
            <a:r>
              <a:rPr lang="en-US" b="1" i="0" dirty="0">
                <a:effectLst/>
                <a:latin typeface="urw-din"/>
              </a:rPr>
              <a:t>master</a:t>
            </a:r>
            <a:r>
              <a:rPr lang="en-US" b="0" i="0" dirty="0">
                <a:effectLst/>
                <a:latin typeface="urw-din"/>
              </a:rPr>
              <a:t> and </a:t>
            </a:r>
            <a:r>
              <a:rPr lang="en-US" dirty="0">
                <a:latin typeface="urw-din"/>
              </a:rPr>
              <a:t>second </a:t>
            </a:r>
            <a:r>
              <a:rPr lang="en-US" b="1" i="0" dirty="0">
                <a:effectLst/>
                <a:latin typeface="urw-din"/>
              </a:rPr>
              <a:t>slave</a:t>
            </a:r>
            <a:endParaRPr lang="en-US" b="1" dirty="0">
              <a:latin typeface="urw-din"/>
            </a:endParaRPr>
          </a:p>
          <a:p>
            <a:pPr algn="l" fontAlgn="base"/>
            <a:r>
              <a:rPr lang="en-US" b="0" i="0" dirty="0">
                <a:effectLst/>
                <a:latin typeface="urw-din"/>
              </a:rPr>
              <a:t>The output from the master flip flop acts as inputs of the slave flip flop, whose output is fed back to inputs of the master flip flop.</a:t>
            </a:r>
          </a:p>
          <a:p>
            <a:pPr algn="l" fontAlgn="base"/>
            <a:r>
              <a:rPr lang="en-US" dirty="0">
                <a:latin typeface="urw-din"/>
              </a:rPr>
              <a:t>A </a:t>
            </a:r>
            <a:r>
              <a:rPr lang="en-US" b="0" i="0" dirty="0">
                <a:effectLst/>
                <a:latin typeface="urw-din"/>
              </a:rPr>
              <a:t> inverter (NOT) is connected to clock pulse</a:t>
            </a:r>
          </a:p>
          <a:p>
            <a:pPr algn="l" fontAlgn="base"/>
            <a:r>
              <a:rPr lang="en-US" dirty="0">
                <a:latin typeface="urw-din"/>
              </a:rPr>
              <a:t>Master and slave enable on opposite level of clock</a:t>
            </a:r>
            <a:endParaRPr lang="en-US" b="0" i="0" dirty="0">
              <a:effectLst/>
              <a:latin typeface="urw-din"/>
            </a:endParaRPr>
          </a:p>
          <a:p>
            <a:pPr algn="l" fontAlgn="base"/>
            <a:r>
              <a:rPr lang="en-US" dirty="0">
                <a:latin typeface="urw-din"/>
              </a:rPr>
              <a:t>	</a:t>
            </a:r>
            <a:r>
              <a:rPr lang="en-US" b="0" i="0" dirty="0">
                <a:effectLst/>
                <a:latin typeface="urw-din"/>
              </a:rPr>
              <a:t>CP=0 </a:t>
            </a:r>
            <a:r>
              <a:rPr lang="en-US" dirty="0">
                <a:latin typeface="urw-din"/>
              </a:rPr>
              <a:t>m</a:t>
            </a:r>
            <a:r>
              <a:rPr lang="en-US" b="0" i="0" dirty="0">
                <a:effectLst/>
                <a:latin typeface="urw-din"/>
              </a:rPr>
              <a:t>aster enable CP=1 slave enable</a:t>
            </a:r>
          </a:p>
          <a:p>
            <a:pPr algn="l" fontAlgn="base"/>
            <a:r>
              <a:rPr lang="en-US" dirty="0">
                <a:latin typeface="urw-din"/>
              </a:rPr>
              <a:t>	</a:t>
            </a:r>
            <a:r>
              <a:rPr lang="en-US" b="0" i="0" dirty="0">
                <a:effectLst/>
                <a:latin typeface="urw-din"/>
              </a:rPr>
              <a:t>CP=1 master </a:t>
            </a:r>
            <a:r>
              <a:rPr lang="en-US" dirty="0">
                <a:latin typeface="urw-din"/>
              </a:rPr>
              <a:t>enable CP=</a:t>
            </a:r>
            <a:r>
              <a:rPr lang="en-US" b="0" i="0" dirty="0">
                <a:effectLst/>
                <a:latin typeface="urw-din"/>
              </a:rPr>
              <a:t>0 slave enable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4F72AC-A307-42A4-B168-BAB0F106C0F2}"/>
              </a:ext>
            </a:extLst>
          </p:cNvPr>
          <p:cNvSpPr txBox="1"/>
          <p:nvPr/>
        </p:nvSpPr>
        <p:spPr>
          <a:xfrm>
            <a:off x="92766" y="4446526"/>
            <a:ext cx="4997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Limitation – Requires additional JK FF and NOT gate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6F19E-C23B-4EF8-9382-D8C5E510CB6C}"/>
              </a:ext>
            </a:extLst>
          </p:cNvPr>
          <p:cNvSpPr txBox="1"/>
          <p:nvPr/>
        </p:nvSpPr>
        <p:spPr>
          <a:xfrm>
            <a:off x="238539" y="5618922"/>
            <a:ext cx="6391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Edge triggered FF preferred, since FF enable once in a clock period</a:t>
            </a:r>
          </a:p>
        </p:txBody>
      </p:sp>
    </p:spTree>
    <p:extLst>
      <p:ext uri="{BB962C8B-B14F-4D97-AF65-F5344CB8AC3E}">
        <p14:creationId xmlns:p14="http://schemas.microsoft.com/office/powerpoint/2010/main" val="3379463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330A18-5DE5-4950-BF66-83F9E3F9A9A2}"/>
              </a:ext>
            </a:extLst>
          </p:cNvPr>
          <p:cNvSpPr txBox="1"/>
          <p:nvPr/>
        </p:nvSpPr>
        <p:spPr>
          <a:xfrm>
            <a:off x="3851564" y="0"/>
            <a:ext cx="4710546" cy="132343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0" dirty="0"/>
              <a:t>QUIZ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75CC05-0938-4D87-A018-34AED5B2DC00}"/>
              </a:ext>
            </a:extLst>
          </p:cNvPr>
          <p:cNvSpPr txBox="1"/>
          <p:nvPr/>
        </p:nvSpPr>
        <p:spPr>
          <a:xfrm>
            <a:off x="1676400" y="1953490"/>
            <a:ext cx="571316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Race around condition in can avoid by</a:t>
            </a:r>
          </a:p>
          <a:p>
            <a:endParaRPr lang="en-US" sz="2800" dirty="0"/>
          </a:p>
          <a:p>
            <a:pPr marL="514350" indent="-514350">
              <a:buFont typeface="+mj-lt"/>
              <a:buAutoNum type="alphaUcPeriod"/>
            </a:pPr>
            <a:r>
              <a:rPr lang="en-US" sz="2800" dirty="0"/>
              <a:t>Master slave JK flip flop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 dirty="0"/>
              <a:t>Edge triggered clock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 dirty="0"/>
              <a:t>Either (A) or (B)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 dirty="0"/>
              <a:t>Neither (A) nor (B)</a:t>
            </a:r>
          </a:p>
        </p:txBody>
      </p:sp>
      <p:sp>
        <p:nvSpPr>
          <p:cNvPr id="4" name="Freeform 3"/>
          <p:cNvSpPr/>
          <p:nvPr/>
        </p:nvSpPr>
        <p:spPr>
          <a:xfrm>
            <a:off x="1345474" y="3644537"/>
            <a:ext cx="1084217" cy="565119"/>
          </a:xfrm>
          <a:custGeom>
            <a:avLst/>
            <a:gdLst>
              <a:gd name="connsiteX0" fmla="*/ 0 w 1084217"/>
              <a:gd name="connsiteY0" fmla="*/ 418012 h 565119"/>
              <a:gd name="connsiteX1" fmla="*/ 26126 w 1084217"/>
              <a:gd name="connsiteY1" fmla="*/ 457200 h 565119"/>
              <a:gd name="connsiteX2" fmla="*/ 91440 w 1084217"/>
              <a:gd name="connsiteY2" fmla="*/ 483326 h 565119"/>
              <a:gd name="connsiteX3" fmla="*/ 182880 w 1084217"/>
              <a:gd name="connsiteY3" fmla="*/ 522514 h 565119"/>
              <a:gd name="connsiteX4" fmla="*/ 209006 w 1084217"/>
              <a:gd name="connsiteY4" fmla="*/ 561703 h 565119"/>
              <a:gd name="connsiteX5" fmla="*/ 287383 w 1084217"/>
              <a:gd name="connsiteY5" fmla="*/ 535577 h 565119"/>
              <a:gd name="connsiteX6" fmla="*/ 431075 w 1084217"/>
              <a:gd name="connsiteY6" fmla="*/ 444137 h 565119"/>
              <a:gd name="connsiteX7" fmla="*/ 470263 w 1084217"/>
              <a:gd name="connsiteY7" fmla="*/ 431074 h 565119"/>
              <a:gd name="connsiteX8" fmla="*/ 600892 w 1084217"/>
              <a:gd name="connsiteY8" fmla="*/ 287383 h 565119"/>
              <a:gd name="connsiteX9" fmla="*/ 692332 w 1084217"/>
              <a:gd name="connsiteY9" fmla="*/ 261257 h 565119"/>
              <a:gd name="connsiteX10" fmla="*/ 731520 w 1084217"/>
              <a:gd name="connsiteY10" fmla="*/ 209006 h 565119"/>
              <a:gd name="connsiteX11" fmla="*/ 796835 w 1084217"/>
              <a:gd name="connsiteY11" fmla="*/ 156754 h 565119"/>
              <a:gd name="connsiteX12" fmla="*/ 940526 w 1084217"/>
              <a:gd name="connsiteY12" fmla="*/ 78377 h 565119"/>
              <a:gd name="connsiteX13" fmla="*/ 979715 w 1084217"/>
              <a:gd name="connsiteY13" fmla="*/ 65314 h 565119"/>
              <a:gd name="connsiteX14" fmla="*/ 1084217 w 1084217"/>
              <a:gd name="connsiteY14" fmla="*/ 0 h 565119"/>
              <a:gd name="connsiteX15" fmla="*/ 1071155 w 1084217"/>
              <a:gd name="connsiteY15" fmla="*/ 65314 h 56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84217" h="565119">
                <a:moveTo>
                  <a:pt x="0" y="418012"/>
                </a:moveTo>
                <a:cubicBezTo>
                  <a:pt x="8709" y="431075"/>
                  <a:pt x="13351" y="448075"/>
                  <a:pt x="26126" y="457200"/>
                </a:cubicBezTo>
                <a:cubicBezTo>
                  <a:pt x="45207" y="470829"/>
                  <a:pt x="70013" y="473803"/>
                  <a:pt x="91440" y="483326"/>
                </a:cubicBezTo>
                <a:cubicBezTo>
                  <a:pt x="188283" y="526368"/>
                  <a:pt x="102396" y="495688"/>
                  <a:pt x="182880" y="522514"/>
                </a:cubicBezTo>
                <a:cubicBezTo>
                  <a:pt x="191589" y="535577"/>
                  <a:pt x="193427" y="559756"/>
                  <a:pt x="209006" y="561703"/>
                </a:cubicBezTo>
                <a:cubicBezTo>
                  <a:pt x="236332" y="565119"/>
                  <a:pt x="262312" y="546973"/>
                  <a:pt x="287383" y="535577"/>
                </a:cubicBezTo>
                <a:cubicBezTo>
                  <a:pt x="335305" y="513794"/>
                  <a:pt x="386379" y="468968"/>
                  <a:pt x="431075" y="444137"/>
                </a:cubicBezTo>
                <a:cubicBezTo>
                  <a:pt x="443112" y="437450"/>
                  <a:pt x="457200" y="435428"/>
                  <a:pt x="470263" y="431074"/>
                </a:cubicBezTo>
                <a:cubicBezTo>
                  <a:pt x="503146" y="387230"/>
                  <a:pt x="543085" y="313659"/>
                  <a:pt x="600892" y="287383"/>
                </a:cubicBezTo>
                <a:cubicBezTo>
                  <a:pt x="629750" y="274265"/>
                  <a:pt x="661852" y="269966"/>
                  <a:pt x="692332" y="261257"/>
                </a:cubicBezTo>
                <a:cubicBezTo>
                  <a:pt x="705395" y="243840"/>
                  <a:pt x="716125" y="224401"/>
                  <a:pt x="731520" y="209006"/>
                </a:cubicBezTo>
                <a:cubicBezTo>
                  <a:pt x="751235" y="189291"/>
                  <a:pt x="774286" y="173153"/>
                  <a:pt x="796835" y="156754"/>
                </a:cubicBezTo>
                <a:cubicBezTo>
                  <a:pt x="868902" y="104342"/>
                  <a:pt x="865341" y="106572"/>
                  <a:pt x="940526" y="78377"/>
                </a:cubicBezTo>
                <a:cubicBezTo>
                  <a:pt x="953419" y="73542"/>
                  <a:pt x="967627" y="71908"/>
                  <a:pt x="979715" y="65314"/>
                </a:cubicBezTo>
                <a:cubicBezTo>
                  <a:pt x="1015777" y="45644"/>
                  <a:pt x="1084217" y="0"/>
                  <a:pt x="1084217" y="0"/>
                </a:cubicBezTo>
                <a:lnTo>
                  <a:pt x="1071155" y="65314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766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1171</Words>
  <Application>Microsoft Office PowerPoint</Application>
  <PresentationFormat>Widescreen</PresentationFormat>
  <Paragraphs>499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-apple-system</vt:lpstr>
      <vt:lpstr>Arial</vt:lpstr>
      <vt:lpstr>Calibri</vt:lpstr>
      <vt:lpstr>Calibri Light</vt:lpstr>
      <vt:lpstr>Linux Libertine</vt:lpstr>
      <vt:lpstr>Times New Roman</vt:lpstr>
      <vt:lpstr>urw-din</vt:lpstr>
      <vt:lpstr>Wingdings</vt:lpstr>
      <vt:lpstr>Office Theme</vt:lpstr>
      <vt:lpstr>Unit -6 Sequential Circuit</vt:lpstr>
      <vt:lpstr>PowerPoint Presentation</vt:lpstr>
      <vt:lpstr>Latch</vt:lpstr>
      <vt:lpstr> SR latch </vt:lpstr>
      <vt:lpstr>PowerPoint Presentation</vt:lpstr>
      <vt:lpstr>QUIZ </vt:lpstr>
      <vt:lpstr> Gated SR latch </vt:lpstr>
      <vt:lpstr>Latch vs Flip Flop</vt:lpstr>
      <vt:lpstr>PowerPoint Presentation</vt:lpstr>
      <vt:lpstr>SR Flip Flop</vt:lpstr>
      <vt:lpstr>SR Flip Flop</vt:lpstr>
      <vt:lpstr>Quiz</vt:lpstr>
      <vt:lpstr>QUIZ</vt:lpstr>
      <vt:lpstr>JK Flip Flop</vt:lpstr>
      <vt:lpstr>PowerPoint Presentation</vt:lpstr>
      <vt:lpstr>PowerPoint Presentation</vt:lpstr>
      <vt:lpstr>T Flip Flop</vt:lpstr>
      <vt:lpstr>Quiz</vt:lpstr>
      <vt:lpstr>D Flip Flop</vt:lpstr>
      <vt:lpstr>Quiz</vt:lpstr>
      <vt:lpstr>FF-Conversion</vt:lpstr>
      <vt:lpstr>Excitation Table</vt:lpstr>
      <vt:lpstr>PowerPoint Presentation</vt:lpstr>
      <vt:lpstr>PowerPoint Presentation</vt:lpstr>
      <vt:lpstr>Quiz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 Latch    vs   D Flip Flop</vt:lpstr>
      <vt:lpstr>Race around condition/Racing Error in JK </vt:lpstr>
      <vt:lpstr>Master Slave JK FF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Latch</dc:title>
  <dc:creator>HP</dc:creator>
  <cp:lastModifiedBy>Swapnil Bagwari</cp:lastModifiedBy>
  <cp:revision>102</cp:revision>
  <cp:lastPrinted>2021-03-22T04:03:29Z</cp:lastPrinted>
  <dcterms:created xsi:type="dcterms:W3CDTF">2021-03-21T09:48:10Z</dcterms:created>
  <dcterms:modified xsi:type="dcterms:W3CDTF">2022-12-14T04:19:18Z</dcterms:modified>
</cp:coreProperties>
</file>