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 u="heavy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07273" y="679703"/>
            <a:ext cx="1773554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0594" y="1621536"/>
            <a:ext cx="9208135" cy="3317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 u="heavy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34371" y="6384875"/>
            <a:ext cx="25780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earnelectronicswithme.com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earnelectronicswithme.com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0388" y="1078992"/>
            <a:ext cx="4799965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89860" algn="l"/>
              </a:tabLst>
            </a:pPr>
            <a:r>
              <a:rPr sz="4650" b="0" spc="170" dirty="0">
                <a:solidFill>
                  <a:srgbClr val="000000"/>
                </a:solidFill>
                <a:latin typeface="Lucida Sans Unicode"/>
                <a:cs typeface="Lucida Sans Unicode"/>
              </a:rPr>
              <a:t>C</a:t>
            </a:r>
            <a:r>
              <a:rPr sz="4650" b="0" spc="-175" dirty="0">
                <a:solidFill>
                  <a:srgbClr val="000000"/>
                </a:solidFill>
                <a:latin typeface="Lucida Sans Unicode"/>
                <a:cs typeface="Lucida Sans Unicode"/>
              </a:rPr>
              <a:t>o</a:t>
            </a:r>
            <a:r>
              <a:rPr sz="4650" b="0" spc="-254" dirty="0">
                <a:solidFill>
                  <a:srgbClr val="000000"/>
                </a:solidFill>
                <a:latin typeface="Lucida Sans Unicode"/>
                <a:cs typeface="Lucida Sans Unicode"/>
              </a:rPr>
              <a:t>u</a:t>
            </a:r>
            <a:r>
              <a:rPr sz="4650" b="0" spc="20" dirty="0">
                <a:solidFill>
                  <a:srgbClr val="000000"/>
                </a:solidFill>
                <a:latin typeface="Lucida Sans Unicode"/>
                <a:cs typeface="Lucida Sans Unicode"/>
              </a:rPr>
              <a:t>r</a:t>
            </a:r>
            <a:r>
              <a:rPr sz="4650" b="0" spc="-235" dirty="0">
                <a:solidFill>
                  <a:srgbClr val="000000"/>
                </a:solidFill>
                <a:latin typeface="Lucida Sans Unicode"/>
                <a:cs typeface="Lucida Sans Unicode"/>
              </a:rPr>
              <a:t>s</a:t>
            </a:r>
            <a:r>
              <a:rPr sz="4650" b="0" spc="55" dirty="0">
                <a:solidFill>
                  <a:srgbClr val="000000"/>
                </a:solidFill>
                <a:latin typeface="Lucida Sans Unicode"/>
                <a:cs typeface="Lucida Sans Unicode"/>
              </a:rPr>
              <a:t>e</a:t>
            </a:r>
            <a:r>
              <a:rPr sz="4650" b="0" spc="-105" dirty="0">
                <a:solidFill>
                  <a:srgbClr val="000000"/>
                </a:solidFill>
                <a:latin typeface="Lucida Sans Unicode"/>
                <a:cs typeface="Lucida Sans Unicode"/>
              </a:rPr>
              <a:t>:</a:t>
            </a:r>
            <a:r>
              <a:rPr sz="4650" b="0" dirty="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sz="4650" b="0" spc="204" dirty="0">
                <a:solidFill>
                  <a:srgbClr val="000000"/>
                </a:solidFill>
                <a:latin typeface="Lucida Sans Unicode"/>
                <a:cs typeface="Lucida Sans Unicode"/>
              </a:rPr>
              <a:t>ECE</a:t>
            </a:r>
            <a:r>
              <a:rPr sz="4650" b="0" spc="-405" dirty="0">
                <a:solidFill>
                  <a:srgbClr val="000000"/>
                </a:solidFill>
                <a:latin typeface="Lucida Sans Unicode"/>
                <a:cs typeface="Lucida Sans Unicode"/>
              </a:rPr>
              <a:t>249</a:t>
            </a:r>
            <a:endParaRPr sz="46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1798320"/>
            <a:ext cx="910844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55" dirty="0">
                <a:latin typeface="Lucida Sans Unicode"/>
                <a:cs typeface="Lucida Sans Unicode"/>
              </a:rPr>
              <a:t>Basic</a:t>
            </a:r>
            <a:r>
              <a:rPr sz="3750" spc="-235" dirty="0">
                <a:latin typeface="Lucida Sans Unicode"/>
                <a:cs typeface="Lucida Sans Unicode"/>
              </a:rPr>
              <a:t> </a:t>
            </a:r>
            <a:r>
              <a:rPr sz="3750" spc="-10" dirty="0">
                <a:latin typeface="Lucida Sans Unicode"/>
                <a:cs typeface="Lucida Sans Unicode"/>
              </a:rPr>
              <a:t>Electrical</a:t>
            </a:r>
            <a:r>
              <a:rPr sz="3750" spc="-254" dirty="0">
                <a:latin typeface="Lucida Sans Unicode"/>
                <a:cs typeface="Lucida Sans Unicode"/>
              </a:rPr>
              <a:t> </a:t>
            </a:r>
            <a:r>
              <a:rPr sz="3750" spc="-85" dirty="0">
                <a:latin typeface="Lucida Sans Unicode"/>
                <a:cs typeface="Lucida Sans Unicode"/>
              </a:rPr>
              <a:t>&amp;</a:t>
            </a:r>
            <a:r>
              <a:rPr sz="3750" spc="-235" dirty="0">
                <a:latin typeface="Lucida Sans Unicode"/>
                <a:cs typeface="Lucida Sans Unicode"/>
              </a:rPr>
              <a:t> </a:t>
            </a:r>
            <a:r>
              <a:rPr sz="3750" spc="-75" dirty="0">
                <a:latin typeface="Lucida Sans Unicode"/>
                <a:cs typeface="Lucida Sans Unicode"/>
              </a:rPr>
              <a:t>Electronics</a:t>
            </a:r>
            <a:r>
              <a:rPr sz="3750" spc="-250" dirty="0">
                <a:latin typeface="Lucida Sans Unicode"/>
                <a:cs typeface="Lucida Sans Unicode"/>
              </a:rPr>
              <a:t> </a:t>
            </a:r>
            <a:r>
              <a:rPr sz="3750" spc="-30" dirty="0">
                <a:latin typeface="Lucida Sans Unicode"/>
                <a:cs typeface="Lucida Sans Unicode"/>
              </a:rPr>
              <a:t>Engineering</a:t>
            </a:r>
            <a:endParaRPr sz="375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6023" y="893573"/>
            <a:ext cx="24384" cy="701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669524" y="774700"/>
            <a:ext cx="22860" cy="6010910"/>
          </a:xfrm>
          <a:custGeom>
            <a:avLst/>
            <a:gdLst/>
            <a:ahLst/>
            <a:cxnLst/>
            <a:rect l="l" t="t" r="r" b="b"/>
            <a:pathLst>
              <a:path w="22859" h="6010909">
                <a:moveTo>
                  <a:pt x="22859" y="0"/>
                </a:moveTo>
                <a:lnTo>
                  <a:pt x="0" y="0"/>
                </a:lnTo>
                <a:lnTo>
                  <a:pt x="0" y="6010656"/>
                </a:lnTo>
                <a:lnTo>
                  <a:pt x="22859" y="6010656"/>
                </a:lnTo>
                <a:lnTo>
                  <a:pt x="228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771651"/>
            <a:ext cx="3175" cy="5992495"/>
          </a:xfrm>
          <a:custGeom>
            <a:avLst/>
            <a:gdLst/>
            <a:ahLst/>
            <a:cxnLst/>
            <a:rect l="l" t="t" r="r" b="b"/>
            <a:pathLst>
              <a:path w="3175" h="5992495">
                <a:moveTo>
                  <a:pt x="3037" y="0"/>
                </a:moveTo>
                <a:lnTo>
                  <a:pt x="0" y="5992368"/>
                </a:lnTo>
              </a:path>
            </a:pathLst>
          </a:custGeom>
          <a:ln w="4571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05020" y="2612136"/>
            <a:ext cx="1901189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spc="-220" dirty="0">
                <a:latin typeface="Lucida Sans Unicode"/>
                <a:cs typeface="Lucida Sans Unicode"/>
              </a:rPr>
              <a:t>Unit-IV</a:t>
            </a:r>
            <a:endParaRPr sz="46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2407411" y="2789681"/>
            <a:ext cx="6269355" cy="1128514"/>
          </a:xfrm>
          <a:prstGeom prst="rect">
            <a:avLst/>
          </a:prstGeom>
        </p:spPr>
        <p:txBody>
          <a:bodyPr vert="horz" wrap="square" lIns="0" tIns="408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20"/>
              </a:spcBef>
            </a:pPr>
            <a:r>
              <a:rPr sz="4650" spc="-260" dirty="0">
                <a:latin typeface="Lucida Sans Unicode"/>
                <a:cs typeface="Lucida Sans Unicode"/>
              </a:rPr>
              <a:t>T</a:t>
            </a:r>
            <a:r>
              <a:rPr sz="4650" spc="-100" dirty="0">
                <a:latin typeface="Lucida Sans Unicode"/>
                <a:cs typeface="Lucida Sans Unicode"/>
              </a:rPr>
              <a:t>r</a:t>
            </a:r>
            <a:r>
              <a:rPr sz="4650" spc="-95" dirty="0">
                <a:latin typeface="Lucida Sans Unicode"/>
                <a:cs typeface="Lucida Sans Unicode"/>
              </a:rPr>
              <a:t>a</a:t>
            </a:r>
            <a:r>
              <a:rPr sz="4650" spc="-204" dirty="0">
                <a:latin typeface="Lucida Sans Unicode"/>
                <a:cs typeface="Lucida Sans Unicode"/>
              </a:rPr>
              <a:t>n</a:t>
            </a:r>
            <a:r>
              <a:rPr sz="4650" spc="-235" dirty="0">
                <a:latin typeface="Lucida Sans Unicode"/>
                <a:cs typeface="Lucida Sans Unicode"/>
              </a:rPr>
              <a:t>s</a:t>
            </a:r>
            <a:r>
              <a:rPr sz="4650" spc="-75" dirty="0">
                <a:latin typeface="Lucida Sans Unicode"/>
                <a:cs typeface="Lucida Sans Unicode"/>
              </a:rPr>
              <a:t>i</a:t>
            </a:r>
            <a:r>
              <a:rPr sz="4650" spc="-140" dirty="0">
                <a:latin typeface="Lucida Sans Unicode"/>
                <a:cs typeface="Lucida Sans Unicode"/>
              </a:rPr>
              <a:t>s</a:t>
            </a:r>
            <a:r>
              <a:rPr sz="4650" spc="-254" dirty="0">
                <a:latin typeface="Lucida Sans Unicode"/>
                <a:cs typeface="Lucida Sans Unicode"/>
              </a:rPr>
              <a:t>to</a:t>
            </a:r>
            <a:r>
              <a:rPr sz="4650" spc="10" dirty="0">
                <a:latin typeface="Lucida Sans Unicode"/>
                <a:cs typeface="Lucida Sans Unicode"/>
              </a:rPr>
              <a:t>r</a:t>
            </a:r>
            <a:r>
              <a:rPr sz="4650" spc="-285" dirty="0">
                <a:latin typeface="Lucida Sans Unicode"/>
                <a:cs typeface="Lucida Sans Unicode"/>
              </a:rPr>
              <a:t> </a:t>
            </a:r>
            <a:r>
              <a:rPr sz="4650" spc="120" dirty="0">
                <a:latin typeface="Lucida Sans Unicode"/>
                <a:cs typeface="Lucida Sans Unicode"/>
              </a:rPr>
              <a:t>(</a:t>
            </a:r>
            <a:r>
              <a:rPr sz="4650" spc="65" dirty="0">
                <a:latin typeface="Lucida Sans Unicode"/>
                <a:cs typeface="Lucida Sans Unicode"/>
              </a:rPr>
              <a:t>P</a:t>
            </a:r>
            <a:r>
              <a:rPr sz="4650" spc="-80" dirty="0">
                <a:latin typeface="Lucida Sans Unicode"/>
                <a:cs typeface="Lucida Sans Unicode"/>
              </a:rPr>
              <a:t>N</a:t>
            </a:r>
            <a:r>
              <a:rPr sz="4650" spc="15" dirty="0">
                <a:latin typeface="Lucida Sans Unicode"/>
                <a:cs typeface="Lucida Sans Unicode"/>
              </a:rPr>
              <a:t>P</a:t>
            </a:r>
            <a:r>
              <a:rPr sz="4650" spc="-265" dirty="0">
                <a:latin typeface="Lucida Sans Unicode"/>
                <a:cs typeface="Lucida Sans Unicode"/>
              </a:rPr>
              <a:t> </a:t>
            </a:r>
            <a:r>
              <a:rPr sz="4650" spc="-75" dirty="0">
                <a:latin typeface="Lucida Sans Unicode"/>
                <a:cs typeface="Lucida Sans Unicode"/>
              </a:rPr>
              <a:t>&amp;</a:t>
            </a:r>
            <a:r>
              <a:rPr sz="4650" spc="-300" dirty="0">
                <a:latin typeface="Lucida Sans Unicode"/>
                <a:cs typeface="Lucida Sans Unicode"/>
              </a:rPr>
              <a:t> </a:t>
            </a:r>
            <a:r>
              <a:rPr sz="4650" spc="-80" dirty="0">
                <a:latin typeface="Lucida Sans Unicode"/>
                <a:cs typeface="Lucida Sans Unicode"/>
              </a:rPr>
              <a:t>N</a:t>
            </a:r>
            <a:r>
              <a:rPr sz="4650" spc="65" dirty="0">
                <a:latin typeface="Lucida Sans Unicode"/>
                <a:cs typeface="Lucida Sans Unicode"/>
              </a:rPr>
              <a:t>P</a:t>
            </a:r>
            <a:r>
              <a:rPr sz="4650" spc="-80" dirty="0">
                <a:latin typeface="Lucida Sans Unicode"/>
                <a:cs typeface="Lucida Sans Unicode"/>
              </a:rPr>
              <a:t>N</a:t>
            </a:r>
            <a:r>
              <a:rPr sz="4650" spc="5" dirty="0">
                <a:latin typeface="Lucida Sans Unicode"/>
                <a:cs typeface="Lucida Sans Unicode"/>
              </a:rPr>
              <a:t>)</a:t>
            </a:r>
            <a:endParaRPr sz="46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0703" y="679703"/>
            <a:ext cx="19304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O</a:t>
            </a:r>
            <a:r>
              <a:rPr spc="20" dirty="0"/>
              <a:t>ut</a:t>
            </a:r>
            <a:r>
              <a:rPr spc="160" dirty="0"/>
              <a:t>li</a:t>
            </a:r>
            <a:r>
              <a:rPr spc="20" dirty="0"/>
              <a:t>n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268577"/>
            <a:ext cx="8228965" cy="413448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5" dirty="0">
                <a:latin typeface="Calibri"/>
                <a:cs typeface="Calibri"/>
              </a:rPr>
              <a:t>Basics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10" dirty="0">
                <a:latin typeface="Calibri"/>
                <a:cs typeface="Calibri"/>
              </a:rPr>
              <a:t>Construction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5" dirty="0">
                <a:latin typeface="Calibri"/>
                <a:cs typeface="Calibri"/>
              </a:rPr>
              <a:t>Principal</a:t>
            </a:r>
            <a:r>
              <a:rPr sz="3750" spc="-2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of</a:t>
            </a:r>
            <a:r>
              <a:rPr sz="3750" spc="-15" dirty="0">
                <a:latin typeface="Calibri"/>
                <a:cs typeface="Calibri"/>
              </a:rPr>
              <a:t> </a:t>
            </a:r>
            <a:r>
              <a:rPr sz="3750" spc="-20" dirty="0">
                <a:latin typeface="Calibri"/>
                <a:cs typeface="Calibri"/>
              </a:rPr>
              <a:t>operation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15" dirty="0">
                <a:latin typeface="Calibri"/>
                <a:cs typeface="Calibri"/>
              </a:rPr>
              <a:t>Important</a:t>
            </a:r>
            <a:r>
              <a:rPr sz="3750" spc="5" dirty="0">
                <a:latin typeface="Calibri"/>
                <a:cs typeface="Calibri"/>
              </a:rPr>
              <a:t> </a:t>
            </a:r>
            <a:r>
              <a:rPr sz="3750" spc="-30" dirty="0">
                <a:latin typeface="Calibri"/>
                <a:cs typeface="Calibri"/>
              </a:rPr>
              <a:t>Terminologies,</a:t>
            </a:r>
            <a:r>
              <a:rPr sz="3750" spc="-15" dirty="0">
                <a:latin typeface="Calibri"/>
                <a:cs typeface="Calibri"/>
              </a:rPr>
              <a:t> Configurations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20" dirty="0">
                <a:latin typeface="Calibri"/>
                <a:cs typeface="Calibri"/>
              </a:rPr>
              <a:t>Characteristics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20" dirty="0">
                <a:latin typeface="Calibri"/>
                <a:cs typeface="Calibri"/>
              </a:rPr>
              <a:t>Advantages, </a:t>
            </a:r>
            <a:r>
              <a:rPr sz="3750" spc="-10" dirty="0">
                <a:latin typeface="Calibri"/>
                <a:cs typeface="Calibri"/>
              </a:rPr>
              <a:t>Applications</a:t>
            </a:r>
            <a:endParaRPr sz="3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4332" y="679703"/>
            <a:ext cx="171386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B</a:t>
            </a:r>
            <a:r>
              <a:rPr spc="55" dirty="0"/>
              <a:t>a</a:t>
            </a:r>
            <a:r>
              <a:rPr spc="-200" dirty="0"/>
              <a:t>s</a:t>
            </a:r>
            <a:r>
              <a:rPr spc="160" dirty="0"/>
              <a:t>i</a:t>
            </a:r>
            <a:r>
              <a:rPr spc="20" dirty="0"/>
              <a:t>c</a:t>
            </a:r>
            <a:r>
              <a:rPr spc="-19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478280"/>
            <a:ext cx="9796145" cy="10229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4655" marR="5080" indent="-40259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414655" algn="l"/>
                <a:tab pos="415290" algn="l"/>
                <a:tab pos="911225" algn="l"/>
                <a:tab pos="2773680" algn="l"/>
                <a:tab pos="3288665" algn="l"/>
                <a:tab pos="3745865" algn="l"/>
                <a:tab pos="6522720" algn="l"/>
                <a:tab pos="7867015" algn="l"/>
                <a:tab pos="8869680" algn="l"/>
              </a:tabLst>
            </a:pPr>
            <a:r>
              <a:rPr sz="3250" spc="5" dirty="0">
                <a:latin typeface="Calibri"/>
                <a:cs typeface="Calibri"/>
              </a:rPr>
              <a:t>A	t</a:t>
            </a:r>
            <a:r>
              <a:rPr sz="3250" spc="-85" dirty="0">
                <a:latin typeface="Calibri"/>
                <a:cs typeface="Calibri"/>
              </a:rPr>
              <a:t>r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spc="-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s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-45" dirty="0">
                <a:latin typeface="Calibri"/>
                <a:cs typeface="Calibri"/>
              </a:rPr>
              <a:t>s</a:t>
            </a:r>
            <a:r>
              <a:rPr sz="3250" spc="-15" dirty="0">
                <a:latin typeface="Calibri"/>
                <a:cs typeface="Calibri"/>
              </a:rPr>
              <a:t>t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dirty="0">
                <a:latin typeface="Calibri"/>
                <a:cs typeface="Calibri"/>
              </a:rPr>
              <a:t>r	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dirty="0">
                <a:latin typeface="Calibri"/>
                <a:cs typeface="Calibri"/>
              </a:rPr>
              <a:t>	s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15" dirty="0">
                <a:latin typeface="Calibri"/>
                <a:cs typeface="Calibri"/>
              </a:rPr>
              <a:t>m</a:t>
            </a:r>
            <a:r>
              <a:rPr sz="3250" spc="-5" dirty="0">
                <a:latin typeface="Calibri"/>
                <a:cs typeface="Calibri"/>
              </a:rPr>
              <a:t>ic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15" dirty="0">
                <a:latin typeface="Calibri"/>
                <a:cs typeface="Calibri"/>
              </a:rPr>
              <a:t>nd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spc="15" dirty="0">
                <a:latin typeface="Calibri"/>
                <a:cs typeface="Calibri"/>
              </a:rPr>
              <a:t>c</a:t>
            </a:r>
            <a:r>
              <a:rPr sz="3250" spc="-15" dirty="0">
                <a:latin typeface="Calibri"/>
                <a:cs typeface="Calibri"/>
              </a:rPr>
              <a:t>t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dirty="0">
                <a:latin typeface="Calibri"/>
                <a:cs typeface="Calibri"/>
              </a:rPr>
              <a:t>r	</a:t>
            </a:r>
            <a:r>
              <a:rPr sz="3250" spc="-5" dirty="0">
                <a:latin typeface="Calibri"/>
                <a:cs typeface="Calibri"/>
              </a:rPr>
              <a:t>d</a:t>
            </a:r>
            <a:r>
              <a:rPr sz="3250" spc="-15" dirty="0">
                <a:latin typeface="Calibri"/>
                <a:cs typeface="Calibri"/>
              </a:rPr>
              <a:t>e</a:t>
            </a:r>
            <a:r>
              <a:rPr sz="3250" spc="15" dirty="0">
                <a:latin typeface="Calibri"/>
                <a:cs typeface="Calibri"/>
              </a:rPr>
              <a:t>v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15" dirty="0">
                <a:latin typeface="Calibri"/>
                <a:cs typeface="Calibri"/>
              </a:rPr>
              <a:t>c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5" dirty="0">
                <a:latin typeface="Calibri"/>
                <a:cs typeface="Calibri"/>
              </a:rPr>
              <a:t>w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th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30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3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e  terminals,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capable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amplification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switch.</a:t>
            </a:r>
            <a:endParaRPr sz="3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3556" y="3430196"/>
            <a:ext cx="6214851" cy="24500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731" y="682752"/>
            <a:ext cx="88252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PNP</a:t>
            </a:r>
            <a:r>
              <a:rPr spc="-120" dirty="0"/>
              <a:t> </a:t>
            </a:r>
            <a:r>
              <a:rPr dirty="0"/>
              <a:t>&amp;</a:t>
            </a:r>
            <a:r>
              <a:rPr spc="30" dirty="0"/>
              <a:t> </a:t>
            </a:r>
            <a:r>
              <a:rPr spc="50" dirty="0"/>
              <a:t>NPN</a:t>
            </a:r>
            <a:r>
              <a:rPr spc="-275" dirty="0"/>
              <a:t> </a:t>
            </a:r>
            <a:r>
              <a:rPr spc="-10" dirty="0"/>
              <a:t>Transistors</a:t>
            </a:r>
            <a:r>
              <a:rPr spc="-15" dirty="0"/>
              <a:t> </a:t>
            </a:r>
            <a:r>
              <a:rPr dirty="0"/>
              <a:t>&amp;</a:t>
            </a:r>
            <a:r>
              <a:rPr spc="30" dirty="0"/>
              <a:t> </a:t>
            </a:r>
            <a:r>
              <a:rPr spc="-70" dirty="0"/>
              <a:t>Symbols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366011"/>
            <a:ext cx="7315200" cy="53004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7896" y="679703"/>
            <a:ext cx="61410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Transistor</a:t>
            </a:r>
            <a:r>
              <a:rPr spc="45" dirty="0"/>
              <a:t> </a:t>
            </a:r>
            <a:r>
              <a:rPr spc="15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289913"/>
            <a:ext cx="9860915" cy="41160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Connecting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TWO </a:t>
            </a:r>
            <a:r>
              <a:rPr sz="3250" dirty="0">
                <a:latin typeface="Calibri"/>
                <a:cs typeface="Calibri"/>
              </a:rPr>
              <a:t>diodes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back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back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5" dirty="0">
                <a:latin typeface="Calibri"/>
                <a:cs typeface="Calibri"/>
              </a:rPr>
              <a:t>TWO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PN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junctions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THREE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are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drawn</a:t>
            </a:r>
            <a:r>
              <a:rPr sz="3250" spc="10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out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construction</a:t>
            </a:r>
            <a:endParaRPr sz="3250">
              <a:latin typeface="Calibri"/>
              <a:cs typeface="Calibri"/>
            </a:endParaRPr>
          </a:p>
          <a:p>
            <a:pPr marL="414655" marR="5080" indent="-402590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40" dirty="0">
                <a:latin typeface="Calibri"/>
                <a:cs typeface="Calibri"/>
              </a:rPr>
              <a:t>way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P &amp;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materials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are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arranged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results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PNP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or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NPN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transistor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PNP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N-type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material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between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TWO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P-type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material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NPN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P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type</a:t>
            </a:r>
            <a:r>
              <a:rPr sz="3250" spc="-5" dirty="0">
                <a:latin typeface="Calibri"/>
                <a:cs typeface="Calibri"/>
              </a:rPr>
              <a:t> material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between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TWO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N-type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material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231" y="1908555"/>
            <a:ext cx="9038729" cy="39133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5848" y="679703"/>
            <a:ext cx="53479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Transistor</a:t>
            </a:r>
            <a:r>
              <a:rPr spc="-260" dirty="0"/>
              <a:t> </a:t>
            </a:r>
            <a:r>
              <a:rPr spc="60" dirty="0"/>
              <a:t>Terminals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389887"/>
            <a:ext cx="10243185" cy="46164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14655" marR="5080" indent="-402590" algn="just">
              <a:lnSpc>
                <a:spcPct val="100800"/>
              </a:lnSpc>
              <a:spcBef>
                <a:spcPts val="8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Emitter</a:t>
            </a:r>
            <a:r>
              <a:rPr sz="3250" b="1" spc="-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 This segment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5" dirty="0">
                <a:latin typeface="Calibri"/>
                <a:cs typeface="Calibri"/>
              </a:rPr>
              <a:t>on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5" dirty="0">
                <a:latin typeface="Calibri"/>
                <a:cs typeface="Calibri"/>
              </a:rPr>
              <a:t>left side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40" dirty="0">
                <a:latin typeface="Calibri"/>
                <a:cs typeface="Calibri"/>
              </a:rPr>
              <a:t>transistor. </a:t>
            </a:r>
            <a:r>
              <a:rPr sz="3250" spc="-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 is </a:t>
            </a:r>
            <a:r>
              <a:rPr sz="325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moderately sized</a:t>
            </a:r>
            <a:r>
              <a:rPr sz="3250" b="1" spc="-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and </a:t>
            </a: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heavily </a:t>
            </a:r>
            <a:r>
              <a:rPr sz="3250" b="1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doped</a:t>
            </a:r>
            <a:r>
              <a:rPr sz="3250" spc="10" dirty="0">
                <a:latin typeface="Calibri"/>
                <a:cs typeface="Calibri"/>
              </a:rPr>
              <a:t>. </a:t>
            </a:r>
            <a:r>
              <a:rPr sz="3250" spc="5" dirty="0">
                <a:latin typeface="Calibri"/>
                <a:cs typeface="Calibri"/>
              </a:rPr>
              <a:t>The function of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 is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spc="5" dirty="0">
                <a:latin typeface="Calibri"/>
                <a:cs typeface="Calibri"/>
              </a:rPr>
              <a:t>supply a number of majority </a:t>
            </a:r>
            <a:r>
              <a:rPr sz="3250" spc="-10" dirty="0">
                <a:latin typeface="Calibri"/>
                <a:cs typeface="Calibri"/>
              </a:rPr>
              <a:t>carriers </a:t>
            </a:r>
            <a:r>
              <a:rPr sz="3250" dirty="0">
                <a:latin typeface="Calibri"/>
                <a:cs typeface="Calibri"/>
              </a:rPr>
              <a:t>i.e., </a:t>
            </a:r>
            <a:r>
              <a:rPr sz="3250" spc="5" dirty="0">
                <a:latin typeface="Calibri"/>
                <a:cs typeface="Calibri"/>
              </a:rPr>
              <a:t>either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electrons</a:t>
            </a:r>
            <a:r>
              <a:rPr sz="3250" spc="5" dirty="0">
                <a:latin typeface="Calibri"/>
                <a:cs typeface="Calibri"/>
              </a:rPr>
              <a:t> or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holes.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(Emits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electrons,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also</a:t>
            </a:r>
            <a:r>
              <a:rPr sz="3250" spc="73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called</a:t>
            </a:r>
            <a:r>
              <a:rPr sz="3250" spc="7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emitter)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indicated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with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letter</a:t>
            </a:r>
            <a:r>
              <a:rPr sz="3250" spc="-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symbol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E.</a:t>
            </a:r>
            <a:endParaRPr sz="3250">
              <a:latin typeface="Calibri"/>
              <a:cs typeface="Calibri"/>
            </a:endParaRPr>
          </a:p>
          <a:p>
            <a:pPr marL="414655" marR="6350" indent="-402590" algn="just">
              <a:lnSpc>
                <a:spcPct val="100699"/>
              </a:lnSpc>
              <a:spcBef>
                <a:spcPts val="80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Base</a:t>
            </a:r>
            <a:r>
              <a:rPr sz="3250" b="1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 The </a:t>
            </a:r>
            <a:r>
              <a:rPr sz="3250" spc="10" dirty="0">
                <a:latin typeface="Calibri"/>
                <a:cs typeface="Calibri"/>
              </a:rPr>
              <a:t>middle </a:t>
            </a:r>
            <a:r>
              <a:rPr sz="3250" spc="-5" dirty="0">
                <a:latin typeface="Calibri"/>
                <a:cs typeface="Calibri"/>
              </a:rPr>
              <a:t>segment/center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35" dirty="0">
                <a:latin typeface="Calibri"/>
                <a:cs typeface="Calibri"/>
              </a:rPr>
              <a:t>transistor. </a:t>
            </a:r>
            <a:r>
              <a:rPr sz="3250" dirty="0">
                <a:latin typeface="Calibri"/>
                <a:cs typeface="Calibri"/>
              </a:rPr>
              <a:t>It is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thin</a:t>
            </a:r>
            <a:r>
              <a:rPr sz="3250" b="1" spc="68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and</a:t>
            </a:r>
            <a:r>
              <a:rPr sz="3250" spc="670" dirty="0">
                <a:latin typeface="Calibri"/>
                <a:cs typeface="Calibri"/>
              </a:rPr>
              <a:t> </a:t>
            </a: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lightly</a:t>
            </a:r>
            <a:r>
              <a:rPr sz="3250" b="1" spc="67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doped.</a:t>
            </a:r>
            <a:r>
              <a:rPr sz="3250" spc="6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66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main</a:t>
            </a:r>
            <a:r>
              <a:rPr sz="3250" spc="67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function</a:t>
            </a:r>
            <a:r>
              <a:rPr sz="3250" spc="64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67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this</a:t>
            </a:r>
            <a:r>
              <a:rPr sz="3250" spc="6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65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pass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majority </a:t>
            </a:r>
            <a:r>
              <a:rPr sz="3250" spc="-10" dirty="0">
                <a:latin typeface="Calibri"/>
                <a:cs typeface="Calibri"/>
              </a:rPr>
              <a:t>carriers from </a:t>
            </a:r>
            <a:r>
              <a:rPr sz="3250" spc="-5" dirty="0">
                <a:latin typeface="Calibri"/>
                <a:cs typeface="Calibri"/>
              </a:rPr>
              <a:t>emitter to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40" dirty="0">
                <a:latin typeface="Calibri"/>
                <a:cs typeface="Calibri"/>
              </a:rPr>
              <a:t>collector. </a:t>
            </a:r>
            <a:r>
              <a:rPr sz="3250" spc="-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Indicated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with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spc="-10" dirty="0">
                <a:latin typeface="Calibri"/>
                <a:cs typeface="Calibri"/>
              </a:rPr>
              <a:t>letter</a:t>
            </a:r>
            <a:r>
              <a:rPr sz="3250" spc="-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symbol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811" y="1389887"/>
            <a:ext cx="10241915" cy="20199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14655" marR="5080" indent="-402590" algn="just">
              <a:lnSpc>
                <a:spcPct val="100699"/>
              </a:lnSpc>
              <a:spcBef>
                <a:spcPts val="8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Collector</a:t>
            </a:r>
            <a:r>
              <a:rPr sz="3250" b="1" spc="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This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segment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on</a:t>
            </a:r>
            <a:r>
              <a:rPr sz="3250" spc="10" dirty="0">
                <a:latin typeface="Calibri"/>
                <a:cs typeface="Calibri"/>
              </a:rPr>
              <a:t> 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right</a:t>
            </a:r>
            <a:r>
              <a:rPr sz="3250" dirty="0">
                <a:latin typeface="Calibri"/>
                <a:cs typeface="Calibri"/>
              </a:rPr>
              <a:t> side</a:t>
            </a:r>
            <a:r>
              <a:rPr sz="3250" spc="5" dirty="0">
                <a:latin typeface="Calibri"/>
                <a:cs typeface="Calibri"/>
              </a:rPr>
              <a:t> of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40" dirty="0">
                <a:latin typeface="Calibri"/>
                <a:cs typeface="Calibri"/>
              </a:rPr>
              <a:t>transistor.</a:t>
            </a:r>
            <a:r>
              <a:rPr sz="3250" spc="-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It</a:t>
            </a:r>
            <a:r>
              <a:rPr sz="3250" dirty="0">
                <a:latin typeface="Calibri"/>
                <a:cs typeface="Calibri"/>
              </a:rPr>
              <a:t> is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larger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than</a:t>
            </a:r>
            <a:r>
              <a:rPr sz="3250" spc="10" dirty="0">
                <a:latin typeface="Calibri"/>
                <a:cs typeface="Calibri"/>
              </a:rPr>
              <a:t> 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Emitter</a:t>
            </a:r>
            <a:r>
              <a:rPr sz="325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50"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</a:t>
            </a:r>
            <a:r>
              <a:rPr sz="3250" b="1" u="heavy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50"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Base</a:t>
            </a:r>
            <a:r>
              <a:rPr sz="3250" b="1" spc="1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and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is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moderately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b="1" u="heavy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doped</a:t>
            </a:r>
            <a:r>
              <a:rPr sz="3250" spc="5" dirty="0">
                <a:latin typeface="Calibri"/>
                <a:cs typeface="Calibri"/>
              </a:rPr>
              <a:t>. The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name implies </a:t>
            </a:r>
            <a:r>
              <a:rPr sz="3250" spc="-5" dirty="0">
                <a:latin typeface="Calibri"/>
                <a:cs typeface="Calibri"/>
              </a:rPr>
              <a:t>that</a:t>
            </a:r>
            <a:r>
              <a:rPr sz="3250" spc="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its </a:t>
            </a:r>
            <a:r>
              <a:rPr sz="3250" spc="10" dirty="0">
                <a:latin typeface="Calibri"/>
                <a:cs typeface="Calibri"/>
              </a:rPr>
              <a:t>function is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carriers.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This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indicated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by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letter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symbol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811" y="1289913"/>
            <a:ext cx="10150475" cy="461581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Arrow-Head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indicates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that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45" dirty="0">
                <a:latin typeface="Calibri"/>
                <a:cs typeface="Calibri"/>
              </a:rPr>
              <a:t>emitter.</a:t>
            </a:r>
            <a:endParaRPr sz="3250">
              <a:latin typeface="Calibri"/>
              <a:cs typeface="Calibri"/>
            </a:endParaRPr>
          </a:p>
          <a:p>
            <a:pPr marL="414655" marR="5080" indent="-402590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4655" algn="l"/>
                <a:tab pos="415290" algn="l"/>
                <a:tab pos="2258695" algn="l"/>
              </a:tabLst>
            </a:pPr>
            <a:r>
              <a:rPr sz="3250" dirty="0">
                <a:latin typeface="Calibri"/>
                <a:cs typeface="Calibri"/>
              </a:rPr>
              <a:t>Collector</a:t>
            </a:r>
            <a:r>
              <a:rPr sz="3250" spc="14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1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transistor</a:t>
            </a:r>
            <a:r>
              <a:rPr sz="3250" spc="17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has</a:t>
            </a:r>
            <a:r>
              <a:rPr sz="3250" spc="14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made</a:t>
            </a:r>
            <a:r>
              <a:rPr sz="3250" spc="16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large</a:t>
            </a:r>
            <a:r>
              <a:rPr sz="3250" spc="15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enough</a:t>
            </a:r>
            <a:r>
              <a:rPr sz="3250" spc="1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that,</a:t>
            </a:r>
            <a:r>
              <a:rPr sz="3250" spc="1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dissipates	</a:t>
            </a:r>
            <a:r>
              <a:rPr sz="3250" spc="-10" dirty="0">
                <a:latin typeface="Calibri"/>
                <a:cs typeface="Calibri"/>
              </a:rPr>
              <a:t>greater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65" dirty="0">
                <a:latin typeface="Calibri"/>
                <a:cs typeface="Calibri"/>
              </a:rPr>
              <a:t>power.</a:t>
            </a:r>
            <a:endParaRPr sz="3250">
              <a:latin typeface="Calibri"/>
              <a:cs typeface="Calibri"/>
            </a:endParaRPr>
          </a:p>
          <a:p>
            <a:pPr marL="414655" marR="5080" indent="-402590">
              <a:lnSpc>
                <a:spcPct val="100299"/>
              </a:lnSpc>
              <a:spcBef>
                <a:spcPts val="81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Due</a:t>
            </a:r>
            <a:r>
              <a:rPr sz="3250" spc="16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</a:t>
            </a:r>
            <a:r>
              <a:rPr sz="3250" spc="16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specific</a:t>
            </a:r>
            <a:r>
              <a:rPr sz="3250" spc="17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function</a:t>
            </a:r>
            <a:r>
              <a:rPr sz="3250" spc="14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1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1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1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collector</a:t>
            </a:r>
            <a:r>
              <a:rPr sz="3250" spc="14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they </a:t>
            </a:r>
            <a:r>
              <a:rPr sz="3250" spc="-71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are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not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interchangeable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Hence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terminals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are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always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kept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properly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while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using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notch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always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present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near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35" dirty="0">
                <a:latin typeface="Calibri"/>
                <a:cs typeface="Calibri"/>
              </a:rPr>
              <a:t>Terminals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can also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identified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using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multimeter.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1128" y="679703"/>
            <a:ext cx="47339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Transistor</a:t>
            </a:r>
            <a:r>
              <a:rPr spc="45" dirty="0"/>
              <a:t> </a:t>
            </a:r>
            <a:r>
              <a:rPr spc="10" dirty="0"/>
              <a:t>Biasing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389887"/>
            <a:ext cx="9795510" cy="49155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4655" marR="5080" indent="-40259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414655" algn="l"/>
                <a:tab pos="415290" algn="l"/>
                <a:tab pos="2313305" algn="l"/>
                <a:tab pos="3898265" algn="l"/>
                <a:tab pos="4498975" algn="l"/>
                <a:tab pos="5218430" algn="l"/>
                <a:tab pos="7641590" algn="l"/>
                <a:tab pos="9317990" algn="l"/>
              </a:tabLst>
            </a:pPr>
            <a:r>
              <a:rPr sz="3250" spc="-195" dirty="0">
                <a:latin typeface="Calibri"/>
                <a:cs typeface="Calibri"/>
              </a:rPr>
              <a:t>T</a:t>
            </a:r>
            <a:r>
              <a:rPr sz="3250" spc="-85" dirty="0">
                <a:latin typeface="Calibri"/>
                <a:cs typeface="Calibri"/>
              </a:rPr>
              <a:t>r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spc="-5" dirty="0">
                <a:latin typeface="Calibri"/>
                <a:cs typeface="Calibri"/>
              </a:rPr>
              <a:t>n</a:t>
            </a:r>
            <a:r>
              <a:rPr sz="3250" spc="20" dirty="0">
                <a:latin typeface="Calibri"/>
                <a:cs typeface="Calibri"/>
              </a:rPr>
              <a:t>s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-45" dirty="0">
                <a:latin typeface="Calibri"/>
                <a:cs typeface="Calibri"/>
              </a:rPr>
              <a:t>s</a:t>
            </a:r>
            <a:r>
              <a:rPr sz="3250" spc="-15" dirty="0">
                <a:latin typeface="Calibri"/>
                <a:cs typeface="Calibri"/>
              </a:rPr>
              <a:t>t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dirty="0">
                <a:latin typeface="Calibri"/>
                <a:cs typeface="Calibri"/>
              </a:rPr>
              <a:t>r	</a:t>
            </a:r>
            <a:r>
              <a:rPr sz="3250" spc="-5" dirty="0">
                <a:latin typeface="Calibri"/>
                <a:cs typeface="Calibri"/>
              </a:rPr>
              <a:t>c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1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s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-45" dirty="0">
                <a:latin typeface="Calibri"/>
                <a:cs typeface="Calibri"/>
              </a:rPr>
              <a:t>s</a:t>
            </a:r>
            <a:r>
              <a:rPr sz="3250" spc="30" dirty="0">
                <a:latin typeface="Calibri"/>
                <a:cs typeface="Calibri"/>
              </a:rPr>
              <a:t>t</a:t>
            </a:r>
            <a:r>
              <a:rPr sz="3250" spc="5" dirty="0">
                <a:latin typeface="Calibri"/>
                <a:cs typeface="Calibri"/>
              </a:rPr>
              <a:t>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dirty="0">
                <a:latin typeface="Calibri"/>
                <a:cs typeface="Calibri"/>
              </a:rPr>
              <a:t>f	</a:t>
            </a:r>
            <a:r>
              <a:rPr sz="3250" spc="15" dirty="0">
                <a:latin typeface="Calibri"/>
                <a:cs typeface="Calibri"/>
              </a:rPr>
              <a:t>(</a:t>
            </a:r>
            <a:r>
              <a:rPr sz="3250" spc="5" dirty="0">
                <a:latin typeface="Calibri"/>
                <a:cs typeface="Calibri"/>
              </a:rPr>
              <a:t>1</a:t>
            </a:r>
            <a:r>
              <a:rPr sz="3250" dirty="0">
                <a:latin typeface="Calibri"/>
                <a:cs typeface="Calibri"/>
              </a:rPr>
              <a:t>)	</a:t>
            </a:r>
            <a:r>
              <a:rPr sz="3250" spc="-5" dirty="0">
                <a:latin typeface="Calibri"/>
                <a:cs typeface="Calibri"/>
              </a:rPr>
              <a:t>E</a:t>
            </a:r>
            <a:r>
              <a:rPr sz="3250" spc="15" dirty="0">
                <a:latin typeface="Calibri"/>
                <a:cs typeface="Calibri"/>
              </a:rPr>
              <a:t>m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-40" dirty="0">
                <a:latin typeface="Calibri"/>
                <a:cs typeface="Calibri"/>
              </a:rPr>
              <a:t>t</a:t>
            </a:r>
            <a:r>
              <a:rPr sz="3250" spc="-15" dirty="0">
                <a:latin typeface="Calibri"/>
                <a:cs typeface="Calibri"/>
              </a:rPr>
              <a:t>t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-10" dirty="0">
                <a:latin typeface="Calibri"/>
                <a:cs typeface="Calibri"/>
              </a:rPr>
              <a:t>r</a:t>
            </a:r>
            <a:r>
              <a:rPr sz="3250" spc="5" dirty="0">
                <a:latin typeface="Calibri"/>
                <a:cs typeface="Calibri"/>
              </a:rPr>
              <a:t>-B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0" dirty="0">
                <a:latin typeface="Calibri"/>
                <a:cs typeface="Calibri"/>
              </a:rPr>
              <a:t>J</a:t>
            </a:r>
            <a:r>
              <a:rPr sz="3250" spc="15" dirty="0">
                <a:latin typeface="Calibri"/>
                <a:cs typeface="Calibri"/>
              </a:rPr>
              <a:t>u</a:t>
            </a:r>
            <a:r>
              <a:rPr sz="3250" spc="-5" dirty="0">
                <a:latin typeface="Calibri"/>
                <a:cs typeface="Calibri"/>
              </a:rPr>
              <a:t>n</a:t>
            </a:r>
            <a:r>
              <a:rPr sz="3250" spc="15" dirty="0">
                <a:latin typeface="Calibri"/>
                <a:cs typeface="Calibri"/>
              </a:rPr>
              <a:t>c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30" dirty="0">
                <a:latin typeface="Calibri"/>
                <a:cs typeface="Calibri"/>
              </a:rPr>
              <a:t>o</a:t>
            </a:r>
            <a:r>
              <a:rPr sz="3250" spc="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(</a:t>
            </a:r>
            <a:r>
              <a:rPr sz="3250" spc="30" dirty="0">
                <a:latin typeface="Calibri"/>
                <a:cs typeface="Calibri"/>
              </a:rPr>
              <a:t>2</a:t>
            </a:r>
            <a:r>
              <a:rPr sz="3250" dirty="0">
                <a:latin typeface="Calibri"/>
                <a:cs typeface="Calibri"/>
              </a:rPr>
              <a:t>)  </a:t>
            </a:r>
            <a:r>
              <a:rPr sz="3250" spc="5" dirty="0">
                <a:latin typeface="Calibri"/>
                <a:cs typeface="Calibri"/>
              </a:rPr>
              <a:t>Collector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Base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Junction</a:t>
            </a:r>
            <a:endParaRPr sz="3250">
              <a:latin typeface="Calibri"/>
              <a:cs typeface="Calibri"/>
            </a:endParaRPr>
          </a:p>
          <a:p>
            <a:pPr marL="414655" marR="10160" indent="-402590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4655" algn="l"/>
                <a:tab pos="415290" algn="l"/>
                <a:tab pos="1828800" algn="l"/>
                <a:tab pos="2277110" algn="l"/>
                <a:tab pos="4267200" algn="l"/>
                <a:tab pos="5023485" algn="l"/>
                <a:tab pos="6858000" algn="l"/>
                <a:tab pos="7394575" algn="l"/>
                <a:tab pos="8147684" algn="l"/>
                <a:tab pos="9375775" algn="l"/>
              </a:tabLst>
            </a:pPr>
            <a:r>
              <a:rPr sz="3250" b="1" spc="-5" dirty="0">
                <a:latin typeface="Calibri"/>
                <a:cs typeface="Calibri"/>
              </a:rPr>
              <a:t>B</a:t>
            </a:r>
            <a:r>
              <a:rPr sz="3250" b="1" spc="10" dirty="0">
                <a:latin typeface="Calibri"/>
                <a:cs typeface="Calibri"/>
              </a:rPr>
              <a:t>i</a:t>
            </a:r>
            <a:r>
              <a:rPr sz="3250" b="1" dirty="0">
                <a:latin typeface="Calibri"/>
                <a:cs typeface="Calibri"/>
              </a:rPr>
              <a:t>a</a:t>
            </a:r>
            <a:r>
              <a:rPr sz="3250" b="1" spc="20" dirty="0">
                <a:latin typeface="Calibri"/>
                <a:cs typeface="Calibri"/>
              </a:rPr>
              <a:t>s</a:t>
            </a:r>
            <a:r>
              <a:rPr sz="3250" b="1" spc="-10" dirty="0">
                <a:latin typeface="Calibri"/>
                <a:cs typeface="Calibri"/>
              </a:rPr>
              <a:t>i</a:t>
            </a:r>
            <a:r>
              <a:rPr sz="3250" b="1" spc="5" dirty="0">
                <a:latin typeface="Calibri"/>
                <a:cs typeface="Calibri"/>
              </a:rPr>
              <a:t>ng</a:t>
            </a:r>
            <a:r>
              <a:rPr sz="3250" b="1" dirty="0">
                <a:latin typeface="Calibri"/>
                <a:cs typeface="Calibri"/>
              </a:rPr>
              <a:t>	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c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-30" dirty="0">
                <a:latin typeface="Calibri"/>
                <a:cs typeface="Calibri"/>
              </a:rPr>
              <a:t>n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15" dirty="0">
                <a:latin typeface="Calibri"/>
                <a:cs typeface="Calibri"/>
              </a:rPr>
              <a:t>l</a:t>
            </a:r>
            <a:r>
              <a:rPr sz="3250" spc="-5" dirty="0">
                <a:latin typeface="Calibri"/>
                <a:cs typeface="Calibri"/>
              </a:rPr>
              <a:t>lin</a:t>
            </a:r>
            <a:r>
              <a:rPr sz="3250" spc="5" dirty="0">
                <a:latin typeface="Calibri"/>
                <a:cs typeface="Calibri"/>
              </a:rPr>
              <a:t>g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30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-5" dirty="0">
                <a:latin typeface="Calibri"/>
                <a:cs typeface="Calibri"/>
              </a:rPr>
              <a:t>p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-85" dirty="0">
                <a:latin typeface="Calibri"/>
                <a:cs typeface="Calibri"/>
              </a:rPr>
              <a:t>r</a:t>
            </a:r>
            <a:r>
              <a:rPr sz="3250" spc="-25" dirty="0">
                <a:latin typeface="Calibri"/>
                <a:cs typeface="Calibri"/>
              </a:rPr>
              <a:t>a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30" dirty="0">
                <a:latin typeface="Calibri"/>
                <a:cs typeface="Calibri"/>
              </a:rPr>
              <a:t>o</a:t>
            </a:r>
            <a:r>
              <a:rPr sz="3250" spc="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dirty="0">
                <a:latin typeface="Calibri"/>
                <a:cs typeface="Calibri"/>
              </a:rPr>
              <a:t>f	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5" dirty="0">
                <a:latin typeface="Calibri"/>
                <a:cs typeface="Calibri"/>
              </a:rPr>
              <a:t>c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35" dirty="0">
                <a:latin typeface="Calibri"/>
                <a:cs typeface="Calibri"/>
              </a:rPr>
              <a:t>c</a:t>
            </a:r>
            <a:r>
              <a:rPr sz="3250" spc="-5" dirty="0">
                <a:latin typeface="Calibri"/>
                <a:cs typeface="Calibri"/>
              </a:rPr>
              <a:t>ui</a:t>
            </a:r>
            <a:r>
              <a:rPr sz="3250" dirty="0">
                <a:latin typeface="Calibri"/>
                <a:cs typeface="Calibri"/>
              </a:rPr>
              <a:t>t	</a:t>
            </a:r>
            <a:r>
              <a:rPr sz="3250" spc="-30" dirty="0">
                <a:latin typeface="Calibri"/>
                <a:cs typeface="Calibri"/>
              </a:rPr>
              <a:t>b</a:t>
            </a:r>
            <a:r>
              <a:rPr sz="3250" dirty="0">
                <a:latin typeface="Calibri"/>
                <a:cs typeface="Calibri"/>
              </a:rPr>
              <a:t>y  </a:t>
            </a:r>
            <a:r>
              <a:rPr sz="3250" spc="-10" dirty="0">
                <a:latin typeface="Calibri"/>
                <a:cs typeface="Calibri"/>
              </a:rPr>
              <a:t>providing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power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35" dirty="0">
                <a:latin typeface="Calibri"/>
                <a:cs typeface="Calibri"/>
              </a:rPr>
              <a:t>supply.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114" dirty="0">
                <a:latin typeface="Calibri"/>
                <a:cs typeface="Calibri"/>
              </a:rPr>
              <a:t>W.K.T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Forward</a:t>
            </a:r>
            <a:r>
              <a:rPr sz="3250" spc="9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Bias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Reverse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Bias</a:t>
            </a:r>
            <a:endParaRPr sz="3250">
              <a:latin typeface="Calibri"/>
              <a:cs typeface="Calibri"/>
            </a:endParaRPr>
          </a:p>
          <a:p>
            <a:pPr marL="414655" marR="6350" indent="-402590">
              <a:lnSpc>
                <a:spcPct val="100899"/>
              </a:lnSpc>
              <a:spcBef>
                <a:spcPts val="795"/>
              </a:spcBef>
              <a:buFont typeface="Arial MT"/>
              <a:buChar char="•"/>
              <a:tabLst>
                <a:tab pos="414655" algn="l"/>
                <a:tab pos="415290" algn="l"/>
                <a:tab pos="8717280" algn="l"/>
              </a:tabLst>
            </a:pPr>
            <a:r>
              <a:rPr sz="3250" spc="-5" dirty="0">
                <a:latin typeface="Calibri"/>
                <a:cs typeface="Calibri"/>
              </a:rPr>
              <a:t>Emitter-Base</a:t>
            </a:r>
            <a:r>
              <a:rPr sz="3250" spc="37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junction</a:t>
            </a:r>
            <a:r>
              <a:rPr sz="3250" spc="3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38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always</a:t>
            </a:r>
            <a:r>
              <a:rPr sz="3250" spc="36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forward</a:t>
            </a:r>
            <a:r>
              <a:rPr sz="3250" spc="3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biased,	as</a:t>
            </a:r>
            <a:r>
              <a:rPr sz="3250" spc="26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-2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resistance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very</a:t>
            </a:r>
            <a:r>
              <a:rPr sz="3250" dirty="0">
                <a:latin typeface="Calibri"/>
                <a:cs typeface="Calibri"/>
              </a:rPr>
              <a:t> small.</a:t>
            </a:r>
            <a:endParaRPr sz="3250">
              <a:latin typeface="Calibri"/>
              <a:cs typeface="Calibri"/>
            </a:endParaRPr>
          </a:p>
          <a:p>
            <a:pPr marL="414655" marR="5080" indent="-402590">
              <a:lnSpc>
                <a:spcPct val="100899"/>
              </a:lnSpc>
              <a:spcBef>
                <a:spcPts val="765"/>
              </a:spcBef>
              <a:buFont typeface="Arial MT"/>
              <a:buChar char="•"/>
              <a:tabLst>
                <a:tab pos="414655" algn="l"/>
                <a:tab pos="415290" algn="l"/>
                <a:tab pos="3027045" algn="l"/>
                <a:tab pos="4596765" algn="l"/>
                <a:tab pos="5035550" algn="l"/>
                <a:tab pos="6339840" algn="l"/>
                <a:tab pos="7760334" algn="l"/>
                <a:tab pos="9144000" algn="l"/>
              </a:tabLst>
            </a:pPr>
            <a:r>
              <a:rPr sz="3250" spc="10" dirty="0">
                <a:latin typeface="Calibri"/>
                <a:cs typeface="Calibri"/>
              </a:rPr>
              <a:t>Co</a:t>
            </a:r>
            <a:r>
              <a:rPr sz="3250" spc="-5" dirty="0">
                <a:latin typeface="Calibri"/>
                <a:cs typeface="Calibri"/>
              </a:rPr>
              <a:t>ll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-5" dirty="0">
                <a:latin typeface="Calibri"/>
                <a:cs typeface="Calibri"/>
              </a:rPr>
              <a:t>c</a:t>
            </a:r>
            <a:r>
              <a:rPr sz="3250" spc="-15" dirty="0">
                <a:latin typeface="Calibri"/>
                <a:cs typeface="Calibri"/>
              </a:rPr>
              <a:t>t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-5" dirty="0">
                <a:latin typeface="Calibri"/>
                <a:cs typeface="Calibri"/>
              </a:rPr>
              <a:t>r</a:t>
            </a:r>
            <a:r>
              <a:rPr sz="3250" spc="5" dirty="0">
                <a:latin typeface="Calibri"/>
                <a:cs typeface="Calibri"/>
              </a:rPr>
              <a:t>-B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35" dirty="0">
                <a:latin typeface="Calibri"/>
                <a:cs typeface="Calibri"/>
              </a:rPr>
              <a:t>j</a:t>
            </a:r>
            <a:r>
              <a:rPr sz="3250" spc="15" dirty="0">
                <a:latin typeface="Calibri"/>
                <a:cs typeface="Calibri"/>
              </a:rPr>
              <a:t>u</a:t>
            </a:r>
            <a:r>
              <a:rPr sz="3250" spc="-5" dirty="0">
                <a:latin typeface="Calibri"/>
                <a:cs typeface="Calibri"/>
              </a:rPr>
              <a:t>n</a:t>
            </a:r>
            <a:r>
              <a:rPr sz="3250" spc="15" dirty="0">
                <a:latin typeface="Calibri"/>
                <a:cs typeface="Calibri"/>
              </a:rPr>
              <a:t>c</a:t>
            </a:r>
            <a:r>
              <a:rPr sz="3250" spc="5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s</a:t>
            </a:r>
            <a:r>
              <a:rPr sz="3250" dirty="0">
                <a:latin typeface="Calibri"/>
                <a:cs typeface="Calibri"/>
              </a:rPr>
              <a:t>	a</a:t>
            </a:r>
            <a:r>
              <a:rPr sz="3250" spc="15" dirty="0">
                <a:latin typeface="Calibri"/>
                <a:cs typeface="Calibri"/>
              </a:rPr>
              <a:t>l</a:t>
            </a:r>
            <a:r>
              <a:rPr sz="3250" spc="-45" dirty="0">
                <a:latin typeface="Calibri"/>
                <a:cs typeface="Calibri"/>
              </a:rPr>
              <a:t>w</a:t>
            </a:r>
            <a:r>
              <a:rPr sz="3250" spc="-75" dirty="0">
                <a:latin typeface="Calibri"/>
                <a:cs typeface="Calibri"/>
              </a:rPr>
              <a:t>a</a:t>
            </a:r>
            <a:r>
              <a:rPr sz="3250" spc="-10" dirty="0">
                <a:latin typeface="Calibri"/>
                <a:cs typeface="Calibri"/>
              </a:rPr>
              <a:t>y</a:t>
            </a:r>
            <a:r>
              <a:rPr sz="3250" spc="5" dirty="0">
                <a:latin typeface="Calibri"/>
                <a:cs typeface="Calibri"/>
              </a:rPr>
              <a:t>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-15" dirty="0">
                <a:latin typeface="Calibri"/>
                <a:cs typeface="Calibri"/>
              </a:rPr>
              <a:t>e</a:t>
            </a:r>
            <a:r>
              <a:rPr sz="3250" spc="-30" dirty="0">
                <a:latin typeface="Calibri"/>
                <a:cs typeface="Calibri"/>
              </a:rPr>
              <a:t>v</a:t>
            </a:r>
            <a:r>
              <a:rPr sz="3250" spc="10" dirty="0">
                <a:latin typeface="Calibri"/>
                <a:cs typeface="Calibri"/>
              </a:rPr>
              <a:t>e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dirty="0">
                <a:latin typeface="Calibri"/>
                <a:cs typeface="Calibri"/>
              </a:rPr>
              <a:t>s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bi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dirty="0">
                <a:latin typeface="Calibri"/>
                <a:cs typeface="Calibri"/>
              </a:rPr>
              <a:t>s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15" dirty="0">
                <a:latin typeface="Calibri"/>
                <a:cs typeface="Calibri"/>
              </a:rPr>
              <a:t>d</a:t>
            </a:r>
            <a:r>
              <a:rPr sz="3250" dirty="0">
                <a:latin typeface="Calibri"/>
                <a:cs typeface="Calibri"/>
              </a:rPr>
              <a:t>,	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spc="1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d  the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resistance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offered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bit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0" dirty="0">
                <a:latin typeface="Calibri"/>
                <a:cs typeface="Calibri"/>
              </a:rPr>
              <a:t>higher.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371" y="1347208"/>
            <a:ext cx="7335389" cy="52522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811" y="1289913"/>
            <a:ext cx="10240010" cy="341820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 algn="just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Hence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name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TRANSFER-RESISTOR</a:t>
            </a:r>
            <a:r>
              <a:rPr sz="3250" spc="1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(TRANSISTOR)</a:t>
            </a:r>
            <a:endParaRPr sz="3250">
              <a:latin typeface="Calibri"/>
              <a:cs typeface="Calibri"/>
            </a:endParaRPr>
          </a:p>
          <a:p>
            <a:pPr marL="414655" indent="-402590" algn="just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Small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Forward</a:t>
            </a:r>
            <a:r>
              <a:rPr sz="3250" spc="9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Bias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&amp;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High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Reverse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Bias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100600"/>
              </a:lnSpc>
              <a:spcBef>
                <a:spcPts val="80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The direction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spc="-10" dirty="0">
                <a:latin typeface="Calibri"/>
                <a:cs typeface="Calibri"/>
              </a:rPr>
              <a:t>current </a:t>
            </a:r>
            <a:r>
              <a:rPr sz="3250" dirty="0">
                <a:latin typeface="Calibri"/>
                <a:cs typeface="Calibri"/>
              </a:rPr>
              <a:t>indicated in the circuits </a:t>
            </a:r>
            <a:r>
              <a:rPr sz="3250" spc="-5" dirty="0">
                <a:latin typeface="Calibri"/>
                <a:cs typeface="Calibri"/>
              </a:rPr>
              <a:t>above, </a:t>
            </a:r>
            <a:r>
              <a:rPr sz="3250" dirty="0">
                <a:latin typeface="Calibri"/>
                <a:cs typeface="Calibri"/>
              </a:rPr>
              <a:t> also called </a:t>
            </a:r>
            <a:r>
              <a:rPr sz="3250" spc="10" dirty="0">
                <a:latin typeface="Calibri"/>
                <a:cs typeface="Calibri"/>
              </a:rPr>
              <a:t>as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b="1" spc="-5" dirty="0">
                <a:latin typeface="Calibri"/>
                <a:cs typeface="Calibri"/>
              </a:rPr>
              <a:t>Conventional </a:t>
            </a:r>
            <a:r>
              <a:rPr sz="3250" b="1" dirty="0">
                <a:latin typeface="Calibri"/>
                <a:cs typeface="Calibri"/>
              </a:rPr>
              <a:t>Current</a:t>
            </a:r>
            <a:r>
              <a:rPr sz="3250" dirty="0">
                <a:latin typeface="Calibri"/>
                <a:cs typeface="Calibri"/>
              </a:rPr>
              <a:t>, is the movement </a:t>
            </a:r>
            <a:r>
              <a:rPr sz="3250" spc="5" dirty="0">
                <a:latin typeface="Calibri"/>
                <a:cs typeface="Calibri"/>
              </a:rPr>
              <a:t> of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hole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which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b="1" spc="-5" dirty="0">
                <a:latin typeface="Calibri"/>
                <a:cs typeface="Calibri"/>
              </a:rPr>
              <a:t>opposite</a:t>
            </a:r>
            <a:r>
              <a:rPr sz="3250" b="1" spc="65" dirty="0">
                <a:latin typeface="Calibri"/>
                <a:cs typeface="Calibri"/>
              </a:rPr>
              <a:t> </a:t>
            </a:r>
            <a:r>
              <a:rPr sz="3250" b="1" spc="-10" dirty="0">
                <a:latin typeface="Calibri"/>
                <a:cs typeface="Calibri"/>
              </a:rPr>
              <a:t>to</a:t>
            </a:r>
            <a:r>
              <a:rPr sz="3250" b="1" spc="25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the</a:t>
            </a:r>
            <a:r>
              <a:rPr sz="3250" b="1" spc="20" dirty="0">
                <a:latin typeface="Calibri"/>
                <a:cs typeface="Calibri"/>
              </a:rPr>
              <a:t> </a:t>
            </a:r>
            <a:r>
              <a:rPr sz="3250" b="1" spc="-10" dirty="0">
                <a:latin typeface="Calibri"/>
                <a:cs typeface="Calibri"/>
              </a:rPr>
              <a:t>electron</a:t>
            </a:r>
            <a:r>
              <a:rPr sz="3250" b="1" spc="120" dirty="0">
                <a:latin typeface="Calibri"/>
                <a:cs typeface="Calibri"/>
              </a:rPr>
              <a:t> </a:t>
            </a:r>
            <a:r>
              <a:rPr sz="3250" b="1" spc="-10" dirty="0">
                <a:latin typeface="Calibri"/>
                <a:cs typeface="Calibri"/>
              </a:rPr>
              <a:t>current</a:t>
            </a:r>
            <a:r>
              <a:rPr sz="3250" spc="-10" dirty="0">
                <a:latin typeface="Calibri"/>
                <a:cs typeface="Calibri"/>
              </a:rPr>
              <a:t>.</a:t>
            </a:r>
            <a:endParaRPr sz="3250">
              <a:latin typeface="Calibri"/>
              <a:cs typeface="Calibri"/>
            </a:endParaRPr>
          </a:p>
          <a:p>
            <a:pPr marL="414655" indent="-402590" algn="just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directions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can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observed.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7019" y="679703"/>
            <a:ext cx="74733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26150" algn="l"/>
              </a:tabLst>
            </a:pPr>
            <a:r>
              <a:rPr spc="80" dirty="0"/>
              <a:t>Principle</a:t>
            </a:r>
            <a:r>
              <a:rPr spc="-5" dirty="0"/>
              <a:t> </a:t>
            </a:r>
            <a:r>
              <a:rPr spc="-85" dirty="0"/>
              <a:t>of</a:t>
            </a:r>
            <a:r>
              <a:rPr spc="-30" dirty="0"/>
              <a:t> </a:t>
            </a:r>
            <a:r>
              <a:rPr spc="45" dirty="0"/>
              <a:t>Operation	</a:t>
            </a:r>
            <a:r>
              <a:rPr dirty="0"/>
              <a:t>-</a:t>
            </a:r>
            <a:r>
              <a:rPr spc="-155" dirty="0"/>
              <a:t> </a:t>
            </a:r>
            <a:r>
              <a:rPr spc="50" dirty="0"/>
              <a:t>PNP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843" y="1375155"/>
            <a:ext cx="8024977" cy="522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111" y="1338072"/>
            <a:ext cx="10072370" cy="496697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27355" marR="1042035" indent="-402590">
              <a:lnSpc>
                <a:spcPts val="3550"/>
              </a:lnSpc>
              <a:spcBef>
                <a:spcPts val="525"/>
              </a:spcBef>
              <a:buFont typeface="Arial MT"/>
              <a:buChar char="•"/>
              <a:tabLst>
                <a:tab pos="427355" algn="l"/>
                <a:tab pos="427990" algn="l"/>
                <a:tab pos="3804285" algn="l"/>
              </a:tabLst>
            </a:pPr>
            <a:r>
              <a:rPr sz="3250" spc="-5" dirty="0">
                <a:latin typeface="Calibri"/>
                <a:cs typeface="Calibri"/>
              </a:rPr>
              <a:t>Emitter-Base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Junction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Forward</a:t>
            </a:r>
            <a:r>
              <a:rPr sz="3250" spc="114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Bias,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Collector-Base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Junction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Reverse	</a:t>
            </a:r>
            <a:r>
              <a:rPr sz="3250" dirty="0">
                <a:latin typeface="Calibri"/>
                <a:cs typeface="Calibri"/>
              </a:rPr>
              <a:t>Bias</a:t>
            </a:r>
            <a:endParaRPr sz="3250">
              <a:latin typeface="Calibri"/>
              <a:cs typeface="Calibri"/>
            </a:endParaRPr>
          </a:p>
          <a:p>
            <a:pPr marL="427355" marR="17780" indent="-402590">
              <a:lnSpc>
                <a:spcPct val="90800"/>
              </a:lnSpc>
              <a:spcBef>
                <a:spcPts val="720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spc="5" dirty="0">
                <a:latin typeface="Calibri"/>
                <a:cs typeface="Calibri"/>
              </a:rPr>
              <a:t>V</a:t>
            </a:r>
            <a:r>
              <a:rPr sz="3225" spc="7" baseline="-20671" dirty="0">
                <a:latin typeface="Calibri"/>
                <a:cs typeface="Calibri"/>
              </a:rPr>
              <a:t>EE</a:t>
            </a:r>
            <a:r>
              <a:rPr sz="3225" spc="412" baseline="-20671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provides</a:t>
            </a:r>
            <a:r>
              <a:rPr sz="3250" spc="10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spc="-5" dirty="0">
                <a:latin typeface="Calibri"/>
                <a:cs typeface="Calibri"/>
              </a:rPr>
              <a:t>positive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repels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holes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p-type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material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those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holes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cross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emitter-base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junction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reach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base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region.</a:t>
            </a:r>
            <a:endParaRPr sz="3250">
              <a:latin typeface="Calibri"/>
              <a:cs typeface="Calibri"/>
            </a:endParaRPr>
          </a:p>
          <a:p>
            <a:pPr marL="427355" marR="454025" indent="-402590">
              <a:lnSpc>
                <a:spcPts val="3529"/>
              </a:lnSpc>
              <a:spcBef>
                <a:spcPts val="844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spc="-35" dirty="0">
                <a:latin typeface="Calibri"/>
                <a:cs typeface="Calibri"/>
              </a:rPr>
              <a:t>Very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few</a:t>
            </a:r>
            <a:r>
              <a:rPr sz="3250" dirty="0">
                <a:latin typeface="Calibri"/>
                <a:cs typeface="Calibri"/>
              </a:rPr>
              <a:t> holes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recombine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with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electrons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N-type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base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region.</a:t>
            </a:r>
            <a:endParaRPr sz="3250">
              <a:latin typeface="Calibri"/>
              <a:cs typeface="Calibri"/>
            </a:endParaRPr>
          </a:p>
          <a:p>
            <a:pPr marL="427355" indent="-40259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spc="-5" dirty="0">
                <a:latin typeface="Calibri"/>
                <a:cs typeface="Calibri"/>
              </a:rPr>
              <a:t>This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provides</a:t>
            </a:r>
            <a:r>
              <a:rPr sz="3250" spc="10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-5" dirty="0">
                <a:latin typeface="Calibri"/>
                <a:cs typeface="Calibri"/>
              </a:rPr>
              <a:t> low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base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called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</a:t>
            </a:r>
            <a:r>
              <a:rPr sz="3225" baseline="-20671" dirty="0">
                <a:latin typeface="Calibri"/>
                <a:cs typeface="Calibri"/>
              </a:rPr>
              <a:t>B.</a:t>
            </a:r>
            <a:endParaRPr sz="3225" baseline="-20671">
              <a:latin typeface="Calibri"/>
              <a:cs typeface="Calibri"/>
            </a:endParaRPr>
          </a:p>
          <a:p>
            <a:pPr marL="427355" marR="90805" indent="-402590">
              <a:lnSpc>
                <a:spcPts val="3529"/>
              </a:lnSpc>
              <a:spcBef>
                <a:spcPts val="844"/>
              </a:spcBef>
              <a:buFont typeface="Arial MT"/>
              <a:buChar char="•"/>
              <a:tabLst>
                <a:tab pos="427355" algn="l"/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remaining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holes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cross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collector-base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junction,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constitute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collector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I</a:t>
            </a:r>
            <a:r>
              <a:rPr sz="3225" b="1" baseline="-20671" dirty="0">
                <a:latin typeface="Calibri"/>
                <a:cs typeface="Calibri"/>
              </a:rPr>
              <a:t>C</a:t>
            </a:r>
            <a:r>
              <a:rPr sz="3250" dirty="0">
                <a:latin typeface="Calibri"/>
                <a:cs typeface="Calibri"/>
              </a:rPr>
              <a:t>,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which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hole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111" y="1389887"/>
            <a:ext cx="10358120" cy="41167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7355" marR="17780" indent="-402590" algn="just">
              <a:lnSpc>
                <a:spcPct val="100600"/>
              </a:lnSpc>
              <a:spcBef>
                <a:spcPts val="9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5" dirty="0">
                <a:latin typeface="Calibri"/>
                <a:cs typeface="Calibri"/>
              </a:rPr>
              <a:t>As a </a:t>
            </a:r>
            <a:r>
              <a:rPr sz="3250" dirty="0">
                <a:latin typeface="Calibri"/>
                <a:cs typeface="Calibri"/>
              </a:rPr>
              <a:t>hole reaches the collector </a:t>
            </a:r>
            <a:r>
              <a:rPr sz="3250" spc="-5" dirty="0">
                <a:latin typeface="Calibri"/>
                <a:cs typeface="Calibri"/>
              </a:rPr>
              <a:t>terminal, </a:t>
            </a:r>
            <a:r>
              <a:rPr sz="3250" spc="10" dirty="0">
                <a:latin typeface="Calibri"/>
                <a:cs typeface="Calibri"/>
              </a:rPr>
              <a:t>an </a:t>
            </a:r>
            <a:r>
              <a:rPr sz="3250" dirty="0">
                <a:latin typeface="Calibri"/>
                <a:cs typeface="Calibri"/>
              </a:rPr>
              <a:t>electron </a:t>
            </a:r>
            <a:r>
              <a:rPr sz="3250" spc="-10" dirty="0">
                <a:latin typeface="Calibri"/>
                <a:cs typeface="Calibri"/>
              </a:rPr>
              <a:t>from 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battery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negative</a:t>
            </a:r>
            <a:r>
              <a:rPr sz="3250" spc="70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fills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the</a:t>
            </a:r>
            <a:r>
              <a:rPr sz="3250" spc="75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space</a:t>
            </a:r>
            <a:r>
              <a:rPr sz="3250" spc="7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35" dirty="0">
                <a:latin typeface="Calibri"/>
                <a:cs typeface="Calibri"/>
              </a:rPr>
              <a:t>collector.</a:t>
            </a:r>
            <a:endParaRPr sz="3250">
              <a:latin typeface="Calibri"/>
              <a:cs typeface="Calibri"/>
            </a:endParaRPr>
          </a:p>
          <a:p>
            <a:pPr marL="427355" marR="18415" indent="-402590" algn="just">
              <a:lnSpc>
                <a:spcPct val="100800"/>
              </a:lnSpc>
              <a:spcBef>
                <a:spcPts val="795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This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flow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slowly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increases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and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electron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minority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flows </a:t>
            </a:r>
            <a:r>
              <a:rPr sz="3250" spc="5" dirty="0">
                <a:latin typeface="Calibri"/>
                <a:cs typeface="Calibri"/>
              </a:rPr>
              <a:t>through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-40" dirty="0">
                <a:latin typeface="Calibri"/>
                <a:cs typeface="Calibri"/>
              </a:rPr>
              <a:t>emitter,</a:t>
            </a:r>
            <a:r>
              <a:rPr sz="3250" spc="-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where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each </a:t>
            </a:r>
            <a:r>
              <a:rPr sz="3250" spc="-5" dirty="0">
                <a:latin typeface="Calibri"/>
                <a:cs typeface="Calibri"/>
              </a:rPr>
              <a:t>electron 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entering </a:t>
            </a:r>
            <a:r>
              <a:rPr sz="3250" dirty="0">
                <a:latin typeface="Calibri"/>
                <a:cs typeface="Calibri"/>
              </a:rPr>
              <a:t>the positive terminal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b="1" spc="5" dirty="0">
                <a:latin typeface="Calibri"/>
                <a:cs typeface="Calibri"/>
              </a:rPr>
              <a:t>V</a:t>
            </a:r>
            <a:r>
              <a:rPr sz="3225" b="1" spc="7" baseline="-20671" dirty="0">
                <a:latin typeface="Calibri"/>
                <a:cs typeface="Calibri"/>
              </a:rPr>
              <a:t>EE</a:t>
            </a:r>
            <a:r>
              <a:rPr sz="3250" spc="5" dirty="0">
                <a:latin typeface="Calibri"/>
                <a:cs typeface="Calibri"/>
              </a:rPr>
              <a:t>, </a:t>
            </a:r>
            <a:r>
              <a:rPr sz="3250" dirty="0">
                <a:latin typeface="Calibri"/>
                <a:cs typeface="Calibri"/>
              </a:rPr>
              <a:t>is replaced </a:t>
            </a:r>
            <a:r>
              <a:rPr sz="3250" spc="-15" dirty="0">
                <a:latin typeface="Calibri"/>
                <a:cs typeface="Calibri"/>
              </a:rPr>
              <a:t>by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dirty="0">
                <a:latin typeface="Calibri"/>
                <a:cs typeface="Calibri"/>
              </a:rPr>
              <a:t>hole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by </a:t>
            </a:r>
            <a:r>
              <a:rPr sz="3250" spc="5" dirty="0">
                <a:latin typeface="Calibri"/>
                <a:cs typeface="Calibri"/>
              </a:rPr>
              <a:t>moving </a:t>
            </a:r>
            <a:r>
              <a:rPr sz="3250" spc="-5" dirty="0">
                <a:latin typeface="Calibri"/>
                <a:cs typeface="Calibri"/>
              </a:rPr>
              <a:t>towards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5" dirty="0">
                <a:latin typeface="Calibri"/>
                <a:cs typeface="Calibri"/>
              </a:rPr>
              <a:t>emitter </a:t>
            </a:r>
            <a:r>
              <a:rPr sz="3250" spc="5" dirty="0">
                <a:latin typeface="Calibri"/>
                <a:cs typeface="Calibri"/>
              </a:rPr>
              <a:t>junction. </a:t>
            </a:r>
            <a:r>
              <a:rPr sz="3250" dirty="0">
                <a:latin typeface="Calibri"/>
                <a:cs typeface="Calibri"/>
              </a:rPr>
              <a:t>This constitutes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I</a:t>
            </a:r>
            <a:r>
              <a:rPr sz="3225" b="1" baseline="-20671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811" y="1289913"/>
            <a:ext cx="10245090" cy="391795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5" dirty="0">
                <a:latin typeface="Calibri"/>
                <a:cs typeface="Calibri"/>
              </a:rPr>
              <a:t>In </a:t>
            </a:r>
            <a:r>
              <a:rPr sz="3250" spc="-25" dirty="0">
                <a:latin typeface="Calibri"/>
                <a:cs typeface="Calibri"/>
              </a:rPr>
              <a:t>summary,</a:t>
            </a:r>
            <a:endParaRPr sz="3250">
              <a:latin typeface="Calibri"/>
              <a:cs typeface="Calibri"/>
            </a:endParaRPr>
          </a:p>
          <a:p>
            <a:pPr marL="414655" marR="594995" indent="-402590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conduction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dirty="0">
                <a:latin typeface="Calibri"/>
                <a:cs typeface="Calibri"/>
              </a:rPr>
              <a:t>PNP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transistor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takes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place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through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holes.</a:t>
            </a:r>
            <a:endParaRPr sz="3250">
              <a:latin typeface="Calibri"/>
              <a:cs typeface="Calibri"/>
            </a:endParaRPr>
          </a:p>
          <a:p>
            <a:pPr marL="414655" marR="1064895" indent="-402590">
              <a:lnSpc>
                <a:spcPct val="100299"/>
              </a:lnSpc>
              <a:spcBef>
                <a:spcPts val="81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collector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slightly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less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than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current.</a:t>
            </a:r>
            <a:endParaRPr sz="3250">
              <a:latin typeface="Calibri"/>
              <a:cs typeface="Calibri"/>
            </a:endParaRPr>
          </a:p>
          <a:p>
            <a:pPr marL="414655" marR="5080" indent="-402590">
              <a:lnSpc>
                <a:spcPct val="100899"/>
              </a:lnSpc>
              <a:spcBef>
                <a:spcPts val="79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increase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or</a:t>
            </a:r>
            <a:r>
              <a:rPr sz="3250" spc="-5" dirty="0">
                <a:latin typeface="Calibri"/>
                <a:cs typeface="Calibri"/>
              </a:rPr>
              <a:t> decrease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affects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collector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0819" y="679703"/>
            <a:ext cx="758888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26150" algn="l"/>
              </a:tabLst>
            </a:pPr>
            <a:r>
              <a:rPr spc="5" dirty="0"/>
              <a:t>P</a:t>
            </a:r>
            <a:r>
              <a:rPr spc="204" dirty="0"/>
              <a:t>r</a:t>
            </a:r>
            <a:r>
              <a:rPr spc="160" dirty="0"/>
              <a:t>i</a:t>
            </a:r>
            <a:r>
              <a:rPr spc="20" dirty="0"/>
              <a:t>n</a:t>
            </a:r>
            <a:r>
              <a:rPr spc="25" dirty="0"/>
              <a:t>c</a:t>
            </a:r>
            <a:r>
              <a:rPr spc="160" dirty="0"/>
              <a:t>i</a:t>
            </a:r>
            <a:r>
              <a:rPr spc="25" dirty="0"/>
              <a:t>p</a:t>
            </a:r>
            <a:r>
              <a:rPr spc="160" dirty="0"/>
              <a:t>l</a:t>
            </a:r>
            <a:r>
              <a:rPr dirty="0"/>
              <a:t>e</a:t>
            </a:r>
            <a:r>
              <a:rPr spc="-15" dirty="0"/>
              <a:t> </a:t>
            </a:r>
            <a:r>
              <a:rPr spc="-165" dirty="0"/>
              <a:t>o</a:t>
            </a:r>
            <a:r>
              <a:rPr dirty="0"/>
              <a:t>f</a:t>
            </a:r>
            <a:r>
              <a:rPr spc="-40" dirty="0"/>
              <a:t> </a:t>
            </a:r>
            <a:r>
              <a:rPr spc="145" dirty="0"/>
              <a:t>O</a:t>
            </a:r>
            <a:r>
              <a:rPr spc="20" dirty="0"/>
              <a:t>p</a:t>
            </a:r>
            <a:r>
              <a:rPr spc="30" dirty="0"/>
              <a:t>e</a:t>
            </a:r>
            <a:r>
              <a:rPr spc="110" dirty="0"/>
              <a:t>r</a:t>
            </a:r>
            <a:r>
              <a:rPr spc="55" dirty="0"/>
              <a:t>a</a:t>
            </a:r>
            <a:r>
              <a:rPr spc="50" dirty="0"/>
              <a:t>t</a:t>
            </a:r>
            <a:r>
              <a:rPr spc="160" dirty="0"/>
              <a:t>i</a:t>
            </a:r>
            <a:r>
              <a:rPr spc="-165" dirty="0"/>
              <a:t>o</a:t>
            </a:r>
            <a:r>
              <a:rPr dirty="0"/>
              <a:t>n	</a:t>
            </a:r>
            <a:r>
              <a:rPr spc="-240" dirty="0"/>
              <a:t>–</a:t>
            </a:r>
            <a:r>
              <a:rPr spc="-100" dirty="0"/>
              <a:t> </a:t>
            </a:r>
            <a:r>
              <a:rPr spc="150" dirty="0"/>
              <a:t>N</a:t>
            </a:r>
            <a:r>
              <a:rPr spc="5" dirty="0"/>
              <a:t>P</a:t>
            </a:r>
            <a:r>
              <a:rPr dirty="0"/>
              <a:t>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062" y="1332483"/>
            <a:ext cx="8948928" cy="52090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311" y="1341119"/>
            <a:ext cx="10474325" cy="494347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478155" marR="82550" indent="-402590" algn="just">
              <a:lnSpc>
                <a:spcPts val="3290"/>
              </a:lnSpc>
              <a:spcBef>
                <a:spcPts val="515"/>
              </a:spcBef>
              <a:buFont typeface="Arial MT"/>
              <a:buChar char="•"/>
              <a:tabLst>
                <a:tab pos="478790" algn="l"/>
              </a:tabLst>
            </a:pPr>
            <a:r>
              <a:rPr sz="3050" spc="-10" dirty="0">
                <a:latin typeface="Calibri"/>
                <a:cs typeface="Calibri"/>
              </a:rPr>
              <a:t>Emitter-Base </a:t>
            </a:r>
            <a:r>
              <a:rPr sz="3050" spc="-5" dirty="0">
                <a:latin typeface="Calibri"/>
                <a:cs typeface="Calibri"/>
              </a:rPr>
              <a:t>Junction </a:t>
            </a:r>
            <a:r>
              <a:rPr sz="3050" spc="-25" dirty="0">
                <a:latin typeface="Calibri"/>
                <a:cs typeface="Calibri"/>
              </a:rPr>
              <a:t>forward </a:t>
            </a:r>
            <a:r>
              <a:rPr sz="3050" spc="-5" dirty="0">
                <a:latin typeface="Calibri"/>
                <a:cs typeface="Calibri"/>
              </a:rPr>
              <a:t>Biased, Collector-Base </a:t>
            </a:r>
            <a:r>
              <a:rPr sz="3050" spc="-10" dirty="0">
                <a:latin typeface="Calibri"/>
                <a:cs typeface="Calibri"/>
              </a:rPr>
              <a:t>junction 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30" dirty="0">
                <a:latin typeface="Calibri"/>
                <a:cs typeface="Calibri"/>
              </a:rPr>
              <a:t>Reverse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Biased</a:t>
            </a:r>
            <a:endParaRPr sz="3050">
              <a:latin typeface="Calibri"/>
              <a:cs typeface="Calibri"/>
            </a:endParaRPr>
          </a:p>
          <a:p>
            <a:pPr marL="478155" marR="81280" indent="-402590" algn="just">
              <a:lnSpc>
                <a:spcPct val="89600"/>
              </a:lnSpc>
              <a:spcBef>
                <a:spcPts val="700"/>
              </a:spcBef>
              <a:buFont typeface="Arial MT"/>
              <a:buChar char="•"/>
              <a:tabLst>
                <a:tab pos="478790" algn="l"/>
              </a:tabLst>
            </a:pPr>
            <a:r>
              <a:rPr sz="3050" dirty="0">
                <a:latin typeface="Calibri"/>
                <a:cs typeface="Calibri"/>
              </a:rPr>
              <a:t>The </a:t>
            </a:r>
            <a:r>
              <a:rPr sz="3050" spc="-15" dirty="0">
                <a:latin typeface="Calibri"/>
                <a:cs typeface="Calibri"/>
              </a:rPr>
              <a:t>voltage </a:t>
            </a:r>
            <a:r>
              <a:rPr sz="3050" b="1" dirty="0">
                <a:latin typeface="Calibri"/>
                <a:cs typeface="Calibri"/>
              </a:rPr>
              <a:t>V</a:t>
            </a:r>
            <a:r>
              <a:rPr sz="3000" b="1" baseline="-20833" dirty="0">
                <a:latin typeface="Calibri"/>
                <a:cs typeface="Calibri"/>
              </a:rPr>
              <a:t>EE</a:t>
            </a:r>
            <a:r>
              <a:rPr sz="3000" b="1" spc="7" baseline="-20833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provides </a:t>
            </a:r>
            <a:r>
              <a:rPr sz="3050" spc="-5" dirty="0">
                <a:latin typeface="Calibri"/>
                <a:cs typeface="Calibri"/>
              </a:rPr>
              <a:t>a </a:t>
            </a:r>
            <a:r>
              <a:rPr sz="3050" spc="-20" dirty="0">
                <a:latin typeface="Calibri"/>
                <a:cs typeface="Calibri"/>
              </a:rPr>
              <a:t>negative </a:t>
            </a:r>
            <a:r>
              <a:rPr sz="3050" spc="-10" dirty="0">
                <a:latin typeface="Calibri"/>
                <a:cs typeface="Calibri"/>
              </a:rPr>
              <a:t>potential </a:t>
            </a:r>
            <a:r>
              <a:rPr sz="3050" spc="-15" dirty="0">
                <a:latin typeface="Calibri"/>
                <a:cs typeface="Calibri"/>
              </a:rPr>
              <a:t>at </a:t>
            </a:r>
            <a:r>
              <a:rPr sz="3050" spc="-10" dirty="0">
                <a:latin typeface="Calibri"/>
                <a:cs typeface="Calibri"/>
              </a:rPr>
              <a:t>the </a:t>
            </a:r>
            <a:r>
              <a:rPr sz="3050" spc="-20" dirty="0">
                <a:latin typeface="Calibri"/>
                <a:cs typeface="Calibri"/>
              </a:rPr>
              <a:t>emitter 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which </a:t>
            </a:r>
            <a:r>
              <a:rPr sz="3050" spc="-15" dirty="0">
                <a:latin typeface="Calibri"/>
                <a:cs typeface="Calibri"/>
              </a:rPr>
              <a:t>repels </a:t>
            </a:r>
            <a:r>
              <a:rPr sz="3050" spc="-10" dirty="0">
                <a:latin typeface="Calibri"/>
                <a:cs typeface="Calibri"/>
              </a:rPr>
              <a:t>the electrons </a:t>
            </a:r>
            <a:r>
              <a:rPr sz="3050" spc="-5" dirty="0">
                <a:latin typeface="Calibri"/>
                <a:cs typeface="Calibri"/>
              </a:rPr>
              <a:t>in </a:t>
            </a:r>
            <a:r>
              <a:rPr sz="3050" dirty="0">
                <a:latin typeface="Calibri"/>
                <a:cs typeface="Calibri"/>
              </a:rPr>
              <a:t>the </a:t>
            </a:r>
            <a:r>
              <a:rPr sz="3050" spc="-10" dirty="0">
                <a:latin typeface="Calibri"/>
                <a:cs typeface="Calibri"/>
              </a:rPr>
              <a:t>N-type </a:t>
            </a:r>
            <a:r>
              <a:rPr sz="3050" spc="-15" dirty="0">
                <a:latin typeface="Calibri"/>
                <a:cs typeface="Calibri"/>
              </a:rPr>
              <a:t>material </a:t>
            </a:r>
            <a:r>
              <a:rPr sz="3050" spc="-5" dirty="0">
                <a:latin typeface="Calibri"/>
                <a:cs typeface="Calibri"/>
              </a:rPr>
              <a:t>and </a:t>
            </a:r>
            <a:r>
              <a:rPr sz="3050" spc="-10" dirty="0">
                <a:latin typeface="Calibri"/>
                <a:cs typeface="Calibri"/>
              </a:rPr>
              <a:t>these 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electrons </a:t>
            </a:r>
            <a:r>
              <a:rPr sz="3050" spc="-20" dirty="0">
                <a:latin typeface="Calibri"/>
                <a:cs typeface="Calibri"/>
              </a:rPr>
              <a:t>cross </a:t>
            </a:r>
            <a:r>
              <a:rPr sz="3050" spc="-10" dirty="0">
                <a:latin typeface="Calibri"/>
                <a:cs typeface="Calibri"/>
              </a:rPr>
              <a:t>the </a:t>
            </a:r>
            <a:r>
              <a:rPr sz="3050" spc="-15" dirty="0">
                <a:latin typeface="Calibri"/>
                <a:cs typeface="Calibri"/>
              </a:rPr>
              <a:t>emitter-base </a:t>
            </a:r>
            <a:r>
              <a:rPr sz="3050" spc="-10" dirty="0">
                <a:latin typeface="Calibri"/>
                <a:cs typeface="Calibri"/>
              </a:rPr>
              <a:t>junction, to </a:t>
            </a:r>
            <a:r>
              <a:rPr sz="3050" spc="-15" dirty="0">
                <a:latin typeface="Calibri"/>
                <a:cs typeface="Calibri"/>
              </a:rPr>
              <a:t>reach </a:t>
            </a:r>
            <a:r>
              <a:rPr sz="3050" dirty="0">
                <a:latin typeface="Calibri"/>
                <a:cs typeface="Calibri"/>
              </a:rPr>
              <a:t>the </a:t>
            </a:r>
            <a:r>
              <a:rPr sz="3050" spc="-10" dirty="0">
                <a:latin typeface="Calibri"/>
                <a:cs typeface="Calibri"/>
              </a:rPr>
              <a:t>base 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region.</a:t>
            </a:r>
            <a:endParaRPr sz="3050">
              <a:latin typeface="Calibri"/>
              <a:cs typeface="Calibri"/>
            </a:endParaRPr>
          </a:p>
          <a:p>
            <a:pPr marL="478155" marR="83820" indent="-402590" algn="just">
              <a:lnSpc>
                <a:spcPts val="3290"/>
              </a:lnSpc>
              <a:spcBef>
                <a:spcPts val="790"/>
              </a:spcBef>
              <a:buFont typeface="Arial MT"/>
              <a:buChar char="•"/>
              <a:tabLst>
                <a:tab pos="478790" algn="l"/>
              </a:tabLst>
            </a:pPr>
            <a:r>
              <a:rPr sz="3050" spc="-15" dirty="0">
                <a:latin typeface="Calibri"/>
                <a:cs typeface="Calibri"/>
              </a:rPr>
              <a:t>There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a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very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low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percent</a:t>
            </a:r>
            <a:r>
              <a:rPr sz="3050" spc="-15" dirty="0">
                <a:latin typeface="Calibri"/>
                <a:cs typeface="Calibri"/>
              </a:rPr>
              <a:t> of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electrons</a:t>
            </a:r>
            <a:r>
              <a:rPr sz="3050" spc="-10" dirty="0">
                <a:latin typeface="Calibri"/>
                <a:cs typeface="Calibri"/>
              </a:rPr>
              <a:t> recombine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with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free </a:t>
            </a:r>
            <a:r>
              <a:rPr sz="3050" spc="-67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holes</a:t>
            </a:r>
            <a:r>
              <a:rPr sz="3050" spc="-4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of</a:t>
            </a:r>
            <a:r>
              <a:rPr sz="3050" spc="1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P-region.</a:t>
            </a:r>
            <a:endParaRPr sz="3050">
              <a:latin typeface="Calibri"/>
              <a:cs typeface="Calibri"/>
            </a:endParaRPr>
          </a:p>
          <a:p>
            <a:pPr marL="478155" marR="81280" indent="-402590" algn="just">
              <a:lnSpc>
                <a:spcPts val="3290"/>
              </a:lnSpc>
              <a:spcBef>
                <a:spcPts val="720"/>
              </a:spcBef>
              <a:buFont typeface="Arial MT"/>
              <a:buChar char="•"/>
              <a:tabLst>
                <a:tab pos="478790" algn="l"/>
              </a:tabLst>
            </a:pPr>
            <a:r>
              <a:rPr sz="3050" spc="-5" dirty="0">
                <a:latin typeface="Calibri"/>
                <a:cs typeface="Calibri"/>
              </a:rPr>
              <a:t>This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provides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very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low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current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which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constitutes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the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base 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current</a:t>
            </a:r>
            <a:r>
              <a:rPr sz="3050" spc="660" dirty="0">
                <a:latin typeface="Calibri"/>
                <a:cs typeface="Calibri"/>
              </a:rPr>
              <a:t> </a:t>
            </a:r>
            <a:r>
              <a:rPr sz="3050" b="1" dirty="0">
                <a:latin typeface="Calibri"/>
                <a:cs typeface="Calibri"/>
              </a:rPr>
              <a:t>I</a:t>
            </a:r>
            <a:r>
              <a:rPr sz="3000" b="1" baseline="-20833" dirty="0">
                <a:latin typeface="Calibri"/>
                <a:cs typeface="Calibri"/>
              </a:rPr>
              <a:t>B</a:t>
            </a:r>
            <a:r>
              <a:rPr sz="3050" dirty="0">
                <a:latin typeface="Calibri"/>
                <a:cs typeface="Calibri"/>
              </a:rPr>
              <a:t>.</a:t>
            </a:r>
            <a:r>
              <a:rPr sz="3050" spc="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The</a:t>
            </a:r>
            <a:r>
              <a:rPr sz="3050" spc="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remaining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holes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cross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the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collector-base </a:t>
            </a:r>
            <a:r>
              <a:rPr sz="3050" spc="-67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junction,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to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constitute</a:t>
            </a:r>
            <a:r>
              <a:rPr sz="3050" spc="-9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the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collector</a:t>
            </a:r>
            <a:r>
              <a:rPr sz="3050" spc="-3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current </a:t>
            </a:r>
            <a:r>
              <a:rPr sz="3050" b="1" spc="-5" dirty="0">
                <a:latin typeface="Calibri"/>
                <a:cs typeface="Calibri"/>
              </a:rPr>
              <a:t>I</a:t>
            </a:r>
            <a:r>
              <a:rPr sz="3000" b="1" spc="-7" baseline="-20833" dirty="0">
                <a:latin typeface="Calibri"/>
                <a:cs typeface="Calibri"/>
              </a:rPr>
              <a:t>C</a:t>
            </a:r>
            <a:r>
              <a:rPr sz="3050" spc="-5" dirty="0">
                <a:latin typeface="Calibri"/>
                <a:cs typeface="Calibri"/>
              </a:rPr>
              <a:t>.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111" y="1389888"/>
            <a:ext cx="10360025" cy="50317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427355" marR="17780" indent="-402590" algn="just">
              <a:lnSpc>
                <a:spcPts val="3650"/>
              </a:lnSpc>
              <a:spcBef>
                <a:spcPts val="225"/>
              </a:spcBef>
              <a:buFont typeface="Arial MT"/>
              <a:buChar char="•"/>
              <a:tabLst>
                <a:tab pos="427990" algn="l"/>
              </a:tabLst>
            </a:pPr>
            <a:r>
              <a:rPr sz="3050" spc="-10" dirty="0">
                <a:latin typeface="Calibri"/>
                <a:cs typeface="Calibri"/>
              </a:rPr>
              <a:t>As </a:t>
            </a:r>
            <a:r>
              <a:rPr sz="3050" spc="-5" dirty="0">
                <a:latin typeface="Calibri"/>
                <a:cs typeface="Calibri"/>
              </a:rPr>
              <a:t>an </a:t>
            </a:r>
            <a:r>
              <a:rPr sz="3050" spc="-15" dirty="0">
                <a:latin typeface="Calibri"/>
                <a:cs typeface="Calibri"/>
              </a:rPr>
              <a:t>electron reaches </a:t>
            </a:r>
            <a:r>
              <a:rPr sz="3050" spc="-10" dirty="0">
                <a:latin typeface="Calibri"/>
                <a:cs typeface="Calibri"/>
              </a:rPr>
              <a:t>out </a:t>
            </a:r>
            <a:r>
              <a:rPr sz="3050" spc="-5" dirty="0">
                <a:latin typeface="Calibri"/>
                <a:cs typeface="Calibri"/>
              </a:rPr>
              <a:t>of </a:t>
            </a:r>
            <a:r>
              <a:rPr sz="3050" spc="-10" dirty="0">
                <a:latin typeface="Calibri"/>
                <a:cs typeface="Calibri"/>
              </a:rPr>
              <a:t>the collector terminal, and </a:t>
            </a:r>
            <a:r>
              <a:rPr sz="3050" spc="-30" dirty="0">
                <a:latin typeface="Calibri"/>
                <a:cs typeface="Calibri"/>
              </a:rPr>
              <a:t>enters </a:t>
            </a:r>
            <a:r>
              <a:rPr sz="3050" spc="-67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the</a:t>
            </a:r>
            <a:r>
              <a:rPr sz="3050" spc="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positive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terminal</a:t>
            </a:r>
            <a:r>
              <a:rPr sz="3050" spc="-5" dirty="0">
                <a:latin typeface="Calibri"/>
                <a:cs typeface="Calibri"/>
              </a:rPr>
              <a:t> of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the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45" dirty="0">
                <a:latin typeface="Calibri"/>
                <a:cs typeface="Calibri"/>
              </a:rPr>
              <a:t>battery,</a:t>
            </a:r>
            <a:r>
              <a:rPr sz="3050" spc="-4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an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electron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from</a:t>
            </a:r>
            <a:r>
              <a:rPr sz="3050" spc="-10" dirty="0">
                <a:latin typeface="Calibri"/>
                <a:cs typeface="Calibri"/>
              </a:rPr>
              <a:t> the 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negative</a:t>
            </a:r>
            <a:r>
              <a:rPr sz="3050" spc="-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terminal</a:t>
            </a:r>
            <a:r>
              <a:rPr sz="3050" spc="-2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of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the</a:t>
            </a:r>
            <a:r>
              <a:rPr sz="3050" spc="-4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battery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b="1" dirty="0">
                <a:latin typeface="Calibri"/>
                <a:cs typeface="Calibri"/>
              </a:rPr>
              <a:t>V</a:t>
            </a:r>
            <a:r>
              <a:rPr sz="3000" b="1" baseline="-20833" dirty="0">
                <a:latin typeface="Calibri"/>
                <a:cs typeface="Calibri"/>
              </a:rPr>
              <a:t>EE</a:t>
            </a:r>
            <a:r>
              <a:rPr sz="3000" b="1" spc="367" baseline="-20833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enters</a:t>
            </a:r>
            <a:r>
              <a:rPr sz="3050" spc="-6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the</a:t>
            </a:r>
            <a:r>
              <a:rPr sz="3050" spc="-15" dirty="0">
                <a:latin typeface="Calibri"/>
                <a:cs typeface="Calibri"/>
              </a:rPr>
              <a:t> emitter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region.</a:t>
            </a:r>
            <a:endParaRPr sz="3050">
              <a:latin typeface="Calibri"/>
              <a:cs typeface="Calibri"/>
            </a:endParaRPr>
          </a:p>
          <a:p>
            <a:pPr marL="427355" marR="19050" indent="-402590" algn="just">
              <a:lnSpc>
                <a:spcPts val="3650"/>
              </a:lnSpc>
              <a:spcBef>
                <a:spcPts val="715"/>
              </a:spcBef>
              <a:buFont typeface="Arial MT"/>
              <a:buChar char="•"/>
              <a:tabLst>
                <a:tab pos="427990" algn="l"/>
              </a:tabLst>
            </a:pPr>
            <a:r>
              <a:rPr sz="3050" spc="-5" dirty="0">
                <a:latin typeface="Calibri"/>
                <a:cs typeface="Calibri"/>
              </a:rPr>
              <a:t>This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flow</a:t>
            </a:r>
            <a:r>
              <a:rPr sz="3050" spc="-5" dirty="0">
                <a:latin typeface="Calibri"/>
                <a:cs typeface="Calibri"/>
              </a:rPr>
              <a:t> slowly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increases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and</a:t>
            </a:r>
            <a:r>
              <a:rPr sz="3050" spc="-5" dirty="0">
                <a:latin typeface="Calibri"/>
                <a:cs typeface="Calibri"/>
              </a:rPr>
              <a:t> the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electron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current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flows 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through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the</a:t>
            </a:r>
            <a:r>
              <a:rPr sz="3050" spc="-45" dirty="0">
                <a:latin typeface="Calibri"/>
                <a:cs typeface="Calibri"/>
              </a:rPr>
              <a:t> </a:t>
            </a:r>
            <a:r>
              <a:rPr sz="3050" spc="-40" dirty="0">
                <a:latin typeface="Calibri"/>
                <a:cs typeface="Calibri"/>
              </a:rPr>
              <a:t>transistor.</a:t>
            </a:r>
            <a:endParaRPr sz="3050">
              <a:latin typeface="Calibri"/>
              <a:cs typeface="Calibri"/>
            </a:endParaRPr>
          </a:p>
          <a:p>
            <a:pPr marL="427355" marR="19050" indent="-402590" algn="just">
              <a:lnSpc>
                <a:spcPts val="3650"/>
              </a:lnSpc>
              <a:spcBef>
                <a:spcPts val="740"/>
              </a:spcBef>
              <a:buFont typeface="Arial MT"/>
              <a:buChar char="•"/>
              <a:tabLst>
                <a:tab pos="427990" algn="l"/>
              </a:tabLst>
            </a:pPr>
            <a:r>
              <a:rPr sz="3050" dirty="0">
                <a:latin typeface="Calibri"/>
                <a:cs typeface="Calibri"/>
              </a:rPr>
              <a:t>The</a:t>
            </a:r>
            <a:r>
              <a:rPr sz="3050" spc="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conduction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in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a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NPN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transistor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spc="-30" dirty="0">
                <a:latin typeface="Calibri"/>
                <a:cs typeface="Calibri"/>
              </a:rPr>
              <a:t>takes</a:t>
            </a:r>
            <a:r>
              <a:rPr sz="3050" spc="-2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place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through </a:t>
            </a:r>
            <a:r>
              <a:rPr sz="3050" spc="-10" dirty="0">
                <a:latin typeface="Calibri"/>
                <a:cs typeface="Calibri"/>
              </a:rPr>
              <a:t> electrons.</a:t>
            </a:r>
            <a:endParaRPr sz="3050">
              <a:latin typeface="Calibri"/>
              <a:cs typeface="Calibri"/>
            </a:endParaRPr>
          </a:p>
          <a:p>
            <a:pPr marL="427355" indent="-402590" algn="just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27990" algn="l"/>
              </a:tabLst>
            </a:pPr>
            <a:r>
              <a:rPr sz="3050" dirty="0">
                <a:latin typeface="Calibri"/>
                <a:cs typeface="Calibri"/>
              </a:rPr>
              <a:t>The</a:t>
            </a:r>
            <a:r>
              <a:rPr sz="3050" spc="-4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collector</a:t>
            </a:r>
            <a:r>
              <a:rPr sz="3050" spc="-3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current</a:t>
            </a:r>
            <a:r>
              <a:rPr sz="3050" spc="-5" dirty="0">
                <a:latin typeface="Calibri"/>
                <a:cs typeface="Calibri"/>
              </a:rPr>
              <a:t> is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higher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than</a:t>
            </a:r>
            <a:r>
              <a:rPr sz="3050" spc="-30" dirty="0">
                <a:latin typeface="Calibri"/>
                <a:cs typeface="Calibri"/>
              </a:rPr>
              <a:t> </a:t>
            </a:r>
            <a:r>
              <a:rPr sz="3050" dirty="0">
                <a:latin typeface="Calibri"/>
                <a:cs typeface="Calibri"/>
              </a:rPr>
              <a:t>the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emitter</a:t>
            </a:r>
            <a:r>
              <a:rPr sz="3050" spc="-3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current.</a:t>
            </a:r>
            <a:endParaRPr sz="3050">
              <a:latin typeface="Calibri"/>
              <a:cs typeface="Calibri"/>
            </a:endParaRPr>
          </a:p>
          <a:p>
            <a:pPr marL="427355" marR="17780" indent="-402590" algn="just">
              <a:lnSpc>
                <a:spcPts val="3650"/>
              </a:lnSpc>
              <a:spcBef>
                <a:spcPts val="815"/>
              </a:spcBef>
              <a:buFont typeface="Arial MT"/>
              <a:buChar char="•"/>
              <a:tabLst>
                <a:tab pos="427990" algn="l"/>
              </a:tabLst>
            </a:pPr>
            <a:r>
              <a:rPr sz="3050" dirty="0">
                <a:latin typeface="Calibri"/>
                <a:cs typeface="Calibri"/>
              </a:rPr>
              <a:t>The</a:t>
            </a:r>
            <a:r>
              <a:rPr sz="3050" spc="5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increase</a:t>
            </a:r>
            <a:r>
              <a:rPr sz="3050" spc="-5" dirty="0">
                <a:latin typeface="Calibri"/>
                <a:cs typeface="Calibri"/>
              </a:rPr>
              <a:t> or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decrease</a:t>
            </a:r>
            <a:r>
              <a:rPr sz="3050" spc="-10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in</a:t>
            </a:r>
            <a:r>
              <a:rPr sz="305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the</a:t>
            </a:r>
            <a:r>
              <a:rPr sz="3050" spc="-5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emitter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spc="-20" dirty="0">
                <a:latin typeface="Calibri"/>
                <a:cs typeface="Calibri"/>
              </a:rPr>
              <a:t>current</a:t>
            </a:r>
            <a:r>
              <a:rPr sz="3050" spc="-15" dirty="0">
                <a:latin typeface="Calibri"/>
                <a:cs typeface="Calibri"/>
              </a:rPr>
              <a:t> </a:t>
            </a:r>
            <a:r>
              <a:rPr sz="3050" spc="-25" dirty="0">
                <a:latin typeface="Calibri"/>
                <a:cs typeface="Calibri"/>
              </a:rPr>
              <a:t>affects</a:t>
            </a:r>
            <a:r>
              <a:rPr sz="3050" spc="-20" dirty="0">
                <a:latin typeface="Calibri"/>
                <a:cs typeface="Calibri"/>
              </a:rPr>
              <a:t> </a:t>
            </a:r>
            <a:r>
              <a:rPr sz="3050" spc="-10" dirty="0">
                <a:latin typeface="Calibri"/>
                <a:cs typeface="Calibri"/>
              </a:rPr>
              <a:t>the </a:t>
            </a:r>
            <a:r>
              <a:rPr sz="3050" spc="-675" dirty="0">
                <a:latin typeface="Calibri"/>
                <a:cs typeface="Calibri"/>
              </a:rPr>
              <a:t> </a:t>
            </a:r>
            <a:r>
              <a:rPr sz="3050" spc="-5" dirty="0">
                <a:latin typeface="Calibri"/>
                <a:cs typeface="Calibri"/>
              </a:rPr>
              <a:t>collector</a:t>
            </a:r>
            <a:r>
              <a:rPr sz="3050" spc="-35" dirty="0">
                <a:latin typeface="Calibri"/>
                <a:cs typeface="Calibri"/>
              </a:rPr>
              <a:t> </a:t>
            </a:r>
            <a:r>
              <a:rPr sz="3050" spc="-15" dirty="0">
                <a:latin typeface="Calibri"/>
                <a:cs typeface="Calibri"/>
              </a:rPr>
              <a:t>current.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9024" y="679703"/>
            <a:ext cx="63512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Transistor</a:t>
            </a:r>
            <a:r>
              <a:rPr spc="85" dirty="0"/>
              <a:t> </a:t>
            </a:r>
            <a:r>
              <a:rPr spc="30" dirty="0"/>
              <a:t>Configuration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811" y="1383791"/>
            <a:ext cx="10252075" cy="296735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14655" marR="5080" indent="-402590">
              <a:lnSpc>
                <a:spcPts val="4490"/>
              </a:lnSpc>
              <a:spcBef>
                <a:spcPts val="250"/>
              </a:spcBef>
              <a:buFont typeface="Arial MT"/>
              <a:buChar char="•"/>
              <a:tabLst>
                <a:tab pos="414655" algn="l"/>
                <a:tab pos="415290" algn="l"/>
                <a:tab pos="5718810" algn="l"/>
              </a:tabLst>
            </a:pPr>
            <a:r>
              <a:rPr sz="3750" spc="-5" dirty="0">
                <a:latin typeface="Calibri"/>
                <a:cs typeface="Calibri"/>
              </a:rPr>
              <a:t>Based</a:t>
            </a:r>
            <a:r>
              <a:rPr sz="3750" spc="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on</a:t>
            </a:r>
            <a:r>
              <a:rPr sz="3750" spc="5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the</a:t>
            </a:r>
            <a:r>
              <a:rPr sz="3750" spc="3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connections,	</a:t>
            </a:r>
            <a:r>
              <a:rPr sz="3750" spc="-25" dirty="0">
                <a:latin typeface="Calibri"/>
                <a:cs typeface="Calibri"/>
              </a:rPr>
              <a:t>transistor</a:t>
            </a:r>
            <a:r>
              <a:rPr sz="3750" spc="5" dirty="0">
                <a:latin typeface="Calibri"/>
                <a:cs typeface="Calibri"/>
              </a:rPr>
              <a:t> </a:t>
            </a:r>
            <a:r>
              <a:rPr sz="3750" spc="-20" dirty="0">
                <a:latin typeface="Calibri"/>
                <a:cs typeface="Calibri"/>
              </a:rPr>
              <a:t>configuration </a:t>
            </a:r>
            <a:r>
              <a:rPr sz="3750" spc="-835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is</a:t>
            </a:r>
            <a:r>
              <a:rPr sz="3750" spc="-15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classified</a:t>
            </a:r>
            <a:r>
              <a:rPr sz="3750" spc="-35" dirty="0">
                <a:latin typeface="Calibri"/>
                <a:cs typeface="Calibri"/>
              </a:rPr>
              <a:t> </a:t>
            </a:r>
            <a:r>
              <a:rPr sz="3750" spc="-5" dirty="0">
                <a:latin typeface="Calibri"/>
                <a:cs typeface="Calibri"/>
              </a:rPr>
              <a:t>as</a:t>
            </a:r>
            <a:endParaRPr sz="37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700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spc="10" dirty="0">
                <a:latin typeface="Calibri"/>
                <a:cs typeface="Calibri"/>
              </a:rPr>
              <a:t>Common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-10" dirty="0">
                <a:latin typeface="Calibri"/>
                <a:cs typeface="Calibri"/>
              </a:rPr>
              <a:t> Configuration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00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spc="10" dirty="0">
                <a:latin typeface="Calibri"/>
                <a:cs typeface="Calibri"/>
              </a:rPr>
              <a:t>Common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Base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Configuration</a:t>
            </a:r>
            <a:endParaRPr sz="3250">
              <a:latin typeface="Calibri"/>
              <a:cs typeface="Calibri"/>
            </a:endParaRPr>
          </a:p>
          <a:p>
            <a:pPr marL="881380" lvl="1" indent="-332740">
              <a:lnSpc>
                <a:spcPct val="100000"/>
              </a:lnSpc>
              <a:spcBef>
                <a:spcPts val="830"/>
              </a:spcBef>
              <a:buFont typeface="Arial MT"/>
              <a:buChar char="–"/>
              <a:tabLst>
                <a:tab pos="881380" algn="l"/>
              </a:tabLst>
            </a:pPr>
            <a:r>
              <a:rPr sz="3250" spc="10" dirty="0">
                <a:latin typeface="Calibri"/>
                <a:cs typeface="Calibri"/>
              </a:rPr>
              <a:t>Common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Collector</a:t>
            </a:r>
            <a:r>
              <a:rPr sz="3250" spc="-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Configuration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(Emitter </a:t>
            </a:r>
            <a:r>
              <a:rPr sz="3250" spc="-10" dirty="0">
                <a:latin typeface="Calibri"/>
                <a:cs typeface="Calibri"/>
              </a:rPr>
              <a:t>Follower)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7369" y="682752"/>
            <a:ext cx="44043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30" dirty="0">
                <a:solidFill>
                  <a:srgbClr val="FF0000"/>
                </a:solidFill>
                <a:latin typeface="Arial"/>
                <a:cs typeface="Arial"/>
              </a:rPr>
              <a:t>Common</a:t>
            </a:r>
            <a:r>
              <a:rPr sz="42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200" b="1" spc="60" dirty="0">
                <a:solidFill>
                  <a:srgbClr val="FF0000"/>
                </a:solidFill>
                <a:latin typeface="Arial"/>
                <a:cs typeface="Arial"/>
              </a:rPr>
              <a:t>Emitter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42835" y="682752"/>
            <a:ext cx="14897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-</a:t>
            </a:r>
            <a:r>
              <a:rPr spc="-160" dirty="0"/>
              <a:t> </a:t>
            </a:r>
            <a:r>
              <a:rPr spc="50" dirty="0"/>
              <a:t>NPN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4535" y="1786635"/>
            <a:ext cx="5166360" cy="43799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7425" y="682752"/>
            <a:ext cx="38785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Cont…</a:t>
            </a:r>
            <a:r>
              <a:rPr spc="-105" dirty="0"/>
              <a:t> </a:t>
            </a:r>
            <a:r>
              <a:rPr spc="-45" dirty="0"/>
              <a:t>for</a:t>
            </a:r>
            <a:r>
              <a:rPr spc="-10" dirty="0"/>
              <a:t> </a:t>
            </a:r>
            <a:r>
              <a:rPr spc="50" dirty="0"/>
              <a:t>PNP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432" y="1338580"/>
            <a:ext cx="5806440" cy="53858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3145" y="679703"/>
            <a:ext cx="37541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0" dirty="0"/>
              <a:t>Common</a:t>
            </a:r>
            <a:r>
              <a:rPr spc="-80" dirty="0"/>
              <a:t> </a:t>
            </a:r>
            <a:r>
              <a:rPr spc="-65" dirty="0"/>
              <a:t>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811" y="1338072"/>
            <a:ext cx="10328910" cy="486664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414655" marR="5080" indent="-402590" algn="just">
              <a:lnSpc>
                <a:spcPct val="90900"/>
              </a:lnSpc>
              <a:spcBef>
                <a:spcPts val="46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55" dirty="0">
                <a:latin typeface="Calibri"/>
                <a:cs typeface="Calibri"/>
              </a:rPr>
              <a:t>Two </a:t>
            </a:r>
            <a:r>
              <a:rPr sz="3250" dirty="0">
                <a:latin typeface="Calibri"/>
                <a:cs typeface="Calibri"/>
              </a:rPr>
              <a:t>terminals </a:t>
            </a:r>
            <a:r>
              <a:rPr sz="3250" spc="-10" dirty="0">
                <a:latin typeface="Calibri"/>
                <a:cs typeface="Calibri"/>
              </a:rPr>
              <a:t>are </a:t>
            </a:r>
            <a:r>
              <a:rPr sz="3250" dirty="0">
                <a:latin typeface="Calibri"/>
                <a:cs typeface="Calibri"/>
              </a:rPr>
              <a:t>needed </a:t>
            </a:r>
            <a:r>
              <a:rPr sz="3250" spc="-15" dirty="0">
                <a:latin typeface="Calibri"/>
                <a:cs typeface="Calibri"/>
              </a:rPr>
              <a:t>for </a:t>
            </a:r>
            <a:r>
              <a:rPr sz="3250" spc="5" dirty="0">
                <a:latin typeface="Calibri"/>
                <a:cs typeface="Calibri"/>
              </a:rPr>
              <a:t>input and </a:t>
            </a:r>
            <a:r>
              <a:rPr sz="3250" spc="-5" dirty="0">
                <a:latin typeface="Calibri"/>
                <a:cs typeface="Calibri"/>
              </a:rPr>
              <a:t>two </a:t>
            </a:r>
            <a:r>
              <a:rPr sz="3250" dirty="0">
                <a:latin typeface="Calibri"/>
                <a:cs typeface="Calibri"/>
              </a:rPr>
              <a:t>terminals </a:t>
            </a:r>
            <a:r>
              <a:rPr sz="3250" spc="-15" dirty="0">
                <a:latin typeface="Calibri"/>
                <a:cs typeface="Calibri"/>
              </a:rPr>
              <a:t>for 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output. </a:t>
            </a:r>
            <a:r>
              <a:rPr sz="3250" spc="-30" dirty="0">
                <a:latin typeface="Calibri"/>
                <a:cs typeface="Calibri"/>
              </a:rPr>
              <a:t>Transistors </a:t>
            </a:r>
            <a:r>
              <a:rPr sz="3250" spc="-20" dirty="0">
                <a:latin typeface="Calibri"/>
                <a:cs typeface="Calibri"/>
              </a:rPr>
              <a:t>have </a:t>
            </a:r>
            <a:r>
              <a:rPr sz="3250" spc="-5" dirty="0">
                <a:latin typeface="Calibri"/>
                <a:cs typeface="Calibri"/>
              </a:rPr>
              <a:t>three </a:t>
            </a:r>
            <a:r>
              <a:rPr sz="3250" dirty="0">
                <a:latin typeface="Calibri"/>
                <a:cs typeface="Calibri"/>
              </a:rPr>
              <a:t>terminals, so one terminal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have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dirty="0">
                <a:latin typeface="Calibri"/>
                <a:cs typeface="Calibri"/>
              </a:rPr>
              <a:t>be </a:t>
            </a:r>
            <a:r>
              <a:rPr sz="3250" spc="-25" dirty="0">
                <a:latin typeface="Calibri"/>
                <a:cs typeface="Calibri"/>
              </a:rPr>
              <a:t>taken </a:t>
            </a:r>
            <a:r>
              <a:rPr sz="3250" dirty="0">
                <a:latin typeface="Calibri"/>
                <a:cs typeface="Calibri"/>
              </a:rPr>
              <a:t>as </a:t>
            </a:r>
            <a:r>
              <a:rPr sz="3250" spc="5" dirty="0">
                <a:latin typeface="Calibri"/>
                <a:cs typeface="Calibri"/>
              </a:rPr>
              <a:t>common </a:t>
            </a:r>
            <a:r>
              <a:rPr sz="3250" dirty="0">
                <a:latin typeface="Calibri"/>
                <a:cs typeface="Calibri"/>
              </a:rPr>
              <a:t>terminal </a:t>
            </a:r>
            <a:r>
              <a:rPr sz="3250" spc="-15" dirty="0">
                <a:latin typeface="Calibri"/>
                <a:cs typeface="Calibri"/>
              </a:rPr>
              <a:t>for </a:t>
            </a:r>
            <a:r>
              <a:rPr sz="3250" spc="10" dirty="0">
                <a:latin typeface="Calibri"/>
                <a:cs typeface="Calibri"/>
              </a:rPr>
              <a:t>both </a:t>
            </a:r>
            <a:r>
              <a:rPr sz="3250" spc="5" dirty="0">
                <a:latin typeface="Calibri"/>
                <a:cs typeface="Calibri"/>
              </a:rPr>
              <a:t>input and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output.</a:t>
            </a:r>
            <a:endParaRPr sz="3250">
              <a:latin typeface="Calibri"/>
              <a:cs typeface="Calibri"/>
            </a:endParaRPr>
          </a:p>
          <a:p>
            <a:pPr marL="414655" marR="5715" indent="-402590" algn="just">
              <a:lnSpc>
                <a:spcPts val="3529"/>
              </a:lnSpc>
              <a:spcBef>
                <a:spcPts val="85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5" dirty="0">
                <a:latin typeface="Calibri"/>
                <a:cs typeface="Calibri"/>
              </a:rPr>
              <a:t>In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b="1" spc="10" dirty="0">
                <a:latin typeface="Calibri"/>
                <a:cs typeface="Calibri"/>
              </a:rPr>
              <a:t>Common</a:t>
            </a:r>
            <a:r>
              <a:rPr sz="3250" b="1" spc="15" dirty="0">
                <a:latin typeface="Calibri"/>
                <a:cs typeface="Calibri"/>
              </a:rPr>
              <a:t> </a:t>
            </a:r>
            <a:r>
              <a:rPr sz="3250" b="1" spc="-5" dirty="0">
                <a:latin typeface="Calibri"/>
                <a:cs typeface="Calibri"/>
              </a:rPr>
              <a:t>Emitter</a:t>
            </a:r>
            <a:r>
              <a:rPr sz="3250" b="1" dirty="0">
                <a:latin typeface="Calibri"/>
                <a:cs typeface="Calibri"/>
              </a:rPr>
              <a:t> </a:t>
            </a:r>
            <a:r>
              <a:rPr sz="3250" b="1" spc="-5" dirty="0">
                <a:latin typeface="Calibri"/>
                <a:cs typeface="Calibri"/>
              </a:rPr>
              <a:t>configuration</a:t>
            </a:r>
            <a:r>
              <a:rPr sz="3250" spc="-5" dirty="0">
                <a:latin typeface="Calibri"/>
                <a:cs typeface="Calibri"/>
              </a:rPr>
              <a:t>,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dirty="0">
                <a:latin typeface="Calibri"/>
                <a:cs typeface="Calibri"/>
              </a:rPr>
              <a:t> terminal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is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taken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common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for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both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input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output.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90800"/>
              </a:lnSpc>
              <a:spcBef>
                <a:spcPts val="72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So </a:t>
            </a:r>
            <a:r>
              <a:rPr sz="3250" b="1" spc="5" dirty="0">
                <a:latin typeface="Calibri"/>
                <a:cs typeface="Calibri"/>
              </a:rPr>
              <a:t>input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-5" dirty="0">
                <a:latin typeface="Calibri"/>
                <a:cs typeface="Calibri"/>
              </a:rPr>
              <a:t>given between </a:t>
            </a:r>
            <a:r>
              <a:rPr sz="3250" b="1" spc="10" dirty="0">
                <a:latin typeface="Calibri"/>
                <a:cs typeface="Calibri"/>
              </a:rPr>
              <a:t>base and the </a:t>
            </a:r>
            <a:r>
              <a:rPr sz="3250" b="1" spc="-5" dirty="0">
                <a:latin typeface="Calibri"/>
                <a:cs typeface="Calibri"/>
              </a:rPr>
              <a:t>emitter </a:t>
            </a:r>
            <a:r>
              <a:rPr sz="3250" dirty="0">
                <a:latin typeface="Calibri"/>
                <a:cs typeface="Calibri"/>
              </a:rPr>
              <a:t>terminals </a:t>
            </a:r>
            <a:r>
              <a:rPr sz="3250" spc="5" dirty="0">
                <a:latin typeface="Calibri"/>
                <a:cs typeface="Calibri"/>
              </a:rPr>
              <a:t> and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b="1" spc="10" dirty="0">
                <a:latin typeface="Calibri"/>
                <a:cs typeface="Calibri"/>
              </a:rPr>
              <a:t>output</a:t>
            </a:r>
            <a:r>
              <a:rPr sz="3250" b="1" spc="75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is</a:t>
            </a:r>
            <a:r>
              <a:rPr sz="3250" spc="75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taken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between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collector</a:t>
            </a:r>
            <a:r>
              <a:rPr sz="3250" b="1" spc="5" dirty="0">
                <a:latin typeface="Calibri"/>
                <a:cs typeface="Calibri"/>
              </a:rPr>
              <a:t> and</a:t>
            </a:r>
            <a:r>
              <a:rPr sz="3250" b="1" spc="10" dirty="0">
                <a:latin typeface="Calibri"/>
                <a:cs typeface="Calibri"/>
              </a:rPr>
              <a:t> </a:t>
            </a:r>
            <a:r>
              <a:rPr sz="3250" b="1" spc="-5" dirty="0">
                <a:latin typeface="Calibri"/>
                <a:cs typeface="Calibri"/>
              </a:rPr>
              <a:t>emitter </a:t>
            </a:r>
            <a:r>
              <a:rPr sz="3250" b="1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terminals.</a:t>
            </a:r>
            <a:endParaRPr sz="3250">
              <a:latin typeface="Calibri"/>
              <a:cs typeface="Calibri"/>
            </a:endParaRPr>
          </a:p>
          <a:p>
            <a:pPr marL="414655" indent="-402590" algn="just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5" dirty="0">
                <a:latin typeface="Calibri"/>
                <a:cs typeface="Calibri"/>
              </a:rPr>
              <a:t>This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most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commonly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used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configuration.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779" y="1389887"/>
            <a:ext cx="10651490" cy="3717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90855" marR="68580" indent="-402590" algn="just">
              <a:lnSpc>
                <a:spcPct val="100600"/>
              </a:lnSpc>
              <a:spcBef>
                <a:spcPts val="90"/>
              </a:spcBef>
              <a:buFont typeface="Arial MT"/>
              <a:buChar char="•"/>
              <a:tabLst>
                <a:tab pos="491490" algn="l"/>
              </a:tabLst>
            </a:pPr>
            <a:r>
              <a:rPr sz="3250" spc="5" dirty="0">
                <a:latin typeface="Calibri"/>
                <a:cs typeface="Calibri"/>
              </a:rPr>
              <a:t>Input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15" dirty="0">
                <a:latin typeface="Calibri"/>
                <a:cs typeface="Calibri"/>
              </a:rPr>
              <a:t>V</a:t>
            </a:r>
            <a:r>
              <a:rPr sz="3225" spc="22" baseline="-20671" dirty="0">
                <a:latin typeface="Calibri"/>
                <a:cs typeface="Calibri"/>
              </a:rPr>
              <a:t>BE</a:t>
            </a:r>
            <a:r>
              <a:rPr sz="3225" spc="30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applied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between</a:t>
            </a:r>
            <a:r>
              <a:rPr sz="3250" spc="5" dirty="0">
                <a:latin typeface="Calibri"/>
                <a:cs typeface="Calibri"/>
              </a:rPr>
              <a:t> base</a:t>
            </a:r>
            <a:r>
              <a:rPr sz="3250" spc="10" dirty="0">
                <a:latin typeface="Calibri"/>
                <a:cs typeface="Calibri"/>
              </a:rPr>
              <a:t> and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 </a:t>
            </a:r>
            <a:r>
              <a:rPr sz="3250" dirty="0">
                <a:latin typeface="Calibri"/>
                <a:cs typeface="Calibri"/>
              </a:rPr>
              <a:t> terminals </a:t>
            </a:r>
            <a:r>
              <a:rPr sz="3250" spc="10" dirty="0">
                <a:latin typeface="Calibri"/>
                <a:cs typeface="Calibri"/>
              </a:rPr>
              <a:t>and output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5" dirty="0">
                <a:latin typeface="Calibri"/>
                <a:cs typeface="Calibri"/>
              </a:rPr>
              <a:t>V</a:t>
            </a:r>
            <a:r>
              <a:rPr sz="3225" spc="7" baseline="-20671" dirty="0">
                <a:latin typeface="Calibri"/>
                <a:cs typeface="Calibri"/>
              </a:rPr>
              <a:t>CE</a:t>
            </a:r>
            <a:r>
              <a:rPr sz="3225" spc="15" baseline="-20671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is </a:t>
            </a:r>
            <a:r>
              <a:rPr sz="3250" spc="5" dirty="0">
                <a:latin typeface="Calibri"/>
                <a:cs typeface="Calibri"/>
              </a:rPr>
              <a:t>applied </a:t>
            </a:r>
            <a:r>
              <a:rPr sz="3250" spc="-5" dirty="0">
                <a:latin typeface="Calibri"/>
                <a:cs typeface="Calibri"/>
              </a:rPr>
              <a:t>across emitter </a:t>
            </a:r>
            <a:r>
              <a:rPr sz="3250" dirty="0">
                <a:latin typeface="Calibri"/>
                <a:cs typeface="Calibri"/>
              </a:rPr>
              <a:t> and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35" dirty="0">
                <a:latin typeface="Calibri"/>
                <a:cs typeface="Calibri"/>
              </a:rPr>
              <a:t>collector.</a:t>
            </a:r>
            <a:endParaRPr sz="3250">
              <a:latin typeface="Calibri"/>
              <a:cs typeface="Calibri"/>
            </a:endParaRPr>
          </a:p>
          <a:p>
            <a:pPr marL="490855" marR="71755" indent="-402590" algn="just">
              <a:lnSpc>
                <a:spcPct val="100899"/>
              </a:lnSpc>
              <a:spcBef>
                <a:spcPts val="790"/>
              </a:spcBef>
              <a:buFont typeface="Arial MT"/>
              <a:buChar char="•"/>
              <a:tabLst>
                <a:tab pos="4914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output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current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I</a:t>
            </a:r>
            <a:r>
              <a:rPr sz="3225" spc="7" baseline="-20671" dirty="0">
                <a:latin typeface="Calibri"/>
                <a:cs typeface="Calibri"/>
              </a:rPr>
              <a:t>C</a:t>
            </a:r>
            <a:r>
              <a:rPr sz="3225" spc="15" baseline="-20671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is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taken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across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and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collector</a:t>
            </a:r>
            <a:r>
              <a:rPr sz="3250" spc="-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terminals.</a:t>
            </a:r>
            <a:endParaRPr sz="3250">
              <a:latin typeface="Calibri"/>
              <a:cs typeface="Calibri"/>
            </a:endParaRPr>
          </a:p>
          <a:p>
            <a:pPr marL="490855" marR="71755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91490" algn="l"/>
              </a:tabLst>
            </a:pP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input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side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forward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biased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and</a:t>
            </a:r>
            <a:r>
              <a:rPr sz="3250" spc="10" dirty="0">
                <a:latin typeface="Calibri"/>
                <a:cs typeface="Calibri"/>
              </a:rPr>
              <a:t> 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output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side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reverse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biased.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80" y="1338072"/>
            <a:ext cx="10534650" cy="496697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27355" marR="19685" indent="-402590">
              <a:lnSpc>
                <a:spcPts val="3550"/>
              </a:lnSpc>
              <a:spcBef>
                <a:spcPts val="525"/>
              </a:spcBef>
              <a:buFont typeface="Arial MT"/>
              <a:buChar char="•"/>
              <a:tabLst>
                <a:tab pos="427355" algn="l"/>
                <a:tab pos="427990" algn="l"/>
                <a:tab pos="1823085" algn="l"/>
                <a:tab pos="2752725" algn="l"/>
                <a:tab pos="3971925" algn="l"/>
                <a:tab pos="4794885" algn="l"/>
                <a:tab pos="5514340" algn="l"/>
                <a:tab pos="6992620" algn="l"/>
                <a:tab pos="8239125" algn="l"/>
                <a:tab pos="9342755" algn="l"/>
                <a:tab pos="10126345" algn="l"/>
              </a:tabLst>
            </a:pPr>
            <a:r>
              <a:rPr sz="3250" spc="-5" dirty="0">
                <a:latin typeface="Calibri"/>
                <a:cs typeface="Calibri"/>
              </a:rPr>
              <a:t>E</a:t>
            </a:r>
            <a:r>
              <a:rPr sz="3250" spc="15" dirty="0">
                <a:latin typeface="Calibri"/>
                <a:cs typeface="Calibri"/>
              </a:rPr>
              <a:t>m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-40" dirty="0">
                <a:latin typeface="Calibri"/>
                <a:cs typeface="Calibri"/>
              </a:rPr>
              <a:t>t</a:t>
            </a:r>
            <a:r>
              <a:rPr sz="3250" spc="-15" dirty="0">
                <a:latin typeface="Calibri"/>
                <a:cs typeface="Calibri"/>
              </a:rPr>
              <a:t>t</a:t>
            </a:r>
            <a:r>
              <a:rPr sz="3250" spc="10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r	</a:t>
            </a:r>
            <a:r>
              <a:rPr sz="3250" spc="-5" dirty="0">
                <a:latin typeface="Calibri"/>
                <a:cs typeface="Calibri"/>
              </a:rPr>
              <a:t>b</a:t>
            </a:r>
            <a:r>
              <a:rPr sz="3250" dirty="0">
                <a:latin typeface="Calibri"/>
                <a:cs typeface="Calibri"/>
              </a:rPr>
              <a:t>as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5" dirty="0">
                <a:latin typeface="Calibri"/>
                <a:cs typeface="Calibri"/>
              </a:rPr>
              <a:t>eg</a:t>
            </a:r>
            <a:r>
              <a:rPr sz="3250" spc="20" dirty="0">
                <a:latin typeface="Calibri"/>
                <a:cs typeface="Calibri"/>
              </a:rPr>
              <a:t>i</a:t>
            </a:r>
            <a:r>
              <a:rPr sz="3250" spc="10" dirty="0">
                <a:latin typeface="Calibri"/>
                <a:cs typeface="Calibri"/>
              </a:rPr>
              <a:t>o</a:t>
            </a:r>
            <a:r>
              <a:rPr sz="3250" spc="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	a</a:t>
            </a:r>
            <a:r>
              <a:rPr sz="3250" spc="15" dirty="0">
                <a:latin typeface="Calibri"/>
                <a:cs typeface="Calibri"/>
              </a:rPr>
              <a:t>c</a:t>
            </a:r>
            <a:r>
              <a:rPr sz="3250" spc="5" dirty="0">
                <a:latin typeface="Calibri"/>
                <a:cs typeface="Calibri"/>
              </a:rPr>
              <a:t>ts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li</a:t>
            </a:r>
            <a:r>
              <a:rPr sz="3250" spc="-90" dirty="0">
                <a:latin typeface="Calibri"/>
                <a:cs typeface="Calibri"/>
              </a:rPr>
              <a:t>k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60" dirty="0">
                <a:latin typeface="Calibri"/>
                <a:cs typeface="Calibri"/>
              </a:rPr>
              <a:t>f</a:t>
            </a:r>
            <a:r>
              <a:rPr sz="3250" spc="10" dirty="0">
                <a:latin typeface="Calibri"/>
                <a:cs typeface="Calibri"/>
              </a:rPr>
              <a:t>or</a:t>
            </a:r>
            <a:r>
              <a:rPr sz="3250" spc="-45" dirty="0">
                <a:latin typeface="Calibri"/>
                <a:cs typeface="Calibri"/>
              </a:rPr>
              <a:t>w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spc="-35" dirty="0">
                <a:latin typeface="Calibri"/>
                <a:cs typeface="Calibri"/>
              </a:rPr>
              <a:t>r</a:t>
            </a:r>
            <a:r>
              <a:rPr sz="3250" spc="5" dirty="0">
                <a:latin typeface="Calibri"/>
                <a:cs typeface="Calibri"/>
              </a:rPr>
              <a:t>d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bi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dirty="0">
                <a:latin typeface="Calibri"/>
                <a:cs typeface="Calibri"/>
              </a:rPr>
              <a:t>s</a:t>
            </a:r>
            <a:r>
              <a:rPr sz="3250" spc="35" dirty="0">
                <a:latin typeface="Calibri"/>
                <a:cs typeface="Calibri"/>
              </a:rPr>
              <a:t>e</a:t>
            </a:r>
            <a:r>
              <a:rPr sz="3250" spc="5" dirty="0">
                <a:latin typeface="Calibri"/>
                <a:cs typeface="Calibri"/>
              </a:rPr>
              <a:t>d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di</a:t>
            </a:r>
            <a:r>
              <a:rPr sz="3250" spc="30" dirty="0">
                <a:latin typeface="Calibri"/>
                <a:cs typeface="Calibri"/>
              </a:rPr>
              <a:t>o</a:t>
            </a:r>
            <a:r>
              <a:rPr sz="3250" spc="-5" dirty="0">
                <a:latin typeface="Calibri"/>
                <a:cs typeface="Calibri"/>
              </a:rPr>
              <a:t>d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spc="15" dirty="0">
                <a:latin typeface="Calibri"/>
                <a:cs typeface="Calibri"/>
              </a:rPr>
              <a:t>n</a:t>
            </a:r>
            <a:r>
              <a:rPr sz="3250" spc="5" dirty="0">
                <a:latin typeface="Calibri"/>
                <a:cs typeface="Calibri"/>
              </a:rPr>
              <a:t>d</a:t>
            </a:r>
            <a:r>
              <a:rPr sz="3250" dirty="0">
                <a:latin typeface="Calibri"/>
                <a:cs typeface="Calibri"/>
              </a:rPr>
              <a:t>	so  the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depletion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region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very</a:t>
            </a:r>
            <a:r>
              <a:rPr sz="3250" dirty="0">
                <a:latin typeface="Calibri"/>
                <a:cs typeface="Calibri"/>
              </a:rPr>
              <a:t> small.</a:t>
            </a:r>
            <a:endParaRPr sz="3250">
              <a:latin typeface="Calibri"/>
              <a:cs typeface="Calibri"/>
            </a:endParaRPr>
          </a:p>
          <a:p>
            <a:pPr marL="427355" marR="20955" indent="-402590">
              <a:lnSpc>
                <a:spcPts val="3529"/>
              </a:lnSpc>
              <a:spcBef>
                <a:spcPts val="785"/>
              </a:spcBef>
              <a:buFont typeface="Arial MT"/>
              <a:buChar char="•"/>
              <a:tabLst>
                <a:tab pos="427355" algn="l"/>
                <a:tab pos="427990" algn="l"/>
                <a:tab pos="5444490" algn="l"/>
                <a:tab pos="7535545" algn="l"/>
              </a:tabLst>
            </a:pP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3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collector</a:t>
            </a:r>
            <a:r>
              <a:rPr sz="3250" spc="35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region</a:t>
            </a:r>
            <a:r>
              <a:rPr sz="3250" spc="37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acts	</a:t>
            </a:r>
            <a:r>
              <a:rPr sz="3250" spc="-25" dirty="0">
                <a:latin typeface="Calibri"/>
                <a:cs typeface="Calibri"/>
              </a:rPr>
              <a:t>like</a:t>
            </a:r>
            <a:r>
              <a:rPr sz="3250" spc="37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reverse	</a:t>
            </a:r>
            <a:r>
              <a:rPr sz="3250" spc="5" dirty="0">
                <a:latin typeface="Calibri"/>
                <a:cs typeface="Calibri"/>
              </a:rPr>
              <a:t>biased</a:t>
            </a:r>
            <a:r>
              <a:rPr sz="3250" spc="3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diode</a:t>
            </a:r>
            <a:r>
              <a:rPr sz="3250" spc="3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and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depletion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region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large.</a:t>
            </a:r>
            <a:endParaRPr sz="3250">
              <a:latin typeface="Calibri"/>
              <a:cs typeface="Calibri"/>
            </a:endParaRPr>
          </a:p>
          <a:p>
            <a:pPr marL="427355" marR="19050" indent="-402590">
              <a:lnSpc>
                <a:spcPts val="3529"/>
              </a:lnSpc>
              <a:spcBef>
                <a:spcPts val="815"/>
              </a:spcBef>
              <a:buFont typeface="Arial MT"/>
              <a:buChar char="•"/>
              <a:tabLst>
                <a:tab pos="427355" algn="l"/>
                <a:tab pos="427990" algn="l"/>
                <a:tab pos="1213485" algn="l"/>
                <a:tab pos="2265045" algn="l"/>
                <a:tab pos="3667125" algn="l"/>
                <a:tab pos="4081779" algn="l"/>
                <a:tab pos="4499610" algn="l"/>
                <a:tab pos="6343650" algn="l"/>
                <a:tab pos="6816090" algn="l"/>
                <a:tab pos="7449820" algn="l"/>
                <a:tab pos="8992235" algn="l"/>
                <a:tab pos="9723755" algn="l"/>
              </a:tabLst>
            </a:pPr>
            <a:r>
              <a:rPr sz="3250" dirty="0">
                <a:latin typeface="Calibri"/>
                <a:cs typeface="Calibri"/>
              </a:rPr>
              <a:t>T</a:t>
            </a:r>
            <a:r>
              <a:rPr sz="3250" spc="-5" dirty="0">
                <a:latin typeface="Calibri"/>
                <a:cs typeface="Calibri"/>
              </a:rPr>
              <a:t>h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-5" dirty="0">
                <a:latin typeface="Calibri"/>
                <a:cs typeface="Calibri"/>
              </a:rPr>
              <a:t>n</a:t>
            </a:r>
            <a:r>
              <a:rPr sz="3250" spc="15" dirty="0">
                <a:latin typeface="Calibri"/>
                <a:cs typeface="Calibri"/>
              </a:rPr>
              <a:t>p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dirty="0">
                <a:latin typeface="Calibri"/>
                <a:cs typeface="Calibri"/>
              </a:rPr>
              <a:t>t	</a:t>
            </a:r>
            <a:r>
              <a:rPr sz="3250" spc="15" dirty="0">
                <a:latin typeface="Calibri"/>
                <a:cs typeface="Calibri"/>
              </a:rPr>
              <a:t>cu</a:t>
            </a:r>
            <a:r>
              <a:rPr sz="3250" spc="10" dirty="0">
                <a:latin typeface="Calibri"/>
                <a:cs typeface="Calibri"/>
              </a:rPr>
              <a:t>r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-30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t	</a:t>
            </a:r>
            <a:r>
              <a:rPr sz="3250" spc="-10" dirty="0">
                <a:latin typeface="Calibri"/>
                <a:cs typeface="Calibri"/>
              </a:rPr>
              <a:t>I</a:t>
            </a:r>
            <a:r>
              <a:rPr sz="3225" spc="22" baseline="-20671" dirty="0">
                <a:latin typeface="Calibri"/>
                <a:cs typeface="Calibri"/>
              </a:rPr>
              <a:t>B</a:t>
            </a:r>
            <a:r>
              <a:rPr sz="3225" baseline="-20671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5" dirty="0">
                <a:latin typeface="Calibri"/>
                <a:cs typeface="Calibri"/>
              </a:rPr>
              <a:t>m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a</a:t>
            </a:r>
            <a:r>
              <a:rPr sz="3250" spc="20" dirty="0">
                <a:latin typeface="Calibri"/>
                <a:cs typeface="Calibri"/>
              </a:rPr>
              <a:t>s</a:t>
            </a:r>
            <a:r>
              <a:rPr sz="3250" spc="15" dirty="0">
                <a:latin typeface="Calibri"/>
                <a:cs typeface="Calibri"/>
              </a:rPr>
              <a:t>u</a:t>
            </a:r>
            <a:r>
              <a:rPr sz="3250" spc="-60" dirty="0">
                <a:latin typeface="Calibri"/>
                <a:cs typeface="Calibri"/>
              </a:rPr>
              <a:t>r</a:t>
            </a:r>
            <a:r>
              <a:rPr sz="3250" spc="35" dirty="0">
                <a:latin typeface="Calibri"/>
                <a:cs typeface="Calibri"/>
              </a:rPr>
              <a:t>e</a:t>
            </a:r>
            <a:r>
              <a:rPr sz="3250" spc="5" dirty="0">
                <a:latin typeface="Calibri"/>
                <a:cs typeface="Calibri"/>
              </a:rPr>
              <a:t>d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15" dirty="0">
                <a:latin typeface="Calibri"/>
                <a:cs typeface="Calibri"/>
              </a:rPr>
              <a:t>i</a:t>
            </a:r>
            <a:r>
              <a:rPr sz="3250" spc="5" dirty="0">
                <a:latin typeface="Calibri"/>
                <a:cs typeface="Calibri"/>
              </a:rPr>
              <a:t>n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30" dirty="0">
                <a:latin typeface="Calibri"/>
                <a:cs typeface="Calibri"/>
              </a:rPr>
              <a:t>µ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b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spc="-5" dirty="0">
                <a:latin typeface="Calibri"/>
                <a:cs typeface="Calibri"/>
              </a:rPr>
              <a:t>c</a:t>
            </a:r>
            <a:r>
              <a:rPr sz="3250" spc="20" dirty="0">
                <a:latin typeface="Calibri"/>
                <a:cs typeface="Calibri"/>
              </a:rPr>
              <a:t>a</a:t>
            </a:r>
            <a:r>
              <a:rPr sz="3250" spc="-5" dirty="0">
                <a:latin typeface="Calibri"/>
                <a:cs typeface="Calibri"/>
              </a:rPr>
              <a:t>u</a:t>
            </a:r>
            <a:r>
              <a:rPr sz="3250" dirty="0">
                <a:latin typeface="Calibri"/>
                <a:cs typeface="Calibri"/>
              </a:rPr>
              <a:t>s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30" dirty="0">
                <a:latin typeface="Calibri"/>
                <a:cs typeface="Calibri"/>
              </a:rPr>
              <a:t>t</a:t>
            </a:r>
            <a:r>
              <a:rPr sz="3250" spc="15" dirty="0">
                <a:latin typeface="Calibri"/>
                <a:cs typeface="Calibri"/>
              </a:rPr>
              <a:t>h</a:t>
            </a:r>
            <a:r>
              <a:rPr sz="3250" spc="5" dirty="0">
                <a:latin typeface="Calibri"/>
                <a:cs typeface="Calibri"/>
              </a:rPr>
              <a:t>e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5" dirty="0">
                <a:latin typeface="Calibri"/>
                <a:cs typeface="Calibri"/>
              </a:rPr>
              <a:t>b</a:t>
            </a:r>
            <a:r>
              <a:rPr sz="3250" dirty="0">
                <a:latin typeface="Calibri"/>
                <a:cs typeface="Calibri"/>
              </a:rPr>
              <a:t>ase  </a:t>
            </a:r>
            <a:r>
              <a:rPr sz="3250" spc="-5" dirty="0">
                <a:latin typeface="Calibri"/>
                <a:cs typeface="Calibri"/>
              </a:rPr>
              <a:t>region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very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lightly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doped.</a:t>
            </a:r>
            <a:endParaRPr sz="3250">
              <a:latin typeface="Calibri"/>
              <a:cs typeface="Calibri"/>
            </a:endParaRPr>
          </a:p>
          <a:p>
            <a:pPr marL="427355" marR="17780" indent="-402590" algn="just">
              <a:lnSpc>
                <a:spcPct val="90800"/>
              </a:lnSpc>
              <a:spcBef>
                <a:spcPts val="72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input </a:t>
            </a:r>
            <a:r>
              <a:rPr sz="3250" spc="10" dirty="0">
                <a:latin typeface="Calibri"/>
                <a:cs typeface="Calibri"/>
              </a:rPr>
              <a:t>and </a:t>
            </a:r>
            <a:r>
              <a:rPr sz="3250" spc="5" dirty="0">
                <a:latin typeface="Calibri"/>
                <a:cs typeface="Calibri"/>
              </a:rPr>
              <a:t>output impedance </a:t>
            </a:r>
            <a:r>
              <a:rPr sz="3250" spc="-10" dirty="0">
                <a:latin typeface="Calibri"/>
                <a:cs typeface="Calibri"/>
              </a:rPr>
              <a:t>are moderate </a:t>
            </a:r>
            <a:r>
              <a:rPr sz="3250" dirty="0">
                <a:latin typeface="Calibri"/>
                <a:cs typeface="Calibri"/>
              </a:rPr>
              <a:t>in </a:t>
            </a:r>
            <a:r>
              <a:rPr sz="3250" spc="5" dirty="0">
                <a:latin typeface="Calibri"/>
                <a:cs typeface="Calibri"/>
              </a:rPr>
              <a:t>common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 configuration </a:t>
            </a:r>
            <a:r>
              <a:rPr sz="3250" spc="10" dirty="0">
                <a:latin typeface="Calibri"/>
                <a:cs typeface="Calibri"/>
              </a:rPr>
              <a:t>and thus the </a:t>
            </a:r>
            <a:r>
              <a:rPr sz="3250" spc="-5" dirty="0">
                <a:latin typeface="Calibri"/>
                <a:cs typeface="Calibri"/>
              </a:rPr>
              <a:t>current </a:t>
            </a:r>
            <a:r>
              <a:rPr sz="3250" spc="10" dirty="0">
                <a:latin typeface="Calibri"/>
                <a:cs typeface="Calibri"/>
              </a:rPr>
              <a:t>and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-20" dirty="0">
                <a:latin typeface="Calibri"/>
                <a:cs typeface="Calibri"/>
              </a:rPr>
              <a:t>gain 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moderate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power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gain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high.</a:t>
            </a:r>
            <a:endParaRPr sz="3250">
              <a:latin typeface="Calibri"/>
              <a:cs typeface="Calibri"/>
            </a:endParaRPr>
          </a:p>
          <a:p>
            <a:pPr marL="427355" indent="-402590" algn="just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So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this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configuration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widely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used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for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amplification.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9223" y="682752"/>
            <a:ext cx="86817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63260" algn="l"/>
              </a:tabLst>
            </a:pPr>
            <a:r>
              <a:rPr spc="310" dirty="0"/>
              <a:t>I</a:t>
            </a:r>
            <a:r>
              <a:rPr spc="20" dirty="0"/>
              <a:t>npu</a:t>
            </a:r>
            <a:r>
              <a:rPr dirty="0"/>
              <a:t>t</a:t>
            </a:r>
            <a:r>
              <a:rPr spc="-45" dirty="0"/>
              <a:t> </a:t>
            </a:r>
            <a:r>
              <a:rPr spc="120" dirty="0"/>
              <a:t>C</a:t>
            </a:r>
            <a:r>
              <a:rPr spc="20" dirty="0"/>
              <a:t>h</a:t>
            </a:r>
            <a:r>
              <a:rPr spc="55" dirty="0"/>
              <a:t>a</a:t>
            </a:r>
            <a:r>
              <a:rPr spc="110" dirty="0"/>
              <a:t>r</a:t>
            </a:r>
            <a:r>
              <a:rPr spc="55" dirty="0"/>
              <a:t>a</a:t>
            </a:r>
            <a:r>
              <a:rPr spc="20" dirty="0"/>
              <a:t>c</a:t>
            </a:r>
            <a:r>
              <a:rPr spc="15" dirty="0"/>
              <a:t>t</a:t>
            </a:r>
            <a:r>
              <a:rPr spc="30" dirty="0"/>
              <a:t>e</a:t>
            </a:r>
            <a:r>
              <a:rPr spc="204" dirty="0"/>
              <a:t>r</a:t>
            </a:r>
            <a:r>
              <a:rPr spc="160" dirty="0"/>
              <a:t>i</a:t>
            </a:r>
            <a:r>
              <a:rPr spc="-200" dirty="0"/>
              <a:t>s</a:t>
            </a:r>
            <a:r>
              <a:rPr spc="20" dirty="0"/>
              <a:t>t</a:t>
            </a:r>
            <a:r>
              <a:rPr spc="160" dirty="0"/>
              <a:t>i</a:t>
            </a:r>
            <a:r>
              <a:rPr spc="20" dirty="0"/>
              <a:t>c</a:t>
            </a:r>
            <a:r>
              <a:rPr spc="-195" dirty="0"/>
              <a:t>s</a:t>
            </a:r>
            <a:r>
              <a:rPr dirty="0"/>
              <a:t>	</a:t>
            </a:r>
            <a:r>
              <a:rPr spc="-240" dirty="0"/>
              <a:t>–</a:t>
            </a:r>
            <a:r>
              <a:rPr spc="-100" dirty="0"/>
              <a:t> </a:t>
            </a:r>
            <a:r>
              <a:rPr spc="120" dirty="0"/>
              <a:t>C</a:t>
            </a:r>
            <a:r>
              <a:rPr dirty="0"/>
              <a:t>E</a:t>
            </a:r>
            <a:r>
              <a:rPr spc="-110" dirty="0"/>
              <a:t> </a:t>
            </a:r>
            <a:r>
              <a:rPr spc="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45" dirty="0"/>
              <a:t>f</a:t>
            </a:r>
            <a:r>
              <a:rPr spc="160" dirty="0"/>
              <a:t>i</a:t>
            </a:r>
            <a:r>
              <a:rPr dirty="0"/>
              <a:t>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4392" y="1280667"/>
            <a:ext cx="5647944" cy="54437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271" y="1298448"/>
            <a:ext cx="10507345" cy="471741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452755" marR="52069" indent="-402590" algn="just">
              <a:lnSpc>
                <a:spcPts val="3140"/>
              </a:lnSpc>
              <a:spcBef>
                <a:spcPts val="850"/>
              </a:spcBef>
              <a:buFont typeface="Arial MT"/>
              <a:buChar char="•"/>
              <a:tabLst>
                <a:tab pos="453390" algn="l"/>
              </a:tabLst>
            </a:pPr>
            <a:r>
              <a:rPr sz="3250" spc="5" dirty="0">
                <a:latin typeface="Calibri"/>
                <a:cs typeface="Calibri"/>
              </a:rPr>
              <a:t>Input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characteristics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are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relationship</a:t>
            </a:r>
            <a:r>
              <a:rPr sz="3250" spc="7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between</a:t>
            </a:r>
            <a:r>
              <a:rPr sz="3250" spc="7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 input </a:t>
            </a:r>
            <a:r>
              <a:rPr sz="3250" spc="-5" dirty="0">
                <a:latin typeface="Calibri"/>
                <a:cs typeface="Calibri"/>
              </a:rPr>
              <a:t>current </a:t>
            </a:r>
            <a:r>
              <a:rPr sz="3250" spc="5" dirty="0">
                <a:latin typeface="Calibri"/>
                <a:cs typeface="Calibri"/>
              </a:rPr>
              <a:t>and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input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-15" dirty="0">
                <a:latin typeface="Calibri"/>
                <a:cs typeface="Calibri"/>
              </a:rPr>
              <a:t>keeping </a:t>
            </a:r>
            <a:r>
              <a:rPr sz="3250" spc="10" dirty="0">
                <a:latin typeface="Calibri"/>
                <a:cs typeface="Calibri"/>
              </a:rPr>
              <a:t>output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constant.</a:t>
            </a:r>
            <a:endParaRPr sz="3250">
              <a:latin typeface="Calibri"/>
              <a:cs typeface="Calibri"/>
            </a:endParaRPr>
          </a:p>
          <a:p>
            <a:pPr marL="452755" marR="53975" indent="-402590" algn="just">
              <a:lnSpc>
                <a:spcPts val="3140"/>
              </a:lnSpc>
              <a:spcBef>
                <a:spcPts val="805"/>
              </a:spcBef>
              <a:buFont typeface="Arial MT"/>
              <a:buChar char="•"/>
              <a:tabLst>
                <a:tab pos="453390" algn="l"/>
              </a:tabLst>
            </a:pPr>
            <a:r>
              <a:rPr sz="3250" spc="-10" dirty="0">
                <a:latin typeface="Calibri"/>
                <a:cs typeface="Calibri"/>
              </a:rPr>
              <a:t>Here</a:t>
            </a:r>
            <a:r>
              <a:rPr sz="3250" spc="18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8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input</a:t>
            </a:r>
            <a:r>
              <a:rPr sz="3250" spc="1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current</a:t>
            </a:r>
            <a:r>
              <a:rPr sz="3250" spc="19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17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the</a:t>
            </a:r>
            <a:r>
              <a:rPr sz="3250" spc="18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base</a:t>
            </a:r>
            <a:r>
              <a:rPr sz="3250" spc="18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19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</a:t>
            </a:r>
            <a:r>
              <a:rPr sz="3225" baseline="-20671" dirty="0">
                <a:latin typeface="Calibri"/>
                <a:cs typeface="Calibri"/>
              </a:rPr>
              <a:t>B</a:t>
            </a:r>
            <a:r>
              <a:rPr sz="3250" dirty="0">
                <a:latin typeface="Calibri"/>
                <a:cs typeface="Calibri"/>
              </a:rPr>
              <a:t>,</a:t>
            </a:r>
            <a:r>
              <a:rPr sz="3250" spc="18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input</a:t>
            </a:r>
            <a:r>
              <a:rPr sz="3250" spc="18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-7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base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15" dirty="0">
                <a:latin typeface="Calibri"/>
                <a:cs typeface="Calibri"/>
              </a:rPr>
              <a:t>V</a:t>
            </a:r>
            <a:r>
              <a:rPr sz="3225" spc="22" baseline="-20671" dirty="0">
                <a:latin typeface="Calibri"/>
                <a:cs typeface="Calibri"/>
              </a:rPr>
              <a:t>BE</a:t>
            </a:r>
            <a:r>
              <a:rPr sz="3225" spc="30" baseline="-20671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and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output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collector</a:t>
            </a:r>
            <a:r>
              <a:rPr sz="3250" spc="-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emitter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V</a:t>
            </a:r>
            <a:r>
              <a:rPr sz="3225" baseline="-20671" dirty="0">
                <a:latin typeface="Calibri"/>
                <a:cs typeface="Calibri"/>
              </a:rPr>
              <a:t>CE</a:t>
            </a:r>
            <a:r>
              <a:rPr sz="3250" dirty="0">
                <a:latin typeface="Calibri"/>
                <a:cs typeface="Calibri"/>
              </a:rPr>
              <a:t>.</a:t>
            </a:r>
            <a:endParaRPr sz="3250">
              <a:latin typeface="Calibri"/>
              <a:cs typeface="Calibri"/>
            </a:endParaRPr>
          </a:p>
          <a:p>
            <a:pPr marL="452755" marR="53975" indent="-402590" algn="just">
              <a:lnSpc>
                <a:spcPts val="3140"/>
              </a:lnSpc>
              <a:spcBef>
                <a:spcPts val="805"/>
              </a:spcBef>
              <a:buFont typeface="Arial MT"/>
              <a:buChar char="•"/>
              <a:tabLst>
                <a:tab pos="453390" algn="l"/>
              </a:tabLst>
            </a:pPr>
            <a:r>
              <a:rPr sz="3250" spc="-20" dirty="0">
                <a:latin typeface="Calibri"/>
                <a:cs typeface="Calibri"/>
              </a:rPr>
              <a:t>First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output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5" dirty="0">
                <a:latin typeface="Calibri"/>
                <a:cs typeface="Calibri"/>
              </a:rPr>
              <a:t>V</a:t>
            </a:r>
            <a:r>
              <a:rPr sz="3225" spc="7" baseline="-20671" dirty="0">
                <a:latin typeface="Calibri"/>
                <a:cs typeface="Calibri"/>
              </a:rPr>
              <a:t>CE</a:t>
            </a:r>
            <a:r>
              <a:rPr sz="3225" spc="15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-30" dirty="0">
                <a:latin typeface="Calibri"/>
                <a:cs typeface="Calibri"/>
              </a:rPr>
              <a:t>kept </a:t>
            </a:r>
            <a:r>
              <a:rPr sz="3250" spc="-10" dirty="0">
                <a:latin typeface="Calibri"/>
                <a:cs typeface="Calibri"/>
              </a:rPr>
              <a:t>at </a:t>
            </a:r>
            <a:r>
              <a:rPr sz="3250" spc="-30" dirty="0">
                <a:latin typeface="Calibri"/>
                <a:cs typeface="Calibri"/>
              </a:rPr>
              <a:t>zero </a:t>
            </a:r>
            <a:r>
              <a:rPr sz="3250" dirty="0">
                <a:latin typeface="Calibri"/>
                <a:cs typeface="Calibri"/>
              </a:rPr>
              <a:t>and the </a:t>
            </a:r>
            <a:r>
              <a:rPr sz="3250" spc="5" dirty="0">
                <a:latin typeface="Calibri"/>
                <a:cs typeface="Calibri"/>
              </a:rPr>
              <a:t>input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15" dirty="0">
                <a:latin typeface="Calibri"/>
                <a:cs typeface="Calibri"/>
              </a:rPr>
              <a:t>V</a:t>
            </a:r>
            <a:r>
              <a:rPr sz="3225" spc="22" baseline="-20671" dirty="0">
                <a:latin typeface="Calibri"/>
                <a:cs typeface="Calibri"/>
              </a:rPr>
              <a:t>BE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-5" dirty="0">
                <a:latin typeface="Calibri"/>
                <a:cs typeface="Calibri"/>
              </a:rPr>
              <a:t>gradually </a:t>
            </a:r>
            <a:r>
              <a:rPr sz="3250" dirty="0">
                <a:latin typeface="Calibri"/>
                <a:cs typeface="Calibri"/>
              </a:rPr>
              <a:t>increased </a:t>
            </a:r>
            <a:r>
              <a:rPr sz="3250" spc="10" dirty="0">
                <a:latin typeface="Calibri"/>
                <a:cs typeface="Calibri"/>
              </a:rPr>
              <a:t>and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input </a:t>
            </a:r>
            <a:r>
              <a:rPr sz="3250" spc="-5" dirty="0">
                <a:latin typeface="Calibri"/>
                <a:cs typeface="Calibri"/>
              </a:rPr>
              <a:t>current </a:t>
            </a:r>
            <a:r>
              <a:rPr sz="3250" spc="5" dirty="0">
                <a:latin typeface="Calibri"/>
                <a:cs typeface="Calibri"/>
              </a:rPr>
              <a:t>I</a:t>
            </a:r>
            <a:r>
              <a:rPr sz="3225" spc="7" baseline="-20671" dirty="0">
                <a:latin typeface="Calibri"/>
                <a:cs typeface="Calibri"/>
              </a:rPr>
              <a:t>B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noted. </a:t>
            </a:r>
            <a:r>
              <a:rPr sz="3250" spc="15" dirty="0">
                <a:latin typeface="Calibri"/>
                <a:cs typeface="Calibri"/>
              </a:rPr>
              <a:t>Then </a:t>
            </a:r>
            <a:r>
              <a:rPr sz="3250" spc="-10" dirty="0">
                <a:latin typeface="Calibri"/>
                <a:cs typeface="Calibri"/>
              </a:rPr>
              <a:t>again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output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5" dirty="0">
                <a:latin typeface="Calibri"/>
                <a:cs typeface="Calibri"/>
              </a:rPr>
              <a:t>V</a:t>
            </a:r>
            <a:r>
              <a:rPr sz="3225" spc="7" baseline="-20671" dirty="0">
                <a:latin typeface="Calibri"/>
                <a:cs typeface="Calibri"/>
              </a:rPr>
              <a:t>CE</a:t>
            </a:r>
            <a:r>
              <a:rPr sz="3225" spc="15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 increased </a:t>
            </a:r>
            <a:r>
              <a:rPr sz="3250" spc="-25" dirty="0">
                <a:latin typeface="Calibri"/>
                <a:cs typeface="Calibri"/>
              </a:rPr>
              <a:t>like 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65" dirty="0">
                <a:latin typeface="Calibri"/>
                <a:cs typeface="Calibri"/>
              </a:rPr>
              <a:t>10V,</a:t>
            </a:r>
            <a:r>
              <a:rPr sz="3250" spc="-60" dirty="0">
                <a:latin typeface="Calibri"/>
                <a:cs typeface="Calibri"/>
              </a:rPr>
              <a:t> </a:t>
            </a:r>
            <a:r>
              <a:rPr sz="3250" spc="15" dirty="0">
                <a:latin typeface="Calibri"/>
                <a:cs typeface="Calibri"/>
              </a:rPr>
              <a:t>20V </a:t>
            </a:r>
            <a:r>
              <a:rPr sz="3250" spc="10" dirty="0">
                <a:latin typeface="Calibri"/>
                <a:cs typeface="Calibri"/>
              </a:rPr>
              <a:t>and </a:t>
            </a:r>
            <a:r>
              <a:rPr sz="3250" spc="-30" dirty="0">
                <a:latin typeface="Calibri"/>
                <a:cs typeface="Calibri"/>
              </a:rPr>
              <a:t>kept</a:t>
            </a:r>
            <a:r>
              <a:rPr sz="3250" spc="-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constant </a:t>
            </a:r>
            <a:r>
              <a:rPr sz="3250" spc="5" dirty="0">
                <a:latin typeface="Calibri"/>
                <a:cs typeface="Calibri"/>
              </a:rPr>
              <a:t>and </a:t>
            </a:r>
            <a:r>
              <a:rPr sz="3250" spc="-15" dirty="0">
                <a:latin typeface="Calibri"/>
                <a:cs typeface="Calibri"/>
              </a:rPr>
              <a:t>by </a:t>
            </a:r>
            <a:r>
              <a:rPr sz="3250" dirty="0">
                <a:latin typeface="Calibri"/>
                <a:cs typeface="Calibri"/>
              </a:rPr>
              <a:t>increasing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input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5" dirty="0">
                <a:latin typeface="Calibri"/>
                <a:cs typeface="Calibri"/>
              </a:rPr>
              <a:t> V</a:t>
            </a:r>
            <a:r>
              <a:rPr sz="3225" spc="7" baseline="-20671" dirty="0">
                <a:latin typeface="Calibri"/>
                <a:cs typeface="Calibri"/>
              </a:rPr>
              <a:t>BE</a:t>
            </a:r>
            <a:r>
              <a:rPr sz="3250" spc="5" dirty="0">
                <a:latin typeface="Calibri"/>
                <a:cs typeface="Calibri"/>
              </a:rPr>
              <a:t>,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input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9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I</a:t>
            </a:r>
            <a:r>
              <a:rPr sz="3225" spc="7" baseline="-20671" dirty="0">
                <a:latin typeface="Calibri"/>
                <a:cs typeface="Calibri"/>
              </a:rPr>
              <a:t>B</a:t>
            </a:r>
            <a:r>
              <a:rPr sz="3225" spc="359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noted.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94" y="1389887"/>
            <a:ext cx="9822180" cy="25196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27355" marR="17780" indent="-402590" algn="just">
              <a:lnSpc>
                <a:spcPct val="100800"/>
              </a:lnSpc>
              <a:spcBef>
                <a:spcPts val="8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-10" dirty="0">
                <a:latin typeface="Calibri"/>
                <a:cs typeface="Calibri"/>
              </a:rPr>
              <a:t>From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results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observed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that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15" dirty="0">
                <a:latin typeface="Calibri"/>
                <a:cs typeface="Calibri"/>
              </a:rPr>
              <a:t>when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input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15" dirty="0">
                <a:latin typeface="Calibri"/>
                <a:cs typeface="Calibri"/>
              </a:rPr>
              <a:t>V</a:t>
            </a:r>
            <a:r>
              <a:rPr sz="3225" spc="22" baseline="-20671" dirty="0">
                <a:latin typeface="Calibri"/>
                <a:cs typeface="Calibri"/>
              </a:rPr>
              <a:t>BE</a:t>
            </a:r>
            <a:r>
              <a:rPr sz="3225" spc="30" baseline="-20671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is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increased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initially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there</a:t>
            </a:r>
            <a:r>
              <a:rPr sz="3250" dirty="0">
                <a:latin typeface="Calibri"/>
                <a:cs typeface="Calibri"/>
              </a:rPr>
              <a:t> is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no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current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produced,</a:t>
            </a:r>
            <a:r>
              <a:rPr sz="3250" spc="7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further</a:t>
            </a:r>
            <a:r>
              <a:rPr sz="3250" spc="70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when</a:t>
            </a:r>
            <a:r>
              <a:rPr sz="3250" spc="70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it</a:t>
            </a:r>
            <a:r>
              <a:rPr sz="3250" spc="7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7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increased</a:t>
            </a:r>
            <a:r>
              <a:rPr sz="3250" spc="70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7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input </a:t>
            </a:r>
            <a:r>
              <a:rPr sz="3250" spc="-7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 </a:t>
            </a:r>
            <a:r>
              <a:rPr sz="3250" spc="5" dirty="0">
                <a:latin typeface="Calibri"/>
                <a:cs typeface="Calibri"/>
              </a:rPr>
              <a:t>I</a:t>
            </a:r>
            <a:r>
              <a:rPr sz="3225" spc="7" baseline="-20671" dirty="0">
                <a:latin typeface="Calibri"/>
                <a:cs typeface="Calibri"/>
              </a:rPr>
              <a:t>B</a:t>
            </a:r>
            <a:r>
              <a:rPr sz="3225" spc="15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increases </a:t>
            </a:r>
            <a:r>
              <a:rPr sz="3250" spc="-35" dirty="0">
                <a:latin typeface="Calibri"/>
                <a:cs typeface="Calibri"/>
              </a:rPr>
              <a:t>steeply. </a:t>
            </a:r>
            <a:r>
              <a:rPr sz="3250" spc="10" dirty="0">
                <a:latin typeface="Calibri"/>
                <a:cs typeface="Calibri"/>
              </a:rPr>
              <a:t>When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output </a:t>
            </a:r>
            <a:r>
              <a:rPr sz="3250" spc="-15" dirty="0">
                <a:latin typeface="Calibri"/>
                <a:cs typeface="Calibri"/>
              </a:rPr>
              <a:t>voltage 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V</a:t>
            </a:r>
            <a:r>
              <a:rPr sz="3225" spc="7" baseline="-20671" dirty="0">
                <a:latin typeface="Calibri"/>
                <a:cs typeface="Calibri"/>
              </a:rPr>
              <a:t>CE</a:t>
            </a:r>
            <a:r>
              <a:rPr sz="3225" spc="405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 further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increased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curve</a:t>
            </a:r>
            <a:r>
              <a:rPr sz="3250" spc="7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shifts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right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side.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6631" y="682752"/>
            <a:ext cx="91954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7915" algn="l"/>
              </a:tabLst>
            </a:pPr>
            <a:r>
              <a:rPr spc="145" dirty="0"/>
              <a:t>O</a:t>
            </a:r>
            <a:r>
              <a:rPr spc="20" dirty="0"/>
              <a:t>u</a:t>
            </a:r>
            <a:r>
              <a:rPr spc="15" dirty="0"/>
              <a:t>t</a:t>
            </a:r>
            <a:r>
              <a:rPr spc="20" dirty="0"/>
              <a:t>pu</a:t>
            </a:r>
            <a:r>
              <a:rPr dirty="0"/>
              <a:t>t</a:t>
            </a:r>
            <a:r>
              <a:rPr spc="-20" dirty="0"/>
              <a:t> </a:t>
            </a:r>
            <a:r>
              <a:rPr spc="120" dirty="0"/>
              <a:t>C</a:t>
            </a:r>
            <a:r>
              <a:rPr spc="20" dirty="0"/>
              <a:t>h</a:t>
            </a:r>
            <a:r>
              <a:rPr spc="55" dirty="0"/>
              <a:t>a</a:t>
            </a:r>
            <a:r>
              <a:rPr spc="110" dirty="0"/>
              <a:t>r</a:t>
            </a:r>
            <a:r>
              <a:rPr spc="55" dirty="0"/>
              <a:t>a</a:t>
            </a:r>
            <a:r>
              <a:rPr spc="20" dirty="0"/>
              <a:t>c</a:t>
            </a:r>
            <a:r>
              <a:rPr spc="15" dirty="0"/>
              <a:t>t</a:t>
            </a:r>
            <a:r>
              <a:rPr spc="30" dirty="0"/>
              <a:t>e</a:t>
            </a:r>
            <a:r>
              <a:rPr spc="204" dirty="0"/>
              <a:t>r</a:t>
            </a:r>
            <a:r>
              <a:rPr spc="160" dirty="0"/>
              <a:t>i</a:t>
            </a:r>
            <a:r>
              <a:rPr spc="-200" dirty="0"/>
              <a:t>s</a:t>
            </a:r>
            <a:r>
              <a:rPr spc="20" dirty="0"/>
              <a:t>t</a:t>
            </a:r>
            <a:r>
              <a:rPr spc="160" dirty="0"/>
              <a:t>i</a:t>
            </a:r>
            <a:r>
              <a:rPr spc="45" dirty="0"/>
              <a:t>c</a:t>
            </a:r>
            <a:r>
              <a:rPr spc="-195" dirty="0"/>
              <a:t>s</a:t>
            </a:r>
            <a:r>
              <a:rPr dirty="0"/>
              <a:t>	</a:t>
            </a:r>
            <a:r>
              <a:rPr spc="-240" dirty="0"/>
              <a:t>–</a:t>
            </a:r>
            <a:r>
              <a:rPr spc="-120" dirty="0"/>
              <a:t> </a:t>
            </a:r>
            <a:r>
              <a:rPr spc="120" dirty="0"/>
              <a:t>C</a:t>
            </a:r>
            <a:r>
              <a:rPr dirty="0"/>
              <a:t>E</a:t>
            </a:r>
            <a:r>
              <a:rPr spc="-110" dirty="0"/>
              <a:t> </a:t>
            </a: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45" dirty="0"/>
              <a:t>f</a:t>
            </a:r>
            <a:r>
              <a:rPr spc="160" dirty="0"/>
              <a:t>i</a:t>
            </a:r>
            <a:r>
              <a:rPr dirty="0"/>
              <a:t>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439" y="1326388"/>
            <a:ext cx="7367016" cy="545896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394" y="1338072"/>
            <a:ext cx="9935845" cy="51320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90855" marR="67310" indent="-402590" algn="just">
              <a:lnSpc>
                <a:spcPct val="90500"/>
              </a:lnSpc>
              <a:spcBef>
                <a:spcPts val="475"/>
              </a:spcBef>
              <a:buFont typeface="Arial MT"/>
              <a:buChar char="•"/>
              <a:tabLst>
                <a:tab pos="491490" algn="l"/>
              </a:tabLst>
            </a:pPr>
            <a:r>
              <a:rPr sz="3150" dirty="0">
                <a:latin typeface="Calibri"/>
                <a:cs typeface="Calibri"/>
              </a:rPr>
              <a:t>Output</a:t>
            </a:r>
            <a:r>
              <a:rPr sz="3150" spc="5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characteristics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is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relationship</a:t>
            </a:r>
            <a:r>
              <a:rPr sz="3150" spc="-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between</a:t>
            </a:r>
            <a:r>
              <a:rPr sz="3150" spc="-5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the 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output</a:t>
            </a:r>
            <a:r>
              <a:rPr sz="3150" spc="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current</a:t>
            </a:r>
            <a:r>
              <a:rPr sz="3150" spc="-5" dirty="0">
                <a:latin typeface="Calibri"/>
                <a:cs typeface="Calibri"/>
              </a:rPr>
              <a:t> and</a:t>
            </a:r>
            <a:r>
              <a:rPr sz="3150" dirty="0">
                <a:latin typeface="Calibri"/>
                <a:cs typeface="Calibri"/>
              </a:rPr>
              <a:t> the</a:t>
            </a:r>
            <a:r>
              <a:rPr sz="3150" spc="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output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voltage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keeping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input 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current</a:t>
            </a:r>
            <a:r>
              <a:rPr sz="3150" spc="-55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constant.</a:t>
            </a:r>
            <a:endParaRPr sz="3150">
              <a:latin typeface="Calibri"/>
              <a:cs typeface="Calibri"/>
            </a:endParaRPr>
          </a:p>
          <a:p>
            <a:pPr marL="490855" marR="68580" indent="-402590" algn="just">
              <a:lnSpc>
                <a:spcPts val="3429"/>
              </a:lnSpc>
              <a:spcBef>
                <a:spcPts val="780"/>
              </a:spcBef>
              <a:buFont typeface="Arial MT"/>
              <a:buChar char="•"/>
              <a:tabLst>
                <a:tab pos="491490" algn="l"/>
              </a:tabLst>
            </a:pPr>
            <a:r>
              <a:rPr sz="3150" spc="-5" dirty="0">
                <a:latin typeface="Calibri"/>
                <a:cs typeface="Calibri"/>
              </a:rPr>
              <a:t>Here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values</a:t>
            </a:r>
            <a:r>
              <a:rPr sz="3150" spc="-5" dirty="0">
                <a:latin typeface="Calibri"/>
                <a:cs typeface="Calibri"/>
              </a:rPr>
              <a:t> </a:t>
            </a:r>
            <a:r>
              <a:rPr sz="3150" spc="5" dirty="0">
                <a:latin typeface="Calibri"/>
                <a:cs typeface="Calibri"/>
              </a:rPr>
              <a:t>of</a:t>
            </a:r>
            <a:r>
              <a:rPr sz="3150" spc="1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output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current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I</a:t>
            </a:r>
            <a:r>
              <a:rPr sz="3150" baseline="-19841" dirty="0">
                <a:latin typeface="Calibri"/>
                <a:cs typeface="Calibri"/>
              </a:rPr>
              <a:t>C</a:t>
            </a:r>
            <a:r>
              <a:rPr sz="3150" spc="7" baseline="-19841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and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output 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voltage</a:t>
            </a:r>
            <a:r>
              <a:rPr sz="3150" spc="-2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V</a:t>
            </a:r>
            <a:r>
              <a:rPr sz="3150" spc="-7" baseline="-19841" dirty="0">
                <a:latin typeface="Calibri"/>
                <a:cs typeface="Calibri"/>
              </a:rPr>
              <a:t>CE</a:t>
            </a:r>
            <a:r>
              <a:rPr sz="3150" spc="330" baseline="-19841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is</a:t>
            </a:r>
            <a:r>
              <a:rPr sz="3150" spc="-15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noted</a:t>
            </a:r>
            <a:r>
              <a:rPr sz="3150" spc="-4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keeping</a:t>
            </a:r>
            <a:r>
              <a:rPr sz="3150" spc="-4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input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current</a:t>
            </a:r>
            <a:r>
              <a:rPr sz="3150" spc="-75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I</a:t>
            </a:r>
            <a:r>
              <a:rPr sz="3150" baseline="-19841" dirty="0">
                <a:latin typeface="Calibri"/>
                <a:cs typeface="Calibri"/>
              </a:rPr>
              <a:t>B</a:t>
            </a:r>
            <a:r>
              <a:rPr sz="3150" spc="359" baseline="-19841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constant.</a:t>
            </a:r>
            <a:endParaRPr sz="3150">
              <a:latin typeface="Calibri"/>
              <a:cs typeface="Calibri"/>
            </a:endParaRPr>
          </a:p>
          <a:p>
            <a:pPr marL="490855" marR="65405" indent="-402590" algn="just">
              <a:lnSpc>
                <a:spcPts val="3429"/>
              </a:lnSpc>
              <a:spcBef>
                <a:spcPts val="725"/>
              </a:spcBef>
              <a:buFont typeface="Arial MT"/>
              <a:buChar char="•"/>
              <a:tabLst>
                <a:tab pos="491490" algn="l"/>
              </a:tabLst>
            </a:pPr>
            <a:r>
              <a:rPr sz="3150" dirty="0">
                <a:latin typeface="Calibri"/>
                <a:cs typeface="Calibri"/>
              </a:rPr>
              <a:t>In</a:t>
            </a:r>
            <a:r>
              <a:rPr sz="3150" spc="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active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region</a:t>
            </a:r>
            <a:r>
              <a:rPr sz="3150" dirty="0">
                <a:latin typeface="Calibri"/>
                <a:cs typeface="Calibri"/>
              </a:rPr>
              <a:t> when</a:t>
            </a:r>
            <a:r>
              <a:rPr sz="3150" spc="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output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voltage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is</a:t>
            </a:r>
            <a:r>
              <a:rPr sz="3150" spc="5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increased </a:t>
            </a:r>
            <a:r>
              <a:rPr sz="3150" spc="-70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there</a:t>
            </a:r>
            <a:r>
              <a:rPr sz="3150" spc="-40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is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spc="5" dirty="0">
                <a:latin typeface="Calibri"/>
                <a:cs typeface="Calibri"/>
              </a:rPr>
              <a:t>very</a:t>
            </a:r>
            <a:r>
              <a:rPr sz="3150" spc="-35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slight </a:t>
            </a:r>
            <a:r>
              <a:rPr sz="3150" dirty="0">
                <a:latin typeface="Calibri"/>
                <a:cs typeface="Calibri"/>
              </a:rPr>
              <a:t>change</a:t>
            </a:r>
            <a:r>
              <a:rPr sz="3150" spc="-40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in</a:t>
            </a:r>
            <a:r>
              <a:rPr sz="3150" spc="-5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the</a:t>
            </a:r>
            <a:r>
              <a:rPr sz="3150" spc="-15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output</a:t>
            </a:r>
            <a:r>
              <a:rPr sz="3150" spc="-50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Current.</a:t>
            </a:r>
            <a:endParaRPr sz="3150">
              <a:latin typeface="Calibri"/>
              <a:cs typeface="Calibri"/>
            </a:endParaRPr>
          </a:p>
          <a:p>
            <a:pPr marL="490855" marR="65405" indent="-402590" algn="just">
              <a:lnSpc>
                <a:spcPct val="90400"/>
              </a:lnSpc>
              <a:spcBef>
                <a:spcPts val="680"/>
              </a:spcBef>
              <a:buFont typeface="Arial MT"/>
              <a:buChar char="•"/>
              <a:tabLst>
                <a:tab pos="491490" algn="l"/>
              </a:tabLst>
            </a:pPr>
            <a:r>
              <a:rPr sz="3150" dirty="0">
                <a:latin typeface="Calibri"/>
                <a:cs typeface="Calibri"/>
              </a:rPr>
              <a:t>The </a:t>
            </a:r>
            <a:r>
              <a:rPr sz="3150" spc="-5" dirty="0">
                <a:latin typeface="Calibri"/>
                <a:cs typeface="Calibri"/>
              </a:rPr>
              <a:t>curve </a:t>
            </a:r>
            <a:r>
              <a:rPr sz="3150" spc="-10" dirty="0">
                <a:latin typeface="Calibri"/>
                <a:cs typeface="Calibri"/>
              </a:rPr>
              <a:t>looks almost </a:t>
            </a:r>
            <a:r>
              <a:rPr sz="3150" spc="-5" dirty="0">
                <a:latin typeface="Calibri"/>
                <a:cs typeface="Calibri"/>
              </a:rPr>
              <a:t>flat </a:t>
            </a:r>
            <a:r>
              <a:rPr sz="3150" dirty="0">
                <a:latin typeface="Calibri"/>
                <a:cs typeface="Calibri"/>
              </a:rPr>
              <a:t>in the </a:t>
            </a:r>
            <a:r>
              <a:rPr sz="3150" b="1" spc="-10" dirty="0">
                <a:latin typeface="Calibri"/>
                <a:cs typeface="Calibri"/>
              </a:rPr>
              <a:t>active </a:t>
            </a:r>
            <a:r>
              <a:rPr sz="3150" b="1" dirty="0">
                <a:latin typeface="Calibri"/>
                <a:cs typeface="Calibri"/>
              </a:rPr>
              <a:t>region</a:t>
            </a:r>
            <a:r>
              <a:rPr sz="3150" dirty="0">
                <a:latin typeface="Calibri"/>
                <a:cs typeface="Calibri"/>
              </a:rPr>
              <a:t>. </a:t>
            </a:r>
            <a:r>
              <a:rPr sz="3150" b="1" spc="5" dirty="0">
                <a:latin typeface="Calibri"/>
                <a:cs typeface="Calibri"/>
              </a:rPr>
              <a:t>Cut </a:t>
            </a:r>
            <a:r>
              <a:rPr sz="3150" b="1" spc="-5" dirty="0">
                <a:latin typeface="Calibri"/>
                <a:cs typeface="Calibri"/>
              </a:rPr>
              <a:t>off </a:t>
            </a:r>
            <a:r>
              <a:rPr sz="3150" b="1" dirty="0">
                <a:latin typeface="Calibri"/>
                <a:cs typeface="Calibri"/>
              </a:rPr>
              <a:t> region</a:t>
            </a:r>
            <a:r>
              <a:rPr sz="3150" b="1" spc="5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is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0" dirty="0">
                <a:latin typeface="Calibri"/>
                <a:cs typeface="Calibri"/>
              </a:rPr>
              <a:t>region</a:t>
            </a:r>
            <a:r>
              <a:rPr sz="3150" spc="-5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where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the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input</a:t>
            </a:r>
            <a:r>
              <a:rPr sz="3150" dirty="0">
                <a:latin typeface="Calibri"/>
                <a:cs typeface="Calibri"/>
              </a:rPr>
              <a:t> </a:t>
            </a:r>
            <a:r>
              <a:rPr sz="3150" spc="-15" dirty="0">
                <a:latin typeface="Calibri"/>
                <a:cs typeface="Calibri"/>
              </a:rPr>
              <a:t>current</a:t>
            </a:r>
            <a:r>
              <a:rPr sz="3150" spc="-10" dirty="0">
                <a:latin typeface="Calibri"/>
                <a:cs typeface="Calibri"/>
              </a:rPr>
              <a:t> </a:t>
            </a:r>
            <a:r>
              <a:rPr sz="3150" dirty="0">
                <a:latin typeface="Calibri"/>
                <a:cs typeface="Calibri"/>
              </a:rPr>
              <a:t>is</a:t>
            </a:r>
            <a:r>
              <a:rPr sz="3150" spc="710" dirty="0">
                <a:latin typeface="Calibri"/>
                <a:cs typeface="Calibri"/>
              </a:rPr>
              <a:t> </a:t>
            </a:r>
            <a:r>
              <a:rPr sz="3150" spc="-5" dirty="0">
                <a:latin typeface="Calibri"/>
                <a:cs typeface="Calibri"/>
              </a:rPr>
              <a:t>below </a:t>
            </a:r>
            <a:r>
              <a:rPr sz="3150" spc="-700" dirty="0">
                <a:latin typeface="Calibri"/>
                <a:cs typeface="Calibri"/>
              </a:rPr>
              <a:t> </a:t>
            </a:r>
            <a:r>
              <a:rPr sz="3150" spc="-25" dirty="0">
                <a:latin typeface="Calibri"/>
                <a:cs typeface="Calibri"/>
              </a:rPr>
              <a:t>zero. </a:t>
            </a:r>
            <a:r>
              <a:rPr sz="3150" dirty="0">
                <a:latin typeface="Calibri"/>
                <a:cs typeface="Calibri"/>
              </a:rPr>
              <a:t>When both </a:t>
            </a:r>
            <a:r>
              <a:rPr sz="3150" spc="-10" dirty="0">
                <a:latin typeface="Calibri"/>
                <a:cs typeface="Calibri"/>
              </a:rPr>
              <a:t>the </a:t>
            </a:r>
            <a:r>
              <a:rPr sz="3150" spc="-5" dirty="0">
                <a:latin typeface="Calibri"/>
                <a:cs typeface="Calibri"/>
              </a:rPr>
              <a:t>junctions </a:t>
            </a:r>
            <a:r>
              <a:rPr sz="3150" spc="-20" dirty="0">
                <a:latin typeface="Calibri"/>
                <a:cs typeface="Calibri"/>
              </a:rPr>
              <a:t>are forward </a:t>
            </a:r>
            <a:r>
              <a:rPr sz="3150" spc="-5" dirty="0">
                <a:latin typeface="Calibri"/>
                <a:cs typeface="Calibri"/>
              </a:rPr>
              <a:t>biased, </a:t>
            </a:r>
            <a:r>
              <a:rPr sz="3150" dirty="0">
                <a:latin typeface="Calibri"/>
                <a:cs typeface="Calibri"/>
              </a:rPr>
              <a:t>it is in </a:t>
            </a:r>
            <a:r>
              <a:rPr sz="3150" spc="5" dirty="0">
                <a:latin typeface="Calibri"/>
                <a:cs typeface="Calibri"/>
              </a:rPr>
              <a:t> </a:t>
            </a:r>
            <a:r>
              <a:rPr sz="3150" b="1" spc="-10" dirty="0">
                <a:latin typeface="Calibri"/>
                <a:cs typeface="Calibri"/>
              </a:rPr>
              <a:t>saturation</a:t>
            </a:r>
            <a:r>
              <a:rPr sz="3150" b="1" spc="-40" dirty="0">
                <a:latin typeface="Calibri"/>
                <a:cs typeface="Calibri"/>
              </a:rPr>
              <a:t> </a:t>
            </a:r>
            <a:r>
              <a:rPr sz="3150" b="1" dirty="0">
                <a:latin typeface="Calibri"/>
                <a:cs typeface="Calibri"/>
              </a:rPr>
              <a:t>region</a:t>
            </a:r>
            <a:r>
              <a:rPr sz="3150" dirty="0">
                <a:latin typeface="Calibri"/>
                <a:cs typeface="Calibri"/>
              </a:rPr>
              <a:t>.</a:t>
            </a:r>
            <a:endParaRPr sz="3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1673" y="682752"/>
            <a:ext cx="75736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18915" algn="l"/>
                <a:tab pos="6126480" algn="l"/>
              </a:tabLst>
            </a:pPr>
            <a:r>
              <a:rPr spc="30" dirty="0"/>
              <a:t>Common</a:t>
            </a:r>
            <a:r>
              <a:rPr spc="-10" dirty="0"/>
              <a:t> </a:t>
            </a:r>
            <a:r>
              <a:rPr spc="-65" dirty="0"/>
              <a:t>Base	</a:t>
            </a:r>
            <a:r>
              <a:rPr spc="-10" dirty="0"/>
              <a:t>Config.	</a:t>
            </a:r>
            <a:r>
              <a:rPr dirty="0"/>
              <a:t>-</a:t>
            </a:r>
            <a:r>
              <a:rPr spc="-155" dirty="0"/>
              <a:t> </a:t>
            </a:r>
            <a:r>
              <a:rPr spc="50" dirty="0"/>
              <a:t>PNP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063" y="1280667"/>
            <a:ext cx="7269480" cy="55046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3113" y="682752"/>
            <a:ext cx="735075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73115" algn="l"/>
              </a:tabLst>
            </a:pPr>
            <a:r>
              <a:rPr spc="30" dirty="0"/>
              <a:t>Common</a:t>
            </a:r>
            <a:r>
              <a:rPr spc="-15" dirty="0"/>
              <a:t> </a:t>
            </a:r>
            <a:r>
              <a:rPr spc="-65" dirty="0"/>
              <a:t>Base</a:t>
            </a:r>
            <a:r>
              <a:rPr spc="-25" dirty="0"/>
              <a:t> </a:t>
            </a:r>
            <a:r>
              <a:rPr spc="30" dirty="0"/>
              <a:t>Config	</a:t>
            </a:r>
            <a:r>
              <a:rPr dirty="0"/>
              <a:t>-</a:t>
            </a:r>
            <a:r>
              <a:rPr spc="-155" dirty="0"/>
              <a:t> </a:t>
            </a:r>
            <a:r>
              <a:rPr spc="50" dirty="0"/>
              <a:t>NPN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1317244"/>
            <a:ext cx="7421880" cy="54071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6487" y="606552"/>
            <a:ext cx="8092440" cy="1166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4495"/>
              </a:lnSpc>
              <a:spcBef>
                <a:spcPts val="95"/>
              </a:spcBef>
            </a:pPr>
            <a:r>
              <a:rPr sz="3750" spc="65" dirty="0"/>
              <a:t>Input,</a:t>
            </a:r>
            <a:r>
              <a:rPr sz="3750" spc="-30" dirty="0"/>
              <a:t> </a:t>
            </a:r>
            <a:r>
              <a:rPr sz="3750" spc="40" dirty="0"/>
              <a:t>Output</a:t>
            </a:r>
            <a:r>
              <a:rPr sz="3750" spc="-135" dirty="0"/>
              <a:t> </a:t>
            </a:r>
            <a:r>
              <a:rPr sz="3750" spc="35" dirty="0"/>
              <a:t>Characteristics</a:t>
            </a:r>
            <a:r>
              <a:rPr sz="3750" spc="-135" dirty="0"/>
              <a:t> </a:t>
            </a:r>
            <a:r>
              <a:rPr sz="3750" spc="-80" dirty="0"/>
              <a:t>of</a:t>
            </a:r>
            <a:r>
              <a:rPr sz="3750" spc="-65" dirty="0"/>
              <a:t> </a:t>
            </a:r>
            <a:r>
              <a:rPr sz="3750" spc="5" dirty="0"/>
              <a:t>CB</a:t>
            </a:r>
            <a:endParaRPr sz="3750"/>
          </a:p>
          <a:p>
            <a:pPr marL="158750" algn="ctr">
              <a:lnSpc>
                <a:spcPts val="4495"/>
              </a:lnSpc>
            </a:pPr>
            <a:r>
              <a:rPr sz="3750" spc="-20" dirty="0"/>
              <a:t>config.</a:t>
            </a:r>
            <a:endParaRPr sz="37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4655" marR="5080" indent="-402590">
              <a:lnSpc>
                <a:spcPct val="100899"/>
              </a:lnSpc>
              <a:spcBef>
                <a:spcPts val="75"/>
              </a:spcBef>
              <a:buClr>
                <a:srgbClr val="000000"/>
              </a:buClr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https://</a:t>
            </a:r>
            <a:r>
              <a:rPr spc="-5" dirty="0">
                <a:hlinkClick r:id="rId2"/>
              </a:rPr>
              <a:t>www.learnelectronicswithme.com</a:t>
            </a:r>
            <a:r>
              <a:rPr u="none" spc="125" dirty="0">
                <a:hlinkClick r:id="rId2"/>
              </a:rPr>
              <a:t> </a:t>
            </a:r>
            <a:r>
              <a:rPr u="none" dirty="0">
                <a:solidFill>
                  <a:srgbClr val="000000"/>
                </a:solidFill>
              </a:rPr>
              <a:t>and</a:t>
            </a:r>
            <a:r>
              <a:rPr u="none" spc="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learn </a:t>
            </a:r>
            <a:r>
              <a:rPr u="none" spc="-720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from</a:t>
            </a:r>
            <a:r>
              <a:rPr u="none" spc="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it.</a:t>
            </a: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u="none" dirty="0">
                <a:solidFill>
                  <a:srgbClr val="000000"/>
                </a:solidFill>
              </a:rPr>
              <a:t>Left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it</a:t>
            </a:r>
            <a:r>
              <a:rPr u="none" spc="1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as</a:t>
            </a:r>
            <a:r>
              <a:rPr u="none" spc="20" dirty="0">
                <a:solidFill>
                  <a:srgbClr val="000000"/>
                </a:solidFill>
              </a:rPr>
              <a:t> </a:t>
            </a:r>
            <a:r>
              <a:rPr u="none" spc="5" dirty="0">
                <a:solidFill>
                  <a:srgbClr val="000000"/>
                </a:solidFill>
              </a:rPr>
              <a:t>a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spc="-30" dirty="0">
                <a:solidFill>
                  <a:srgbClr val="000000"/>
                </a:solidFill>
              </a:rPr>
              <a:t>Work</a:t>
            </a:r>
            <a:r>
              <a:rPr u="none" spc="2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to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Students</a:t>
            </a: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u="none" spc="-10" dirty="0">
                <a:solidFill>
                  <a:srgbClr val="000000"/>
                </a:solidFill>
              </a:rPr>
              <a:t>Future</a:t>
            </a:r>
            <a:r>
              <a:rPr u="none" spc="7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discussion</a:t>
            </a:r>
            <a:r>
              <a:rPr u="none" spc="9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in</a:t>
            </a:r>
            <a:r>
              <a:rPr u="none" spc="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3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class</a:t>
            </a:r>
            <a:r>
              <a:rPr u="none" spc="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session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249" y="682752"/>
            <a:ext cx="96970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9770" algn="l"/>
              </a:tabLst>
            </a:pPr>
            <a:r>
              <a:rPr spc="120" dirty="0"/>
              <a:t>C</a:t>
            </a:r>
            <a:r>
              <a:rPr spc="-160" dirty="0"/>
              <a:t>o</a:t>
            </a:r>
            <a:r>
              <a:rPr spc="204" dirty="0"/>
              <a:t>m</a:t>
            </a:r>
            <a:r>
              <a:rPr spc="200" dirty="0"/>
              <a:t>m</a:t>
            </a:r>
            <a:r>
              <a:rPr spc="-165" dirty="0"/>
              <a:t>o</a:t>
            </a:r>
            <a:r>
              <a:rPr dirty="0"/>
              <a:t>n</a:t>
            </a:r>
            <a:r>
              <a:rPr spc="-20" dirty="0"/>
              <a:t> </a:t>
            </a:r>
            <a:r>
              <a:rPr spc="120" dirty="0"/>
              <a:t>C</a:t>
            </a:r>
            <a:r>
              <a:rPr spc="-165" dirty="0"/>
              <a:t>o</a:t>
            </a:r>
            <a:r>
              <a:rPr spc="160" dirty="0"/>
              <a:t>ll</a:t>
            </a:r>
            <a:r>
              <a:rPr spc="30" dirty="0"/>
              <a:t>e</a:t>
            </a:r>
            <a:r>
              <a:rPr spc="20" dirty="0"/>
              <a:t>c</a:t>
            </a:r>
            <a:r>
              <a:rPr spc="15" dirty="0"/>
              <a:t>t</a:t>
            </a:r>
            <a:r>
              <a:rPr spc="-165" dirty="0"/>
              <a:t>o</a:t>
            </a:r>
            <a:r>
              <a:rPr dirty="0"/>
              <a:t>r</a:t>
            </a:r>
            <a:r>
              <a:rPr spc="70" dirty="0"/>
              <a:t> </a:t>
            </a: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45" dirty="0"/>
              <a:t>f</a:t>
            </a:r>
            <a:r>
              <a:rPr spc="160" dirty="0"/>
              <a:t>i</a:t>
            </a:r>
            <a:r>
              <a:rPr dirty="0"/>
              <a:t>g	</a:t>
            </a:r>
            <a:r>
              <a:rPr spc="-240" dirty="0"/>
              <a:t>–</a:t>
            </a:r>
            <a:r>
              <a:rPr spc="-100" dirty="0"/>
              <a:t> </a:t>
            </a:r>
            <a:r>
              <a:rPr spc="125" dirty="0"/>
              <a:t>C</a:t>
            </a:r>
            <a:r>
              <a:rPr spc="-40" dirty="0"/>
              <a:t>C</a:t>
            </a:r>
            <a:r>
              <a:rPr dirty="0"/>
              <a:t>,</a:t>
            </a:r>
            <a:r>
              <a:rPr spc="50" dirty="0"/>
              <a:t> </a:t>
            </a:r>
            <a:r>
              <a:rPr spc="150" dirty="0"/>
              <a:t>N</a:t>
            </a:r>
            <a:r>
              <a:rPr spc="5" dirty="0"/>
              <a:t>P</a:t>
            </a:r>
            <a:r>
              <a:rPr dirty="0"/>
              <a:t>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367" y="1335532"/>
            <a:ext cx="6312408" cy="53888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777" y="682752"/>
            <a:ext cx="96672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9770" algn="l"/>
              </a:tabLst>
            </a:pPr>
            <a:r>
              <a:rPr spc="120" dirty="0"/>
              <a:t>C</a:t>
            </a:r>
            <a:r>
              <a:rPr spc="-160" dirty="0"/>
              <a:t>o</a:t>
            </a:r>
            <a:r>
              <a:rPr spc="204" dirty="0"/>
              <a:t>m</a:t>
            </a:r>
            <a:r>
              <a:rPr spc="200" dirty="0"/>
              <a:t>m</a:t>
            </a:r>
            <a:r>
              <a:rPr spc="-165" dirty="0"/>
              <a:t>o</a:t>
            </a:r>
            <a:r>
              <a:rPr dirty="0"/>
              <a:t>n</a:t>
            </a:r>
            <a:r>
              <a:rPr spc="-20" dirty="0"/>
              <a:t> </a:t>
            </a:r>
            <a:r>
              <a:rPr spc="120" dirty="0"/>
              <a:t>C</a:t>
            </a:r>
            <a:r>
              <a:rPr spc="-165" dirty="0"/>
              <a:t>o</a:t>
            </a:r>
            <a:r>
              <a:rPr spc="160" dirty="0"/>
              <a:t>ll</a:t>
            </a:r>
            <a:r>
              <a:rPr spc="30" dirty="0"/>
              <a:t>e</a:t>
            </a:r>
            <a:r>
              <a:rPr spc="20" dirty="0"/>
              <a:t>c</a:t>
            </a:r>
            <a:r>
              <a:rPr spc="15" dirty="0"/>
              <a:t>t</a:t>
            </a:r>
            <a:r>
              <a:rPr spc="-165" dirty="0"/>
              <a:t>o</a:t>
            </a:r>
            <a:r>
              <a:rPr dirty="0"/>
              <a:t>r</a:t>
            </a:r>
            <a:r>
              <a:rPr spc="70" dirty="0"/>
              <a:t> </a:t>
            </a: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45" dirty="0"/>
              <a:t>f</a:t>
            </a:r>
            <a:r>
              <a:rPr spc="160" dirty="0"/>
              <a:t>i</a:t>
            </a:r>
            <a:r>
              <a:rPr dirty="0"/>
              <a:t>g	</a:t>
            </a:r>
            <a:r>
              <a:rPr spc="-240" dirty="0"/>
              <a:t>–</a:t>
            </a:r>
            <a:r>
              <a:rPr spc="-100" dirty="0"/>
              <a:t> </a:t>
            </a:r>
            <a:r>
              <a:rPr spc="125" dirty="0"/>
              <a:t>C</a:t>
            </a:r>
            <a:r>
              <a:rPr spc="-40" dirty="0"/>
              <a:t>C</a:t>
            </a:r>
            <a:r>
              <a:rPr dirty="0"/>
              <a:t>,</a:t>
            </a:r>
            <a:r>
              <a:rPr spc="45" dirty="0"/>
              <a:t> </a:t>
            </a:r>
            <a:r>
              <a:rPr spc="5" dirty="0"/>
              <a:t>P</a:t>
            </a:r>
            <a:r>
              <a:rPr spc="150" dirty="0"/>
              <a:t>N</a:t>
            </a:r>
            <a:r>
              <a:rPr dirty="0"/>
              <a:t>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983" y="1347724"/>
            <a:ext cx="6687311" cy="54376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5151" y="606552"/>
            <a:ext cx="8104505" cy="1166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4495"/>
              </a:lnSpc>
              <a:spcBef>
                <a:spcPts val="95"/>
              </a:spcBef>
            </a:pPr>
            <a:r>
              <a:rPr sz="3750" spc="65" dirty="0"/>
              <a:t>Input,</a:t>
            </a:r>
            <a:r>
              <a:rPr sz="3750" spc="-30" dirty="0"/>
              <a:t> </a:t>
            </a:r>
            <a:r>
              <a:rPr sz="3750" spc="40" dirty="0"/>
              <a:t>Output</a:t>
            </a:r>
            <a:r>
              <a:rPr sz="3750" spc="-135" dirty="0"/>
              <a:t> </a:t>
            </a:r>
            <a:r>
              <a:rPr sz="3750" spc="35" dirty="0"/>
              <a:t>Characteristics</a:t>
            </a:r>
            <a:r>
              <a:rPr sz="3750" spc="-135" dirty="0"/>
              <a:t> </a:t>
            </a:r>
            <a:r>
              <a:rPr sz="3750" spc="-80" dirty="0"/>
              <a:t>of</a:t>
            </a:r>
            <a:r>
              <a:rPr sz="3750" spc="-65" dirty="0"/>
              <a:t> </a:t>
            </a:r>
            <a:r>
              <a:rPr sz="3750" spc="50" dirty="0"/>
              <a:t>CC</a:t>
            </a:r>
            <a:endParaRPr sz="3750"/>
          </a:p>
          <a:p>
            <a:pPr marL="189865" algn="ctr">
              <a:lnSpc>
                <a:spcPts val="4495"/>
              </a:lnSpc>
            </a:pPr>
            <a:r>
              <a:rPr sz="3750" spc="-20" dirty="0"/>
              <a:t>config.</a:t>
            </a:r>
            <a:endParaRPr sz="37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4655" marR="5080" indent="-402590">
              <a:lnSpc>
                <a:spcPct val="100899"/>
              </a:lnSpc>
              <a:spcBef>
                <a:spcPts val="75"/>
              </a:spcBef>
              <a:buClr>
                <a:srgbClr val="000000"/>
              </a:buClr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5" dirty="0"/>
              <a:t>https://</a:t>
            </a:r>
            <a:r>
              <a:rPr spc="-5" dirty="0">
                <a:hlinkClick r:id="rId2"/>
              </a:rPr>
              <a:t>www.learnelectronicswithme.com</a:t>
            </a:r>
            <a:r>
              <a:rPr u="none" spc="125" dirty="0">
                <a:hlinkClick r:id="rId2"/>
              </a:rPr>
              <a:t> </a:t>
            </a:r>
            <a:r>
              <a:rPr u="none" dirty="0">
                <a:solidFill>
                  <a:srgbClr val="000000"/>
                </a:solidFill>
              </a:rPr>
              <a:t>and</a:t>
            </a:r>
            <a:r>
              <a:rPr u="none" spc="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learn </a:t>
            </a:r>
            <a:r>
              <a:rPr u="none" spc="-720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from</a:t>
            </a:r>
            <a:r>
              <a:rPr u="none" spc="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it.</a:t>
            </a: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u="none" dirty="0">
                <a:solidFill>
                  <a:srgbClr val="000000"/>
                </a:solidFill>
              </a:rPr>
              <a:t>Left</a:t>
            </a:r>
            <a:r>
              <a:rPr u="none" spc="-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it</a:t>
            </a:r>
            <a:r>
              <a:rPr u="none" spc="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as</a:t>
            </a:r>
            <a:r>
              <a:rPr u="none" spc="10" dirty="0">
                <a:solidFill>
                  <a:srgbClr val="000000"/>
                </a:solidFill>
              </a:rPr>
              <a:t> </a:t>
            </a:r>
            <a:r>
              <a:rPr u="none" spc="5" dirty="0">
                <a:solidFill>
                  <a:srgbClr val="000000"/>
                </a:solidFill>
              </a:rPr>
              <a:t>a</a:t>
            </a:r>
            <a:r>
              <a:rPr u="none" spc="-10" dirty="0">
                <a:solidFill>
                  <a:srgbClr val="000000"/>
                </a:solidFill>
              </a:rPr>
              <a:t> </a:t>
            </a:r>
            <a:r>
              <a:rPr u="none" spc="10" dirty="0">
                <a:solidFill>
                  <a:srgbClr val="000000"/>
                </a:solidFill>
              </a:rPr>
              <a:t>Home</a:t>
            </a:r>
            <a:r>
              <a:rPr u="none" dirty="0">
                <a:solidFill>
                  <a:srgbClr val="000000"/>
                </a:solidFill>
              </a:rPr>
              <a:t> </a:t>
            </a:r>
            <a:r>
              <a:rPr u="none" spc="-30" dirty="0">
                <a:solidFill>
                  <a:srgbClr val="000000"/>
                </a:solidFill>
              </a:rPr>
              <a:t>Work</a:t>
            </a:r>
          </a:p>
          <a:p>
            <a:pPr marL="414655" marR="346075" indent="-402590">
              <a:lnSpc>
                <a:spcPct val="100299"/>
              </a:lnSpc>
              <a:spcBef>
                <a:spcPts val="82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u="none" spc="-5" dirty="0">
                <a:solidFill>
                  <a:srgbClr val="000000"/>
                </a:solidFill>
              </a:rPr>
              <a:t>What</a:t>
            </a:r>
            <a:r>
              <a:rPr u="none" spc="3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is</a:t>
            </a:r>
            <a:r>
              <a:rPr u="none" spc="2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5" dirty="0">
                <a:solidFill>
                  <a:srgbClr val="000000"/>
                </a:solidFill>
              </a:rPr>
              <a:t> </a:t>
            </a:r>
            <a:r>
              <a:rPr u="none" spc="-5" dirty="0">
                <a:solidFill>
                  <a:srgbClr val="000000"/>
                </a:solidFill>
              </a:rPr>
              <a:t>alternate</a:t>
            </a:r>
            <a:r>
              <a:rPr u="none" spc="-15" dirty="0">
                <a:solidFill>
                  <a:srgbClr val="000000"/>
                </a:solidFill>
              </a:rPr>
              <a:t> </a:t>
            </a:r>
            <a:r>
              <a:rPr u="none" spc="5" dirty="0">
                <a:solidFill>
                  <a:srgbClr val="000000"/>
                </a:solidFill>
              </a:rPr>
              <a:t>name</a:t>
            </a:r>
            <a:r>
              <a:rPr u="none" spc="30" dirty="0">
                <a:solidFill>
                  <a:srgbClr val="000000"/>
                </a:solidFill>
              </a:rPr>
              <a:t> </a:t>
            </a:r>
            <a:r>
              <a:rPr u="none" spc="-15" dirty="0">
                <a:solidFill>
                  <a:srgbClr val="000000"/>
                </a:solidFill>
              </a:rPr>
              <a:t>for </a:t>
            </a:r>
            <a:r>
              <a:rPr u="none" spc="10" dirty="0">
                <a:solidFill>
                  <a:srgbClr val="000000"/>
                </a:solidFill>
              </a:rPr>
              <a:t>Common</a:t>
            </a:r>
            <a:r>
              <a:rPr u="none" spc="20" dirty="0">
                <a:solidFill>
                  <a:srgbClr val="000000"/>
                </a:solidFill>
              </a:rPr>
              <a:t> </a:t>
            </a:r>
            <a:r>
              <a:rPr u="none" spc="5" dirty="0">
                <a:solidFill>
                  <a:srgbClr val="000000"/>
                </a:solidFill>
              </a:rPr>
              <a:t>Collector </a:t>
            </a:r>
            <a:r>
              <a:rPr u="none" spc="-720" dirty="0">
                <a:solidFill>
                  <a:srgbClr val="000000"/>
                </a:solidFill>
              </a:rPr>
              <a:t> </a:t>
            </a:r>
            <a:r>
              <a:rPr u="none" spc="-10" dirty="0">
                <a:solidFill>
                  <a:srgbClr val="000000"/>
                </a:solidFill>
              </a:rPr>
              <a:t>configuration?</a:t>
            </a:r>
          </a:p>
          <a:p>
            <a:pPr marL="4146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u="none" spc="-10" dirty="0">
                <a:solidFill>
                  <a:srgbClr val="000000"/>
                </a:solidFill>
              </a:rPr>
              <a:t>Future</a:t>
            </a:r>
            <a:r>
              <a:rPr u="none" spc="7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discussion</a:t>
            </a:r>
            <a:r>
              <a:rPr u="none" spc="9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in</a:t>
            </a:r>
            <a:r>
              <a:rPr u="none" spc="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the</a:t>
            </a:r>
            <a:r>
              <a:rPr u="none" spc="30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class</a:t>
            </a:r>
            <a:r>
              <a:rPr u="none" spc="25" dirty="0">
                <a:solidFill>
                  <a:srgbClr val="000000"/>
                </a:solidFill>
              </a:rPr>
              <a:t> </a:t>
            </a:r>
            <a:r>
              <a:rPr u="none" dirty="0">
                <a:solidFill>
                  <a:srgbClr val="000000"/>
                </a:solidFill>
              </a:rPr>
              <a:t>session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39" y="679703"/>
            <a:ext cx="63601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A</a:t>
            </a:r>
            <a:r>
              <a:rPr spc="-130" dirty="0"/>
              <a:t>d</a:t>
            </a:r>
            <a:r>
              <a:rPr spc="-40" dirty="0"/>
              <a:t>v</a:t>
            </a:r>
            <a:r>
              <a:rPr spc="55" dirty="0"/>
              <a:t>a</a:t>
            </a:r>
            <a:r>
              <a:rPr spc="45" dirty="0"/>
              <a:t>n</a:t>
            </a:r>
            <a:r>
              <a:rPr spc="20" dirty="0"/>
              <a:t>t</a:t>
            </a:r>
            <a:r>
              <a:rPr spc="55" dirty="0"/>
              <a:t>a</a:t>
            </a:r>
            <a:r>
              <a:rPr spc="-25" dirty="0"/>
              <a:t>g</a:t>
            </a:r>
            <a:r>
              <a:rPr spc="30" dirty="0"/>
              <a:t>e</a:t>
            </a:r>
            <a:r>
              <a:rPr spc="-195" dirty="0"/>
              <a:t>s</a:t>
            </a:r>
            <a:r>
              <a:rPr dirty="0"/>
              <a:t> </a:t>
            </a:r>
            <a:r>
              <a:rPr spc="-165" dirty="0"/>
              <a:t>o</a:t>
            </a:r>
            <a:r>
              <a:rPr dirty="0"/>
              <a:t>f</a:t>
            </a:r>
            <a:r>
              <a:rPr spc="-355" dirty="0"/>
              <a:t> </a:t>
            </a:r>
            <a:r>
              <a:rPr spc="130" dirty="0"/>
              <a:t>T</a:t>
            </a:r>
            <a:r>
              <a:rPr spc="110" dirty="0"/>
              <a:t>r</a:t>
            </a:r>
            <a:r>
              <a:rPr spc="55" dirty="0"/>
              <a:t>a</a:t>
            </a:r>
            <a:r>
              <a:rPr spc="45" dirty="0"/>
              <a:t>n</a:t>
            </a:r>
            <a:r>
              <a:rPr spc="-200" dirty="0"/>
              <a:t>s</a:t>
            </a:r>
            <a:r>
              <a:rPr spc="160" dirty="0"/>
              <a:t>i</a:t>
            </a:r>
            <a:r>
              <a:rPr spc="-200" dirty="0"/>
              <a:t>s</a:t>
            </a:r>
            <a:r>
              <a:rPr spc="15" dirty="0"/>
              <a:t>t</a:t>
            </a:r>
            <a:r>
              <a:rPr spc="-165" dirty="0"/>
              <a:t>o</a:t>
            </a:r>
            <a:r>
              <a:rPr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289913"/>
            <a:ext cx="9427210" cy="47167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High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-15" dirty="0">
                <a:latin typeface="Calibri"/>
                <a:cs typeface="Calibri"/>
              </a:rPr>
              <a:t> gain.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5" dirty="0">
                <a:latin typeface="Calibri"/>
                <a:cs typeface="Calibri"/>
              </a:rPr>
              <a:t>Lower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supply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sufficient.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10" dirty="0">
                <a:latin typeface="Calibri"/>
                <a:cs typeface="Calibri"/>
              </a:rPr>
              <a:t>Most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suitable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for</a:t>
            </a:r>
            <a:r>
              <a:rPr sz="3250" spc="-5" dirty="0">
                <a:latin typeface="Calibri"/>
                <a:cs typeface="Calibri"/>
              </a:rPr>
              <a:t> low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power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applications.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Smaller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lighter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weight.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Mechanically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stronger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than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vacuum</a:t>
            </a:r>
            <a:r>
              <a:rPr sz="3250" spc="8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tubes.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No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external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heating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required</a:t>
            </a:r>
            <a:r>
              <a:rPr sz="3250" spc="95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like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vacuum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tubes.</a:t>
            </a:r>
            <a:endParaRPr sz="3250">
              <a:latin typeface="Calibri"/>
              <a:cs typeface="Calibri"/>
            </a:endParaRPr>
          </a:p>
          <a:p>
            <a:pPr marL="414655" marR="5080" indent="-402590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35" dirty="0">
                <a:latin typeface="Calibri"/>
                <a:cs typeface="Calibri"/>
              </a:rPr>
              <a:t>Very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suitable</a:t>
            </a:r>
            <a:r>
              <a:rPr sz="3250" spc="9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spc="-20" dirty="0">
                <a:latin typeface="Calibri"/>
                <a:cs typeface="Calibri"/>
              </a:rPr>
              <a:t>integrate</a:t>
            </a:r>
            <a:r>
              <a:rPr sz="3250" dirty="0">
                <a:latin typeface="Calibri"/>
                <a:cs typeface="Calibri"/>
              </a:rPr>
              <a:t> with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resistors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diodes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produce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ICs.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9732" y="679703"/>
            <a:ext cx="65881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A</a:t>
            </a:r>
            <a:r>
              <a:rPr spc="-60" dirty="0"/>
              <a:t>p</a:t>
            </a:r>
            <a:r>
              <a:rPr spc="25" dirty="0"/>
              <a:t>p</a:t>
            </a:r>
            <a:r>
              <a:rPr spc="160" dirty="0"/>
              <a:t>li</a:t>
            </a:r>
            <a:r>
              <a:rPr spc="20" dirty="0"/>
              <a:t>c</a:t>
            </a:r>
            <a:r>
              <a:rPr spc="55" dirty="0"/>
              <a:t>a</a:t>
            </a:r>
            <a:r>
              <a:rPr spc="50" dirty="0"/>
              <a:t>t</a:t>
            </a:r>
            <a:r>
              <a:rPr spc="160" dirty="0"/>
              <a:t>i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-195" dirty="0"/>
              <a:t>s</a:t>
            </a:r>
            <a:r>
              <a:rPr spc="-25" dirty="0"/>
              <a:t> </a:t>
            </a:r>
            <a:r>
              <a:rPr spc="-165" dirty="0"/>
              <a:t>o</a:t>
            </a:r>
            <a:r>
              <a:rPr dirty="0"/>
              <a:t>f</a:t>
            </a:r>
            <a:r>
              <a:rPr spc="-355" dirty="0"/>
              <a:t> </a:t>
            </a:r>
            <a:r>
              <a:rPr spc="130" dirty="0"/>
              <a:t>T</a:t>
            </a:r>
            <a:r>
              <a:rPr spc="110" dirty="0"/>
              <a:t>r</a:t>
            </a:r>
            <a:r>
              <a:rPr spc="55" dirty="0"/>
              <a:t>a</a:t>
            </a:r>
            <a:r>
              <a:rPr spc="45" dirty="0"/>
              <a:t>n</a:t>
            </a:r>
            <a:r>
              <a:rPr spc="-200" dirty="0"/>
              <a:t>s</a:t>
            </a:r>
            <a:r>
              <a:rPr spc="160" dirty="0"/>
              <a:t>i</a:t>
            </a:r>
            <a:r>
              <a:rPr spc="-200" dirty="0"/>
              <a:t>s</a:t>
            </a:r>
            <a:r>
              <a:rPr spc="15" dirty="0"/>
              <a:t>t</a:t>
            </a:r>
            <a:r>
              <a:rPr spc="-165" dirty="0"/>
              <a:t>o</a:t>
            </a:r>
            <a:r>
              <a:rPr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289913"/>
            <a:ext cx="5720715" cy="18211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24180" indent="-412115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424815" algn="l"/>
              </a:tabLst>
            </a:pPr>
            <a:r>
              <a:rPr sz="3250" spc="5" dirty="0">
                <a:latin typeface="Calibri"/>
                <a:cs typeface="Calibri"/>
              </a:rPr>
              <a:t>As </a:t>
            </a:r>
            <a:r>
              <a:rPr sz="3250" dirty="0">
                <a:latin typeface="Calibri"/>
                <a:cs typeface="Calibri"/>
              </a:rPr>
              <a:t>an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Amplifier</a:t>
            </a:r>
            <a:endParaRPr sz="3250">
              <a:latin typeface="Calibri"/>
              <a:cs typeface="Calibri"/>
            </a:endParaRPr>
          </a:p>
          <a:p>
            <a:pPr marL="424180" indent="-41211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424815" algn="l"/>
              </a:tabLst>
            </a:pPr>
            <a:r>
              <a:rPr sz="3250" spc="5" dirty="0">
                <a:latin typeface="Calibri"/>
                <a:cs typeface="Calibri"/>
              </a:rPr>
              <a:t>As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Switch</a:t>
            </a:r>
            <a:endParaRPr sz="3250">
              <a:latin typeface="Calibri"/>
              <a:cs typeface="Calibri"/>
            </a:endParaRPr>
          </a:p>
          <a:p>
            <a:pPr marL="424180" indent="-412115">
              <a:lnSpc>
                <a:spcPct val="100000"/>
              </a:lnSpc>
              <a:spcBef>
                <a:spcPts val="825"/>
              </a:spcBef>
              <a:buAutoNum type="arabicPeriod"/>
              <a:tabLst>
                <a:tab pos="424815" algn="l"/>
              </a:tabLst>
            </a:pPr>
            <a:r>
              <a:rPr sz="3250" dirty="0">
                <a:latin typeface="Calibri"/>
                <a:cs typeface="Calibri"/>
              </a:rPr>
              <a:t>Used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Integrated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Circuits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(ICs)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1203</Words>
  <Application>Microsoft Office PowerPoint</Application>
  <PresentationFormat>Custom</PresentationFormat>
  <Paragraphs>173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Arial MT</vt:lpstr>
      <vt:lpstr>Calibri</vt:lpstr>
      <vt:lpstr>Lucida Sans Unicode</vt:lpstr>
      <vt:lpstr>Office Theme</vt:lpstr>
      <vt:lpstr>Course: ECE249</vt:lpstr>
      <vt:lpstr>Outline</vt:lpstr>
      <vt:lpstr>Basics</vt:lpstr>
      <vt:lpstr>PNP &amp; NPN Transistors &amp; Symbols</vt:lpstr>
      <vt:lpstr>Transistor Construction</vt:lpstr>
      <vt:lpstr>Cont…</vt:lpstr>
      <vt:lpstr>Transistor Terminals</vt:lpstr>
      <vt:lpstr>Cont…</vt:lpstr>
      <vt:lpstr>Cont…</vt:lpstr>
      <vt:lpstr>Transistor Biasing</vt:lpstr>
      <vt:lpstr>PowerPoint Presentation</vt:lpstr>
      <vt:lpstr>Cont…</vt:lpstr>
      <vt:lpstr>Principle of Operation - PNP</vt:lpstr>
      <vt:lpstr>Cont…</vt:lpstr>
      <vt:lpstr>Cont…</vt:lpstr>
      <vt:lpstr>Cont…</vt:lpstr>
      <vt:lpstr>Principle of Operation – NPN</vt:lpstr>
      <vt:lpstr>Cont…</vt:lpstr>
      <vt:lpstr>Cont…</vt:lpstr>
      <vt:lpstr>Transistor Configuration</vt:lpstr>
      <vt:lpstr>- NPN</vt:lpstr>
      <vt:lpstr>Cont… for PNP</vt:lpstr>
      <vt:lpstr>Common Base</vt:lpstr>
      <vt:lpstr>Cont…</vt:lpstr>
      <vt:lpstr>Cont…</vt:lpstr>
      <vt:lpstr>Input Characteristics – CE config</vt:lpstr>
      <vt:lpstr>Cont…</vt:lpstr>
      <vt:lpstr>Cont…</vt:lpstr>
      <vt:lpstr>Output Characteristics – CE Config</vt:lpstr>
      <vt:lpstr>Cont…</vt:lpstr>
      <vt:lpstr>Common Base Config. - PNP</vt:lpstr>
      <vt:lpstr>Common Base Config - NPN</vt:lpstr>
      <vt:lpstr>Input, Output Characteristics of CB config.</vt:lpstr>
      <vt:lpstr>Common Collector Config – CC, NPN</vt:lpstr>
      <vt:lpstr>Common Collector Config – CC, PNP</vt:lpstr>
      <vt:lpstr>Input, Output Characteristics of CC config.</vt:lpstr>
      <vt:lpstr>Advantages of Transistor</vt:lpstr>
      <vt:lpstr>Applications of Transistor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ECE249</dc:title>
  <cp:lastModifiedBy>Swapnil Bagwari</cp:lastModifiedBy>
  <cp:revision>3</cp:revision>
  <dcterms:created xsi:type="dcterms:W3CDTF">2023-01-02T03:56:52Z</dcterms:created>
  <dcterms:modified xsi:type="dcterms:W3CDTF">2023-01-07T15:11:17Z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2022-11-24T00:00:00Z</vt:filetime>
  </property>
  <property fmtid="{D5CDD505-2E9C-101B-9397-08002B2CF9AE}" pid="3" name="LastSaved">
    <vt:filetime>2022-11-24T00:00:00Z</vt:filetime>
  </property>
</Properties>
</file>